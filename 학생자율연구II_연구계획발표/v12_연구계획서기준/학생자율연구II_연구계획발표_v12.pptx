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57" r:id="rId51"/>
    <p:sldId id="259" r:id="rId53"/>
    <p:sldId id="260" r:id="rId54"/>
    <p:sldId id="261" r:id="rId55"/>
    <p:sldId id="262" r:id="rId56"/>
    <p:sldId id="265" r:id="rId17"/>
    <p:sldId id="263" r:id="rId57"/>
    <p:sldId id="264" r:id="rIdTextOnlySlide8"/>
  </p:sldIdLst>
  <p:sldSz cx="9144000" cy="6858000" type="screen4x3"/>
  <p:notesSz cx="6858000" cy="9144000"/>
  <p:defaultTextStyle>
    <a:defPPr>
      <a:defRPr lang="en-US">
        <a:latin typeface="Arial"/>
        <a:ea typeface="MS PGothic"/>
      </a:defRPr>
    </a:defPPr>
    <a:lvl1pPr algn="l" rtl="0" eaLnBrk="0" fontAlgn="base" hangingPunct="0">
      <a:spcBef>
        <a:spcPct val="0"/>
      </a:spcBef>
      <a:spcAft>
        <a:spcPct val="0"/>
      </a:spcAft>
      <a:defRPr sz="2400" kern="1200">
        <a:solidFill>
          <a:schemeClr val="tx1"/>
        </a:solidFill>
        <a:latin typeface="Arial" charset="0"/>
        <a:ea typeface="MS PGothic" pitchFamily="34" charset="-128"/>
        <a:cs typeface="+mn-cs"/>
      </a:defRPr>
    </a:lvl1pPr>
    <a:lvl2pPr marL="457200" algn="l" rtl="0" eaLnBrk="0" fontAlgn="base" hangingPunct="0">
      <a:spcBef>
        <a:spcPct val="0"/>
      </a:spcBef>
      <a:spcAft>
        <a:spcPct val="0"/>
      </a:spcAft>
      <a:defRPr sz="2400" kern="1200">
        <a:solidFill>
          <a:schemeClr val="tx1"/>
        </a:solidFill>
        <a:latin typeface="Arial" charset="0"/>
        <a:ea typeface="MS PGothic" pitchFamily="34" charset="-128"/>
        <a:cs typeface="+mn-cs"/>
      </a:defRPr>
    </a:lvl2pPr>
    <a:lvl3pPr marL="914400" algn="l" rtl="0" eaLnBrk="0" fontAlgn="base" hangingPunct="0">
      <a:spcBef>
        <a:spcPct val="0"/>
      </a:spcBef>
      <a:spcAft>
        <a:spcPct val="0"/>
      </a:spcAft>
      <a:defRPr sz="2400" kern="1200">
        <a:solidFill>
          <a:schemeClr val="tx1"/>
        </a:solidFill>
        <a:latin typeface="Arial" charset="0"/>
        <a:ea typeface="MS PGothic" pitchFamily="34" charset="-128"/>
        <a:cs typeface="+mn-cs"/>
      </a:defRPr>
    </a:lvl3pPr>
    <a:lvl4pPr marL="1371600" algn="l" rtl="0" eaLnBrk="0" fontAlgn="base" hangingPunct="0">
      <a:spcBef>
        <a:spcPct val="0"/>
      </a:spcBef>
      <a:spcAft>
        <a:spcPct val="0"/>
      </a:spcAft>
      <a:defRPr sz="2400" kern="1200">
        <a:solidFill>
          <a:schemeClr val="tx1"/>
        </a:solidFill>
        <a:latin typeface="Arial" charset="0"/>
        <a:ea typeface="MS PGothic" pitchFamily="34" charset="-128"/>
        <a:cs typeface="+mn-cs"/>
      </a:defRPr>
    </a:lvl4pPr>
    <a:lvl5pPr marL="1828800" algn="l" rtl="0" eaLnBrk="0" fontAlgn="base" hangingPunct="0">
      <a:spcBef>
        <a:spcPct val="0"/>
      </a:spcBef>
      <a:spcAft>
        <a:spcPct val="0"/>
      </a:spcAft>
      <a:defRPr sz="2400" kern="1200">
        <a:solidFill>
          <a:schemeClr val="tx1"/>
        </a:solidFill>
        <a:latin typeface="Arial" charset="0"/>
        <a:ea typeface="MS PGothic" pitchFamily="34" charset="-128"/>
        <a:cs typeface="+mn-cs"/>
      </a:defRPr>
    </a:lvl5pPr>
    <a:lvl6pPr marL="2286000" algn="l" defTabSz="914400" rtl="0" eaLnBrk="1" latinLnBrk="0" hangingPunct="1">
      <a:defRPr sz="2400" kern="1200">
        <a:solidFill>
          <a:schemeClr val="tx1"/>
        </a:solidFill>
        <a:latin typeface="Arial" charset="0"/>
        <a:ea typeface="MS PGothic" pitchFamily="34" charset="-128"/>
        <a:cs typeface="+mn-cs"/>
      </a:defRPr>
    </a:lvl6pPr>
    <a:lvl7pPr marL="2743200" algn="l" defTabSz="914400" rtl="0" eaLnBrk="1" latinLnBrk="0" hangingPunct="1">
      <a:defRPr sz="2400" kern="1200">
        <a:solidFill>
          <a:schemeClr val="tx1"/>
        </a:solidFill>
        <a:latin typeface="Arial" charset="0"/>
        <a:ea typeface="MS PGothic" pitchFamily="34" charset="-128"/>
        <a:cs typeface="+mn-cs"/>
      </a:defRPr>
    </a:lvl7pPr>
    <a:lvl8pPr marL="3200400" algn="l" defTabSz="914400" rtl="0" eaLnBrk="1" latinLnBrk="0" hangingPunct="1">
      <a:defRPr sz="2400" kern="1200">
        <a:solidFill>
          <a:schemeClr val="tx1"/>
        </a:solidFill>
        <a:latin typeface="Arial" charset="0"/>
        <a:ea typeface="MS PGothic" pitchFamily="34" charset="-128"/>
        <a:cs typeface="+mn-cs"/>
      </a:defRPr>
    </a:lvl8pPr>
    <a:lvl9pPr marL="3657600" algn="l" defTabSz="914400" rtl="0" eaLnBrk="1" latinLnBrk="0" hangingPunct="1">
      <a:defRPr sz="2400" kern="1200">
        <a:solidFill>
          <a:schemeClr val="tx1"/>
        </a:solidFill>
        <a:latin typeface="Arial" charset="0"/>
        <a:ea typeface="MS PGothic" pitchFamily="34" charset="-128"/>
        <a:cs typeface="+mn-cs"/>
      </a:defRPr>
    </a:lvl9pPr>
  </p:defaultTextStyle>
  <p:extLst>
    <p:ext uri="{521415D9-36F7-43E2-AB2F-B90AF26B5E84}">
      <p14:sectionLst xmlns:p14="http://schemas.microsoft.com/office/powerpoint/2010/main">
        <p14:section name="Default Section" id="{4D0A106E-F050-4475-AE74-186DD2AE9C4F}">
          <p14:sldIdLst>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0000CC"/>
    <a:srgbClr val="99CCFF"/>
    <a:srgbClr val="0066FF"/>
    <a:srgbClr val="3B4C97"/>
    <a:srgbClr val="000099"/>
    <a:srgbClr val="000F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5" autoAdjust="0"/>
    <p:restoredTop sz="89065" autoAdjust="0"/>
  </p:normalViewPr>
  <p:slideViewPr>
    <p:cSldViewPr>
      <p:cViewPr varScale="1">
        <p:scale>
          <a:sx n="112" d="100"/>
          <a:sy n="112" d="100"/>
        </p:scale>
        <p:origin x="94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0" d="100"/>
          <a:sy n="70" d="100"/>
        </p:scale>
        <p:origin x="-280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TextOnlySlide8" Type="http://schemas.openxmlformats.org/officeDocument/2006/relationships/slide" Target="slides/slide8.xml"/><Relationship Id="rId1" Type="http://schemas.openxmlformats.org/officeDocument/2006/relationships/slideMaster" Target="slideMasters/slideMaster1.xml"/><Relationship Id="rId17" Type="http://schemas.openxmlformats.org/officeDocument/2006/relationships/slide" Target="slides/slide9.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openxmlformats.org/officeDocument/2006/relationships/slide" Target="slides/slide1.xml"/><Relationship Id="rId53" Type="http://schemas.openxmlformats.org/officeDocument/2006/relationships/slide" Target="slides/slide3.xml"/><Relationship Id="rId54" Type="http://schemas.openxmlformats.org/officeDocument/2006/relationships/slide" Target="slides/slide4.xml"/><Relationship Id="rId55" Type="http://schemas.openxmlformats.org/officeDocument/2006/relationships/slide" Target="slides/slide5.xml"/><Relationship Id="rId56" Type="http://schemas.openxmlformats.org/officeDocument/2006/relationships/slide" Target="slides/slide6.xml"/><Relationship Id="rId57"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sun Ahn" userId="518abb9056612078" providerId="LiveId" clId="{26BC773D-7115-4A87-A284-8E0674A1E3A0}"/>
    <pc:docChg chg="undo custSel delSld modSld modSection">
      <pc:chgData name="Changsun Ahn" userId="518abb9056612078" providerId="LiveId" clId="{26BC773D-7115-4A87-A284-8E0674A1E3A0}" dt="2026-07-30T01:16:33.489" v="7" actId="47"/>
      <pc:docMkLst>
        <pc:docMk/>
      </pc:docMkLst>
      <pc:sldChg chg="del">
        <pc:chgData name="Changsun Ahn" userId="518abb9056612078" providerId="LiveId" clId="{26BC773D-7115-4A87-A284-8E0674A1E3A0}" dt="2026-07-30T01:16:33.489" v="7" actId="47"/>
        <pc:sldMkLst>
          <pc:docMk/>
          <pc:sldMk cId="474195226" sldId="871"/>
        </pc:sldMkLst>
      </pc:sldChg>
      <pc:sldChg chg="del">
        <pc:chgData name="Changsun Ahn" userId="518abb9056612078" providerId="LiveId" clId="{26BC773D-7115-4A87-A284-8E0674A1E3A0}" dt="2026-07-30T01:16:33.489" v="7" actId="47"/>
        <pc:sldMkLst>
          <pc:docMk/>
          <pc:sldMk cId="297504490" sldId="872"/>
        </pc:sldMkLst>
      </pc:sldChg>
      <pc:sldChg chg="modSp mod">
        <pc:chgData name="Changsun Ahn" userId="518abb9056612078" providerId="LiveId" clId="{26BC773D-7115-4A87-A284-8E0674A1E3A0}" dt="2026-07-30T01:15:31.563" v="5" actId="20577"/>
        <pc:sldMkLst>
          <pc:docMk/>
          <pc:sldMk cId="3174226046" sldId="915"/>
        </pc:sldMkLst>
        <pc:spChg chg="mod">
          <ac:chgData name="Changsun Ahn" userId="518abb9056612078" providerId="LiveId" clId="{26BC773D-7115-4A87-A284-8E0674A1E3A0}" dt="2026-07-30T01:15:31.563" v="5" actId="20577"/>
          <ac:spMkLst>
            <pc:docMk/>
            <pc:sldMk cId="3174226046" sldId="915"/>
            <ac:spMk id="19" creationId="{00000000-0000-0000-0000-000000000000}"/>
          </ac:spMkLst>
        </pc:spChg>
      </pc:sldChg>
      <pc:sldChg chg="del">
        <pc:chgData name="Changsun Ahn" userId="518abb9056612078" providerId="LiveId" clId="{26BC773D-7115-4A87-A284-8E0674A1E3A0}" dt="2026-07-30T01:16:20.971" v="6" actId="47"/>
        <pc:sldMkLst>
          <pc:docMk/>
          <pc:sldMk cId="1743384770" sldId="917"/>
        </pc:sldMkLst>
      </pc:sldChg>
      <pc:sldChg chg="del">
        <pc:chgData name="Changsun Ahn" userId="518abb9056612078" providerId="LiveId" clId="{26BC773D-7115-4A87-A284-8E0674A1E3A0}" dt="2026-07-30T01:16:20.971" v="6" actId="47"/>
        <pc:sldMkLst>
          <pc:docMk/>
          <pc:sldMk cId="2437741310" sldId="918"/>
        </pc:sldMkLst>
      </pc:sldChg>
      <pc:sldChg chg="del">
        <pc:chgData name="Changsun Ahn" userId="518abb9056612078" providerId="LiveId" clId="{26BC773D-7115-4A87-A284-8E0674A1E3A0}" dt="2026-07-30T01:16:20.971" v="6" actId="47"/>
        <pc:sldMkLst>
          <pc:docMk/>
          <pc:sldMk cId="2166412743" sldId="919"/>
        </pc:sldMkLst>
      </pc:sldChg>
      <pc:sldChg chg="del">
        <pc:chgData name="Changsun Ahn" userId="518abb9056612078" providerId="LiveId" clId="{26BC773D-7115-4A87-A284-8E0674A1E3A0}" dt="2026-07-30T01:16:20.971" v="6" actId="47"/>
        <pc:sldMkLst>
          <pc:docMk/>
          <pc:sldMk cId="1701861227" sldId="920"/>
        </pc:sldMkLst>
      </pc:sldChg>
      <pc:sldChg chg="del">
        <pc:chgData name="Changsun Ahn" userId="518abb9056612078" providerId="LiveId" clId="{26BC773D-7115-4A87-A284-8E0674A1E3A0}" dt="2026-07-30T01:16:20.971" v="6" actId="47"/>
        <pc:sldMkLst>
          <pc:docMk/>
          <pc:sldMk cId="519232037" sldId="921"/>
        </pc:sldMkLst>
      </pc:sldChg>
      <pc:sldChg chg="del">
        <pc:chgData name="Changsun Ahn" userId="518abb9056612078" providerId="LiveId" clId="{26BC773D-7115-4A87-A284-8E0674A1E3A0}" dt="2026-07-30T01:16:20.971" v="6" actId="47"/>
        <pc:sldMkLst>
          <pc:docMk/>
          <pc:sldMk cId="4136637569" sldId="922"/>
        </pc:sldMkLst>
      </pc:sldChg>
      <pc:sldChg chg="del">
        <pc:chgData name="Changsun Ahn" userId="518abb9056612078" providerId="LiveId" clId="{26BC773D-7115-4A87-A284-8E0674A1E3A0}" dt="2026-07-30T01:16:20.971" v="6" actId="47"/>
        <pc:sldMkLst>
          <pc:docMk/>
          <pc:sldMk cId="831033970" sldId="923"/>
        </pc:sldMkLst>
      </pc:sldChg>
      <pc:sldChg chg="del">
        <pc:chgData name="Changsun Ahn" userId="518abb9056612078" providerId="LiveId" clId="{26BC773D-7115-4A87-A284-8E0674A1E3A0}" dt="2026-07-30T01:16:20.971" v="6" actId="47"/>
        <pc:sldMkLst>
          <pc:docMk/>
          <pc:sldMk cId="3151416821" sldId="924"/>
        </pc:sldMkLst>
      </pc:sldChg>
      <pc:sldChg chg="del">
        <pc:chgData name="Changsun Ahn" userId="518abb9056612078" providerId="LiveId" clId="{26BC773D-7115-4A87-A284-8E0674A1E3A0}" dt="2026-07-30T01:16:20.971" v="6" actId="47"/>
        <pc:sldMkLst>
          <pc:docMk/>
          <pc:sldMk cId="1829320128" sldId="925"/>
        </pc:sldMkLst>
      </pc:sldChg>
      <pc:sldChg chg="del">
        <pc:chgData name="Changsun Ahn" userId="518abb9056612078" providerId="LiveId" clId="{26BC773D-7115-4A87-A284-8E0674A1E3A0}" dt="2026-07-30T01:16:20.971" v="6" actId="47"/>
        <pc:sldMkLst>
          <pc:docMk/>
          <pc:sldMk cId="3431485836" sldId="926"/>
        </pc:sldMkLst>
      </pc:sldChg>
      <pc:sldChg chg="del">
        <pc:chgData name="Changsun Ahn" userId="518abb9056612078" providerId="LiveId" clId="{26BC773D-7115-4A87-A284-8E0674A1E3A0}" dt="2026-07-30T01:16:20.971" v="6" actId="47"/>
        <pc:sldMkLst>
          <pc:docMk/>
          <pc:sldMk cId="3081601730" sldId="927"/>
        </pc:sldMkLst>
      </pc:sldChg>
      <pc:sldChg chg="del">
        <pc:chgData name="Changsun Ahn" userId="518abb9056612078" providerId="LiveId" clId="{26BC773D-7115-4A87-A284-8E0674A1E3A0}" dt="2026-07-30T01:16:20.971" v="6" actId="47"/>
        <pc:sldMkLst>
          <pc:docMk/>
          <pc:sldMk cId="1756593512" sldId="928"/>
        </pc:sldMkLst>
      </pc:sldChg>
    </pc:docChg>
  </pc:docChgLst>
  <pc:docChgLst>
    <pc:chgData name="Changsun Ahn" userId="518abb9056612078" providerId="LiveId" clId="{35FD0D37-7309-4F33-8079-6672F617D33C}"/>
    <pc:docChg chg="modSld">
      <pc:chgData name="Changsun Ahn" userId="518abb9056612078" providerId="LiveId" clId="{35FD0D37-7309-4F33-8079-6672F617D33C}" dt="2025-10-14T01:50:28.014" v="10"/>
      <pc:docMkLst>
        <pc:docMk/>
      </pc:docMkLst>
      <pc:sldChg chg="modSp mod">
        <pc:chgData name="Changsun Ahn" userId="518abb9056612078" providerId="LiveId" clId="{35FD0D37-7309-4F33-8079-6672F617D33C}" dt="2025-10-14T00:27:45.224" v="4" actId="20577"/>
        <pc:sldMkLst>
          <pc:docMk/>
          <pc:sldMk cId="297504490" sldId="872"/>
        </pc:sldMkLst>
        <pc:spChg chg="mod">
          <ac:chgData name="Changsun Ahn" userId="518abb9056612078" providerId="LiveId" clId="{35FD0D37-7309-4F33-8079-6672F617D33C}" dt="2025-10-14T00:27:45.224" v="4" actId="20577"/>
          <ac:spMkLst>
            <pc:docMk/>
            <pc:sldMk cId="297504490" sldId="872"/>
            <ac:spMk id="3" creationId="{00000000-0000-0000-0000-000000000000}"/>
          </ac:spMkLst>
        </pc:spChg>
      </pc:sldChg>
      <pc:sldChg chg="modSp">
        <pc:chgData name="Changsun Ahn" userId="518abb9056612078" providerId="LiveId" clId="{35FD0D37-7309-4F33-8079-6672F617D33C}" dt="2025-10-14T01:44:06.588" v="6"/>
        <pc:sldMkLst>
          <pc:docMk/>
          <pc:sldMk cId="3860292029" sldId="881"/>
        </pc:sldMkLst>
        <pc:graphicFrameChg chg="mod">
          <ac:chgData name="Changsun Ahn" userId="518abb9056612078" providerId="LiveId" clId="{35FD0D37-7309-4F33-8079-6672F617D33C}" dt="2025-10-14T01:44:06.588" v="6"/>
          <ac:graphicFrameMkLst>
            <pc:docMk/>
            <pc:sldMk cId="3860292029" sldId="881"/>
            <ac:graphicFrameMk id="19" creationId="{00000000-0000-0000-0000-000000000000}"/>
          </ac:graphicFrameMkLst>
        </pc:graphicFrameChg>
      </pc:sldChg>
      <pc:sldChg chg="addSp modSp mod">
        <pc:chgData name="Changsun Ahn" userId="518abb9056612078" providerId="LiveId" clId="{35FD0D37-7309-4F33-8079-6672F617D33C}" dt="2025-10-14T01:50:03.289" v="8" actId="1076"/>
        <pc:sldMkLst>
          <pc:docMk/>
          <pc:sldMk cId="3380350785" sldId="886"/>
        </pc:sldMkLst>
        <pc:graphicFrameChg chg="add mod">
          <ac:chgData name="Changsun Ahn" userId="518abb9056612078" providerId="LiveId" clId="{35FD0D37-7309-4F33-8079-6672F617D33C}" dt="2025-10-14T01:50:03.289" v="8" actId="1076"/>
          <ac:graphicFrameMkLst>
            <pc:docMk/>
            <pc:sldMk cId="3380350785" sldId="886"/>
            <ac:graphicFrameMk id="3" creationId="{85C9AF3D-D5DA-4ACB-8565-363D4BB568BF}"/>
          </ac:graphicFrameMkLst>
        </pc:graphicFrameChg>
      </pc:sldChg>
      <pc:sldChg chg="modSp">
        <pc:chgData name="Changsun Ahn" userId="518abb9056612078" providerId="LiveId" clId="{35FD0D37-7309-4F33-8079-6672F617D33C}" dt="2025-10-14T01:50:28.014" v="10"/>
        <pc:sldMkLst>
          <pc:docMk/>
          <pc:sldMk cId="2711729751" sldId="887"/>
        </pc:sldMkLst>
        <pc:spChg chg="mod">
          <ac:chgData name="Changsun Ahn" userId="518abb9056612078" providerId="LiveId" clId="{35FD0D37-7309-4F33-8079-6672F617D33C}" dt="2025-10-14T01:50:28.014" v="10"/>
          <ac:spMkLst>
            <pc:docMk/>
            <pc:sldMk cId="2711729751" sldId="887"/>
            <ac:spMk id="47" creationId="{00000000-0000-0000-0000-000000000000}"/>
          </ac:spMkLst>
        </pc:spChg>
        <pc:spChg chg="mod">
          <ac:chgData name="Changsun Ahn" userId="518abb9056612078" providerId="LiveId" clId="{35FD0D37-7309-4F33-8079-6672F617D33C}" dt="2025-10-14T01:50:28.014" v="10"/>
          <ac:spMkLst>
            <pc:docMk/>
            <pc:sldMk cId="2711729751" sldId="887"/>
            <ac:spMk id="52" creationId="{00000000-0000-0000-0000-000000000000}"/>
          </ac:spMkLst>
        </pc:spChg>
        <pc:grpChg chg="mod">
          <ac:chgData name="Changsun Ahn" userId="518abb9056612078" providerId="LiveId" clId="{35FD0D37-7309-4F33-8079-6672F617D33C}" dt="2025-10-14T01:50:28.014" v="10"/>
          <ac:grpSpMkLst>
            <pc:docMk/>
            <pc:sldMk cId="2711729751" sldId="887"/>
            <ac:grpSpMk id="53" creationId="{00000000-0000-0000-0000-000000000000}"/>
          </ac:grpSpMkLst>
        </pc:grpChg>
        <pc:graphicFrameChg chg="mod">
          <ac:chgData name="Changsun Ahn" userId="518abb9056612078" providerId="LiveId" clId="{35FD0D37-7309-4F33-8079-6672F617D33C}" dt="2025-10-14T01:50:28.014" v="10"/>
          <ac:graphicFrameMkLst>
            <pc:docMk/>
            <pc:sldMk cId="2711729751" sldId="887"/>
            <ac:graphicFrameMk id="46"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3"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4"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E519B566-4DAF-4B26-ADC8-A43E608533F5}"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1110100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noProof="0">
                <a:latin typeface="Arial"/>
                <a:ea typeface="MS PGothic"/>
              </a:rPr>
              <a:t>Click to edit Master text styles</a:t>
            </a:r>
          </a:p>
          <a:p>
            <a:pPr lvl="1"/>
            <a:r>
              <a:rPr lang="en-US" noProof="0">
                <a:latin typeface="Arial"/>
                <a:ea typeface="MS PGothic"/>
              </a:rPr>
              <a:t>Second level</a:t>
            </a:r>
          </a:p>
          <a:p>
            <a:pPr lvl="2"/>
            <a:r>
              <a:rPr lang="en-US" noProof="0">
                <a:latin typeface="Arial"/>
                <a:ea typeface="MS PGothic"/>
              </a:rPr>
              <a:t>Third level</a:t>
            </a:r>
          </a:p>
          <a:p>
            <a:pPr lvl="3"/>
            <a:r>
              <a:rPr lang="en-US" noProof="0">
                <a:latin typeface="Arial"/>
                <a:ea typeface="MS PGothic"/>
              </a:rPr>
              <a:t>Fourth level</a:t>
            </a:r>
          </a:p>
          <a:p>
            <a:pPr lvl="4"/>
            <a:r>
              <a:rPr lang="en-US" noProof="0">
                <a:latin typeface="Arial"/>
                <a:ea typeface="MS PGothic"/>
              </a:rPr>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atin typeface="Arial"/>
                <a:ea typeface="MS PGothic" pitchFamily="1" charset="-128"/>
              </a:defRPr>
            </a:lvl1pPr>
          </a:lstStyle>
          <a:p>
            <a:pPr>
              <a:defRPr>
                <a:latin typeface="Arial"/>
                <a:ea typeface="MS PGothic"/>
              </a:defRPr>
            </a:pPr>
            <a:endParaRPr lang="en-US" dirty="0">
              <a:latin typeface="Arial"/>
              <a:ea typeface="MS PGothic"/>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sz="1200" smtClean="0">
                <a:latin typeface="Arial"/>
                <a:ea typeface="MS PGothic" pitchFamily="1" charset="-128"/>
              </a:defRPr>
            </a:lvl1pPr>
          </a:lstStyle>
          <a:p>
            <a:pPr>
              <a:defRPr>
                <a:latin typeface="Arial"/>
                <a:ea typeface="MS PGothic"/>
              </a:defRPr>
            </a:pPr>
            <a:fld id="{5096BAED-5FB2-4DAD-92B2-076325177B4F}" type="slidenum">
              <a:rPr lang="en-US">
                <a:latin typeface="Arial"/>
                <a:ea typeface="MS PGothic"/>
              </a:rPr>
              <a:pPr>
                <a:defRPr>
                  <a:latin typeface="Arial"/>
                  <a:ea typeface="MS PGothic"/>
                </a:defRPr>
              </a:pPr>
              <a:t>‹#›</a:t>
            </a:fld>
            <a:endParaRPr lang="en-US" dirty="0">
              <a:latin typeface="Arial"/>
              <a:ea typeface="MS PGothic"/>
            </a:endParaRPr>
          </a:p>
        </p:txBody>
      </p:sp>
    </p:spTree>
    <p:extLst>
      <p:ext uri="{BB962C8B-B14F-4D97-AF65-F5344CB8AC3E}">
        <p14:creationId xmlns:p14="http://schemas.microsoft.com/office/powerpoint/2010/main" val="38159845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1" charset="-128"/>
        <a:cs typeface="+mn-cs"/>
      </a:defRPr>
    </a:lvl5pPr>
    <a:lvl6pPr marL="2286000" algn="l" defTabSz="914400" rtl="0" eaLnBrk="1" latinLnBrk="0" hangingPunct="1">
      <a:defRPr sz="1200" kern="1200">
        <a:solidFill>
          <a:schemeClr val="tx1"/>
        </a:solidFill>
        <a:latin typeface="Arial"/>
        <a:ea typeface="MS PGothic"/>
        <a:cs typeface="+mn-cs"/>
      </a:defRPr>
    </a:lvl6pPr>
    <a:lvl7pPr marL="2743200" algn="l" defTabSz="914400" rtl="0" eaLnBrk="1" latinLnBrk="0" hangingPunct="1">
      <a:defRPr sz="1200" kern="1200">
        <a:solidFill>
          <a:schemeClr val="tx1"/>
        </a:solidFill>
        <a:latin typeface="Arial"/>
        <a:ea typeface="MS PGothic"/>
        <a:cs typeface="+mn-cs"/>
      </a:defRPr>
    </a:lvl7pPr>
    <a:lvl8pPr marL="3200400" algn="l" defTabSz="914400" rtl="0" eaLnBrk="1" latinLnBrk="0" hangingPunct="1">
      <a:defRPr sz="1200" kern="1200">
        <a:solidFill>
          <a:schemeClr val="tx1"/>
        </a:solidFill>
        <a:latin typeface="Arial"/>
        <a:ea typeface="MS PGothic"/>
        <a:cs typeface="+mn-cs"/>
      </a:defRPr>
    </a:lvl8pPr>
    <a:lvl9pPr marL="3657600" algn="l" defTabSz="914400" rtl="0" eaLnBrk="1" latinLnBrk="0" hangingPunct="1">
      <a:defRPr sz="1200" kern="1200">
        <a:solidFill>
          <a:schemeClr val="tx1"/>
        </a:solidFill>
        <a:latin typeface="Arial"/>
        <a:ea typeface="MS PGothic"/>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b="1">
                <a:solidFill>
                  <a:schemeClr val="tx1"/>
                </a:solidFill>
                <a:latin typeface="Arial" charset="0"/>
                <a:ea typeface="MS PGothic" pitchFamily="18" charset="-120"/>
              </a:defRPr>
            </a:lvl1pPr>
            <a:lvl2pPr marL="742950" indent="-285750" eaLnBrk="0" hangingPunct="0">
              <a:defRPr sz="2400" b="1">
                <a:solidFill>
                  <a:schemeClr val="tx1"/>
                </a:solidFill>
                <a:latin typeface="Arial" charset="0"/>
                <a:ea typeface="MS PGothic" pitchFamily="18" charset="-120"/>
              </a:defRPr>
            </a:lvl2pPr>
            <a:lvl3pPr marL="1143000" indent="-228600" eaLnBrk="0" hangingPunct="0">
              <a:defRPr sz="2400" b="1">
                <a:solidFill>
                  <a:schemeClr val="tx1"/>
                </a:solidFill>
                <a:latin typeface="Arial" charset="0"/>
                <a:ea typeface="MS PGothic" pitchFamily="18" charset="-120"/>
              </a:defRPr>
            </a:lvl3pPr>
            <a:lvl4pPr marL="1600200" indent="-228600" eaLnBrk="0" hangingPunct="0">
              <a:defRPr sz="2400" b="1">
                <a:solidFill>
                  <a:schemeClr val="tx1"/>
                </a:solidFill>
                <a:latin typeface="Arial" charset="0"/>
                <a:ea typeface="MS PGothic" pitchFamily="18" charset="-120"/>
              </a:defRPr>
            </a:lvl4pPr>
            <a:lvl5pPr marL="2057400" indent="-228600" eaLnBrk="0" hangingPunct="0">
              <a:defRPr sz="2400" b="1">
                <a:solidFill>
                  <a:schemeClr val="tx1"/>
                </a:solidFill>
                <a:latin typeface="Arial" charset="0"/>
                <a:ea typeface="MS PGothic" pitchFamily="18" charset="-120"/>
              </a:defRPr>
            </a:lvl5pPr>
            <a:lvl6pPr marL="2514600" indent="-228600" eaLnBrk="0" fontAlgn="base" hangingPunct="0">
              <a:spcBef>
                <a:spcPct val="0"/>
              </a:spcBef>
              <a:spcAft>
                <a:spcPct val="0"/>
              </a:spcAft>
              <a:defRPr sz="2400" b="1">
                <a:solidFill>
                  <a:schemeClr val="tx1"/>
                </a:solidFill>
                <a:latin typeface="Arial" charset="0"/>
                <a:ea typeface="MS PGothic" pitchFamily="18" charset="-120"/>
              </a:defRPr>
            </a:lvl6pPr>
            <a:lvl7pPr marL="2971800" indent="-228600" eaLnBrk="0" fontAlgn="base" hangingPunct="0">
              <a:spcBef>
                <a:spcPct val="0"/>
              </a:spcBef>
              <a:spcAft>
                <a:spcPct val="0"/>
              </a:spcAft>
              <a:defRPr sz="2400" b="1">
                <a:solidFill>
                  <a:schemeClr val="tx1"/>
                </a:solidFill>
                <a:latin typeface="Arial" charset="0"/>
                <a:ea typeface="MS PGothic" pitchFamily="18" charset="-120"/>
              </a:defRPr>
            </a:lvl7pPr>
            <a:lvl8pPr marL="3429000" indent="-228600" eaLnBrk="0" fontAlgn="base" hangingPunct="0">
              <a:spcBef>
                <a:spcPct val="0"/>
              </a:spcBef>
              <a:spcAft>
                <a:spcPct val="0"/>
              </a:spcAft>
              <a:defRPr sz="2400" b="1">
                <a:solidFill>
                  <a:schemeClr val="tx1"/>
                </a:solidFill>
                <a:latin typeface="Arial" charset="0"/>
                <a:ea typeface="MS PGothic" pitchFamily="18" charset="-120"/>
              </a:defRPr>
            </a:lvl8pPr>
            <a:lvl9pPr marL="3886200" indent="-228600" eaLnBrk="0" fontAlgn="base" hangingPunct="0">
              <a:spcBef>
                <a:spcPct val="0"/>
              </a:spcBef>
              <a:spcAft>
                <a:spcPct val="0"/>
              </a:spcAft>
              <a:defRPr sz="2400" b="1">
                <a:solidFill>
                  <a:schemeClr val="tx1"/>
                </a:solidFill>
                <a:latin typeface="Arial" charset="0"/>
                <a:ea typeface="MS PGothic" pitchFamily="18" charset="-120"/>
              </a:defRPr>
            </a:lvl9pPr>
          </a:lstStyle>
          <a:p>
            <a:pPr>
              <a:defRPr>
                <a:latin typeface="Arial"/>
                <a:ea typeface="MS PGothic"/>
              </a:defRPr>
            </a:pPr>
            <a:fld id="{8A1CC2BC-5918-49F0-B63E-CBAD895B9FF1}" type="slidenum">
              <a:rPr lang="en-US" altLang="zh-TW" sz="1200" b="0" smtClean="0">
                <a:latin typeface="Arial"/>
                <a:ea typeface="MS PGothic"/>
              </a:rPr>
              <a:pPr>
                <a:defRPr>
                  <a:latin typeface="Arial"/>
                  <a:ea typeface="MS PGothic"/>
                </a:defRPr>
              </a:pPr>
              <a:t>1</a:t>
            </a:fld>
            <a:endParaRPr lang="en-US" altLang="zh-TW" sz="1200" b="0">
              <a:latin typeface="Arial"/>
              <a:ea typeface="MS PGothic"/>
            </a:endParaRPr>
          </a:p>
        </p:txBody>
      </p:sp>
      <p:sp>
        <p:nvSpPr>
          <p:cNvPr id="70659" name="Rectangle 2"/>
          <p:cNvSpPr>
            <a:spLocks noGrp="1" noRot="1" noChangeAspect="1" noChangeArrowheads="1" noTextEdit="1"/>
          </p:cNvSpPr>
          <p:nvPr>
            <p:ph type="sldImg"/>
          </p:nvPr>
        </p:nvSpPr>
        <p:spPr>
          <a:xfrm>
            <a:off x="1143000" y="685800"/>
            <a:ext cx="4572000" cy="3429000"/>
          </a:xfrm>
          <a:ln/>
        </p:spPr>
      </p:sp>
      <p:sp>
        <p:nvSpPr>
          <p:cNvPr id="70660" name="Notes Placeholder 4"/>
          <p:cNvSpPr>
            <a:spLocks noGrp="1"/>
          </p:cNvSpPr>
          <p:nvPr/>
        </p:nvSpPr>
        <p:spPr bwMode="auto">
          <a:xfrm>
            <a:off x="914508" y="4343144"/>
            <a:ext cx="5028986" cy="411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30000"/>
              </a:spcBef>
            </a:pPr>
            <a:endParaRPr kumimoji="1" lang="en-US" sz="1200" b="0">
              <a:latin typeface="Arial" pitchFamily="18" charset="0"/>
              <a:ea typeface="MS PGothic"/>
            </a:endParaRPr>
          </a:p>
        </p:txBody>
      </p:sp>
      <p:sp>
        <p:nvSpPr>
          <p:cNvPr id="2" name="Notes Placeholder 1"/>
          <p:cNvSpPr>
            <a:spLocks noGrp="1"/>
          </p:cNvSpPr>
          <p:nvPr>
            <p:ph type="body" idx="1"/>
          </p:nvPr>
        </p:nvSpPr>
        <p:spPr/>
        <p:txBody>
          <a:bodyPr/>
          <a:lstStyle/>
          <a:p>
            <a:r>
              <a:t>[10초]</a:t>
            </a:r>
          </a:p>
          <a:p>
            <a:r>
              <a:t>안녕하세요, 학생자율연구II 연구계획을 발표할 박찬혁입니다. 제 연구는 GPS를 쓸 수 없는 환경에서 카메라와 IMU를 융합해 위치, 속도, 자세를 추정하고, 영상 품질이 나빠질 때에도 안정적으로 추정하는 방법을 다룹니다.</a:t>
            </a:r>
          </a:p>
        </p:txBody>
      </p:sp>
    </p:spTree>
    <p:extLst>
      <p:ext uri="{BB962C8B-B14F-4D97-AF65-F5344CB8AC3E}">
        <p14:creationId xmlns:p14="http://schemas.microsoft.com/office/powerpoint/2010/main" val="3421518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[45초]</a:t>
            </a:r>
          </a:p>
          <a:p>
            <a:r>
              <a:t>자동차 내비게이션은 터널에서 GPS가 끊기면 위치가 틀어지기 시작합니다. 실내나 지하 공간, 구조물 내부처럼 GPS를 아예 쓸 수 없는 곳에서는 다른 센서로 위치, 속도, 자세를 추정해야 합니다.</a:t>
            </a:r>
          </a:p>
          <a:p>
            <a:r>
              <a:t>가장 기본은 IMU, 즉 관성측정장치인데, 가속도와 각속도를 적분하는 방식이라 잡음과 바이어스가 쌓여 시간이 갈수록 오차가 커집니다. 그래서 카메라 영상의 움직임으로 이 오차를 보정하는 비전 보조 항법을 씁니다. NASA의 화성 헬리콥터 인저뉴어티도 아래를 보는 카메라와 IMU를 결합해 위성항법 없이 비행했습니다.</a:t>
            </a:r>
          </a:p>
          <a:p>
            <a:r>
              <a:t>본 연구는 이렇게 카메라와 IMU를 융합하는 비전 보조 항법 시스템을 구성하고, 그 성능을 평가합니다.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(위 두 칸) IMU와 카메라는 서로 보완적입니다. IMU는 높은 주기로 측정해서 움직임을 끊김 없이 예측할 수 있지만, 적분하면서 오차가 쌓입니다. 카메라는 주변 환경을 보기 때문에 이 누적 오차를 잡아 줄 수 있지만, 조명이 바뀌거나 영상이 흐려지거나 특징점이 부족하면 측정이 나빠지고, 영상만으로는 실제 거리 스케일도 알기 어렵습니다. 그래서 두 센서를 함께 융합합니다.</a:t>
            </a:r>
          </a:p>
          <a:p>
            <a:r>
              <a:t>(빨간 상자) 문제는 영상 품질이 떨어지는 구간에서도 영상 측정을 똑같은 비중으로 반영하면 추정이 오히려 불안정해질 수 있다는 점입니다.</a:t>
            </a:r>
          </a:p>
          <a:p>
            <a:r>
              <a:t>그래서 본 연구의 목적은 IMU 예측과 영상 보정을 결합한 필터 기반 상태추정을 구현하고, 영상 측정 품질에 따라 성능이 어떻게 변하는지 분석해서, 위치·속도·자세 추정의 정확성과 안정성을 평가하는 것입니다.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[50초]</a:t>
            </a:r>
          </a:p>
          <a:p>
            <a:r>
              <a:t>상태추정 필터는 운동 모델로 다음 상태를 예측하고, 센서 관측으로 그 예측을 고쳐 나가는 방법입니다. 이 연구에서는 IMU로 예측하고 영상 움직임으로 보정합니다.</a:t>
            </a:r>
          </a:p>
          <a:p>
            <a:r>
              <a:t>영상 움직임은 옵티컬 플로우, 즉 연속된 영상에서 특징점이 얼마나 움직였는지로 구합니다. (오른쪽 그림) 그런데 영상 속 이동에는 실제 이동뿐 아니라 기체가 회전한 효과와 바닥까지의 거리 효과가 섞여 있습니다. 그래서 회전 성분은 자이로로 빼고, 실제 크기는 카메라 높이와 바닥이 평평하다는 가정으로 맞추는 방법을 검토합니다.</a:t>
            </a:r>
          </a:p>
          <a:p>
            <a:r>
              <a:t>또 지도교수님 연구실의 저가 센서, 레이더·V2X 융합 상태추정 연구에서 센서별 시간을 맞추고 지연을 보상하는 절차를 참고합니다.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[55초]</a:t>
            </a:r>
          </a:p>
          <a:p>
            <a:r>
              <a:t>(위 그림) 전체 구조입니다. IMU로 움직임을 예측하고, 카메라 영상에서 KLT로 옵티컬 플로우를 구해 보정합니다. 이 연구의 핵심은 빨간 상자입니다. 유효 특징점 수, 추적 성공률, 운동 모델 잔차로 영상 품질을 판단하고, 그에 따라 필터의 보정 비중을 조절합니다.</a:t>
            </a:r>
          </a:p>
          <a:p>
            <a:r>
              <a:t>(아래) 진행은 세 단계입니다. 먼저 센서별 주기, 시간 동기화, 좌표계, 카메라 보정을 확인합니다. GPS는 입력에서 빼고, 기준 궤적은 검증에만 씁니다. 다음으로 매트랩으로 IMU 예측과 옵티컬 플로우 보정을 결합한 기준 추정기를 만듭니다. 마지막으로 영상 신뢰도가 낮으면 보정 비중을 줄이고, 유효한 관측이 없으면 보정을 건너뛰고 IMU 예측을 유지합니다. 이 기준은 조정용 구간에서 정하고 별도 평가 구간에 적용합니다.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[30초]</a:t>
            </a:r>
          </a:p>
          <a:p>
            <a:r>
              <a:t>일정입니다. 10월 전반에 데이터를 구성하고 전처리하며, 10월 후반에 IMU 단독과 고정 신뢰도 융합으로 비교 기준을 만듭니다. 핵심인 11월에는 영상 품질 지표와 신뢰도 기준, 보정 규칙을 만들고, 12월에 조건별 비교 실험과 결과 정리를 하겠습니다.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[15초]</a:t>
            </a:r>
          </a:p>
          <a:p>
            <a:r>
              <a:t>정리하면, GPS를 쓸 수 없는 환경에서 카메라와 IMU를 융합하고, 영상 품질에 따라 영상 측정의 반영 비중을 조절해 위치·속도·자세 추정을 더 안정적으로 만드는 것이 이 연구입니다. 이상으로 발표를 마치겠습니다. 감사합니다.</a:t>
            </a:r>
          </a:p>
        </p:txBody>
      </p:sp>
      <p:sp>
        <p:nvSpPr>
          <p:cNvPr id="4" name="Slide Number Placeholder 3"/>
          <p:cNvSpPr>
            <a:spLocks noGrp="1"/>
          </p:cNvSpPr>
          <p:nvPr>
            <p:ph type="sldNum" sz="quarter" idx="10"/>
          </p:nvPr>
        </p:nvSpPr>
        <p:spPr/>
        <p:txBody>
          <a:bodyPr/>
          <a:lstStyle/>
          <a:p>
            <a:pPr>
              <a:defRPr>
                <a:latin typeface="Arial"/>
                <a:ea typeface="MS PGothic"/>
              </a:defRPr>
            </a:pPr>
            <a:fld id="{5096BAED-5FB2-4DAD-92B2-076325177B4F}" type="slidenum">
              <a:rPr lang="en-US" smtClean="0">
                <a:latin typeface="Arial"/>
                <a:ea typeface="MS PGothic"/>
              </a:rPr>
              <a:pPr>
                <a:defRPr>
                  <a:latin typeface="Arial"/>
                  <a:ea typeface="MS PGothic"/>
                </a:defRPr>
              </a:pPr>
              <a:t>2</a:t>
            </a:fld>
            <a:endParaRPr lang="en-US" dirty="0">
              <a:latin typeface="Arial"/>
              <a:ea typeface="MS PGothic"/>
            </a:endParaRPr>
          </a:p>
        </p:txBody>
      </p:sp>
    </p:spTree>
    <p:extLst>
      <p:ext uri="{BB962C8B-B14F-4D97-AF65-F5344CB8AC3E}">
        <p14:creationId xmlns:p14="http://schemas.microsoft.com/office/powerpoint/2010/main" val="7947222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[45초]</a:t>
            </a:r>
          </a:p>
          <a:p>
            <a:r>
              <a:t>(위 세 칸) 실험은 세 방법을 같은 초기 조건과 같은 데이터 구간에서 비교합니다. IMU만 쓴 경우, 영상 보정 비중을 고정한 융합, 그리고 영상 신뢰도를 반영한 본 연구의 융합입니다.</a:t>
            </a:r>
          </a:p>
          <a:p>
            <a:r>
              <a:t>직선 주행, 선회, 정지와 출발 조건을 나누고, 영상 품질이 떨어지는 구간도 따로 봅니다. 또 영상을 일부러 흐리게 하거나 프레임을 빼는 실험을 추가하되, 원본 실험과 구분해서 기록합니다.</a:t>
            </a:r>
          </a:p>
          <a:p>
            <a:r>
              <a:t>평가는 기준 궤적과 비교한 위치 RMSE, 최종 위치 오차, 그리고 영상이 끊겼을 때 오차가 얼마나 늘어나는지로 하고, 기준 속도가 있으면 속도 RMSE와 처리시간도 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latin typeface="Arial"/>
                <a:ea typeface="MS PGothic"/>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a:ea typeface="MS PGothic"/>
              </a:defRPr>
            </a:lvl1pPr>
            <a:lvl2pPr marL="457200" indent="0" algn="ctr">
              <a:buNone/>
              <a:defRPr>
                <a:latin typeface="Arial"/>
                <a:ea typeface="MS PGothic"/>
              </a:defRPr>
            </a:lvl2pPr>
            <a:lvl3pPr marL="914400" indent="0" algn="ctr">
              <a:buNone/>
              <a:defRPr>
                <a:latin typeface="Arial"/>
                <a:ea typeface="MS PGothic"/>
              </a:defRPr>
            </a:lvl3pPr>
            <a:lvl4pPr marL="1371600" indent="0" algn="ctr">
              <a:buNone/>
              <a:defRPr>
                <a:latin typeface="Arial"/>
                <a:ea typeface="MS PGothic"/>
              </a:defRPr>
            </a:lvl4pPr>
            <a:lvl5pPr marL="1828800" indent="0" algn="ctr">
              <a:buNone/>
              <a:defRPr>
                <a:latin typeface="Arial"/>
                <a:ea typeface="MS PGothic"/>
              </a:defRPr>
            </a:lvl5pPr>
            <a:lvl6pPr marL="2286000" indent="0" algn="ctr">
              <a:buNone/>
              <a:defRPr>
                <a:latin typeface="Arial"/>
                <a:ea typeface="MS PGothic"/>
              </a:defRPr>
            </a:lvl6pPr>
            <a:lvl7pPr marL="2743200" indent="0" algn="ctr">
              <a:buNone/>
              <a:defRPr>
                <a:latin typeface="Arial"/>
                <a:ea typeface="MS PGothic"/>
              </a:defRPr>
            </a:lvl7pPr>
            <a:lvl8pPr marL="3200400" indent="0" algn="ctr">
              <a:buNone/>
              <a:defRPr>
                <a:latin typeface="Arial"/>
                <a:ea typeface="MS PGothic"/>
              </a:defRPr>
            </a:lvl8pPr>
            <a:lvl9pPr marL="3657600" indent="0" algn="ctr">
              <a:buNone/>
              <a:defRPr>
                <a:latin typeface="Arial"/>
                <a:ea typeface="MS PGothic"/>
              </a:defRPr>
            </a:lvl9pPr>
          </a:lstStyle>
          <a:p>
            <a:r>
              <a:rPr lang="en-US">
                <a:latin typeface="Arial"/>
                <a:ea typeface="MS PGothic"/>
              </a:rPr>
              <a:t>Click to edit Master subtitle style</a:t>
            </a:r>
          </a:p>
        </p:txBody>
      </p:sp>
    </p:spTree>
    <p:extLst>
      <p:ext uri="{BB962C8B-B14F-4D97-AF65-F5344CB8AC3E}">
        <p14:creationId xmlns:p14="http://schemas.microsoft.com/office/powerpoint/2010/main" val="3782718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3" name="Content Placeholder 2"/>
          <p:cNvSpPr>
            <a:spLocks noGrp="1"/>
          </p:cNvSpPr>
          <p:nvPr>
            <p:ph idx="1"/>
          </p:nvPr>
        </p:nvSpPr>
        <p:spPr>
          <a:xfrm>
            <a:off x="457200" y="939800"/>
            <a:ext cx="8229600" cy="5334000"/>
          </a:xfrm>
        </p:spPr>
        <p:txBody>
          <a:bodyPr/>
          <a:lstStyle>
            <a:lvl2pPr marL="742950" indent="-285750">
              <a:buFont typeface="Arial" panose="020B0604020202020204" pitchFamily="34" charset="0"/>
              <a:buChar char="-"/>
              <a:defRPr>
                <a:latin typeface="Arial"/>
                <a:ea typeface="MS PGothic"/>
              </a:defRPr>
            </a:lvl2pPr>
          </a:lstStyle>
          <a:p>
            <a:pPr lvl="0"/>
            <a:r>
              <a:rPr lang="en-US" dirty="0">
                <a:latin typeface="Arial"/>
                <a:ea typeface="MS PGothic"/>
              </a:rPr>
              <a:t>Click to edit Master text styles</a:t>
            </a:r>
          </a:p>
          <a:p>
            <a:pPr lvl="1"/>
            <a:r>
              <a:rPr lang="en-US" dirty="0">
                <a:latin typeface="Arial"/>
                <a:ea typeface="MS PGothic"/>
              </a:rPr>
              <a:t>Second level</a:t>
            </a:r>
          </a:p>
          <a:p>
            <a:pPr lvl="2"/>
            <a:r>
              <a:rPr lang="en-US" dirty="0">
                <a:latin typeface="Arial"/>
                <a:ea typeface="MS PGothic"/>
              </a:rPr>
              <a:t>Third level</a:t>
            </a:r>
          </a:p>
          <a:p>
            <a:pPr lvl="3"/>
            <a:r>
              <a:rPr lang="en-US" dirty="0">
                <a:latin typeface="Arial"/>
                <a:ea typeface="MS PGothic"/>
              </a:rPr>
              <a:t>Fourth level</a:t>
            </a:r>
          </a:p>
          <a:p>
            <a:pPr lvl="4"/>
            <a:r>
              <a:rPr lang="en-US" dirty="0">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399604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atin typeface="Arial"/>
                <a:ea typeface="MS PGothic"/>
              </a:defRPr>
            </a:lvl1pPr>
            <a:lvl2pPr marL="457200" indent="0">
              <a:buNone/>
              <a:defRPr sz="1800">
                <a:latin typeface="Arial"/>
                <a:ea typeface="MS PGothic"/>
              </a:defRPr>
            </a:lvl2pPr>
            <a:lvl3pPr marL="914400" indent="0">
              <a:buNone/>
              <a:defRPr sz="1600">
                <a:latin typeface="Arial"/>
                <a:ea typeface="MS PGothic"/>
              </a:defRPr>
            </a:lvl3pPr>
            <a:lvl4pPr marL="1371600" indent="0">
              <a:buNone/>
              <a:defRPr sz="1400">
                <a:latin typeface="Arial"/>
                <a:ea typeface="MS PGothic"/>
              </a:defRPr>
            </a:lvl4pPr>
            <a:lvl5pPr marL="1828800" indent="0">
              <a:buNone/>
              <a:defRPr sz="1400">
                <a:latin typeface="Arial"/>
                <a:ea typeface="MS PGothic"/>
              </a:defRPr>
            </a:lvl5pPr>
            <a:lvl6pPr marL="2286000" indent="0">
              <a:buNone/>
              <a:defRPr sz="1400">
                <a:latin typeface="Arial"/>
                <a:ea typeface="MS PGothic"/>
              </a:defRPr>
            </a:lvl6pPr>
            <a:lvl7pPr marL="2743200" indent="0">
              <a:buNone/>
              <a:defRPr sz="1400">
                <a:latin typeface="Arial"/>
                <a:ea typeface="MS PGothic"/>
              </a:defRPr>
            </a:lvl7pPr>
            <a:lvl8pPr marL="3200400" indent="0">
              <a:buNone/>
              <a:defRPr sz="1400">
                <a:latin typeface="Arial"/>
                <a:ea typeface="MS PGothic"/>
              </a:defRPr>
            </a:lvl8pPr>
            <a:lvl9pPr marL="3657600" indent="0">
              <a:buNone/>
              <a:defRPr sz="1400">
                <a:latin typeface="Arial"/>
                <a:ea typeface="MS PGothic"/>
              </a:defRPr>
            </a:lvl9pPr>
          </a:lstStyle>
          <a:p>
            <a:pPr lvl="0"/>
            <a:r>
              <a:rPr lang="en-US">
                <a:latin typeface="Arial"/>
                <a:ea typeface="MS PGothic"/>
              </a:rPr>
              <a:t>Click to edit Master text styles</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320148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ontent Placeholder 3"/>
          <p:cNvSpPr>
            <a:spLocks noGrp="1"/>
          </p:cNvSpPr>
          <p:nvPr>
            <p:ph sz="half" idx="2"/>
          </p:nvPr>
        </p:nvSpPr>
        <p:spPr>
          <a:xfrm>
            <a:off x="4648200" y="1676400"/>
            <a:ext cx="3810000" cy="4267200"/>
          </a:xfrm>
        </p:spPr>
        <p:txBody>
          <a:bodyPr/>
          <a:lstStyle>
            <a:lvl1pPr>
              <a:defRPr sz="2800">
                <a:latin typeface="Arial"/>
                <a:ea typeface="MS PGothic"/>
              </a:defRPr>
            </a:lvl1pPr>
            <a:lvl2pPr>
              <a:defRPr sz="2400">
                <a:latin typeface="Arial"/>
                <a:ea typeface="MS PGothic"/>
              </a:defRPr>
            </a:lvl2pPr>
            <a:lvl3pPr>
              <a:defRPr sz="2000">
                <a:latin typeface="Arial"/>
                <a:ea typeface="MS PGothic"/>
              </a:defRPr>
            </a:lvl3pPr>
            <a:lvl4pPr>
              <a:defRPr sz="1800">
                <a:latin typeface="Arial"/>
                <a:ea typeface="MS PGothic"/>
              </a:defRPr>
            </a:lvl4pPr>
            <a:lvl5pPr>
              <a:defRPr sz="1800">
                <a:latin typeface="Arial"/>
                <a:ea typeface="MS PGothic"/>
              </a:defRPr>
            </a:lvl5pPr>
            <a:lvl6pPr>
              <a:defRPr sz="1800">
                <a:latin typeface="Arial"/>
                <a:ea typeface="MS PGothic"/>
              </a:defRPr>
            </a:lvl6pPr>
            <a:lvl7pPr>
              <a:defRPr sz="1800">
                <a:latin typeface="Arial"/>
                <a:ea typeface="MS PGothic"/>
              </a:defRPr>
            </a:lvl7pPr>
            <a:lvl8pPr>
              <a:defRPr sz="1800">
                <a:latin typeface="Arial"/>
                <a:ea typeface="MS PGothic"/>
              </a:defRPr>
            </a:lvl8pPr>
            <a:lvl9pPr>
              <a:defRPr sz="18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7" name="Straight Connector 6"/>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9" name="TextBox 8"/>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857885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atin typeface="Arial"/>
                <a:ea typeface="MS PGothic"/>
              </a:defRPr>
            </a:lvl1pPr>
          </a:lstStyle>
          <a:p>
            <a:r>
              <a:rPr lang="en-US">
                <a:latin typeface="Arial"/>
                <a:ea typeface="MS PGothic"/>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atin typeface="Arial"/>
                <a:ea typeface="MS PGothic"/>
              </a:defRPr>
            </a:lvl1pPr>
            <a:lvl2pPr marL="457200" indent="0">
              <a:buNone/>
              <a:defRPr sz="2000" b="1">
                <a:latin typeface="Arial"/>
                <a:ea typeface="MS PGothic"/>
              </a:defRPr>
            </a:lvl2pPr>
            <a:lvl3pPr marL="914400" indent="0">
              <a:buNone/>
              <a:defRPr sz="1800" b="1">
                <a:latin typeface="Arial"/>
                <a:ea typeface="MS PGothic"/>
              </a:defRPr>
            </a:lvl3pPr>
            <a:lvl4pPr marL="1371600" indent="0">
              <a:buNone/>
              <a:defRPr sz="1600" b="1">
                <a:latin typeface="Arial"/>
                <a:ea typeface="MS PGothic"/>
              </a:defRPr>
            </a:lvl4pPr>
            <a:lvl5pPr marL="1828800" indent="0">
              <a:buNone/>
              <a:defRPr sz="1600" b="1">
                <a:latin typeface="Arial"/>
                <a:ea typeface="MS PGothic"/>
              </a:defRPr>
            </a:lvl5pPr>
            <a:lvl6pPr marL="2286000" indent="0">
              <a:buNone/>
              <a:defRPr sz="1600" b="1">
                <a:latin typeface="Arial"/>
                <a:ea typeface="MS PGothic"/>
              </a:defRPr>
            </a:lvl6pPr>
            <a:lvl7pPr marL="2743200" indent="0">
              <a:buNone/>
              <a:defRPr sz="1600" b="1">
                <a:latin typeface="Arial"/>
                <a:ea typeface="MS PGothic"/>
              </a:defRPr>
            </a:lvl7pPr>
            <a:lvl8pPr marL="3200400" indent="0">
              <a:buNone/>
              <a:defRPr sz="1600" b="1">
                <a:latin typeface="Arial"/>
                <a:ea typeface="MS PGothic"/>
              </a:defRPr>
            </a:lvl8pPr>
            <a:lvl9pPr marL="3657600" indent="0">
              <a:buNone/>
              <a:defRPr sz="1600" b="1">
                <a:latin typeface="Arial"/>
                <a:ea typeface="MS PGothic"/>
              </a:defRPr>
            </a:lvl9pPr>
          </a:lstStyle>
          <a:p>
            <a:pPr lvl="0"/>
            <a:r>
              <a:rPr lang="en-US">
                <a:latin typeface="Arial"/>
                <a:ea typeface="MS PGothic"/>
              </a:rPr>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atin typeface="Arial"/>
                <a:ea typeface="MS PGothic"/>
              </a:defRPr>
            </a:lvl1pPr>
            <a:lvl2pPr>
              <a:defRPr sz="2000">
                <a:latin typeface="Arial"/>
                <a:ea typeface="MS PGothic"/>
              </a:defRPr>
            </a:lvl2pPr>
            <a:lvl3pPr>
              <a:defRPr sz="1800">
                <a:latin typeface="Arial"/>
                <a:ea typeface="MS PGothic"/>
              </a:defRPr>
            </a:lvl3pPr>
            <a:lvl4pPr>
              <a:defRPr sz="1600">
                <a:latin typeface="Arial"/>
                <a:ea typeface="MS PGothic"/>
              </a:defRPr>
            </a:lvl4pPr>
            <a:lvl5pPr>
              <a:defRPr sz="1600">
                <a:latin typeface="Arial"/>
                <a:ea typeface="MS PGothic"/>
              </a:defRPr>
            </a:lvl5pPr>
            <a:lvl6pPr>
              <a:defRPr sz="1600">
                <a:latin typeface="Arial"/>
                <a:ea typeface="MS PGothic"/>
              </a:defRPr>
            </a:lvl6pPr>
            <a:lvl7pPr>
              <a:defRPr sz="1600">
                <a:latin typeface="Arial"/>
                <a:ea typeface="MS PGothic"/>
              </a:defRPr>
            </a:lvl7pPr>
            <a:lvl8pPr>
              <a:defRPr sz="1600">
                <a:latin typeface="Arial"/>
                <a:ea typeface="MS PGothic"/>
              </a:defRPr>
            </a:lvl8pPr>
            <a:lvl9pPr>
              <a:defRPr sz="16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7"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8" name="TextBox 7"/>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52587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cxnSp>
        <p:nvCxnSpPr>
          <p:cNvPr id="5" name="Straight Connector 4"/>
          <p:cNvCxnSpPr/>
          <p:nvPr userDrawn="1"/>
        </p:nvCxnSpPr>
        <p:spPr bwMode="auto">
          <a:xfrm>
            <a:off x="320040" y="876300"/>
            <a:ext cx="8503920" cy="0"/>
          </a:xfrm>
          <a:prstGeom prst="line">
            <a:avLst/>
          </a:prstGeom>
          <a:solidFill>
            <a:schemeClr val="accent1"/>
          </a:solidFill>
          <a:ln w="38100" cap="flat" cmpd="sng" algn="ctr">
            <a:solidFill>
              <a:srgbClr val="3B4C97"/>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Title 1"/>
          <p:cNvSpPr>
            <a:spLocks noGrp="1"/>
          </p:cNvSpPr>
          <p:nvPr>
            <p:ph type="title"/>
          </p:nvPr>
        </p:nvSpPr>
        <p:spPr>
          <a:xfrm>
            <a:off x="457200" y="50800"/>
            <a:ext cx="8229600" cy="822960"/>
          </a:xfrm>
        </p:spPr>
        <p:txBody>
          <a:bodyPr/>
          <a:lstStyle/>
          <a:p>
            <a:r>
              <a:rPr lang="en-US">
                <a:latin typeface="Arial"/>
                <a:ea typeface="MS PGothic"/>
              </a:rPr>
              <a:t>Click to edit Master title style</a:t>
            </a:r>
          </a:p>
        </p:txBody>
      </p:sp>
      <p:sp>
        <p:nvSpPr>
          <p:cNvPr id="7" name="TextBox 6"/>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491598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3" name="TextBox 2"/>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426982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Content Placeholder 2"/>
          <p:cNvSpPr>
            <a:spLocks noGrp="1"/>
          </p:cNvSpPr>
          <p:nvPr>
            <p:ph idx="1"/>
          </p:nvPr>
        </p:nvSpPr>
        <p:spPr>
          <a:xfrm>
            <a:off x="3575051" y="273052"/>
            <a:ext cx="5111750" cy="5853113"/>
          </a:xfrm>
        </p:spPr>
        <p:txBody>
          <a:bodyPr/>
          <a:lstStyle>
            <a:lvl1pPr>
              <a:defRPr sz="3200">
                <a:latin typeface="Arial"/>
                <a:ea typeface="MS PGothic"/>
              </a:defRPr>
            </a:lvl1pPr>
            <a:lvl2pPr>
              <a:defRPr sz="2800">
                <a:latin typeface="Arial"/>
                <a:ea typeface="MS PGothic"/>
              </a:defRPr>
            </a:lvl2pPr>
            <a:lvl3pPr>
              <a:defRPr sz="2400">
                <a:latin typeface="Arial"/>
                <a:ea typeface="MS PGothic"/>
              </a:defRPr>
            </a:lvl3pPr>
            <a:lvl4pPr>
              <a:defRPr sz="2000">
                <a:latin typeface="Arial"/>
                <a:ea typeface="MS PGothic"/>
              </a:defRPr>
            </a:lvl4pPr>
            <a:lvl5pPr>
              <a:defRPr sz="2000">
                <a:latin typeface="Arial"/>
                <a:ea typeface="MS PGothic"/>
              </a:defRPr>
            </a:lvl5pPr>
            <a:lvl6pPr>
              <a:defRPr sz="2000">
                <a:latin typeface="Arial"/>
                <a:ea typeface="MS PGothic"/>
              </a:defRPr>
            </a:lvl6pPr>
            <a:lvl7pPr>
              <a:defRPr sz="2000">
                <a:latin typeface="Arial"/>
                <a:ea typeface="MS PGothic"/>
              </a:defRPr>
            </a:lvl7pPr>
            <a:lvl8pPr>
              <a:defRPr sz="2000">
                <a:latin typeface="Arial"/>
                <a:ea typeface="MS PGothic"/>
              </a:defRPr>
            </a:lvl8pPr>
            <a:lvl9pPr>
              <a:defRPr sz="2000">
                <a:latin typeface="Arial"/>
                <a:ea typeface="MS PGothic"/>
              </a:defRPr>
            </a:lvl9p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Text Placeholder 3"/>
          <p:cNvSpPr>
            <a:spLocks noGrp="1"/>
          </p:cNvSpPr>
          <p:nvPr>
            <p:ph type="body" sz="half" idx="2"/>
          </p:nvPr>
        </p:nvSpPr>
        <p:spPr>
          <a:xfrm>
            <a:off x="457200" y="1435102"/>
            <a:ext cx="3008313" cy="4691063"/>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811820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Arial"/>
                <a:ea typeface="MS PGothic"/>
              </a:defRPr>
            </a:lvl1pPr>
          </a:lstStyle>
          <a:p>
            <a:r>
              <a:rPr lang="en-US">
                <a:latin typeface="Arial"/>
                <a:ea typeface="MS PGothic"/>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Arial"/>
                <a:ea typeface="MS PGothic"/>
              </a:defRPr>
            </a:lvl1pPr>
            <a:lvl2pPr marL="457200" indent="0">
              <a:buNone/>
              <a:defRPr sz="2800">
                <a:latin typeface="Arial"/>
                <a:ea typeface="MS PGothic"/>
              </a:defRPr>
            </a:lvl2pPr>
            <a:lvl3pPr marL="914400" indent="0">
              <a:buNone/>
              <a:defRPr sz="2400">
                <a:latin typeface="Arial"/>
                <a:ea typeface="MS PGothic"/>
              </a:defRPr>
            </a:lvl3pPr>
            <a:lvl4pPr marL="1371600" indent="0">
              <a:buNone/>
              <a:defRPr sz="2000">
                <a:latin typeface="Arial"/>
                <a:ea typeface="MS PGothic"/>
              </a:defRPr>
            </a:lvl4pPr>
            <a:lvl5pPr marL="1828800" indent="0">
              <a:buNone/>
              <a:defRPr sz="2000">
                <a:latin typeface="Arial"/>
                <a:ea typeface="MS PGothic"/>
              </a:defRPr>
            </a:lvl5pPr>
            <a:lvl6pPr marL="2286000" indent="0">
              <a:buNone/>
              <a:defRPr sz="2000">
                <a:latin typeface="Arial"/>
                <a:ea typeface="MS PGothic"/>
              </a:defRPr>
            </a:lvl6pPr>
            <a:lvl7pPr marL="2743200" indent="0">
              <a:buNone/>
              <a:defRPr sz="2000">
                <a:latin typeface="Arial"/>
                <a:ea typeface="MS PGothic"/>
              </a:defRPr>
            </a:lvl7pPr>
            <a:lvl8pPr marL="3200400" indent="0">
              <a:buNone/>
              <a:defRPr sz="2000">
                <a:latin typeface="Arial"/>
                <a:ea typeface="MS PGothic"/>
              </a:defRPr>
            </a:lvl8pPr>
            <a:lvl9pPr marL="3657600" indent="0">
              <a:buNone/>
              <a:defRPr sz="2000">
                <a:latin typeface="Arial"/>
                <a:ea typeface="MS PGothic"/>
              </a:defRPr>
            </a:lvl9pPr>
          </a:lstStyle>
          <a:p>
            <a:pPr lvl="0"/>
            <a:endParaRPr lang="en-US" noProof="0" dirty="0">
              <a:latin typeface="Arial"/>
              <a:ea typeface="MS PGothic"/>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Arial"/>
                <a:ea typeface="MS PGothic"/>
              </a:defRPr>
            </a:lvl1pPr>
            <a:lvl2pPr marL="457200" indent="0">
              <a:buNone/>
              <a:defRPr sz="1200">
                <a:latin typeface="Arial"/>
                <a:ea typeface="MS PGothic"/>
              </a:defRPr>
            </a:lvl2pPr>
            <a:lvl3pPr marL="914400" indent="0">
              <a:buNone/>
              <a:defRPr sz="1000">
                <a:latin typeface="Arial"/>
                <a:ea typeface="MS PGothic"/>
              </a:defRPr>
            </a:lvl3pPr>
            <a:lvl4pPr marL="1371600" indent="0">
              <a:buNone/>
              <a:defRPr sz="900">
                <a:latin typeface="Arial"/>
                <a:ea typeface="MS PGothic"/>
              </a:defRPr>
            </a:lvl4pPr>
            <a:lvl5pPr marL="1828800" indent="0">
              <a:buNone/>
              <a:defRPr sz="900">
                <a:latin typeface="Arial"/>
                <a:ea typeface="MS PGothic"/>
              </a:defRPr>
            </a:lvl5pPr>
            <a:lvl6pPr marL="2286000" indent="0">
              <a:buNone/>
              <a:defRPr sz="900">
                <a:latin typeface="Arial"/>
                <a:ea typeface="MS PGothic"/>
              </a:defRPr>
            </a:lvl6pPr>
            <a:lvl7pPr marL="2743200" indent="0">
              <a:buNone/>
              <a:defRPr sz="900">
                <a:latin typeface="Arial"/>
                <a:ea typeface="MS PGothic"/>
              </a:defRPr>
            </a:lvl7pPr>
            <a:lvl8pPr marL="3200400" indent="0">
              <a:buNone/>
              <a:defRPr sz="900">
                <a:latin typeface="Arial"/>
                <a:ea typeface="MS PGothic"/>
              </a:defRPr>
            </a:lvl8pPr>
            <a:lvl9pPr marL="3657600" indent="0">
              <a:buNone/>
              <a:defRPr sz="900">
                <a:latin typeface="Arial"/>
                <a:ea typeface="MS PGothic"/>
              </a:defRPr>
            </a:lvl9pPr>
          </a:lstStyle>
          <a:p>
            <a:pPr lvl="0"/>
            <a:r>
              <a:rPr lang="en-US">
                <a:latin typeface="Arial"/>
                <a:ea typeface="MS PGothic"/>
              </a:rPr>
              <a:t>Click to edit Master text styles</a:t>
            </a: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1751233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Arial"/>
                <a:ea typeface="MS PGothic"/>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2695774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715000"/>
          </a:xfrm>
        </p:spPr>
        <p:txBody>
          <a:bodyPr vert="eaVert"/>
          <a:lstStyle/>
          <a:p>
            <a:r>
              <a:rPr lang="en-US">
                <a:latin typeface="Arial"/>
                <a:ea typeface="MS PGothic"/>
              </a:rPr>
              <a:t>Click to edit Master title style</a:t>
            </a:r>
          </a:p>
        </p:txBody>
      </p:sp>
      <p:sp>
        <p:nvSpPr>
          <p:cNvPr id="3" name="Vertical Text Placeholder 2"/>
          <p:cNvSpPr>
            <a:spLocks noGrp="1"/>
          </p:cNvSpPr>
          <p:nvPr>
            <p:ph type="body" orient="vert" idx="1"/>
          </p:nvPr>
        </p:nvSpPr>
        <p:spPr>
          <a:xfrm>
            <a:off x="685800" y="228600"/>
            <a:ext cx="5676900" cy="5715000"/>
          </a:xfrm>
        </p:spPr>
        <p:txBody>
          <a:bodyPr vert="eaVert"/>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Rectangle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5" name="TextBox 4"/>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4273031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143000"/>
          </a:xfrm>
        </p:spPr>
        <p:txBody>
          <a:bodyPr/>
          <a:lstStyle/>
          <a:p>
            <a:r>
              <a:rPr lang="en-US">
                <a:latin typeface="Arial"/>
                <a:ea typeface="MS PGothic"/>
              </a:rPr>
              <a:t>Click to edit Master title style</a:t>
            </a:r>
          </a:p>
        </p:txBody>
      </p:sp>
      <p:sp>
        <p:nvSpPr>
          <p:cNvPr id="3" name="Text Placeholder 2"/>
          <p:cNvSpPr>
            <a:spLocks noGrp="1"/>
          </p:cNvSpPr>
          <p:nvPr>
            <p:ph type="body" sz="half" idx="1"/>
          </p:nvPr>
        </p:nvSpPr>
        <p:spPr>
          <a:xfrm>
            <a:off x="685800" y="1676400"/>
            <a:ext cx="3810000" cy="4267200"/>
          </a:xfrm>
        </p:spPr>
        <p:txBody>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4" name="Chart Placeholder 3"/>
          <p:cNvSpPr>
            <a:spLocks noGrp="1"/>
          </p:cNvSpPr>
          <p:nvPr>
            <p:ph type="chart" sz="half" idx="2"/>
          </p:nvPr>
        </p:nvSpPr>
        <p:spPr>
          <a:xfrm>
            <a:off x="4648200" y="1676400"/>
            <a:ext cx="3810000" cy="4267200"/>
          </a:xfrm>
        </p:spPr>
        <p:txBody>
          <a:bodyPr/>
          <a:lstStyle/>
          <a:p>
            <a:pPr lvl="0"/>
            <a:endParaRPr lang="en-US" noProof="0" dirty="0">
              <a:latin typeface="Arial"/>
              <a:ea typeface="MS PGothic"/>
            </a:endParaRPr>
          </a:p>
        </p:txBody>
      </p:sp>
      <p:sp>
        <p:nvSpPr>
          <p:cNvPr id="5" name="Date Placeholder 4"/>
          <p:cNvSpPr>
            <a:spLocks noGrp="1" noChangeArrowheads="1"/>
          </p:cNvSpPr>
          <p:nvPr>
            <p:ph type="dt" sz="half" idx="10"/>
          </p:nvPr>
        </p:nvSpPr>
        <p:spPr>
          <a:xfrm>
            <a:off x="76200" y="6352908"/>
            <a:ext cx="1905000" cy="352693"/>
          </a:xfrm>
          <a:prstGeom prst="rect">
            <a:avLst/>
          </a:prstGeom>
          <a:ln/>
        </p:spPr>
        <p:txBody>
          <a:bodyPr/>
          <a:lstStyle>
            <a:lvl1pPr>
              <a:defRPr>
                <a:latin typeface="Arial"/>
                <a:ea typeface="MS PGothic"/>
              </a:defRPr>
            </a:lvl1pPr>
          </a:lstStyle>
          <a:p>
            <a:pPr>
              <a:defRPr>
                <a:latin typeface="Arial"/>
                <a:ea typeface="MS PGothic"/>
              </a:defRPr>
            </a:pPr>
            <a:endParaRPr lang="en-US" dirty="0">
              <a:latin typeface="Arial"/>
              <a:ea typeface="MS PGothic"/>
            </a:endParaRPr>
          </a:p>
        </p:txBody>
      </p:sp>
      <p:sp>
        <p:nvSpPr>
          <p:cNvPr id="6" name="TextBox 5"/>
          <p:cNvSpPr txBox="1"/>
          <p:nvPr userDrawn="1"/>
        </p:nvSpPr>
        <p:spPr>
          <a:xfrm>
            <a:off x="4370663" y="6496945"/>
            <a:ext cx="341760" cy="246221"/>
          </a:xfrm>
          <a:prstGeom prst="rect">
            <a:avLst/>
          </a:prstGeom>
          <a:noFill/>
        </p:spPr>
        <p:txBody>
          <a:bodyPr wrap="none" rtlCol="0">
            <a:spAutoFit/>
          </a:bodyPr>
          <a:lstStyle/>
          <a:p>
            <a:fld id="{DBBA9341-921B-4DA2-8C1C-6C232162D986}" type="slidenum">
              <a:rPr lang="en-US" sz="1000" smtClean="0">
                <a:solidFill>
                  <a:schemeClr val="tx1">
                    <a:lumMod val="50000"/>
                    <a:lumOff val="50000"/>
                  </a:schemeClr>
                </a:solidFill>
                <a:latin typeface="Arial"/>
                <a:ea typeface="MS PGothic"/>
              </a:rPr>
              <a:t>‹#›</a:t>
            </a:fld>
            <a:endParaRPr lang="en-US" sz="1000" dirty="0">
              <a:solidFill>
                <a:schemeClr val="tx1">
                  <a:lumMod val="50000"/>
                  <a:lumOff val="50000"/>
                </a:schemeClr>
              </a:solidFill>
              <a:latin typeface="Arial"/>
              <a:ea typeface="MS PGothic"/>
            </a:endParaRPr>
          </a:p>
        </p:txBody>
      </p:sp>
    </p:spTree>
    <p:extLst>
      <p:ext uri="{BB962C8B-B14F-4D97-AF65-F5344CB8AC3E}">
        <p14:creationId xmlns:p14="http://schemas.microsoft.com/office/powerpoint/2010/main" val="5611519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 Id="rId1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p:cNvSpPr/>
          <p:nvPr userDrawn="1"/>
        </p:nvSpPr>
        <p:spPr bwMode="auto">
          <a:xfrm>
            <a:off x="0" y="6315075"/>
            <a:ext cx="9144000" cy="542925"/>
          </a:xfrm>
          <a:prstGeom prst="rect">
            <a:avLst/>
          </a:prstGeom>
          <a:gradFill flip="none" rotWithShape="1">
            <a:gsLst>
              <a:gs pos="0">
                <a:schemeClr val="bg1"/>
              </a:gs>
              <a:gs pos="11664">
                <a:srgbClr val="FFFFFF"/>
              </a:gs>
              <a:gs pos="100000">
                <a:srgbClr val="3B4C97">
                  <a:shade val="100000"/>
                  <a:satMod val="115000"/>
                </a:srgbClr>
              </a:gs>
            </a:gsLst>
            <a:lin ang="0" scaled="0"/>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a typeface="MS PGothic" pitchFamily="1" charset="-128"/>
            </a:endParaRPr>
          </a:p>
        </p:txBody>
      </p:sp>
      <p:sp>
        <p:nvSpPr>
          <p:cNvPr id="1027" name="Rectangle 2"/>
          <p:cNvSpPr>
            <a:spLocks noGrp="1" noChangeArrowheads="1"/>
          </p:cNvSpPr>
          <p:nvPr>
            <p:ph type="title"/>
          </p:nvPr>
        </p:nvSpPr>
        <p:spPr bwMode="auto">
          <a:xfrm>
            <a:off x="457200" y="228600"/>
            <a:ext cx="8229600" cy="822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latin typeface="Arial"/>
                <a:ea typeface="MS PGothic"/>
              </a:rPr>
              <a:t>Click to edit Master title style</a:t>
            </a:r>
          </a:p>
        </p:txBody>
      </p:sp>
      <p:sp>
        <p:nvSpPr>
          <p:cNvPr id="1028" name="Rectangle 3"/>
          <p:cNvSpPr>
            <a:spLocks noGrp="1" noChangeArrowheads="1"/>
          </p:cNvSpPr>
          <p:nvPr>
            <p:ph type="body" idx="1"/>
          </p:nvPr>
        </p:nvSpPr>
        <p:spPr bwMode="auto">
          <a:xfrm>
            <a:off x="457200" y="1185400"/>
            <a:ext cx="8229600" cy="4937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atin typeface="Arial"/>
                <a:ea typeface="MS PGothic"/>
              </a:rPr>
              <a:t>Click to edit Master text styles</a:t>
            </a:r>
          </a:p>
          <a:p>
            <a:pPr lvl="1"/>
            <a:r>
              <a:rPr lang="en-US">
                <a:latin typeface="Arial"/>
                <a:ea typeface="MS PGothic"/>
              </a:rPr>
              <a:t>Second level</a:t>
            </a:r>
          </a:p>
          <a:p>
            <a:pPr lvl="2"/>
            <a:r>
              <a:rPr lang="en-US">
                <a:latin typeface="Arial"/>
                <a:ea typeface="MS PGothic"/>
              </a:rPr>
              <a:t>Third level</a:t>
            </a:r>
          </a:p>
          <a:p>
            <a:pPr lvl="3"/>
            <a:r>
              <a:rPr lang="en-US">
                <a:latin typeface="Arial"/>
                <a:ea typeface="MS PGothic"/>
              </a:rPr>
              <a:t>Fourth level</a:t>
            </a:r>
          </a:p>
          <a:p>
            <a:pPr lvl="4"/>
            <a:r>
              <a:rPr lang="en-US">
                <a:latin typeface="Arial"/>
                <a:ea typeface="MS PGothic"/>
              </a:rPr>
              <a:t>Fifth level</a:t>
            </a:r>
          </a:p>
        </p:txBody>
      </p:sp>
      <p:sp>
        <p:nvSpPr>
          <p:cNvPr id="12" name="TextBox 11"/>
          <p:cNvSpPr txBox="1"/>
          <p:nvPr userDrawn="1"/>
        </p:nvSpPr>
        <p:spPr>
          <a:xfrm>
            <a:off x="1133475" y="6372438"/>
            <a:ext cx="1547537" cy="415498"/>
          </a:xfrm>
          <a:prstGeom prst="rect">
            <a:avLst/>
          </a:prstGeom>
          <a:noFill/>
        </p:spPr>
        <p:txBody>
          <a:bodyPr wrap="square" rtlCol="0">
            <a:spAutoFit/>
          </a:bodyPr>
          <a:lstStyle/>
          <a:p>
            <a:r>
              <a:rPr lang="en-US" sz="1050" dirty="0">
                <a:solidFill>
                  <a:schemeClr val="tx1"/>
                </a:solidFill>
                <a:latin typeface="Arial"/>
                <a:ea typeface="MS PGothic"/>
              </a:rPr>
              <a:t>Vehicle</a:t>
            </a:r>
            <a:r>
              <a:rPr lang="en-US" sz="1050" baseline="0" dirty="0">
                <a:solidFill>
                  <a:schemeClr val="tx1"/>
                </a:solidFill>
                <a:latin typeface="Arial"/>
                <a:ea typeface="MS PGothic"/>
              </a:rPr>
              <a:t> Dynamics and Energy Control Lab.</a:t>
            </a:r>
            <a:endParaRPr lang="en-US" sz="1050" dirty="0">
              <a:solidFill>
                <a:schemeClr val="tx1"/>
              </a:solidFill>
              <a:latin typeface="Arial"/>
              <a:ea typeface="MS PGothic"/>
            </a:endParaRPr>
          </a:p>
        </p:txBody>
      </p:sp>
      <p:pic>
        <p:nvPicPr>
          <p:cNvPr id="4" name="Picture 3"/>
          <p:cNvPicPr>
            <a:picLocks noChangeAspect="1" noChangeArrowheads="1"/>
          </p:cNvPicPr>
          <p:nvPr userDrawn="1"/>
        </p:nvPicPr>
        <p:blipFill>
          <a:blip r:embed="rId14" cstate="print">
            <a:clrChange>
              <a:clrFrom>
                <a:srgbClr val="070404"/>
              </a:clrFrom>
              <a:clrTo>
                <a:srgbClr val="070404">
                  <a:alpha val="0"/>
                </a:srgbClr>
              </a:clrTo>
            </a:clrChange>
            <a:extLst>
              <a:ext uri="{28A0092B-C50C-407E-A947-70E740481C1C}">
                <a14:useLocalDpi xmlns:a14="http://schemas.microsoft.com/office/drawing/2010/main" val="0"/>
              </a:ext>
            </a:extLst>
          </a:blip>
          <a:srcRect/>
          <a:stretch>
            <a:fillRect/>
          </a:stretch>
        </p:blipFill>
        <p:spPr bwMode="auto">
          <a:xfrm>
            <a:off x="7710488" y="6397184"/>
            <a:ext cx="1243012" cy="390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4"/>
          <p:cNvPicPr>
            <a:picLocks noChangeAspect="1" noChangeArrowheads="1"/>
          </p:cNvPicPr>
          <p:nvPr userDrawn="1"/>
        </p:nvPicPr>
        <p:blipFill rotWithShape="1">
          <a:blip r:embed="rId15" cstate="print">
            <a:extLst>
              <a:ext uri="{28A0092B-C50C-407E-A947-70E740481C1C}">
                <a14:useLocalDpi xmlns:a14="http://schemas.microsoft.com/office/drawing/2010/main" val="0"/>
              </a:ext>
            </a:extLst>
          </a:blip>
          <a:srcRect b="16120"/>
          <a:stretch/>
        </p:blipFill>
        <p:spPr bwMode="auto">
          <a:xfrm>
            <a:off x="114300" y="6372225"/>
            <a:ext cx="1047750" cy="35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200" b="1">
          <a:solidFill>
            <a:srgbClr val="000F65"/>
          </a:solidFill>
          <a:latin typeface="Arial"/>
          <a:ea typeface="MS PGothic"/>
          <a:cs typeface="+mj-cs"/>
        </a:defRPr>
      </a:lvl1pPr>
      <a:lvl2pPr algn="l" rtl="0" eaLnBrk="0" fontAlgn="base" hangingPunct="0">
        <a:spcBef>
          <a:spcPct val="0"/>
        </a:spcBef>
        <a:spcAft>
          <a:spcPct val="0"/>
        </a:spcAft>
        <a:defRPr sz="4200" b="1">
          <a:solidFill>
            <a:srgbClr val="000F65"/>
          </a:solidFill>
          <a:latin typeface="Arial" charset="0"/>
          <a:ea typeface="MS PGothic" pitchFamily="1" charset="-128"/>
        </a:defRPr>
      </a:lvl2pPr>
      <a:lvl3pPr algn="l" rtl="0" eaLnBrk="0" fontAlgn="base" hangingPunct="0">
        <a:spcBef>
          <a:spcPct val="0"/>
        </a:spcBef>
        <a:spcAft>
          <a:spcPct val="0"/>
        </a:spcAft>
        <a:defRPr sz="4200" b="1">
          <a:solidFill>
            <a:srgbClr val="000F65"/>
          </a:solidFill>
          <a:latin typeface="Arial" charset="0"/>
          <a:ea typeface="MS PGothic" pitchFamily="1" charset="-128"/>
        </a:defRPr>
      </a:lvl3pPr>
      <a:lvl4pPr algn="l" rtl="0" eaLnBrk="0" fontAlgn="base" hangingPunct="0">
        <a:spcBef>
          <a:spcPct val="0"/>
        </a:spcBef>
        <a:spcAft>
          <a:spcPct val="0"/>
        </a:spcAft>
        <a:defRPr sz="4200" b="1">
          <a:solidFill>
            <a:srgbClr val="000F65"/>
          </a:solidFill>
          <a:latin typeface="Arial" charset="0"/>
          <a:ea typeface="MS PGothic" pitchFamily="1" charset="-128"/>
        </a:defRPr>
      </a:lvl4pPr>
      <a:lvl5pPr algn="l" rtl="0" eaLnBrk="0" fontAlgn="base" hangingPunct="0">
        <a:spcBef>
          <a:spcPct val="0"/>
        </a:spcBef>
        <a:spcAft>
          <a:spcPct val="0"/>
        </a:spcAft>
        <a:defRPr sz="4200" b="1">
          <a:solidFill>
            <a:srgbClr val="000F65"/>
          </a:solidFill>
          <a:latin typeface="Arial" charset="0"/>
          <a:ea typeface="MS PGothic" pitchFamily="1" charset="-128"/>
        </a:defRPr>
      </a:lvl5pPr>
      <a:lvl6pPr marL="457200" algn="l" rtl="0" fontAlgn="base">
        <a:spcBef>
          <a:spcPct val="0"/>
        </a:spcBef>
        <a:spcAft>
          <a:spcPct val="0"/>
        </a:spcAft>
        <a:defRPr sz="4200" b="1">
          <a:solidFill>
            <a:srgbClr val="000F65"/>
          </a:solidFill>
          <a:latin typeface="Arial" charset="0"/>
          <a:ea typeface="MS PGothic" pitchFamily="1" charset="-128"/>
        </a:defRPr>
      </a:lvl6pPr>
      <a:lvl7pPr marL="914400" algn="l" rtl="0" fontAlgn="base">
        <a:spcBef>
          <a:spcPct val="0"/>
        </a:spcBef>
        <a:spcAft>
          <a:spcPct val="0"/>
        </a:spcAft>
        <a:defRPr sz="4200" b="1">
          <a:solidFill>
            <a:srgbClr val="000F65"/>
          </a:solidFill>
          <a:latin typeface="Arial" charset="0"/>
          <a:ea typeface="MS PGothic" pitchFamily="1" charset="-128"/>
        </a:defRPr>
      </a:lvl7pPr>
      <a:lvl8pPr marL="1371600" algn="l" rtl="0" fontAlgn="base">
        <a:spcBef>
          <a:spcPct val="0"/>
        </a:spcBef>
        <a:spcAft>
          <a:spcPct val="0"/>
        </a:spcAft>
        <a:defRPr sz="4200" b="1">
          <a:solidFill>
            <a:srgbClr val="000F65"/>
          </a:solidFill>
          <a:latin typeface="Arial" charset="0"/>
          <a:ea typeface="MS PGothic" pitchFamily="1" charset="-128"/>
        </a:defRPr>
      </a:lvl8pPr>
      <a:lvl9pPr marL="1828800" algn="l" rtl="0" fontAlgn="base">
        <a:spcBef>
          <a:spcPct val="0"/>
        </a:spcBef>
        <a:spcAft>
          <a:spcPct val="0"/>
        </a:spcAft>
        <a:defRPr sz="4200" b="1">
          <a:solidFill>
            <a:srgbClr val="000F65"/>
          </a:solidFill>
          <a:latin typeface="Arial" charset="0"/>
          <a:ea typeface="MS PGothic" pitchFamily="1" charset="-128"/>
        </a:defRPr>
      </a:lvl9pPr>
    </p:titleStyle>
    <p:bodyStyle>
      <a:lvl1pPr marL="342900" indent="-342900" algn="l" rtl="0" eaLnBrk="0" fontAlgn="base" hangingPunct="0">
        <a:spcBef>
          <a:spcPct val="20000"/>
        </a:spcBef>
        <a:spcAft>
          <a:spcPct val="0"/>
        </a:spcAft>
        <a:buFont typeface="Wingdings" pitchFamily="2" charset="2"/>
        <a:defRPr sz="2800">
          <a:solidFill>
            <a:srgbClr val="000F65"/>
          </a:solidFill>
          <a:latin typeface="Arial"/>
          <a:ea typeface="MS PGothic"/>
          <a:cs typeface="+mn-cs"/>
        </a:defRPr>
      </a:lvl1pPr>
      <a:lvl2pPr marL="742950" indent="-285750" algn="l" rtl="0" eaLnBrk="0" fontAlgn="base" hangingPunct="0">
        <a:spcBef>
          <a:spcPct val="20000"/>
        </a:spcBef>
        <a:spcAft>
          <a:spcPct val="0"/>
        </a:spcAft>
        <a:buFont typeface="Wingdings" pitchFamily="2" charset="2"/>
        <a:buChar char="§"/>
        <a:defRPr sz="2800">
          <a:solidFill>
            <a:srgbClr val="000F65"/>
          </a:solidFill>
          <a:latin typeface="Arial"/>
          <a:ea typeface="MS PGothic"/>
        </a:defRPr>
      </a:lvl2pPr>
      <a:lvl3pPr marL="1143000" indent="-228600" algn="l" rtl="0" eaLnBrk="0" fontAlgn="base" hangingPunct="0">
        <a:spcBef>
          <a:spcPct val="20000"/>
        </a:spcBef>
        <a:spcAft>
          <a:spcPct val="0"/>
        </a:spcAft>
        <a:buFont typeface="Wingdings" pitchFamily="2" charset="2"/>
        <a:buChar char="§"/>
        <a:defRPr sz="2400">
          <a:solidFill>
            <a:srgbClr val="000F65"/>
          </a:solidFill>
          <a:latin typeface="Arial"/>
          <a:ea typeface="MS PGothic"/>
        </a:defRPr>
      </a:lvl3pPr>
      <a:lvl4pPr marL="1600200" indent="-228600" algn="l" rtl="0" eaLnBrk="0" fontAlgn="base" hangingPunct="0">
        <a:spcBef>
          <a:spcPct val="20000"/>
        </a:spcBef>
        <a:spcAft>
          <a:spcPct val="0"/>
        </a:spcAft>
        <a:buFont typeface="Wingdings" pitchFamily="2" charset="2"/>
        <a:buChar char="§"/>
        <a:defRPr sz="2000">
          <a:solidFill>
            <a:srgbClr val="000F65"/>
          </a:solidFill>
          <a:latin typeface="Arial"/>
          <a:ea typeface="MS PGothic"/>
        </a:defRPr>
      </a:lvl4pPr>
      <a:lvl5pPr marL="2057400" indent="-228600" algn="l" rtl="0" eaLnBrk="0" fontAlgn="base" hangingPunct="0">
        <a:spcBef>
          <a:spcPct val="20000"/>
        </a:spcBef>
        <a:spcAft>
          <a:spcPct val="0"/>
        </a:spcAft>
        <a:buFont typeface="Wingdings" pitchFamily="2" charset="2"/>
        <a:defRPr sz="1400">
          <a:solidFill>
            <a:srgbClr val="000F65"/>
          </a:solidFill>
          <a:latin typeface="Arial"/>
          <a:ea typeface="MS PGothic"/>
        </a:defRPr>
      </a:lvl5pPr>
      <a:lvl6pPr marL="2514600" indent="-228600" algn="l" rtl="0" fontAlgn="base">
        <a:spcBef>
          <a:spcPct val="20000"/>
        </a:spcBef>
        <a:spcAft>
          <a:spcPct val="0"/>
        </a:spcAft>
        <a:buFont typeface="Wingdings" pitchFamily="1" charset="2"/>
        <a:defRPr sz="1400">
          <a:solidFill>
            <a:srgbClr val="000F65"/>
          </a:solidFill>
          <a:latin typeface="Arial"/>
          <a:ea typeface="MS PGothic"/>
        </a:defRPr>
      </a:lvl6pPr>
      <a:lvl7pPr marL="2971800" indent="-228600" algn="l" rtl="0" fontAlgn="base">
        <a:spcBef>
          <a:spcPct val="20000"/>
        </a:spcBef>
        <a:spcAft>
          <a:spcPct val="0"/>
        </a:spcAft>
        <a:buFont typeface="Wingdings" pitchFamily="1" charset="2"/>
        <a:defRPr sz="1400">
          <a:solidFill>
            <a:srgbClr val="000F65"/>
          </a:solidFill>
          <a:latin typeface="Arial"/>
          <a:ea typeface="MS PGothic"/>
        </a:defRPr>
      </a:lvl7pPr>
      <a:lvl8pPr marL="3429000" indent="-228600" algn="l" rtl="0" fontAlgn="base">
        <a:spcBef>
          <a:spcPct val="20000"/>
        </a:spcBef>
        <a:spcAft>
          <a:spcPct val="0"/>
        </a:spcAft>
        <a:buFont typeface="Wingdings" pitchFamily="1" charset="2"/>
        <a:defRPr sz="1400">
          <a:solidFill>
            <a:srgbClr val="000F65"/>
          </a:solidFill>
          <a:latin typeface="Arial"/>
          <a:ea typeface="MS PGothic"/>
        </a:defRPr>
      </a:lvl8pPr>
      <a:lvl9pPr marL="3886200" indent="-228600" algn="l" rtl="0" fontAlgn="base">
        <a:spcBef>
          <a:spcPct val="20000"/>
        </a:spcBef>
        <a:spcAft>
          <a:spcPct val="0"/>
        </a:spcAft>
        <a:buFont typeface="Wingdings" pitchFamily="1" charset="2"/>
        <a:defRPr sz="1400">
          <a:solidFill>
            <a:srgbClr val="000F65"/>
          </a:solidFill>
          <a:latin typeface="Arial"/>
          <a:ea typeface="MS PGothic"/>
        </a:defRPr>
      </a:lvl9pPr>
    </p:bodyStyle>
    <p:otherStyle>
      <a:defPPr>
        <a:defRPr lang="en-US">
          <a:latin typeface="Arial"/>
          <a:ea typeface="MS PGothic"/>
        </a:defRPr>
      </a:defPPr>
      <a:lvl1pPr marL="0" algn="l" defTabSz="914400" rtl="0" eaLnBrk="1" latinLnBrk="0" hangingPunct="1">
        <a:defRPr sz="1800" kern="1200">
          <a:solidFill>
            <a:schemeClr val="tx1"/>
          </a:solidFill>
          <a:latin typeface="Arial"/>
          <a:ea typeface="MS PGothic"/>
          <a:cs typeface="+mn-cs"/>
        </a:defRPr>
      </a:lvl1pPr>
      <a:lvl2pPr marL="457200" algn="l" defTabSz="914400" rtl="0" eaLnBrk="1" latinLnBrk="0" hangingPunct="1">
        <a:defRPr sz="1800" kern="1200">
          <a:solidFill>
            <a:schemeClr val="tx1"/>
          </a:solidFill>
          <a:latin typeface="Arial"/>
          <a:ea typeface="MS PGothic"/>
          <a:cs typeface="+mn-cs"/>
        </a:defRPr>
      </a:lvl2pPr>
      <a:lvl3pPr marL="914400" algn="l" defTabSz="914400" rtl="0" eaLnBrk="1" latinLnBrk="0" hangingPunct="1">
        <a:defRPr sz="1800" kern="1200">
          <a:solidFill>
            <a:schemeClr val="tx1"/>
          </a:solidFill>
          <a:latin typeface="Arial"/>
          <a:ea typeface="MS PGothic"/>
          <a:cs typeface="+mn-cs"/>
        </a:defRPr>
      </a:lvl3pPr>
      <a:lvl4pPr marL="1371600" algn="l" defTabSz="914400" rtl="0" eaLnBrk="1" latinLnBrk="0" hangingPunct="1">
        <a:defRPr sz="1800" kern="1200">
          <a:solidFill>
            <a:schemeClr val="tx1"/>
          </a:solidFill>
          <a:latin typeface="Arial"/>
          <a:ea typeface="MS PGothic"/>
          <a:cs typeface="+mn-cs"/>
        </a:defRPr>
      </a:lvl4pPr>
      <a:lvl5pPr marL="1828800" algn="l" defTabSz="914400" rtl="0" eaLnBrk="1" latinLnBrk="0" hangingPunct="1">
        <a:defRPr sz="1800" kern="1200">
          <a:solidFill>
            <a:schemeClr val="tx1"/>
          </a:solidFill>
          <a:latin typeface="Arial"/>
          <a:ea typeface="MS PGothic"/>
          <a:cs typeface="+mn-cs"/>
        </a:defRPr>
      </a:lvl5pPr>
      <a:lvl6pPr marL="2286000" algn="l" defTabSz="914400" rtl="0" eaLnBrk="1" latinLnBrk="0" hangingPunct="1">
        <a:defRPr sz="1800" kern="1200">
          <a:solidFill>
            <a:schemeClr val="tx1"/>
          </a:solidFill>
          <a:latin typeface="Arial"/>
          <a:ea typeface="MS PGothic"/>
          <a:cs typeface="+mn-cs"/>
        </a:defRPr>
      </a:lvl6pPr>
      <a:lvl7pPr marL="2743200" algn="l" defTabSz="914400" rtl="0" eaLnBrk="1" latinLnBrk="0" hangingPunct="1">
        <a:defRPr sz="1800" kern="1200">
          <a:solidFill>
            <a:schemeClr val="tx1"/>
          </a:solidFill>
          <a:latin typeface="Arial"/>
          <a:ea typeface="MS PGothic"/>
          <a:cs typeface="+mn-cs"/>
        </a:defRPr>
      </a:lvl7pPr>
      <a:lvl8pPr marL="3200400" algn="l" defTabSz="914400" rtl="0" eaLnBrk="1" latinLnBrk="0" hangingPunct="1">
        <a:defRPr sz="1800" kern="1200">
          <a:solidFill>
            <a:schemeClr val="tx1"/>
          </a:solidFill>
          <a:latin typeface="Arial"/>
          <a:ea typeface="MS PGothic"/>
          <a:cs typeface="+mn-cs"/>
        </a:defRPr>
      </a:lvl8pPr>
      <a:lvl9pPr marL="3657600" algn="l" defTabSz="914400" rtl="0" eaLnBrk="1" latinLnBrk="0" hangingPunct="1">
        <a:defRPr sz="1800" kern="1200">
          <a:solidFill>
            <a:schemeClr val="tx1"/>
          </a:solidFill>
          <a:latin typeface="Arial"/>
          <a:ea typeface="MS PGothic"/>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ctrTitle"/>
          </p:nvPr>
        </p:nvSpPr>
        <p:spPr>
          <a:xfrm>
            <a:off x="548640" y="1051560"/>
            <a:ext cx="8046720" cy="1325880"/>
          </a:xfrm>
        </p:spPr>
        <p:txBody>
          <a:bodyPr wrap="square" anchor="ctr" lIns="73152" rIns="73152" tIns="36576" bIns="36576">
            <a:normAutofit/>
          </a:bodyPr>
          <a:lstStyle/>
          <a:p>
            <a:pPr algn="ctr" marL="0" indent="0">
              <a:lnSpc>
                <a:spcPct val="110000"/>
              </a:lnSpc>
              <a:buNone/>
            </a:pPr>
            <a:r>
              <a:rPr sz="2600" b="1" i="0">
                <a:solidFill>
                  <a:srgbClr val="000F65"/>
                </a:solidFill>
                <a:latin typeface="Arial"/>
                <a:ea typeface="MS PGothic"/>
              </a:rPr>
              <a:t>GPS 사용 불가 환경에서 비전 보조 항법을 위한</a:t>
            </a:r>
          </a:p>
          <a:p>
            <a:pPr algn="ctr" marL="0" indent="0">
              <a:lnSpc>
                <a:spcPct val="110000"/>
              </a:lnSpc>
              <a:buNone/>
            </a:pPr>
            <a:r>
              <a:rPr sz="2600" b="1" i="0">
                <a:solidFill>
                  <a:srgbClr val="000F65"/>
                </a:solidFill>
                <a:latin typeface="Arial"/>
                <a:ea typeface="MS PGothic"/>
              </a:rPr>
              <a:t>다중센서 융합</a:t>
            </a:r>
          </a:p>
        </p:txBody>
      </p:sp>
      <p:sp>
        <p:nvSpPr>
          <p:cNvPr id="1027" name="TextBox 1026"/>
          <p:cNvSpPr txBox="1"/>
          <p:nvPr/>
        </p:nvSpPr>
        <p:spPr>
          <a:xfrm>
            <a:off x="731520" y="2423160"/>
            <a:ext cx="7680960" cy="411480"/>
          </a:xfrm>
          <a:prstGeom prst="rect">
            <a:avLst/>
          </a:prstGeom>
          <a:noFill/>
        </p:spPr>
        <p:txBody>
          <a:bodyPr wrap="square" anchor="ctr" lIns="73152" rIns="73152" tIns="36576" bIns="36576">
            <a:spAutoFit/>
          </a:bodyPr>
          <a:lstStyle/>
          <a:p>
            <a:pPr algn="ctr" marL="0" indent="0">
              <a:lnSpc>
                <a:spcPct val="110000"/>
              </a:lnSpc>
              <a:buNone/>
            </a:pPr>
            <a:r>
              <a:rPr sz="1700" b="1" i="0">
                <a:solidFill>
                  <a:srgbClr val="333399"/>
                </a:solidFill>
                <a:latin typeface="Arial"/>
                <a:ea typeface="MS PGothic"/>
              </a:rPr>
              <a:t>카메라·IMU 융합 기반 위치·속도·자세 추정과 영상 측정 품질 반영</a:t>
            </a:r>
          </a:p>
        </p:txBody>
      </p:sp>
      <p:sp>
        <p:nvSpPr>
          <p:cNvPr id="1028" name="TextBox 1027"/>
          <p:cNvSpPr txBox="1"/>
          <p:nvPr/>
        </p:nvSpPr>
        <p:spPr>
          <a:xfrm>
            <a:off x="731520" y="2880360"/>
            <a:ext cx="7680960" cy="457200"/>
          </a:xfrm>
          <a:prstGeom prst="rect">
            <a:avLst/>
          </a:prstGeom>
          <a:noFill/>
        </p:spPr>
        <p:txBody>
          <a:bodyPr wrap="square" anchor="ctr" lIns="73152" rIns="73152" tIns="36576" bIns="36576">
            <a:spAutoFit/>
          </a:bodyPr>
          <a:lstStyle/>
          <a:p>
            <a:pPr algn="ctr" marL="0" indent="0">
              <a:lnSpc>
                <a:spcPct val="110000"/>
              </a:lnSpc>
              <a:buNone/>
            </a:pPr>
            <a:r>
              <a:rPr sz="1300" b="0" i="1">
                <a:solidFill>
                  <a:srgbClr val="333399"/>
                </a:solidFill>
                <a:latin typeface="Arial"/>
                <a:ea typeface="MS PGothic"/>
              </a:rPr>
              <a:t>Multi-Sensor Fusion for Vision-Aided Navigation in GPS-Denied Environments</a:t>
            </a:r>
          </a:p>
        </p:txBody>
      </p:sp>
      <p:sp>
        <p:nvSpPr>
          <p:cNvPr id="1029" name="TextBox 1028"/>
          <p:cNvSpPr txBox="1"/>
          <p:nvPr/>
        </p:nvSpPr>
        <p:spPr>
          <a:xfrm>
            <a:off x="914400" y="3977639"/>
            <a:ext cx="7315200" cy="1600200"/>
          </a:xfrm>
          <a:prstGeom prst="rect">
            <a:avLst/>
          </a:prstGeom>
          <a:noFill/>
        </p:spPr>
        <p:txBody>
          <a:bodyPr wrap="square" anchor="ctr" lIns="73152" rIns="73152" tIns="36576" bIns="36576">
            <a:spAutoFit/>
          </a:bodyPr>
          <a:lstStyle/>
          <a:p>
            <a:pPr algn="ctr" marL="0" indent="0">
              <a:lnSpc>
                <a:spcPct val="110000"/>
              </a:lnSpc>
              <a:buNone/>
            </a:pPr>
            <a:r>
              <a:rPr sz="1400" b="1" i="0">
                <a:solidFill>
                  <a:srgbClr val="000F65"/>
                </a:solidFill>
                <a:latin typeface="Arial"/>
                <a:ea typeface="MS PGothic"/>
              </a:rPr>
              <a:t>학생자율연구 II  연구계획 발표  |  2026학년도 2학기</a:t>
            </a:r>
          </a:p>
          <a:p>
            <a:pPr algn="ctr" marL="0" indent="0">
              <a:lnSpc>
                <a:spcPct val="110000"/>
              </a:lnSpc>
              <a:buNone/>
            </a:pPr>
            <a:r>
              <a:rPr sz="1400" b="0" i="0">
                <a:solidFill>
                  <a:srgbClr val="333333"/>
                </a:solidFill>
                <a:latin typeface="Arial"/>
                <a:ea typeface="MS PGothic"/>
              </a:rPr>
              <a:t>박찬혁 (202121212)  ·  지도교수: 안창선 교수님</a:t>
            </a:r>
          </a:p>
          <a:p>
            <a:pPr algn="ctr" marL="0" indent="0">
              <a:lnSpc>
                <a:spcPct val="110000"/>
              </a:lnSpc>
              <a:buNone/>
            </a:pPr>
            <a:r>
              <a:rPr sz="1300" b="0" i="0">
                <a:solidFill>
                  <a:srgbClr val="333333"/>
                </a:solidFill>
                <a:latin typeface="Arial"/>
                <a:ea typeface="MS PGothic"/>
              </a:rPr>
              <a:t>School of Mechanical Engineering</a:t>
            </a:r>
          </a:p>
          <a:p>
            <a:pPr algn="ctr" marL="0" indent="0">
              <a:lnSpc>
                <a:spcPct val="110000"/>
              </a:lnSpc>
              <a:buNone/>
            </a:pPr>
            <a:r>
              <a:rPr sz="1300" b="0" i="0">
                <a:solidFill>
                  <a:srgbClr val="333333"/>
                </a:solidFill>
                <a:latin typeface="Arial"/>
                <a:ea typeface="MS PGothic"/>
              </a:rPr>
              <a:t>Pusan National University</a:t>
            </a:r>
          </a:p>
        </p:txBody>
      </p:sp>
    </p:spTree>
    <p:extLst>
      <p:ext uri="{BB962C8B-B14F-4D97-AF65-F5344CB8AC3E}">
        <p14:creationId xmlns:p14="http://schemas.microsoft.com/office/powerpoint/2010/main" val="1119596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 배경</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GPS 사용 불가 환경의 항법</a:t>
            </a:r>
          </a:p>
        </p:txBody>
      </p:sp>
      <p:sp>
        <p:nvSpPr>
          <p:cNvPr id="4" name="TextBox 3"/>
          <p:cNvSpPr txBox="1"/>
          <p:nvPr/>
        </p:nvSpPr>
        <p:spPr>
          <a:xfrm>
            <a:off x="457200" y="1463040"/>
            <a:ext cx="8229600" cy="3840480"/>
          </a:xfrm>
          <a:prstGeom prst="rect">
            <a:avLst/>
          </a:prstGeom>
          <a:noFill/>
        </p:spPr>
        <p:txBody>
          <a:bodyPr wrap="square" lIns="18288" rIns="18288" tIns="18288" bIns="18288">
            <a:spAutoFit/>
          </a:bodyPr>
          <a:lstStyle/>
          <a:p>
            <a:pPr marL="0" indent="0">
              <a:lnSpc>
                <a:spcPct val="115000"/>
              </a:lnSpc>
              <a:spcBef>
                <a:spcPts val="0"/>
              </a:spcBef>
              <a:spcAft>
                <a:spcPts val="200"/>
              </a:spcAft>
              <a:buNone/>
            </a:pPr>
            <a:r>
              <a:rPr sz="1550" b="1" i="0">
                <a:solidFill>
                  <a:srgbClr val="1A1A1A"/>
                </a:solidFill>
                <a:latin typeface="Arial"/>
                <a:ea typeface="MS PGothic"/>
              </a:rPr>
              <a:t>GPS를 쓸 수 없는 환경</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실내·지하 공간·구조물 내부에서는 GPS를 쓸 수 없어, 이동체의 </a:t>
            </a:r>
            <a:r>
              <a:rPr sz="1400" b="1" i="0">
                <a:solidFill>
                  <a:srgbClr val="1A1A1A"/>
                </a:solidFill>
                <a:latin typeface="Arial"/>
                <a:ea typeface="MS PGothic"/>
              </a:rPr>
              <a:t>위치·속도·자세를 다른 센서로 추정</a:t>
            </a:r>
            <a:r>
              <a:rPr sz="1400" b="0" i="0">
                <a:solidFill>
                  <a:srgbClr val="333333"/>
                </a:solidFill>
                <a:latin typeface="Arial"/>
                <a:ea typeface="MS PGothic"/>
              </a:rPr>
              <a:t>해야 한다.</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IMU</a:t>
            </a:r>
            <a:r>
              <a:rPr sz="1400" b="0" i="0">
                <a:solidFill>
                  <a:srgbClr val="333333"/>
                </a:solidFill>
                <a:latin typeface="Arial"/>
                <a:ea typeface="MS PGothic"/>
              </a:rPr>
              <a:t>(관성측정장치)만 쓰면 잡음과 바이어스가 적분되어 </a:t>
            </a:r>
            <a:r>
              <a:rPr sz="1400" b="1" i="0">
                <a:solidFill>
                  <a:srgbClr val="1A1A1A"/>
                </a:solidFill>
                <a:latin typeface="Arial"/>
                <a:ea typeface="MS PGothic"/>
              </a:rPr>
              <a:t>오차가 시간에 따라 누적</a:t>
            </a:r>
            <a:r>
              <a:rPr sz="1400" b="0" i="0">
                <a:solidFill>
                  <a:srgbClr val="333333"/>
                </a:solidFill>
                <a:latin typeface="Arial"/>
                <a:ea typeface="MS PGothic"/>
              </a:rPr>
              <a:t>된다. [1]</a:t>
            </a:r>
          </a:p>
          <a:p>
            <a:pPr marL="0" indent="0">
              <a:lnSpc>
                <a:spcPct val="115000"/>
              </a:lnSpc>
              <a:spcBef>
                <a:spcPts val="1200"/>
              </a:spcBef>
              <a:spcAft>
                <a:spcPts val="200"/>
              </a:spcAft>
              <a:buNone/>
            </a:pPr>
            <a:r>
              <a:rPr sz="1550" b="1" i="0">
                <a:solidFill>
                  <a:srgbClr val="1A1A1A"/>
                </a:solidFill>
                <a:latin typeface="Arial"/>
                <a:ea typeface="MS PGothic"/>
              </a:rPr>
              <a:t>비전 보조 항법 (Vision-Aided Navigation)</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카메라 영상에서 얻은 움직임 정보로 </a:t>
            </a:r>
            <a:r>
              <a:rPr sz="1400" b="1" i="0">
                <a:solidFill>
                  <a:srgbClr val="1A1A1A"/>
                </a:solidFill>
                <a:latin typeface="Arial"/>
                <a:ea typeface="MS PGothic"/>
              </a:rPr>
              <a:t>IMU의 누적 오차를 보정</a:t>
            </a:r>
            <a:r>
              <a:rPr sz="1400" b="0" i="0">
                <a:solidFill>
                  <a:srgbClr val="333333"/>
                </a:solidFill>
                <a:latin typeface="Arial"/>
                <a:ea typeface="MS PGothic"/>
              </a:rPr>
              <a:t>하는 방식이다. [2]</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예: NASA 화성 헬리콥터 Ingenuity는 </a:t>
            </a:r>
            <a:r>
              <a:rPr sz="1400" b="1" i="0">
                <a:solidFill>
                  <a:srgbClr val="1A1A1A"/>
                </a:solidFill>
                <a:latin typeface="Arial"/>
                <a:ea typeface="MS PGothic"/>
              </a:rPr>
              <a:t>하향 카메라와 IMU</a:t>
            </a:r>
            <a:r>
              <a:rPr sz="1400" b="0" i="0">
                <a:solidFill>
                  <a:srgbClr val="333333"/>
                </a:solidFill>
                <a:latin typeface="Arial"/>
                <a:ea typeface="MS PGothic"/>
              </a:rPr>
              <a:t>를 결합하여 위성항법 없이 비행하였다. [3]</a:t>
            </a:r>
          </a:p>
        </p:txBody>
      </p:sp>
      <p:sp>
        <p:nvSpPr>
          <p:cNvPr id="5" name="TextBox 4"/>
          <p:cNvSpPr txBox="1"/>
          <p:nvPr/>
        </p:nvSpPr>
        <p:spPr>
          <a:xfrm>
            <a:off x="457200" y="5074920"/>
            <a:ext cx="8229600" cy="685800"/>
          </a:xfrm>
          <a:prstGeom prst="rect">
            <a:avLst/>
          </a:prstGeom>
          <a:noFill/>
        </p:spPr>
        <p:txBody>
          <a:bodyPr wrap="square" lIns="18288">
            <a:spAutoFit/>
          </a:bodyPr>
          <a:lstStyle/>
          <a:p>
            <a:pPr>
              <a:lnSpc>
                <a:spcPct val="115000"/>
              </a:lnSpc>
            </a:pPr>
            <a:r>
              <a:rPr sz="1400" b="1" i="0">
                <a:solidFill>
                  <a:srgbClr val="000F65"/>
                </a:solidFill>
                <a:latin typeface="Arial"/>
                <a:ea typeface="MS PGothic"/>
              </a:rPr>
              <a:t>본 연구는 카메라와 IMU를 융합하는 </a:t>
            </a:r>
            <a:r>
              <a:rPr sz="1400" b="1" i="0">
                <a:solidFill>
                  <a:srgbClr val="1A1A1A"/>
                </a:solidFill>
                <a:latin typeface="Arial"/>
                <a:ea typeface="MS PGothic"/>
              </a:rPr>
              <a:t>비전 보조 항법 시스템</a:t>
            </a:r>
            <a:r>
              <a:rPr sz="1400" b="1" i="0">
                <a:solidFill>
                  <a:srgbClr val="000F65"/>
                </a:solidFill>
                <a:latin typeface="Arial"/>
                <a:ea typeface="MS PGothic"/>
              </a:rPr>
              <a:t>을 구성하고,</a:t>
            </a:r>
          </a:p>
          <a:p>
            <a:pPr>
              <a:lnSpc>
                <a:spcPct val="115000"/>
              </a:lnSpc>
            </a:pPr>
            <a:r>
              <a:rPr sz="1400" b="1" i="0">
                <a:solidFill>
                  <a:srgbClr val="000F65"/>
                </a:solidFill>
                <a:latin typeface="Arial"/>
                <a:ea typeface="MS PGothic"/>
              </a:rPr>
              <a:t>GPS 사용 불가 환경에서 그 추정 성능을 평가한다.</a:t>
            </a:r>
          </a:p>
        </p:txBody>
      </p:sp>
    </p:spTree>
    <p:extLst>
      <p:ext uri="{BB962C8B-B14F-4D97-AF65-F5344CB8AC3E}">
        <p14:creationId xmlns:p14="http://schemas.microsoft.com/office/powerpoint/2010/main" val="371350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연구의 필요성 및 목적</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카메라와 IMU의 상호 보완적 특성</a:t>
            </a:r>
          </a:p>
        </p:txBody>
      </p:sp>
      <p:sp>
        <p:nvSpPr>
          <p:cNvPr id="4" name="Rectangle 3"/>
          <p:cNvSpPr/>
          <p:nvPr/>
        </p:nvSpPr>
        <p:spPr>
          <a:xfrm>
            <a:off x="457200" y="1481328"/>
            <a:ext cx="3977639"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IMU</a:t>
            </a:r>
          </a:p>
          <a:p>
            <a:pPr algn="ctr" marL="0" indent="0">
              <a:lnSpc>
                <a:spcPct val="110000"/>
              </a:lnSpc>
              <a:buNone/>
            </a:pPr>
            <a:r>
              <a:rPr sz="1050" b="0" i="0">
                <a:solidFill>
                  <a:srgbClr val="333333"/>
                </a:solidFill>
                <a:latin typeface="Arial"/>
                <a:ea typeface="MS PGothic"/>
              </a:rPr>
              <a:t>가속도·각속도 측정</a:t>
            </a:r>
          </a:p>
        </p:txBody>
      </p:sp>
      <p:sp>
        <p:nvSpPr>
          <p:cNvPr id="5" name="Rectangle 4"/>
          <p:cNvSpPr/>
          <p:nvPr/>
        </p:nvSpPr>
        <p:spPr>
          <a:xfrm>
            <a:off x="457200" y="2048256"/>
            <a:ext cx="3977639" cy="1417320"/>
          </a:xfrm>
          <a:prstGeom prst="rect">
            <a:avLst/>
          </a:prstGeom>
          <a:noFill/>
          <a:ln w="9525">
            <a:solidFill>
              <a:srgbClr val="BFBFBF"/>
            </a:solidFill>
          </a:ln>
        </p:spPr>
        <p:txBody>
          <a:bodyPr rtlCol="0" anchor="ctr"/>
          <a:lstStyle/>
          <a:p>
            <a:pPr algn="ctr"/>
          </a:p>
        </p:txBody>
      </p:sp>
      <p:sp>
        <p:nvSpPr>
          <p:cNvPr id="6" name="TextBox 5"/>
          <p:cNvSpPr txBox="1"/>
          <p:nvPr/>
        </p:nvSpPr>
        <p:spPr>
          <a:xfrm>
            <a:off x="594360" y="2139696"/>
            <a:ext cx="548640" cy="237744"/>
          </a:xfrm>
          <a:prstGeom prst="rect">
            <a:avLst/>
          </a:prstGeom>
          <a:noFill/>
        </p:spPr>
        <p:txBody>
          <a:bodyPr wrap="square" anchor="ctr" lIns="0" rIns="0" tIns="0" bIns="0">
            <a:spAutoFit/>
          </a:bodyPr>
          <a:lstStyle/>
          <a:p>
            <a:pPr algn="l" marL="0" indent="0">
              <a:lnSpc>
                <a:spcPct val="110000"/>
              </a:lnSpc>
              <a:buNone/>
            </a:pPr>
            <a:r>
              <a:rPr sz="1200" b="1" i="0">
                <a:solidFill>
                  <a:srgbClr val="000F65"/>
                </a:solidFill>
                <a:latin typeface="Arial"/>
                <a:ea typeface="MS PGothic"/>
              </a:rPr>
              <a:t>장점</a:t>
            </a:r>
          </a:p>
        </p:txBody>
      </p:sp>
      <p:sp>
        <p:nvSpPr>
          <p:cNvPr id="7" name="TextBox 6"/>
          <p:cNvSpPr txBox="1"/>
          <p:nvPr/>
        </p:nvSpPr>
        <p:spPr>
          <a:xfrm>
            <a:off x="1188720" y="2103120"/>
            <a:ext cx="3108959" cy="566928"/>
          </a:xfrm>
          <a:prstGeom prst="rect">
            <a:avLst/>
          </a:prstGeom>
          <a:noFill/>
        </p:spPr>
        <p:txBody>
          <a:bodyPr wrap="square" anchor="t" lIns="0" rIns="0" tIns="0" bIns="0">
            <a:spAutoFit/>
          </a:bodyPr>
          <a:lstStyle/>
          <a:p>
            <a:pPr algn="l" marL="0" indent="0">
              <a:lnSpc>
                <a:spcPct val="110000"/>
              </a:lnSpc>
              <a:buNone/>
            </a:pPr>
            <a:r>
              <a:rPr sz="1200" b="0" i="0">
                <a:solidFill>
                  <a:srgbClr val="333333"/>
                </a:solidFill>
                <a:latin typeface="Arial"/>
                <a:ea typeface="MS PGothic"/>
              </a:rPr>
              <a:t>높은 주기로 측정 → 연속적인 움직임 예측</a:t>
            </a:r>
          </a:p>
        </p:txBody>
      </p:sp>
      <p:sp>
        <p:nvSpPr>
          <p:cNvPr id="8" name="TextBox 7"/>
          <p:cNvSpPr txBox="1"/>
          <p:nvPr/>
        </p:nvSpPr>
        <p:spPr>
          <a:xfrm>
            <a:off x="594360" y="2779776"/>
            <a:ext cx="548640" cy="237744"/>
          </a:xfrm>
          <a:prstGeom prst="rect">
            <a:avLst/>
          </a:prstGeom>
          <a:noFill/>
        </p:spPr>
        <p:txBody>
          <a:bodyPr wrap="square" anchor="ctr" lIns="0" rIns="0" tIns="0" bIns="0">
            <a:spAutoFit/>
          </a:bodyPr>
          <a:lstStyle/>
          <a:p>
            <a:pPr algn="l" marL="0" indent="0">
              <a:lnSpc>
                <a:spcPct val="110000"/>
              </a:lnSpc>
              <a:buNone/>
            </a:pPr>
            <a:r>
              <a:rPr sz="1200" b="1" i="0">
                <a:solidFill>
                  <a:srgbClr val="C00000"/>
                </a:solidFill>
                <a:latin typeface="Arial"/>
                <a:ea typeface="MS PGothic"/>
              </a:rPr>
              <a:t>한계</a:t>
            </a:r>
          </a:p>
        </p:txBody>
      </p:sp>
      <p:sp>
        <p:nvSpPr>
          <p:cNvPr id="9" name="TextBox 8"/>
          <p:cNvSpPr txBox="1"/>
          <p:nvPr/>
        </p:nvSpPr>
        <p:spPr>
          <a:xfrm>
            <a:off x="1188720" y="2743200"/>
            <a:ext cx="3108959" cy="566928"/>
          </a:xfrm>
          <a:prstGeom prst="rect">
            <a:avLst/>
          </a:prstGeom>
          <a:noFill/>
        </p:spPr>
        <p:txBody>
          <a:bodyPr wrap="square" anchor="t" lIns="0" rIns="0" tIns="0" bIns="0">
            <a:spAutoFit/>
          </a:bodyPr>
          <a:lstStyle/>
          <a:p>
            <a:pPr algn="l" marL="0" indent="0">
              <a:lnSpc>
                <a:spcPct val="110000"/>
              </a:lnSpc>
              <a:buNone/>
            </a:pPr>
            <a:r>
              <a:rPr sz="1200" b="0" i="0">
                <a:solidFill>
                  <a:srgbClr val="333333"/>
                </a:solidFill>
                <a:latin typeface="Arial"/>
                <a:ea typeface="MS PGothic"/>
              </a:rPr>
              <a:t>적분 과정에서 잡음·바이어스 누적 → 오차 증가</a:t>
            </a:r>
          </a:p>
        </p:txBody>
      </p:sp>
      <p:sp>
        <p:nvSpPr>
          <p:cNvPr id="10" name="Rectangle 9"/>
          <p:cNvSpPr/>
          <p:nvPr/>
        </p:nvSpPr>
        <p:spPr>
          <a:xfrm>
            <a:off x="4709159" y="1481328"/>
            <a:ext cx="3977639"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카메라</a:t>
            </a:r>
          </a:p>
          <a:p>
            <a:pPr algn="ctr" marL="0" indent="0">
              <a:lnSpc>
                <a:spcPct val="110000"/>
              </a:lnSpc>
              <a:buNone/>
            </a:pPr>
            <a:r>
              <a:rPr sz="1050" b="0" i="0">
                <a:solidFill>
                  <a:srgbClr val="333333"/>
                </a:solidFill>
                <a:latin typeface="Arial"/>
                <a:ea typeface="MS PGothic"/>
              </a:rPr>
              <a:t>주변 환경의 시각 정보</a:t>
            </a:r>
          </a:p>
        </p:txBody>
      </p:sp>
      <p:sp>
        <p:nvSpPr>
          <p:cNvPr id="11" name="Rectangle 10"/>
          <p:cNvSpPr/>
          <p:nvPr/>
        </p:nvSpPr>
        <p:spPr>
          <a:xfrm>
            <a:off x="4709159" y="2048256"/>
            <a:ext cx="3977639" cy="1417320"/>
          </a:xfrm>
          <a:prstGeom prst="rect">
            <a:avLst/>
          </a:prstGeom>
          <a:noFill/>
          <a:ln w="9525">
            <a:solidFill>
              <a:srgbClr val="BFBFBF"/>
            </a:solidFill>
          </a:ln>
        </p:spPr>
        <p:txBody>
          <a:bodyPr rtlCol="0" anchor="ctr"/>
          <a:lstStyle/>
          <a:p>
            <a:pPr algn="ctr"/>
          </a:p>
        </p:txBody>
      </p:sp>
      <p:sp>
        <p:nvSpPr>
          <p:cNvPr id="12" name="TextBox 11"/>
          <p:cNvSpPr txBox="1"/>
          <p:nvPr/>
        </p:nvSpPr>
        <p:spPr>
          <a:xfrm>
            <a:off x="4846320" y="2139696"/>
            <a:ext cx="548640" cy="237744"/>
          </a:xfrm>
          <a:prstGeom prst="rect">
            <a:avLst/>
          </a:prstGeom>
          <a:noFill/>
        </p:spPr>
        <p:txBody>
          <a:bodyPr wrap="square" anchor="ctr" lIns="0" rIns="0" tIns="0" bIns="0">
            <a:spAutoFit/>
          </a:bodyPr>
          <a:lstStyle/>
          <a:p>
            <a:pPr algn="l" marL="0" indent="0">
              <a:lnSpc>
                <a:spcPct val="110000"/>
              </a:lnSpc>
              <a:buNone/>
            </a:pPr>
            <a:r>
              <a:rPr sz="1200" b="1" i="0">
                <a:solidFill>
                  <a:srgbClr val="000F65"/>
                </a:solidFill>
                <a:latin typeface="Arial"/>
                <a:ea typeface="MS PGothic"/>
              </a:rPr>
              <a:t>장점</a:t>
            </a:r>
          </a:p>
        </p:txBody>
      </p:sp>
      <p:sp>
        <p:nvSpPr>
          <p:cNvPr id="13" name="TextBox 12"/>
          <p:cNvSpPr txBox="1"/>
          <p:nvPr/>
        </p:nvSpPr>
        <p:spPr>
          <a:xfrm>
            <a:off x="5440679" y="2103120"/>
            <a:ext cx="3108959" cy="566928"/>
          </a:xfrm>
          <a:prstGeom prst="rect">
            <a:avLst/>
          </a:prstGeom>
          <a:noFill/>
        </p:spPr>
        <p:txBody>
          <a:bodyPr wrap="square" anchor="t" lIns="0" rIns="0" tIns="0" bIns="0">
            <a:spAutoFit/>
          </a:bodyPr>
          <a:lstStyle/>
          <a:p>
            <a:pPr algn="l" marL="0" indent="0">
              <a:lnSpc>
                <a:spcPct val="110000"/>
              </a:lnSpc>
              <a:buNone/>
            </a:pPr>
            <a:r>
              <a:rPr sz="1200" b="0" i="0">
                <a:solidFill>
                  <a:srgbClr val="333333"/>
                </a:solidFill>
                <a:latin typeface="Arial"/>
                <a:ea typeface="MS PGothic"/>
              </a:rPr>
              <a:t>영상의 움직임으로 누적 오차 보정</a:t>
            </a:r>
          </a:p>
        </p:txBody>
      </p:sp>
      <p:sp>
        <p:nvSpPr>
          <p:cNvPr id="14" name="TextBox 13"/>
          <p:cNvSpPr txBox="1"/>
          <p:nvPr/>
        </p:nvSpPr>
        <p:spPr>
          <a:xfrm>
            <a:off x="4846320" y="2779776"/>
            <a:ext cx="548640" cy="237744"/>
          </a:xfrm>
          <a:prstGeom prst="rect">
            <a:avLst/>
          </a:prstGeom>
          <a:noFill/>
        </p:spPr>
        <p:txBody>
          <a:bodyPr wrap="square" anchor="ctr" lIns="0" rIns="0" tIns="0" bIns="0">
            <a:spAutoFit/>
          </a:bodyPr>
          <a:lstStyle/>
          <a:p>
            <a:pPr algn="l" marL="0" indent="0">
              <a:lnSpc>
                <a:spcPct val="110000"/>
              </a:lnSpc>
              <a:buNone/>
            </a:pPr>
            <a:r>
              <a:rPr sz="1200" b="1" i="0">
                <a:solidFill>
                  <a:srgbClr val="C00000"/>
                </a:solidFill>
                <a:latin typeface="Arial"/>
                <a:ea typeface="MS PGothic"/>
              </a:rPr>
              <a:t>한계</a:t>
            </a:r>
          </a:p>
        </p:txBody>
      </p:sp>
      <p:sp>
        <p:nvSpPr>
          <p:cNvPr id="15" name="TextBox 14"/>
          <p:cNvSpPr txBox="1"/>
          <p:nvPr/>
        </p:nvSpPr>
        <p:spPr>
          <a:xfrm>
            <a:off x="5440679" y="2743200"/>
            <a:ext cx="3108959" cy="566928"/>
          </a:xfrm>
          <a:prstGeom prst="rect">
            <a:avLst/>
          </a:prstGeom>
          <a:noFill/>
        </p:spPr>
        <p:txBody>
          <a:bodyPr wrap="square" anchor="t" lIns="0" rIns="0" tIns="0" bIns="0">
            <a:spAutoFit/>
          </a:bodyPr>
          <a:lstStyle/>
          <a:p>
            <a:pPr algn="l" marL="0" indent="0">
              <a:lnSpc>
                <a:spcPct val="110000"/>
              </a:lnSpc>
              <a:buNone/>
            </a:pPr>
            <a:r>
              <a:rPr sz="1200" b="0" i="0">
                <a:solidFill>
                  <a:srgbClr val="333333"/>
                </a:solidFill>
                <a:latin typeface="Arial"/>
                <a:ea typeface="MS PGothic"/>
              </a:rPr>
              <a:t>조명 변화·영상 흐림·특징점 부족, 깊이(거리 스케일) 불확실</a:t>
            </a:r>
          </a:p>
        </p:txBody>
      </p:sp>
      <p:cxnSp>
        <p:nvCxnSpPr>
          <p:cNvPr id="16" name="Connector 15"/>
          <p:cNvCxnSpPr/>
          <p:nvPr/>
        </p:nvCxnSpPr>
        <p:spPr>
          <a:xfrm>
            <a:off x="2446020" y="3493008"/>
            <a:ext cx="1577340" cy="301752"/>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120640" y="3493008"/>
            <a:ext cx="1577339" cy="301752"/>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2651760" y="3794760"/>
            <a:ext cx="3840480" cy="457200"/>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200" b="1" i="0">
                <a:solidFill>
                  <a:srgbClr val="FFFFFF"/>
                </a:solidFill>
                <a:latin typeface="Arial"/>
                <a:ea typeface="MS PGothic"/>
              </a:rPr>
              <a:t>상호 보완 → 다중센서 융합</a:t>
            </a:r>
          </a:p>
        </p:txBody>
      </p:sp>
      <p:sp>
        <p:nvSpPr>
          <p:cNvPr id="19" name="Rectangle 18"/>
          <p:cNvSpPr/>
          <p:nvPr/>
        </p:nvSpPr>
        <p:spPr>
          <a:xfrm>
            <a:off x="457200" y="4407408"/>
            <a:ext cx="8229600" cy="502920"/>
          </a:xfrm>
          <a:prstGeom prst="rect">
            <a:avLst/>
          </a:prstGeom>
          <a:noFill/>
          <a:ln w="19050">
            <a:solidFill>
              <a:srgbClr val="C00000"/>
            </a:solidFill>
          </a:ln>
        </p:spPr>
        <p:txBody>
          <a:bodyPr rtlCol="0" anchor="ctr" wrap="square" lIns="73152" rIns="73152" tIns="36576" bIns="36576"/>
          <a:lstStyle/>
          <a:p>
            <a:pPr algn="l" marL="0" indent="0">
              <a:lnSpc>
                <a:spcPct val="110000"/>
              </a:lnSpc>
              <a:buNone/>
            </a:pPr>
            <a:r>
              <a:rPr sz="1200" b="1" i="0">
                <a:solidFill>
                  <a:srgbClr val="C00000"/>
                </a:solidFill>
                <a:latin typeface="Arial"/>
                <a:ea typeface="MS PGothic"/>
              </a:rPr>
              <a:t>문제: 영상 품질이 떨어지는 구간에서도 영상 측정을 같은 비중으로 반영하면 추정이 불안정해질 수 있다</a:t>
            </a:r>
          </a:p>
        </p:txBody>
      </p:sp>
      <p:sp>
        <p:nvSpPr>
          <p:cNvPr id="20" name="Rectangle 19"/>
          <p:cNvSpPr/>
          <p:nvPr/>
        </p:nvSpPr>
        <p:spPr>
          <a:xfrm>
            <a:off x="457200" y="5074920"/>
            <a:ext cx="8229600" cy="777240"/>
          </a:xfrm>
          <a:prstGeom prst="rect">
            <a:avLst/>
          </a:prstGeom>
          <a:noFill/>
          <a:ln w="19050">
            <a:solidFill>
              <a:srgbClr val="000F65"/>
            </a:solidFill>
          </a:ln>
        </p:spPr>
        <p:txBody>
          <a:bodyPr rtlCol="0" anchor="ctr" wrap="square" lIns="137160"/>
          <a:lstStyle/>
          <a:p>
            <a:pPr algn="ctr"/>
            <a:r>
              <a:rPr sz="1400" b="1" i="0">
                <a:solidFill>
                  <a:srgbClr val="000F65"/>
                </a:solidFill>
                <a:latin typeface="Arial"/>
                <a:ea typeface="MS PGothic"/>
              </a:rPr>
              <a:t>연구 목적   </a:t>
            </a:r>
            <a:r>
              <a:rPr sz="1400" b="0" i="0">
                <a:solidFill>
                  <a:srgbClr val="333333"/>
                </a:solidFill>
                <a:latin typeface="Arial"/>
                <a:ea typeface="MS PGothic"/>
              </a:rPr>
              <a:t>IMU 예측과 영상 보정을 결합한 </a:t>
            </a:r>
            <a:r>
              <a:rPr sz="1400" b="1" i="0">
                <a:solidFill>
                  <a:srgbClr val="1A1A1A"/>
                </a:solidFill>
                <a:latin typeface="Arial"/>
                <a:ea typeface="MS PGothic"/>
              </a:rPr>
              <a:t>filter 기반 상태추정</a:t>
            </a:r>
            <a:r>
              <a:rPr sz="1400" b="0" i="0">
                <a:solidFill>
                  <a:srgbClr val="333333"/>
                </a:solidFill>
                <a:latin typeface="Arial"/>
                <a:ea typeface="MS PGothic"/>
              </a:rPr>
              <a:t>을 구현하고, </a:t>
            </a:r>
            <a:r>
              <a:rPr sz="1400" b="1" i="0">
                <a:solidFill>
                  <a:srgbClr val="1A1A1A"/>
                </a:solidFill>
                <a:latin typeface="Arial"/>
                <a:ea typeface="MS PGothic"/>
              </a:rPr>
              <a:t>영상 측정 품질에 따른 성능 변화</a:t>
            </a:r>
            <a:r>
              <a:rPr sz="1400" b="0" i="0">
                <a:solidFill>
                  <a:srgbClr val="333333"/>
                </a:solidFill>
                <a:latin typeface="Arial"/>
                <a:ea typeface="MS PGothic"/>
              </a:rPr>
              <a:t>를 분석하여 위치·속도·자세 추정의 정확성과 안정성을 평가</a:t>
            </a:r>
          </a:p>
        </p:txBody>
      </p:sp>
    </p:spTree>
    <p:extLst>
      <p:ext uri="{BB962C8B-B14F-4D97-AF65-F5344CB8AC3E}">
        <p14:creationId xmlns:p14="http://schemas.microsoft.com/office/powerpoint/2010/main" val="37135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이론적 배경</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상태추정 filter와 옵티컬 플로우</a:t>
            </a:r>
          </a:p>
        </p:txBody>
      </p:sp>
      <p:sp>
        <p:nvSpPr>
          <p:cNvPr id="4" name="TextBox 3"/>
          <p:cNvSpPr txBox="1"/>
          <p:nvPr/>
        </p:nvSpPr>
        <p:spPr>
          <a:xfrm>
            <a:off x="457200" y="1463040"/>
            <a:ext cx="4709160" cy="4480560"/>
          </a:xfrm>
          <a:prstGeom prst="rect">
            <a:avLst/>
          </a:prstGeom>
          <a:noFill/>
        </p:spPr>
        <p:txBody>
          <a:bodyPr wrap="square" lIns="18288" rIns="18288" tIns="18288" bIns="18288">
            <a:spAutoFit/>
          </a:bodyPr>
          <a:lstStyle/>
          <a:p>
            <a:pPr marL="0" indent="0">
              <a:lnSpc>
                <a:spcPct val="115000"/>
              </a:lnSpc>
              <a:spcBef>
                <a:spcPts val="0"/>
              </a:spcBef>
              <a:spcAft>
                <a:spcPts val="200"/>
              </a:spcAft>
              <a:buNone/>
            </a:pPr>
            <a:r>
              <a:rPr sz="1550" b="1" i="0">
                <a:solidFill>
                  <a:srgbClr val="1A1A1A"/>
                </a:solidFill>
                <a:latin typeface="Arial"/>
                <a:ea typeface="MS PGothic"/>
              </a:rPr>
              <a:t>상태추정 filter</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운동 모델로 </a:t>
            </a:r>
            <a:r>
              <a:rPr sz="1400" b="1" i="0">
                <a:solidFill>
                  <a:srgbClr val="1A1A1A"/>
                </a:solidFill>
                <a:latin typeface="Arial"/>
                <a:ea typeface="MS PGothic"/>
              </a:rPr>
              <a:t>예측</a:t>
            </a:r>
            <a:r>
              <a:rPr sz="1400" b="0" i="0">
                <a:solidFill>
                  <a:srgbClr val="333333"/>
                </a:solidFill>
                <a:latin typeface="Arial"/>
                <a:ea typeface="MS PGothic"/>
              </a:rPr>
              <a:t>하고 센서 관측으로 </a:t>
            </a:r>
            <a:r>
              <a:rPr sz="1400" b="1" i="0">
                <a:solidFill>
                  <a:srgbClr val="1A1A1A"/>
                </a:solidFill>
                <a:latin typeface="Arial"/>
                <a:ea typeface="MS PGothic"/>
              </a:rPr>
              <a:t>보정</a:t>
            </a:r>
            <a:r>
              <a:rPr sz="1400" b="0" i="0">
                <a:solidFill>
                  <a:srgbClr val="333333"/>
                </a:solidFill>
                <a:latin typeface="Arial"/>
                <a:ea typeface="MS PGothic"/>
              </a:rPr>
              <a:t>하여 상태를 추정한다.</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IMU로 예측하고 영상 움직임으로 보정하는 구조가 비전 보조 항법의 기본이다. [2]</a:t>
            </a:r>
          </a:p>
          <a:p>
            <a:pPr marL="0" indent="0">
              <a:lnSpc>
                <a:spcPct val="115000"/>
              </a:lnSpc>
              <a:spcBef>
                <a:spcPts val="1200"/>
              </a:spcBef>
              <a:spcAft>
                <a:spcPts val="200"/>
              </a:spcAft>
              <a:buNone/>
            </a:pPr>
            <a:r>
              <a:rPr sz="1550" b="1" i="0">
                <a:solidFill>
                  <a:srgbClr val="1A1A1A"/>
                </a:solidFill>
                <a:latin typeface="Arial"/>
                <a:ea typeface="MS PGothic"/>
              </a:rPr>
              <a:t>옵티컬 플로우</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연속 영상에서 </a:t>
            </a:r>
            <a:r>
              <a:rPr sz="1400" b="1" i="0">
                <a:solidFill>
                  <a:srgbClr val="1A1A1A"/>
                </a:solidFill>
                <a:latin typeface="Arial"/>
                <a:ea typeface="MS PGothic"/>
              </a:rPr>
              <a:t>특징점의 이동</a:t>
            </a:r>
            <a:r>
              <a:rPr sz="1400" b="0" i="0">
                <a:solidFill>
                  <a:srgbClr val="333333"/>
                </a:solidFill>
                <a:latin typeface="Arial"/>
                <a:ea typeface="MS PGothic"/>
              </a:rPr>
              <a:t>을 추적한다 (KLT). [4]</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영상 이동은 </a:t>
            </a:r>
            <a:r>
              <a:rPr sz="1400" b="1" i="0">
                <a:solidFill>
                  <a:srgbClr val="1A1A1A"/>
                </a:solidFill>
                <a:latin typeface="Arial"/>
                <a:ea typeface="MS PGothic"/>
              </a:rPr>
              <a:t>병진운동·회전운동·깊이</a:t>
            </a:r>
            <a:r>
              <a:rPr sz="1400" b="0" i="0">
                <a:solidFill>
                  <a:srgbClr val="333333"/>
                </a:solidFill>
                <a:latin typeface="Arial"/>
                <a:ea typeface="MS PGothic"/>
              </a:rPr>
              <a:t>의 영향을 받으므로, 카메라 보정, 장착 위치·방향, 좌표계, </a:t>
            </a:r>
            <a:r>
              <a:rPr sz="1400" b="1" i="0">
                <a:solidFill>
                  <a:srgbClr val="1A1A1A"/>
                </a:solidFill>
                <a:latin typeface="Arial"/>
                <a:ea typeface="MS PGothic"/>
              </a:rPr>
              <a:t>거리 스케일</a:t>
            </a:r>
            <a:r>
              <a:rPr sz="1400" b="0" i="0">
                <a:solidFill>
                  <a:srgbClr val="333333"/>
                </a:solidFill>
                <a:latin typeface="Arial"/>
                <a:ea typeface="MS PGothic"/>
              </a:rPr>
              <a:t>을 고려해야 한다.</a:t>
            </a:r>
          </a:p>
          <a:p>
            <a:pPr marL="0" indent="0">
              <a:lnSpc>
                <a:spcPct val="115000"/>
              </a:lnSpc>
              <a:spcBef>
                <a:spcPts val="1200"/>
              </a:spcBef>
              <a:spcAft>
                <a:spcPts val="200"/>
              </a:spcAft>
              <a:buNone/>
            </a:pPr>
            <a:r>
              <a:rPr sz="1550" b="1" i="0">
                <a:solidFill>
                  <a:srgbClr val="1A1A1A"/>
                </a:solidFill>
                <a:latin typeface="Arial"/>
                <a:ea typeface="MS PGothic"/>
              </a:rPr>
              <a:t>연구실 선행연구</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저가 센서·레이더·V2X 융합 상태추정에서 </a:t>
            </a:r>
            <a:r>
              <a:rPr sz="1400" b="1" i="0">
                <a:solidFill>
                  <a:srgbClr val="1A1A1A"/>
                </a:solidFill>
                <a:latin typeface="Arial"/>
                <a:ea typeface="MS PGothic"/>
              </a:rPr>
              <a:t>센서별 시간 정합과 지연 보상</a:t>
            </a:r>
            <a:r>
              <a:rPr sz="1400" b="0" i="0">
                <a:solidFill>
                  <a:srgbClr val="333333"/>
                </a:solidFill>
                <a:latin typeface="Arial"/>
                <a:ea typeface="MS PGothic"/>
              </a:rPr>
              <a:t> 절차를 참고한다. [5, 6]</a:t>
            </a:r>
          </a:p>
        </p:txBody>
      </p:sp>
      <p:sp>
        <p:nvSpPr>
          <p:cNvPr id="5" name="Rectangle 4"/>
          <p:cNvSpPr/>
          <p:nvPr/>
        </p:nvSpPr>
        <p:spPr>
          <a:xfrm>
            <a:off x="5440680" y="1554480"/>
            <a:ext cx="324612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병진운동 ÷ 깊이</a:t>
            </a:r>
          </a:p>
          <a:p>
            <a:pPr algn="ctr" marL="0" indent="0">
              <a:lnSpc>
                <a:spcPct val="110000"/>
              </a:lnSpc>
              <a:buNone/>
            </a:pPr>
            <a:r>
              <a:rPr sz="1050" b="0" i="0">
                <a:solidFill>
                  <a:srgbClr val="333333"/>
                </a:solidFill>
                <a:latin typeface="Arial"/>
                <a:ea typeface="MS PGothic"/>
              </a:rPr>
              <a:t>이동 속도 / 카메라 높이</a:t>
            </a:r>
          </a:p>
        </p:txBody>
      </p:sp>
      <p:sp>
        <p:nvSpPr>
          <p:cNvPr id="6" name="Rectangle 5"/>
          <p:cNvSpPr/>
          <p:nvPr/>
        </p:nvSpPr>
        <p:spPr>
          <a:xfrm>
            <a:off x="5440680" y="2286000"/>
            <a:ext cx="324612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회전운동</a:t>
            </a:r>
          </a:p>
          <a:p>
            <a:pPr algn="ctr" marL="0" indent="0">
              <a:lnSpc>
                <a:spcPct val="110000"/>
              </a:lnSpc>
              <a:buNone/>
            </a:pPr>
            <a:r>
              <a:rPr sz="1050" b="0" i="0">
                <a:solidFill>
                  <a:srgbClr val="333333"/>
                </a:solidFill>
                <a:latin typeface="Arial"/>
                <a:ea typeface="MS PGothic"/>
              </a:rPr>
              <a:t>기체의 각속도</a:t>
            </a:r>
          </a:p>
        </p:txBody>
      </p:sp>
      <p:sp>
        <p:nvSpPr>
          <p:cNvPr id="7" name="TextBox 6"/>
          <p:cNvSpPr txBox="1"/>
          <p:nvPr/>
        </p:nvSpPr>
        <p:spPr>
          <a:xfrm>
            <a:off x="6880859" y="2020824"/>
            <a:ext cx="365760" cy="256032"/>
          </a:xfrm>
          <a:prstGeom prst="rect">
            <a:avLst/>
          </a:prstGeom>
          <a:noFill/>
        </p:spPr>
        <p:txBody>
          <a:bodyPr wrap="square" anchor="ctr" lIns="0" rIns="0" tIns="0" bIns="0">
            <a:spAutoFit/>
          </a:bodyPr>
          <a:lstStyle/>
          <a:p>
            <a:pPr algn="ctr" marL="0" indent="0">
              <a:lnSpc>
                <a:spcPct val="110000"/>
              </a:lnSpc>
              <a:buNone/>
            </a:pPr>
            <a:r>
              <a:rPr sz="1400" b="1" i="0">
                <a:solidFill>
                  <a:srgbClr val="000F65"/>
                </a:solidFill>
                <a:latin typeface="Arial"/>
                <a:ea typeface="MS PGothic"/>
              </a:rPr>
              <a:t>+</a:t>
            </a:r>
          </a:p>
        </p:txBody>
      </p:sp>
      <p:cxnSp>
        <p:nvCxnSpPr>
          <p:cNvPr id="8" name="Connector 7"/>
          <p:cNvCxnSpPr/>
          <p:nvPr/>
        </p:nvCxnSpPr>
        <p:spPr>
          <a:xfrm>
            <a:off x="7063740" y="2871216"/>
            <a:ext cx="0" cy="329184"/>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440680" y="3200400"/>
            <a:ext cx="3246120" cy="566928"/>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200" b="1" i="0">
                <a:solidFill>
                  <a:srgbClr val="FFFFFF"/>
                </a:solidFill>
                <a:latin typeface="Arial"/>
                <a:ea typeface="MS PGothic"/>
              </a:rPr>
              <a:t>영상 이동 (옵티컬 플로우)</a:t>
            </a:r>
          </a:p>
          <a:p>
            <a:pPr algn="ctr" marL="0" indent="0">
              <a:lnSpc>
                <a:spcPct val="110000"/>
              </a:lnSpc>
              <a:buNone/>
            </a:pPr>
            <a:r>
              <a:rPr sz="1050" b="0" i="0">
                <a:solidFill>
                  <a:srgbClr val="C8CEEA"/>
                </a:solidFill>
                <a:latin typeface="Arial"/>
                <a:ea typeface="MS PGothic"/>
              </a:rPr>
              <a:t>KLT로 측정</a:t>
            </a:r>
          </a:p>
        </p:txBody>
      </p:sp>
      <p:sp>
        <p:nvSpPr>
          <p:cNvPr id="10" name="Rectangle 9"/>
          <p:cNvSpPr/>
          <p:nvPr/>
        </p:nvSpPr>
        <p:spPr>
          <a:xfrm>
            <a:off x="5440680" y="3931920"/>
            <a:ext cx="3246120" cy="1143000"/>
          </a:xfrm>
          <a:prstGeom prst="rect">
            <a:avLst/>
          </a:prstGeom>
          <a:noFill/>
          <a:ln w="9525">
            <a:solidFill>
              <a:srgbClr val="BFBFBF"/>
            </a:solidFill>
          </a:ln>
        </p:spPr>
        <p:txBody>
          <a:bodyPr rtlCol="0" anchor="ctr"/>
          <a:lstStyle/>
          <a:p>
            <a:pPr algn="ctr"/>
          </a:p>
        </p:txBody>
      </p:sp>
      <p:sp>
        <p:nvSpPr>
          <p:cNvPr id="11" name="TextBox 10"/>
          <p:cNvSpPr txBox="1"/>
          <p:nvPr/>
        </p:nvSpPr>
        <p:spPr>
          <a:xfrm>
            <a:off x="5550408" y="3986784"/>
            <a:ext cx="3026663" cy="1051560"/>
          </a:xfrm>
          <a:prstGeom prst="rect">
            <a:avLst/>
          </a:prstGeom>
          <a:noFill/>
        </p:spPr>
        <p:txBody>
          <a:bodyPr wrap="square" anchor="t" lIns="0" rIns="0" tIns="0" bIns="0">
            <a:spAutoFit/>
          </a:bodyPr>
          <a:lstStyle/>
          <a:p>
            <a:pPr algn="l" marL="0" indent="0">
              <a:lnSpc>
                <a:spcPct val="110000"/>
              </a:lnSpc>
              <a:buNone/>
            </a:pPr>
            <a:r>
              <a:rPr sz="1200" b="1" i="0">
                <a:solidFill>
                  <a:srgbClr val="000F65"/>
                </a:solidFill>
                <a:latin typeface="Arial"/>
                <a:ea typeface="MS PGothic"/>
              </a:rPr>
              <a:t>움직임 정보로 쓰려면</a:t>
            </a:r>
          </a:p>
          <a:p>
            <a:pPr algn="l" marL="0" indent="0">
              <a:lnSpc>
                <a:spcPct val="110000"/>
              </a:lnSpc>
              <a:buNone/>
            </a:pPr>
            <a:r>
              <a:rPr sz="1050" b="0" i="0">
                <a:solidFill>
                  <a:srgbClr val="333333"/>
                </a:solidFill>
                <a:latin typeface="Arial"/>
                <a:ea typeface="MS PGothic"/>
              </a:rPr>
              <a:t>• 회전 성분: 자이로로 제거</a:t>
            </a:r>
          </a:p>
          <a:p>
            <a:pPr algn="l" marL="0" indent="0">
              <a:lnSpc>
                <a:spcPct val="110000"/>
              </a:lnSpc>
              <a:buNone/>
            </a:pPr>
            <a:r>
              <a:rPr sz="1050" b="0" i="0">
                <a:solidFill>
                  <a:srgbClr val="333333"/>
                </a:solidFill>
                <a:latin typeface="Arial"/>
                <a:ea typeface="MS PGothic"/>
              </a:rPr>
              <a:t>• 거리 스케일: 카메라 높이와</a:t>
            </a:r>
          </a:p>
          <a:p>
            <a:pPr algn="l" marL="0" indent="0">
              <a:lnSpc>
                <a:spcPct val="110000"/>
              </a:lnSpc>
              <a:buNone/>
            </a:pPr>
            <a:r>
              <a:rPr sz="1050" b="0" i="0">
                <a:solidFill>
                  <a:srgbClr val="333333"/>
                </a:solidFill>
                <a:latin typeface="Arial"/>
                <a:ea typeface="MS PGothic"/>
              </a:rPr>
              <a:t>   평면 가정 활용 검토</a:t>
            </a:r>
          </a:p>
        </p:txBody>
      </p:sp>
    </p:spTree>
    <p:extLst>
      <p:ext uri="{BB962C8B-B14F-4D97-AF65-F5344CB8AC3E}">
        <p14:creationId xmlns:p14="http://schemas.microsoft.com/office/powerpoint/2010/main" val="371350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연구방법</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IMU 예측 + 영상 보정 + 영상 품질 반영</a:t>
            </a:r>
          </a:p>
        </p:txBody>
      </p:sp>
      <p:sp>
        <p:nvSpPr>
          <p:cNvPr id="4" name="Rectangle 3"/>
          <p:cNvSpPr/>
          <p:nvPr/>
        </p:nvSpPr>
        <p:spPr>
          <a:xfrm>
            <a:off x="457200" y="1508760"/>
            <a:ext cx="146304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IMU</a:t>
            </a:r>
          </a:p>
          <a:p>
            <a:pPr algn="ctr" marL="0" indent="0">
              <a:lnSpc>
                <a:spcPct val="110000"/>
              </a:lnSpc>
              <a:buNone/>
            </a:pPr>
            <a:r>
              <a:rPr sz="1050" b="0" i="0">
                <a:solidFill>
                  <a:srgbClr val="333333"/>
                </a:solidFill>
                <a:latin typeface="Arial"/>
                <a:ea typeface="MS PGothic"/>
              </a:rPr>
              <a:t>가속도·각속도</a:t>
            </a:r>
          </a:p>
        </p:txBody>
      </p:sp>
      <p:sp>
        <p:nvSpPr>
          <p:cNvPr id="5" name="Rectangle 4"/>
          <p:cNvSpPr/>
          <p:nvPr/>
        </p:nvSpPr>
        <p:spPr>
          <a:xfrm>
            <a:off x="457200" y="2423160"/>
            <a:ext cx="146304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카메라</a:t>
            </a:r>
          </a:p>
          <a:p>
            <a:pPr algn="ctr" marL="0" indent="0">
              <a:lnSpc>
                <a:spcPct val="110000"/>
              </a:lnSpc>
              <a:buNone/>
            </a:pPr>
            <a:r>
              <a:rPr sz="1050" b="0" i="0">
                <a:solidFill>
                  <a:srgbClr val="333333"/>
                </a:solidFill>
                <a:latin typeface="Arial"/>
                <a:ea typeface="MS PGothic"/>
              </a:rPr>
              <a:t>연속 영상</a:t>
            </a:r>
          </a:p>
        </p:txBody>
      </p:sp>
      <p:cxnSp>
        <p:nvCxnSpPr>
          <p:cNvPr id="6" name="Connector 5"/>
          <p:cNvCxnSpPr/>
          <p:nvPr/>
        </p:nvCxnSpPr>
        <p:spPr>
          <a:xfrm>
            <a:off x="1920240" y="1792224"/>
            <a:ext cx="356616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011680" y="1527048"/>
            <a:ext cx="1828800" cy="237744"/>
          </a:xfrm>
          <a:prstGeom prst="rect">
            <a:avLst/>
          </a:prstGeom>
          <a:noFill/>
        </p:spPr>
        <p:txBody>
          <a:bodyPr wrap="square" anchor="ctr" lIns="0" rIns="0" tIns="0" bIns="0">
            <a:spAutoFit/>
          </a:bodyPr>
          <a:lstStyle/>
          <a:p>
            <a:pPr algn="l" marL="0" indent="0">
              <a:lnSpc>
                <a:spcPct val="110000"/>
              </a:lnSpc>
              <a:buNone/>
            </a:pPr>
            <a:r>
              <a:rPr sz="1050" b="1" i="0">
                <a:solidFill>
                  <a:srgbClr val="000F65"/>
                </a:solidFill>
                <a:latin typeface="Arial"/>
                <a:ea typeface="MS PGothic"/>
              </a:rPr>
              <a:t>예측</a:t>
            </a:r>
          </a:p>
        </p:txBody>
      </p:sp>
      <p:sp>
        <p:nvSpPr>
          <p:cNvPr id="8" name="Rectangle 7"/>
          <p:cNvSpPr/>
          <p:nvPr/>
        </p:nvSpPr>
        <p:spPr>
          <a:xfrm>
            <a:off x="2194560" y="2423160"/>
            <a:ext cx="141732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KLT</a:t>
            </a:r>
          </a:p>
          <a:p>
            <a:pPr algn="ctr" marL="0" indent="0">
              <a:lnSpc>
                <a:spcPct val="110000"/>
              </a:lnSpc>
              <a:buNone/>
            </a:pPr>
            <a:r>
              <a:rPr sz="1050" b="0" i="0">
                <a:solidFill>
                  <a:srgbClr val="333333"/>
                </a:solidFill>
                <a:latin typeface="Arial"/>
                <a:ea typeface="MS PGothic"/>
              </a:rPr>
              <a:t>옵티컬 플로우</a:t>
            </a:r>
          </a:p>
        </p:txBody>
      </p:sp>
      <p:cxnSp>
        <p:nvCxnSpPr>
          <p:cNvPr id="9" name="Connector 8"/>
          <p:cNvCxnSpPr/>
          <p:nvPr/>
        </p:nvCxnSpPr>
        <p:spPr>
          <a:xfrm>
            <a:off x="1920240" y="2706624"/>
            <a:ext cx="27432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840480" y="2313432"/>
            <a:ext cx="1417320" cy="786384"/>
          </a:xfrm>
          <a:prstGeom prst="rect">
            <a:avLst/>
          </a:prstGeom>
          <a:solidFill>
            <a:srgbClr val="FFFFFF"/>
          </a:solidFill>
          <a:ln w="15875">
            <a:solidFill>
              <a:srgbClr val="C00000"/>
            </a:solidFill>
          </a:ln>
        </p:spPr>
        <p:txBody>
          <a:bodyPr rtlCol="0" anchor="ctr" wrap="square" lIns="73152" rIns="73152" tIns="36576" bIns="36576"/>
          <a:lstStyle/>
          <a:p>
            <a:pPr algn="ctr" marL="0" indent="0">
              <a:lnSpc>
                <a:spcPct val="110000"/>
              </a:lnSpc>
              <a:buNone/>
            </a:pPr>
            <a:r>
              <a:rPr sz="1200" b="1" i="0">
                <a:solidFill>
                  <a:srgbClr val="C00000"/>
                </a:solidFill>
                <a:latin typeface="Arial"/>
                <a:ea typeface="MS PGothic"/>
              </a:rPr>
              <a:t>품질 지표</a:t>
            </a:r>
          </a:p>
          <a:p>
            <a:pPr algn="ctr" marL="0" indent="0">
              <a:lnSpc>
                <a:spcPct val="110000"/>
              </a:lnSpc>
              <a:buNone/>
            </a:pPr>
            <a:r>
              <a:rPr sz="1050" b="0" i="0">
                <a:solidFill>
                  <a:srgbClr val="333333"/>
                </a:solidFill>
                <a:latin typeface="Arial"/>
                <a:ea typeface="MS PGothic"/>
              </a:rPr>
              <a:t>특징점 수</a:t>
            </a:r>
          </a:p>
          <a:p>
            <a:pPr algn="ctr" marL="0" indent="0">
              <a:lnSpc>
                <a:spcPct val="110000"/>
              </a:lnSpc>
              <a:buNone/>
            </a:pPr>
            <a:r>
              <a:rPr sz="1050" b="0" i="0">
                <a:solidFill>
                  <a:srgbClr val="333333"/>
                </a:solidFill>
                <a:latin typeface="Arial"/>
                <a:ea typeface="MS PGothic"/>
              </a:rPr>
              <a:t>추적 성공률 · 잔차</a:t>
            </a:r>
          </a:p>
        </p:txBody>
      </p:sp>
      <p:cxnSp>
        <p:nvCxnSpPr>
          <p:cNvPr id="11" name="Connector 10"/>
          <p:cNvCxnSpPr/>
          <p:nvPr/>
        </p:nvCxnSpPr>
        <p:spPr>
          <a:xfrm>
            <a:off x="3611880" y="2706624"/>
            <a:ext cx="22860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57800" y="2706624"/>
            <a:ext cx="22860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486400" y="1508760"/>
            <a:ext cx="1600200" cy="1481328"/>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200" b="1" i="0">
                <a:solidFill>
                  <a:srgbClr val="FFFFFF"/>
                </a:solidFill>
                <a:latin typeface="Arial"/>
                <a:ea typeface="MS PGothic"/>
              </a:rPr>
              <a:t>상태추정 filter</a:t>
            </a:r>
          </a:p>
          <a:p>
            <a:pPr algn="ctr" marL="0" indent="0">
              <a:lnSpc>
                <a:spcPct val="110000"/>
              </a:lnSpc>
              <a:buNone/>
            </a:pPr>
            <a:r>
              <a:rPr sz="1050" b="0" i="0">
                <a:solidFill>
                  <a:srgbClr val="FFFFFF"/>
                </a:solidFill>
                <a:latin typeface="Arial"/>
                <a:ea typeface="MS PGothic"/>
              </a:rPr>
              <a:t>IMU로 예측</a:t>
            </a:r>
          </a:p>
          <a:p>
            <a:pPr algn="ctr" marL="0" indent="0">
              <a:lnSpc>
                <a:spcPct val="110000"/>
              </a:lnSpc>
              <a:buNone/>
            </a:pPr>
            <a:r>
              <a:rPr sz="1050" b="0" i="0">
                <a:solidFill>
                  <a:srgbClr val="FFFFFF"/>
                </a:solidFill>
                <a:latin typeface="Arial"/>
                <a:ea typeface="MS PGothic"/>
              </a:rPr>
              <a:t>영상으로 보정</a:t>
            </a:r>
          </a:p>
          <a:p>
            <a:pPr algn="ctr" marL="0" indent="0">
              <a:lnSpc>
                <a:spcPct val="110000"/>
              </a:lnSpc>
              <a:buNone/>
            </a:pPr>
            <a:r>
              <a:rPr sz="1050" b="0" i="0">
                <a:solidFill>
                  <a:srgbClr val="C8CEEA"/>
                </a:solidFill>
                <a:latin typeface="Arial"/>
                <a:ea typeface="MS PGothic"/>
              </a:rPr>
              <a:t>(보정 비중 조절)</a:t>
            </a:r>
          </a:p>
        </p:txBody>
      </p:sp>
      <p:cxnSp>
        <p:nvCxnSpPr>
          <p:cNvPr id="14" name="Connector 13"/>
          <p:cNvCxnSpPr/>
          <p:nvPr/>
        </p:nvCxnSpPr>
        <p:spPr>
          <a:xfrm>
            <a:off x="7086600" y="2249424"/>
            <a:ext cx="228600" cy="0"/>
          </a:xfrm>
          <a:prstGeom prst="line">
            <a:avLst/>
          </a:prstGeom>
          <a:ln w="22225">
            <a:solidFill>
              <a:srgbClr val="3333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15200" y="1965960"/>
            <a:ext cx="137160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위치·속도·자세</a:t>
            </a:r>
          </a:p>
          <a:p>
            <a:pPr algn="ctr" marL="0" indent="0">
              <a:lnSpc>
                <a:spcPct val="110000"/>
              </a:lnSpc>
              <a:buNone/>
            </a:pPr>
            <a:r>
              <a:rPr sz="1050" b="0" i="0">
                <a:solidFill>
                  <a:srgbClr val="333333"/>
                </a:solidFill>
                <a:latin typeface="Arial"/>
                <a:ea typeface="MS PGothic"/>
              </a:rPr>
              <a:t>추정값</a:t>
            </a:r>
          </a:p>
        </p:txBody>
      </p:sp>
      <p:sp>
        <p:nvSpPr>
          <p:cNvPr id="16" name="TextBox 15"/>
          <p:cNvSpPr txBox="1"/>
          <p:nvPr/>
        </p:nvSpPr>
        <p:spPr>
          <a:xfrm>
            <a:off x="3383280" y="3209544"/>
            <a:ext cx="2377440" cy="237744"/>
          </a:xfrm>
          <a:prstGeom prst="rect">
            <a:avLst/>
          </a:prstGeom>
          <a:noFill/>
        </p:spPr>
        <p:txBody>
          <a:bodyPr wrap="square" anchor="ctr" lIns="0" rIns="0" tIns="0" bIns="0">
            <a:spAutoFit/>
          </a:bodyPr>
          <a:lstStyle/>
          <a:p>
            <a:pPr algn="ctr" marL="0" indent="0">
              <a:lnSpc>
                <a:spcPct val="110000"/>
              </a:lnSpc>
              <a:buNone/>
            </a:pPr>
            <a:r>
              <a:rPr sz="1050" b="1" i="0">
                <a:solidFill>
                  <a:srgbClr val="C00000"/>
                </a:solidFill>
                <a:latin typeface="Arial"/>
                <a:ea typeface="MS PGothic"/>
              </a:rPr>
              <a:t>본 연구의 핵심</a:t>
            </a:r>
          </a:p>
        </p:txBody>
      </p:sp>
      <p:sp>
        <p:nvSpPr>
          <p:cNvPr id="17" name="TextBox 16"/>
          <p:cNvSpPr txBox="1"/>
          <p:nvPr/>
        </p:nvSpPr>
        <p:spPr>
          <a:xfrm>
            <a:off x="457200" y="3520440"/>
            <a:ext cx="8229600" cy="2651760"/>
          </a:xfrm>
          <a:prstGeom prst="rect">
            <a:avLst/>
          </a:prstGeom>
          <a:noFill/>
        </p:spPr>
        <p:txBody>
          <a:bodyPr wrap="square" lIns="18288" rIns="18288" tIns="18288" bIns="18288">
            <a:spAutoFit/>
          </a:bodyPr>
          <a:lstStyle/>
          <a:p>
            <a:pPr marL="274320" indent="-164592">
              <a:lnSpc>
                <a:spcPct val="115000"/>
              </a:lnSpc>
              <a:spcBef>
                <a:spcPts val="400"/>
              </a:spcBef>
              <a:buSzPct val="100000"/>
              <a:buFont typeface="MS PGothic"/>
              <a:buChar char="•"/>
            </a:pPr>
            <a:r>
              <a:rPr sz="1400" b="1" i="0">
                <a:solidFill>
                  <a:srgbClr val="1A1A1A"/>
                </a:solidFill>
                <a:latin typeface="Arial"/>
                <a:ea typeface="MS PGothic"/>
              </a:rPr>
              <a:t>① 데이터 전처리</a:t>
            </a:r>
            <a:r>
              <a:rPr sz="1400" b="0" i="0">
                <a:solidFill>
                  <a:srgbClr val="333333"/>
                </a:solidFill>
                <a:latin typeface="Arial"/>
                <a:ea typeface="MS PGothic"/>
              </a:rPr>
              <a:t>: 센서별 측정 주기·시간 동기화·좌표계·카메라 보정 확인. GPS는 입력에서 제외하고, 기준 궤적은 </a:t>
            </a:r>
            <a:r>
              <a:rPr sz="1400" b="1" i="0">
                <a:solidFill>
                  <a:srgbClr val="1A1A1A"/>
                </a:solidFill>
                <a:latin typeface="Arial"/>
                <a:ea typeface="MS PGothic"/>
              </a:rPr>
              <a:t>검증용으로만</a:t>
            </a:r>
            <a:r>
              <a:rPr sz="1400" b="0" i="0">
                <a:solidFill>
                  <a:srgbClr val="333333"/>
                </a:solidFill>
                <a:latin typeface="Arial"/>
                <a:ea typeface="MS PGothic"/>
              </a:rPr>
              <a:t> 사용</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② 기준 추정기</a:t>
            </a:r>
            <a:r>
              <a:rPr sz="1400" b="0" i="0">
                <a:solidFill>
                  <a:srgbClr val="333333"/>
                </a:solidFill>
                <a:latin typeface="Arial"/>
                <a:ea typeface="MS PGothic"/>
              </a:rPr>
              <a:t>: MATLAB으로 IMU 예측 + 옵티컬 플로우 보정을 구성. 잡음·바이어스, 카메라 회전, 거리 스케일 고려</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③ 영상 품질 반영</a:t>
            </a:r>
            <a:r>
              <a:rPr sz="1400" b="0" i="0">
                <a:solidFill>
                  <a:srgbClr val="333333"/>
                </a:solidFill>
                <a:latin typeface="Arial"/>
                <a:ea typeface="MS PGothic"/>
              </a:rPr>
              <a:t>: 신뢰도가 낮으면 </a:t>
            </a:r>
            <a:r>
              <a:rPr sz="1400" b="1" i="0">
                <a:solidFill>
                  <a:srgbClr val="1A1A1A"/>
                </a:solidFill>
                <a:latin typeface="Arial"/>
                <a:ea typeface="MS PGothic"/>
              </a:rPr>
              <a:t>보정 비중을 줄이고</a:t>
            </a:r>
            <a:r>
              <a:rPr sz="1400" b="0" i="0">
                <a:solidFill>
                  <a:srgbClr val="333333"/>
                </a:solidFill>
                <a:latin typeface="Arial"/>
                <a:ea typeface="MS PGothic"/>
              </a:rPr>
              <a:t>, 유효 관측이 없으면 </a:t>
            </a:r>
            <a:r>
              <a:rPr sz="1400" b="1" i="0">
                <a:solidFill>
                  <a:srgbClr val="1A1A1A"/>
                </a:solidFill>
                <a:latin typeface="Arial"/>
                <a:ea typeface="MS PGothic"/>
              </a:rPr>
              <a:t>보정을 생략하고 IMU 예측 유지</a:t>
            </a:r>
            <a:r>
              <a:rPr sz="1400" b="0" i="0">
                <a:solidFill>
                  <a:srgbClr val="333333"/>
                </a:solidFill>
                <a:latin typeface="Arial"/>
                <a:ea typeface="MS PGothic"/>
              </a:rPr>
              <a:t>. 기준은 조정용 구간에서 정하고 별도 평가 구간에 적용</a:t>
            </a:r>
          </a:p>
        </p:txBody>
      </p:sp>
    </p:spTree>
    <p:extLst>
      <p:ext uri="{BB962C8B-B14F-4D97-AF65-F5344CB8AC3E}">
        <p14:creationId xmlns:p14="http://schemas.microsoft.com/office/powerpoint/2010/main" val="37135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연구계획</a:t>
            </a:r>
          </a:p>
        </p:txBody>
      </p:sp>
      <p:nvGrpSpPr>
        <p:cNvPr id="1" name=""/>
        <p:cNvGrpSpPr/>
        <p:nvPr/>
      </p:nvGrpSpPr>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10월 ~ 12월 단계별 추진 계획</a:t>
            </a:r>
          </a:p>
        </p:txBody>
      </p:sp>
      <p:graphicFrame>
        <p:nvGraphicFramePr>
          <p:cNvPr id="4" name="Table 3"/>
          <p:cNvGraphicFramePr>
            <a:graphicFrameLocks noGrp="1"/>
          </p:cNvGraphicFramePr>
          <p:nvPr/>
        </p:nvGraphicFramePr>
        <p:xfrm>
          <a:off x="457200" y="1600200"/>
          <a:ext cx="8229600" cy="3675888"/>
        </p:xfrm>
        <a:graphic>
          <a:graphicData uri="http://schemas.openxmlformats.org/drawingml/2006/table">
            <a:tbl>
              <a:tblPr firstRow="0" bandRow="0"/>
              <a:tblGrid>
                <a:gridCol w="1234440"/>
                <a:gridCol w="3886200"/>
                <a:gridCol w="3108960"/>
              </a:tblGrid>
              <a:tr h="384048">
                <a:tc>
                  <a:txBody>
                    <a:bodyPr/>
                    <a:lstStyle/>
                    <a:p>
                      <a:pPr algn="l"/>
                      <a:r>
                        <a:rPr sz="1200" b="1" i="0">
                          <a:solidFill>
                            <a:srgbClr val="000F65"/>
                          </a:solidFill>
                          <a:latin typeface="Arial"/>
                          <a:ea typeface="MS PGothic"/>
                        </a:rPr>
                        <a:t>시기</a:t>
                      </a:r>
                    </a:p>
                  </a:txBody>
                  <a:tcPr anchor="ctr" marL="91440" marT="27432" marB="27432">
                    <a:lnL w="0">
                      <a:noFill/>
                    </a:lnL>
                    <a:lnR w="0">
                      <a:noFill/>
                    </a:lnR>
                    <a:lnT w="19050">
                      <a:solidFill>
                        <a:srgbClr val="000F65"/>
                      </a:solidFill>
                    </a:lnT>
                    <a:lnB w="12700">
                      <a:solidFill>
                        <a:srgbClr val="000F65"/>
                      </a:solidFill>
                    </a:lnB>
                    <a:solidFill>
                      <a:srgbClr val="E8ECF5"/>
                    </a:solidFill>
                  </a:tcPr>
                </a:tc>
                <a:tc>
                  <a:txBody>
                    <a:bodyPr/>
                    <a:lstStyle/>
                    <a:p>
                      <a:pPr algn="l"/>
                      <a:r>
                        <a:rPr sz="1200" b="1" i="0">
                          <a:solidFill>
                            <a:srgbClr val="000F65"/>
                          </a:solidFill>
                          <a:latin typeface="Arial"/>
                          <a:ea typeface="MS PGothic"/>
                        </a:rPr>
                        <a:t>수행 내용</a:t>
                      </a:r>
                    </a:p>
                  </a:txBody>
                  <a:tcPr anchor="ctr" marL="91440" marT="27432" marB="27432">
                    <a:lnL w="0">
                      <a:noFill/>
                    </a:lnL>
                    <a:lnR w="0">
                      <a:noFill/>
                    </a:lnR>
                    <a:lnT w="19050">
                      <a:solidFill>
                        <a:srgbClr val="000F65"/>
                      </a:solidFill>
                    </a:lnT>
                    <a:lnB w="12700">
                      <a:solidFill>
                        <a:srgbClr val="000F65"/>
                      </a:solidFill>
                    </a:lnB>
                    <a:solidFill>
                      <a:srgbClr val="E8ECF5"/>
                    </a:solidFill>
                  </a:tcPr>
                </a:tc>
                <a:tc>
                  <a:txBody>
                    <a:bodyPr/>
                    <a:lstStyle/>
                    <a:p>
                      <a:pPr algn="l"/>
                      <a:r>
                        <a:rPr sz="1200" b="1" i="0">
                          <a:solidFill>
                            <a:srgbClr val="000F65"/>
                          </a:solidFill>
                          <a:latin typeface="Arial"/>
                          <a:ea typeface="MS PGothic"/>
                        </a:rPr>
                        <a:t>확인할 결과</a:t>
                      </a:r>
                    </a:p>
                  </a:txBody>
                  <a:tcPr anchor="ctr" marL="91440" marT="27432" marB="27432">
                    <a:lnL w="0">
                      <a:noFill/>
                    </a:lnL>
                    <a:lnR w="0">
                      <a:noFill/>
                    </a:lnR>
                    <a:lnT w="19050">
                      <a:solidFill>
                        <a:srgbClr val="000F65"/>
                      </a:solidFill>
                    </a:lnT>
                    <a:lnB w="12700">
                      <a:solidFill>
                        <a:srgbClr val="000F65"/>
                      </a:solidFill>
                    </a:lnB>
                    <a:solidFill>
                      <a:srgbClr val="E8ECF5"/>
                    </a:solidFill>
                  </a:tcPr>
                </a:tc>
              </a:tr>
              <a:tr h="822960">
                <a:tc>
                  <a:txBody>
                    <a:bodyPr/>
                    <a:lstStyle/>
                    <a:p>
                      <a:pPr algn="l"/>
                      <a:r>
                        <a:rPr sz="1200" b="1" i="0">
                          <a:solidFill>
                            <a:srgbClr val="1A1A1A"/>
                          </a:solidFill>
                          <a:latin typeface="Arial"/>
                          <a:ea typeface="MS PGothic"/>
                        </a:rPr>
                        <a:t>10월 전반</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1" i="0">
                          <a:solidFill>
                            <a:srgbClr val="1A1A1A"/>
                          </a:solidFill>
                          <a:latin typeface="Arial"/>
                          <a:ea typeface="MS PGothic"/>
                        </a:rPr>
                        <a:t>① 데이터 구성 및 전처리</a:t>
                      </a:r>
                    </a:p>
                    <a:p>
                      <a:pPr algn="l"/>
                      <a:r>
                        <a:rPr sz="1200" b="0" i="0">
                          <a:solidFill>
                            <a:srgbClr val="333333"/>
                          </a:solidFill>
                          <a:latin typeface="Arial"/>
                          <a:ea typeface="MS PGothic"/>
                        </a:rPr>
                        <a:t>측정 주기·시간 동기화·좌표계·카메라 보정</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0" i="0">
                          <a:solidFill>
                            <a:srgbClr val="333333"/>
                          </a:solidFill>
                          <a:latin typeface="Arial"/>
                          <a:ea typeface="MS PGothic"/>
                        </a:rPr>
                        <a:t>센서 데이터 특성 파악</a:t>
                      </a:r>
                    </a:p>
                    <a:p>
                      <a:pPr algn="l"/>
                      <a:r>
                        <a:rPr sz="1200" b="0" i="0">
                          <a:solidFill>
                            <a:srgbClr val="333333"/>
                          </a:solidFill>
                          <a:latin typeface="Arial"/>
                          <a:ea typeface="MS PGothic"/>
                        </a:rPr>
                        <a:t>기준 궤적 확보</a:t>
                      </a:r>
                    </a:p>
                  </a:txBody>
                  <a:tcPr anchor="ctr" marL="91440" marT="27432" marB="27432">
                    <a:lnL w="0">
                      <a:noFill/>
                    </a:lnL>
                    <a:lnR w="0">
                      <a:noFill/>
                    </a:lnR>
                    <a:lnT w="0">
                      <a:noFill/>
                    </a:lnT>
                    <a:lnB w="6350">
                      <a:solidFill>
                        <a:srgbClr val="BFBFBF"/>
                      </a:solidFill>
                    </a:lnB>
                    <a:solidFill>
                      <a:srgbClr val="FFFFFF"/>
                    </a:solidFill>
                  </a:tcPr>
                </a:tc>
              </a:tr>
              <a:tr h="822960">
                <a:tc>
                  <a:txBody>
                    <a:bodyPr/>
                    <a:lstStyle/>
                    <a:p>
                      <a:pPr algn="l"/>
                      <a:r>
                        <a:rPr sz="1200" b="1" i="0">
                          <a:solidFill>
                            <a:srgbClr val="1A1A1A"/>
                          </a:solidFill>
                          <a:latin typeface="Arial"/>
                          <a:ea typeface="MS PGothic"/>
                        </a:rPr>
                        <a:t>10월 후반</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1" i="0">
                          <a:solidFill>
                            <a:srgbClr val="1A1A1A"/>
                          </a:solidFill>
                          <a:latin typeface="Arial"/>
                          <a:ea typeface="MS PGothic"/>
                        </a:rPr>
                        <a:t>② 기준 추정기 구성</a:t>
                      </a:r>
                    </a:p>
                    <a:p>
                      <a:pPr algn="l"/>
                      <a:r>
                        <a:rPr sz="1200" b="0" i="0">
                          <a:solidFill>
                            <a:srgbClr val="333333"/>
                          </a:solidFill>
                          <a:latin typeface="Arial"/>
                          <a:ea typeface="MS PGothic"/>
                        </a:rPr>
                        <a:t>IMU 예측 + 옵티컬 플로우 보정</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0" i="0">
                          <a:solidFill>
                            <a:srgbClr val="333333"/>
                          </a:solidFill>
                          <a:latin typeface="Arial"/>
                          <a:ea typeface="MS PGothic"/>
                        </a:rPr>
                        <a:t>IMU 단독·고정 신뢰도 결과</a:t>
                      </a:r>
                    </a:p>
                    <a:p>
                      <a:pPr algn="l"/>
                      <a:r>
                        <a:rPr sz="1200" b="0" i="0">
                          <a:solidFill>
                            <a:srgbClr val="333333"/>
                          </a:solidFill>
                          <a:latin typeface="Arial"/>
                          <a:ea typeface="MS PGothic"/>
                        </a:rPr>
                        <a:t>(비교 기준)</a:t>
                      </a:r>
                    </a:p>
                  </a:txBody>
                  <a:tcPr anchor="ctr" marL="91440" marT="27432" marB="27432">
                    <a:lnL w="0">
                      <a:noFill/>
                    </a:lnL>
                    <a:lnR w="0">
                      <a:noFill/>
                    </a:lnR>
                    <a:lnT w="0">
                      <a:noFill/>
                    </a:lnT>
                    <a:lnB w="6350">
                      <a:solidFill>
                        <a:srgbClr val="BFBFBF"/>
                      </a:solidFill>
                    </a:lnB>
                    <a:solidFill>
                      <a:srgbClr val="FFFFFF"/>
                    </a:solidFill>
                  </a:tcPr>
                </a:tc>
              </a:tr>
              <a:tr h="822960">
                <a:tc>
                  <a:txBody>
                    <a:bodyPr/>
                    <a:lstStyle/>
                    <a:p>
                      <a:pPr algn="l"/>
                      <a:r>
                        <a:rPr sz="1200" b="1" i="0">
                          <a:solidFill>
                            <a:srgbClr val="1A1A1A"/>
                          </a:solidFill>
                          <a:latin typeface="Arial"/>
                          <a:ea typeface="MS PGothic"/>
                        </a:rPr>
                        <a:t>11월</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1" i="0">
                          <a:solidFill>
                            <a:srgbClr val="1A1A1A"/>
                          </a:solidFill>
                          <a:latin typeface="Arial"/>
                          <a:ea typeface="MS PGothic"/>
                        </a:rPr>
                        <a:t>③ 영상 품질 반영 융합</a:t>
                      </a:r>
                    </a:p>
                    <a:p>
                      <a:pPr algn="l"/>
                      <a:r>
                        <a:rPr sz="1200" b="0" i="0">
                          <a:solidFill>
                            <a:srgbClr val="333333"/>
                          </a:solidFill>
                          <a:latin typeface="Arial"/>
                          <a:ea typeface="MS PGothic"/>
                        </a:rPr>
                        <a:t>품질 지표·신뢰도 기준·보정 규칙</a:t>
                      </a:r>
                    </a:p>
                  </a:txBody>
                  <a:tcPr anchor="ctr" marL="91440" marT="27432" marB="27432">
                    <a:lnL w="0">
                      <a:noFill/>
                    </a:lnL>
                    <a:lnR w="0">
                      <a:noFill/>
                    </a:lnR>
                    <a:lnT w="0">
                      <a:noFill/>
                    </a:lnT>
                    <a:lnB w="6350">
                      <a:solidFill>
                        <a:srgbClr val="BFBFBF"/>
                      </a:solidFill>
                    </a:lnB>
                    <a:solidFill>
                      <a:srgbClr val="FFFFFF"/>
                    </a:solidFill>
                  </a:tcPr>
                </a:tc>
                <a:tc>
                  <a:txBody>
                    <a:bodyPr/>
                    <a:lstStyle/>
                    <a:p>
                      <a:pPr algn="l"/>
                      <a:r>
                        <a:rPr sz="1200" b="0" i="0">
                          <a:solidFill>
                            <a:srgbClr val="333333"/>
                          </a:solidFill>
                          <a:latin typeface="Arial"/>
                          <a:ea typeface="MS PGothic"/>
                        </a:rPr>
                        <a:t>영상 신뢰도 반영</a:t>
                      </a:r>
                    </a:p>
                    <a:p>
                      <a:pPr algn="l"/>
                      <a:r>
                        <a:rPr sz="1200" b="0" i="0">
                          <a:solidFill>
                            <a:srgbClr val="333333"/>
                          </a:solidFill>
                          <a:latin typeface="Arial"/>
                          <a:ea typeface="MS PGothic"/>
                        </a:rPr>
                        <a:t>융합 추정기</a:t>
                      </a:r>
                    </a:p>
                  </a:txBody>
                  <a:tcPr anchor="ctr" marL="91440" marT="27432" marB="27432">
                    <a:lnL w="0">
                      <a:noFill/>
                    </a:lnL>
                    <a:lnR w="0">
                      <a:noFill/>
                    </a:lnR>
                    <a:lnT w="0">
                      <a:noFill/>
                    </a:lnT>
                    <a:lnB w="6350">
                      <a:solidFill>
                        <a:srgbClr val="BFBFBF"/>
                      </a:solidFill>
                    </a:lnB>
                    <a:solidFill>
                      <a:srgbClr val="FFFFFF"/>
                    </a:solidFill>
                  </a:tcPr>
                </a:tc>
              </a:tr>
              <a:tr h="822960">
                <a:tc>
                  <a:txBody>
                    <a:bodyPr/>
                    <a:lstStyle/>
                    <a:p>
                      <a:pPr algn="l"/>
                      <a:r>
                        <a:rPr sz="1200" b="1" i="0">
                          <a:solidFill>
                            <a:srgbClr val="1A1A1A"/>
                          </a:solidFill>
                          <a:latin typeface="Arial"/>
                          <a:ea typeface="MS PGothic"/>
                        </a:rPr>
                        <a:t>12월</a:t>
                      </a:r>
                    </a:p>
                  </a:txBody>
                  <a:tcPr anchor="ctr" marL="91440" marT="27432" marB="27432">
                    <a:lnL w="0">
                      <a:noFill/>
                    </a:lnL>
                    <a:lnR w="0">
                      <a:noFill/>
                    </a:lnR>
                    <a:lnT w="0">
                      <a:noFill/>
                    </a:lnT>
                    <a:lnB w="12700">
                      <a:solidFill>
                        <a:srgbClr val="000F65"/>
                      </a:solidFill>
                    </a:lnB>
                    <a:solidFill>
                      <a:srgbClr val="FFFFFF"/>
                    </a:solidFill>
                  </a:tcPr>
                </a:tc>
                <a:tc>
                  <a:txBody>
                    <a:bodyPr/>
                    <a:lstStyle/>
                    <a:p>
                      <a:pPr algn="l"/>
                      <a:r>
                        <a:rPr sz="1200" b="1" i="0">
                          <a:solidFill>
                            <a:srgbClr val="1A1A1A"/>
                          </a:solidFill>
                          <a:latin typeface="Arial"/>
                          <a:ea typeface="MS PGothic"/>
                        </a:rPr>
                        <a:t>④ 조건별 비교 실험·평가</a:t>
                      </a:r>
                    </a:p>
                    <a:p>
                      <a:pPr algn="l"/>
                      <a:r>
                        <a:rPr sz="1200" b="0" i="0">
                          <a:solidFill>
                            <a:srgbClr val="333333"/>
                          </a:solidFill>
                          <a:latin typeface="Arial"/>
                          <a:ea typeface="MS PGothic"/>
                        </a:rPr>
                        <a:t>⑤ 결과 분석 및 보고서</a:t>
                      </a:r>
                    </a:p>
                  </a:txBody>
                  <a:tcPr anchor="ctr" marL="91440" marT="27432" marB="27432">
                    <a:lnL w="0">
                      <a:noFill/>
                    </a:lnL>
                    <a:lnR w="0">
                      <a:noFill/>
                    </a:lnR>
                    <a:lnT w="0">
                      <a:noFill/>
                    </a:lnT>
                    <a:lnB w="12700">
                      <a:solidFill>
                        <a:srgbClr val="000F65"/>
                      </a:solidFill>
                    </a:lnB>
                    <a:solidFill>
                      <a:srgbClr val="FFFFFF"/>
                    </a:solidFill>
                  </a:tcPr>
                </a:tc>
                <a:tc>
                  <a:txBody>
                    <a:bodyPr/>
                    <a:lstStyle/>
                    <a:p>
                      <a:pPr algn="l"/>
                      <a:r>
                        <a:rPr sz="1200" b="0" i="0">
                          <a:solidFill>
                            <a:srgbClr val="333333"/>
                          </a:solidFill>
                          <a:latin typeface="Arial"/>
                          <a:ea typeface="MS PGothic"/>
                        </a:rPr>
                        <a:t>성능 평가표·비교 그래프</a:t>
                      </a:r>
                    </a:p>
                    <a:p>
                      <a:pPr algn="l"/>
                      <a:r>
                        <a:rPr sz="1200" b="0" i="0">
                          <a:solidFill>
                            <a:srgbClr val="333333"/>
                          </a:solidFill>
                          <a:latin typeface="Arial"/>
                          <a:ea typeface="MS PGothic"/>
                        </a:rPr>
                        <a:t>최종 보고서 및 발표</a:t>
                      </a:r>
                    </a:p>
                  </a:txBody>
                  <a:tcPr anchor="ctr" marL="91440" marT="27432" marB="27432">
                    <a:lnL w="0">
                      <a:noFill/>
                    </a:lnL>
                    <a:lnR w="0">
                      <a:noFill/>
                    </a:lnR>
                    <a:lnT w="0">
                      <a:noFill/>
                    </a:lnT>
                    <a:lnB w="12700">
                      <a:solidFill>
                        <a:srgbClr val="000F65"/>
                      </a:solidFill>
                    </a:lnB>
                    <a:solidFill>
                      <a:srgbClr val="FFFFFF"/>
                    </a:solidFill>
                  </a:tcPr>
                </a:tc>
              </a:tr>
            </a:tbl>
          </a:graphicData>
        </a:graphic>
      </p:graphicFrame>
      <p:sp>
        <p:nvSpPr>
          <p:cNvPr id="5" name="Rectangle 4"/>
          <p:cNvSpPr/>
          <p:nvPr/>
        </p:nvSpPr>
        <p:spPr>
          <a:xfrm>
            <a:off x="411480" y="3630168"/>
            <a:ext cx="8321040" cy="822960"/>
          </a:xfrm>
          <a:prstGeom prst="rect">
            <a:avLst/>
          </a:prstGeom>
          <a:noFill/>
          <a:ln w="19050">
            <a:solidFill>
              <a:srgbClr val="C00000"/>
            </a:solidFill>
          </a:ln>
        </p:spPr>
        <p:txBody>
          <a:bodyPr rtlCol="0" anchor="ctr"/>
          <a:lstStyle/>
          <a:p>
            <a:pPr algn="ctr"/>
          </a:p>
        </p:txBody>
      </p:sp>
      <p:sp>
        <p:nvSpPr>
          <p:cNvPr id="6" name="TextBox 5"/>
          <p:cNvSpPr txBox="1"/>
          <p:nvPr/>
        </p:nvSpPr>
        <p:spPr>
          <a:xfrm>
            <a:off x="7498079" y="4178807"/>
            <a:ext cx="1143000" cy="237744"/>
          </a:xfrm>
          <a:prstGeom prst="rect">
            <a:avLst/>
          </a:prstGeom>
          <a:noFill/>
        </p:spPr>
        <p:txBody>
          <a:bodyPr wrap="square" anchor="ctr" lIns="0" rIns="0" tIns="0" bIns="0">
            <a:spAutoFit/>
          </a:bodyPr>
          <a:lstStyle/>
          <a:p>
            <a:pPr algn="r" marL="0" indent="0">
              <a:lnSpc>
                <a:spcPct val="110000"/>
              </a:lnSpc>
              <a:buNone/>
            </a:pPr>
            <a:r>
              <a:rPr sz="1050" b="1" i="0">
                <a:solidFill>
                  <a:srgbClr val="C00000"/>
                </a:solidFill>
                <a:latin typeface="Arial"/>
                <a:ea typeface="MS PGothic"/>
              </a:rPr>
              <a:t>핵심 단계</a:t>
            </a:r>
          </a:p>
        </p:txBody>
      </p:sp>
      <p:sp>
        <p:nvSpPr>
          <p:cNvPr id="7" name="TextBox 6"/>
          <p:cNvSpPr txBox="1"/>
          <p:nvPr/>
        </p:nvSpPr>
        <p:spPr>
          <a:xfrm>
            <a:off x="457200" y="5486400"/>
            <a:ext cx="8229600" cy="685800"/>
          </a:xfrm>
          <a:prstGeom prst="rect">
            <a:avLst/>
          </a:prstGeom>
          <a:noFill/>
        </p:spPr>
        <p:txBody>
          <a:bodyPr wrap="square" lIns="18288">
            <a:spAutoFit/>
          </a:bodyPr>
          <a:lstStyle/>
          <a:p>
            <a:pPr>
              <a:lnSpc>
                <a:spcPct val="115000"/>
              </a:lnSpc>
            </a:pPr>
            <a:r>
              <a:rPr sz="1400" b="1" i="0">
                <a:solidFill>
                  <a:srgbClr val="000F65"/>
                </a:solidFill>
                <a:latin typeface="Arial"/>
                <a:ea typeface="MS PGothic"/>
              </a:rPr>
              <a:t>최종 목표: 영상 신뢰도를 반영한 카메라·IMU 융합 추정기 구현과 성능 검증</a:t>
            </a:r>
          </a:p>
        </p:txBody>
      </p:sp>
    </p:spTree>
    <p:extLst>
      <p:ext uri="{BB962C8B-B14F-4D97-AF65-F5344CB8AC3E}">
        <p14:creationId xmlns:p14="http://schemas.microsoft.com/office/powerpoint/2010/main" val="371350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dirty="0">
                <a:latin typeface="Arial"/>
                <a:ea typeface="MS PGothic"/>
              </a:rPr>
              <a:t>참고문헌 / 감사합니다</a:t>
            </a:r>
          </a:p>
        </p:txBody>
      </p:sp>
      <p:nvGrpSpPr>
        <p:cNvPr id="1" name=""/>
        <p:cNvGrpSpPr/>
        <p:nvPr/>
      </p:nvGrpSpPr>
      <p:sp>
        <p:nvSpPr>
          <p:cNvPr id="3" name="TextBox 2"/>
          <p:cNvSpPr txBox="1"/>
          <p:nvPr/>
        </p:nvSpPr>
        <p:spPr>
          <a:xfrm>
            <a:off x="457200" y="1143000"/>
            <a:ext cx="8229600" cy="3931920"/>
          </a:xfrm>
          <a:prstGeom prst="rect">
            <a:avLst/>
          </a:prstGeom>
          <a:noFill/>
        </p:spPr>
        <p:txBody>
          <a:bodyPr wrap="square">
            <a:spAutoFit/>
          </a:bodyPr>
          <a:lstStyle/>
          <a:p>
            <a:pPr marL="384048" indent="-384048">
              <a:lnSpc>
                <a:spcPct val="105000"/>
              </a:lnSpc>
              <a:spcBef>
                <a:spcPts val="0"/>
              </a:spcBef>
              <a:buNone/>
            </a:pPr>
            <a:r>
              <a:rPr sz="1200" b="1" i="0">
                <a:solidFill>
                  <a:srgbClr val="000F65"/>
                </a:solidFill>
                <a:latin typeface="Arial"/>
                <a:ea typeface="MS PGothic"/>
              </a:rPr>
              <a:t>[1]  </a:t>
            </a:r>
            <a:r>
              <a:rPr sz="1200" b="0" i="0">
                <a:solidFill>
                  <a:srgbClr val="333333"/>
                </a:solidFill>
                <a:latin typeface="Arial"/>
                <a:ea typeface="MS PGothic"/>
              </a:rPr>
              <a:t>P. D. Groves, Principles of GNSS, Inertial, and Multisensor Integrated Navigation Systems, 2nd ed., Artech House, 2013.</a:t>
            </a:r>
          </a:p>
          <a:p>
            <a:pPr marL="384048" indent="-384048">
              <a:lnSpc>
                <a:spcPct val="105000"/>
              </a:lnSpc>
              <a:spcBef>
                <a:spcPts val="800"/>
              </a:spcBef>
              <a:buNone/>
            </a:pPr>
            <a:r>
              <a:rPr sz="1200" b="1" i="0">
                <a:solidFill>
                  <a:srgbClr val="000F65"/>
                </a:solidFill>
                <a:latin typeface="Arial"/>
                <a:ea typeface="MS PGothic"/>
              </a:rPr>
              <a:t>[2]  </a:t>
            </a:r>
            <a:r>
              <a:rPr sz="1200" b="0" i="0">
                <a:solidFill>
                  <a:srgbClr val="333333"/>
                </a:solidFill>
                <a:latin typeface="Arial"/>
                <a:ea typeface="MS PGothic"/>
              </a:rPr>
              <a:t>A. I. Mourikis and S. I. Roumeliotis, “A Multi-State Constraint Kalman Filter for Vision-aided Inertial Navigation,” IEEE ICRA, pp. 3565–3572, 2007.</a:t>
            </a:r>
          </a:p>
          <a:p>
            <a:pPr marL="384048" indent="-384048">
              <a:lnSpc>
                <a:spcPct val="105000"/>
              </a:lnSpc>
              <a:spcBef>
                <a:spcPts val="800"/>
              </a:spcBef>
              <a:buNone/>
            </a:pPr>
            <a:r>
              <a:rPr sz="1200" b="1" i="0">
                <a:solidFill>
                  <a:srgbClr val="000F65"/>
                </a:solidFill>
                <a:latin typeface="Arial"/>
                <a:ea typeface="MS PGothic"/>
              </a:rPr>
              <a:t>[3]  </a:t>
            </a:r>
            <a:r>
              <a:rPr sz="1200" b="0" i="0">
                <a:solidFill>
                  <a:srgbClr val="333333"/>
                </a:solidFill>
                <a:latin typeface="Arial"/>
                <a:ea typeface="MS PGothic"/>
              </a:rPr>
              <a:t>D. S. Bayard et al., “Vision-Based Navigation for the NASA Mars Helicopter,” AIAA SciTech Forum, 2019.</a:t>
            </a:r>
          </a:p>
          <a:p>
            <a:pPr marL="384048" indent="-384048">
              <a:lnSpc>
                <a:spcPct val="105000"/>
              </a:lnSpc>
              <a:spcBef>
                <a:spcPts val="800"/>
              </a:spcBef>
              <a:buNone/>
            </a:pPr>
            <a:r>
              <a:rPr sz="1200" b="1" i="0">
                <a:solidFill>
                  <a:srgbClr val="000F65"/>
                </a:solidFill>
                <a:latin typeface="Arial"/>
                <a:ea typeface="MS PGothic"/>
              </a:rPr>
              <a:t>[4]  </a:t>
            </a:r>
            <a:r>
              <a:rPr sz="1200" b="0" i="0">
                <a:solidFill>
                  <a:srgbClr val="333333"/>
                </a:solidFill>
                <a:latin typeface="Arial"/>
                <a:ea typeface="MS PGothic"/>
              </a:rPr>
              <a:t>B. D. Lucas and T. Kanade, “An Iterative Image Registration Technique with an Application to Stereo Vision,” IJCAI, pp. 674–679, 1981.</a:t>
            </a:r>
          </a:p>
          <a:p>
            <a:pPr marL="384048" indent="-384048">
              <a:lnSpc>
                <a:spcPct val="105000"/>
              </a:lnSpc>
              <a:spcBef>
                <a:spcPts val="800"/>
              </a:spcBef>
              <a:buNone/>
            </a:pPr>
            <a:r>
              <a:rPr sz="1200" b="1" i="0">
                <a:solidFill>
                  <a:srgbClr val="000F65"/>
                </a:solidFill>
                <a:latin typeface="Arial"/>
                <a:ea typeface="MS PGothic"/>
              </a:rPr>
              <a:t>[5]  </a:t>
            </a:r>
            <a:r>
              <a:rPr sz="1200" b="0" i="0">
                <a:solidFill>
                  <a:srgbClr val="333333"/>
                </a:solidFill>
                <a:latin typeface="Arial"/>
                <a:ea typeface="MS PGothic"/>
              </a:rPr>
              <a:t>M. Kim, W. Kang, and C. Ahn, “Delay-Compensated Lane-Coordinate Vehicle State Estimation Using Low-Cost Sensors,” Sensors, vol. 25, no. 19, 6251, 2025.</a:t>
            </a:r>
          </a:p>
          <a:p>
            <a:pPr marL="384048" indent="-384048">
              <a:lnSpc>
                <a:spcPct val="105000"/>
              </a:lnSpc>
              <a:spcBef>
                <a:spcPts val="800"/>
              </a:spcBef>
              <a:buNone/>
            </a:pPr>
            <a:r>
              <a:rPr sz="1200" b="1" i="0">
                <a:solidFill>
                  <a:srgbClr val="000F65"/>
                </a:solidFill>
                <a:latin typeface="Arial"/>
                <a:ea typeface="MS PGothic"/>
              </a:rPr>
              <a:t>[6]  </a:t>
            </a:r>
            <a:r>
              <a:rPr sz="1200" b="0" i="0">
                <a:solidFill>
                  <a:srgbClr val="333333"/>
                </a:solidFill>
                <a:latin typeface="Arial"/>
                <a:ea typeface="MS PGothic"/>
              </a:rPr>
              <a:t>M. Kim and C. Ahn, “State Estimation of Preceding Target Vehicle Using Radar and V2X,” IEEE Access, vol. 13, 2025.</a:t>
            </a:r>
          </a:p>
        </p:txBody>
      </p:sp>
      <p:sp>
        <p:nvSpPr>
          <p:cNvPr id="4" name="TextBox 3"/>
          <p:cNvSpPr txBox="1"/>
          <p:nvPr/>
        </p:nvSpPr>
        <p:spPr>
          <a:xfrm>
            <a:off x="457200" y="5120640"/>
            <a:ext cx="8229600" cy="411480"/>
          </a:xfrm>
          <a:prstGeom prst="rect">
            <a:avLst/>
          </a:prstGeom>
          <a:noFill/>
        </p:spPr>
        <p:txBody>
          <a:bodyPr wrap="square" anchor="ctr" lIns="0" rIns="0" tIns="0" bIns="0">
            <a:spAutoFit/>
          </a:bodyPr>
          <a:lstStyle/>
          <a:p>
            <a:pPr algn="l" marL="0" indent="0">
              <a:lnSpc>
                <a:spcPct val="110000"/>
              </a:lnSpc>
              <a:buNone/>
            </a:pPr>
            <a:r>
              <a:rPr sz="2000" b="1" i="0">
                <a:solidFill>
                  <a:srgbClr val="000F65"/>
                </a:solidFill>
                <a:latin typeface="Arial"/>
                <a:ea typeface="MS PGothic"/>
              </a:rPr>
              <a:t>감사합니다</a:t>
            </a:r>
          </a:p>
        </p:txBody>
      </p:sp>
      <p:sp>
        <p:nvSpPr>
          <p:cNvPr id="5" name="TextBox 4"/>
          <p:cNvSpPr txBox="1"/>
          <p:nvPr/>
        </p:nvSpPr>
        <p:spPr>
          <a:xfrm>
            <a:off x="457200" y="5559552"/>
            <a:ext cx="8229600" cy="320040"/>
          </a:xfrm>
          <a:prstGeom prst="rect">
            <a:avLst/>
          </a:prstGeom>
          <a:noFill/>
        </p:spPr>
        <p:txBody>
          <a:bodyPr wrap="square" anchor="ctr" lIns="0" rIns="0" tIns="0" bIns="0">
            <a:spAutoFit/>
          </a:bodyPr>
          <a:lstStyle/>
          <a:p>
            <a:pPr algn="l" marL="0" indent="0">
              <a:lnSpc>
                <a:spcPct val="110000"/>
              </a:lnSpc>
              <a:buNone/>
            </a:pPr>
            <a:r>
              <a:rPr sz="1400" b="0" i="0">
                <a:solidFill>
                  <a:srgbClr val="333333"/>
                </a:solidFill>
                <a:latin typeface="Arial"/>
                <a:ea typeface="MS PGothic"/>
              </a:rPr>
              <a:t>연구계획에 대한 의견과 질문 부탁드립니다.</a:t>
            </a:r>
          </a:p>
        </p:txBody>
      </p:sp>
    </p:spTree>
    <p:extLst>
      <p:ext uri="{BB962C8B-B14F-4D97-AF65-F5344CB8AC3E}">
        <p14:creationId xmlns:p14="http://schemas.microsoft.com/office/powerpoint/2010/main" val="371350854"/>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ea typeface="MS PGothic"/>
              </a:rPr>
              <a:t>실험 및 평가 계획</a:t>
            </a:r>
          </a:p>
        </p:txBody>
      </p:sp>
      <p:sp>
        <p:nvSpPr>
          <p:cNvPr id="3" name="TextBox 2"/>
          <p:cNvSpPr txBox="1"/>
          <p:nvPr/>
        </p:nvSpPr>
        <p:spPr>
          <a:xfrm>
            <a:off x="457200" y="987552"/>
            <a:ext cx="8229600" cy="411480"/>
          </a:xfrm>
          <a:prstGeom prst="rect">
            <a:avLst/>
          </a:prstGeom>
          <a:noFill/>
        </p:spPr>
        <p:txBody>
          <a:bodyPr wrap="square" lIns="18288">
            <a:spAutoFit/>
          </a:bodyPr>
          <a:lstStyle/>
          <a:p>
            <a:pPr algn="l"/>
            <a:r>
              <a:rPr sz="1700" b="1" i="0">
                <a:solidFill>
                  <a:srgbClr val="000F65"/>
                </a:solidFill>
                <a:latin typeface="Arial"/>
                <a:ea typeface="MS PGothic"/>
              </a:rPr>
              <a:t>동일한 초기 조건과 데이터 구간에서 세 방법 비교</a:t>
            </a:r>
          </a:p>
        </p:txBody>
      </p:sp>
      <p:sp>
        <p:nvSpPr>
          <p:cNvPr id="4" name="Rectangle 3"/>
          <p:cNvSpPr/>
          <p:nvPr/>
        </p:nvSpPr>
        <p:spPr>
          <a:xfrm>
            <a:off x="457200" y="1481328"/>
            <a:ext cx="260604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① IMU 단독</a:t>
            </a:r>
          </a:p>
          <a:p>
            <a:pPr algn="ctr" marL="0" indent="0">
              <a:lnSpc>
                <a:spcPct val="110000"/>
              </a:lnSpc>
              <a:buNone/>
            </a:pPr>
            <a:r>
              <a:rPr sz="1050" b="0" i="0">
                <a:solidFill>
                  <a:srgbClr val="333333"/>
                </a:solidFill>
                <a:latin typeface="Arial"/>
                <a:ea typeface="MS PGothic"/>
              </a:rPr>
              <a:t>비교 기준</a:t>
            </a:r>
          </a:p>
        </p:txBody>
      </p:sp>
      <p:sp>
        <p:nvSpPr>
          <p:cNvPr id="5" name="Rectangle 4"/>
          <p:cNvSpPr/>
          <p:nvPr/>
        </p:nvSpPr>
        <p:spPr>
          <a:xfrm>
            <a:off x="3268980" y="1481328"/>
            <a:ext cx="2606040" cy="566928"/>
          </a:xfrm>
          <a:prstGeom prst="rect">
            <a:avLst/>
          </a:prstGeom>
          <a:solidFill>
            <a:srgbClr val="DAEDEF"/>
          </a:solidFill>
          <a:ln>
            <a:noFill/>
          </a:ln>
        </p:spPr>
        <p:txBody>
          <a:bodyPr rtlCol="0" anchor="ctr" wrap="square" lIns="73152" rIns="73152" tIns="36576" bIns="36576"/>
          <a:lstStyle/>
          <a:p>
            <a:pPr algn="ctr" marL="0" indent="0">
              <a:lnSpc>
                <a:spcPct val="110000"/>
              </a:lnSpc>
              <a:buNone/>
            </a:pPr>
            <a:r>
              <a:rPr sz="1200" b="1" i="0">
                <a:solidFill>
                  <a:srgbClr val="000F65"/>
                </a:solidFill>
                <a:latin typeface="Arial"/>
                <a:ea typeface="MS PGothic"/>
              </a:rPr>
              <a:t>② 고정 신뢰도 융합</a:t>
            </a:r>
          </a:p>
          <a:p>
            <a:pPr algn="ctr" marL="0" indent="0">
              <a:lnSpc>
                <a:spcPct val="110000"/>
              </a:lnSpc>
              <a:buNone/>
            </a:pPr>
            <a:r>
              <a:rPr sz="1050" b="0" i="0">
                <a:solidFill>
                  <a:srgbClr val="333333"/>
                </a:solidFill>
                <a:latin typeface="Arial"/>
                <a:ea typeface="MS PGothic"/>
              </a:rPr>
              <a:t>영상 보정 비중 고정</a:t>
            </a:r>
          </a:p>
        </p:txBody>
      </p:sp>
      <p:sp>
        <p:nvSpPr>
          <p:cNvPr id="6" name="Rectangle 5"/>
          <p:cNvSpPr/>
          <p:nvPr/>
        </p:nvSpPr>
        <p:spPr>
          <a:xfrm>
            <a:off x="6080760" y="1481328"/>
            <a:ext cx="2606040" cy="566928"/>
          </a:xfrm>
          <a:prstGeom prst="rect">
            <a:avLst/>
          </a:prstGeom>
          <a:solidFill>
            <a:srgbClr val="000F65"/>
          </a:solidFill>
          <a:ln>
            <a:noFill/>
          </a:ln>
        </p:spPr>
        <p:txBody>
          <a:bodyPr rtlCol="0" anchor="ctr" wrap="square" lIns="73152" rIns="73152" tIns="36576" bIns="36576"/>
          <a:lstStyle/>
          <a:p>
            <a:pPr algn="ctr" marL="0" indent="0">
              <a:lnSpc>
                <a:spcPct val="110000"/>
              </a:lnSpc>
              <a:buNone/>
            </a:pPr>
            <a:r>
              <a:rPr sz="1200" b="1" i="0">
                <a:solidFill>
                  <a:srgbClr val="FFFFFF"/>
                </a:solidFill>
                <a:latin typeface="Arial"/>
                <a:ea typeface="MS PGothic"/>
              </a:rPr>
              <a:t>③ 영상 신뢰도 반영 융합</a:t>
            </a:r>
          </a:p>
          <a:p>
            <a:pPr algn="ctr" marL="0" indent="0">
              <a:lnSpc>
                <a:spcPct val="110000"/>
              </a:lnSpc>
              <a:buNone/>
            </a:pPr>
            <a:r>
              <a:rPr sz="1050" b="0" i="0">
                <a:solidFill>
                  <a:srgbClr val="FFFFFF"/>
                </a:solidFill>
                <a:latin typeface="Arial"/>
                <a:ea typeface="MS PGothic"/>
              </a:rPr>
              <a:t>품질에 따라 비중 조절</a:t>
            </a:r>
          </a:p>
        </p:txBody>
      </p:sp>
      <p:sp>
        <p:nvSpPr>
          <p:cNvPr id="7" name="Rectangle 6"/>
          <p:cNvSpPr/>
          <p:nvPr/>
        </p:nvSpPr>
        <p:spPr>
          <a:xfrm>
            <a:off x="6035040" y="1435608"/>
            <a:ext cx="2697480" cy="658368"/>
          </a:xfrm>
          <a:prstGeom prst="rect">
            <a:avLst/>
          </a:prstGeom>
          <a:noFill/>
          <a:ln w="19050">
            <a:solidFill>
              <a:srgbClr val="C00000"/>
            </a:solidFill>
          </a:ln>
        </p:spPr>
        <p:txBody>
          <a:bodyPr rtlCol="0" anchor="ctr"/>
          <a:lstStyle/>
          <a:p>
            <a:pPr algn="ctr"/>
          </a:p>
        </p:txBody>
      </p:sp>
      <p:sp>
        <p:nvSpPr>
          <p:cNvPr id="8" name="TextBox 7"/>
          <p:cNvSpPr txBox="1"/>
          <p:nvPr/>
        </p:nvSpPr>
        <p:spPr>
          <a:xfrm>
            <a:off x="6080760" y="2103120"/>
            <a:ext cx="2606040" cy="201168"/>
          </a:xfrm>
          <a:prstGeom prst="rect">
            <a:avLst/>
          </a:prstGeom>
          <a:noFill/>
        </p:spPr>
        <p:txBody>
          <a:bodyPr wrap="square" anchor="ctr" lIns="0" rIns="0" tIns="0" bIns="0">
            <a:spAutoFit/>
          </a:bodyPr>
          <a:lstStyle/>
          <a:p>
            <a:pPr algn="ctr" marL="0" indent="0">
              <a:lnSpc>
                <a:spcPct val="110000"/>
              </a:lnSpc>
              <a:buNone/>
            </a:pPr>
            <a:r>
              <a:rPr sz="1050" b="1" i="0">
                <a:solidFill>
                  <a:srgbClr val="C00000"/>
                </a:solidFill>
                <a:latin typeface="Arial"/>
                <a:ea typeface="MS PGothic"/>
              </a:rPr>
              <a:t>본 연구</a:t>
            </a:r>
          </a:p>
        </p:txBody>
      </p:sp>
      <p:sp>
        <p:nvSpPr>
          <p:cNvPr id="9" name="TextBox 8"/>
          <p:cNvSpPr txBox="1"/>
          <p:nvPr/>
        </p:nvSpPr>
        <p:spPr>
          <a:xfrm>
            <a:off x="457200" y="2377440"/>
            <a:ext cx="8229600" cy="3749039"/>
          </a:xfrm>
          <a:prstGeom prst="rect">
            <a:avLst/>
          </a:prstGeom>
          <a:noFill/>
        </p:spPr>
        <p:txBody>
          <a:bodyPr wrap="square" lIns="18288" rIns="18288" tIns="18288" bIns="18288">
            <a:spAutoFit/>
          </a:bodyPr>
          <a:lstStyle/>
          <a:p>
            <a:pPr marL="0" indent="0">
              <a:lnSpc>
                <a:spcPct val="115000"/>
              </a:lnSpc>
              <a:spcBef>
                <a:spcPts val="0"/>
              </a:spcBef>
              <a:spcAft>
                <a:spcPts val="200"/>
              </a:spcAft>
              <a:buNone/>
            </a:pPr>
            <a:r>
              <a:rPr sz="1550" b="1" i="0">
                <a:solidFill>
                  <a:srgbClr val="1A1A1A"/>
                </a:solidFill>
                <a:latin typeface="Arial"/>
                <a:ea typeface="MS PGothic"/>
              </a:rPr>
              <a:t>실험 조건</a:t>
            </a:r>
          </a:p>
          <a:p>
            <a:pPr marL="274320" indent="-164592">
              <a:lnSpc>
                <a:spcPct val="115000"/>
              </a:lnSpc>
              <a:spcBef>
                <a:spcPts val="400"/>
              </a:spcBef>
              <a:buSzPct val="100000"/>
              <a:buFont typeface="MS PGothic"/>
              <a:buChar char="•"/>
            </a:pPr>
            <a:r>
              <a:rPr sz="1400" b="1" i="0">
                <a:solidFill>
                  <a:srgbClr val="1A1A1A"/>
                </a:solidFill>
                <a:latin typeface="Arial"/>
                <a:ea typeface="MS PGothic"/>
              </a:rPr>
              <a:t>직선 주행·선회·정지/출발</a:t>
            </a:r>
            <a:r>
              <a:rPr sz="1400" b="0" i="0">
                <a:solidFill>
                  <a:srgbClr val="333333"/>
                </a:solidFill>
                <a:latin typeface="Arial"/>
                <a:ea typeface="MS PGothic"/>
              </a:rPr>
              <a:t> 조건과 </a:t>
            </a:r>
            <a:r>
              <a:rPr sz="1400" b="1" i="0">
                <a:solidFill>
                  <a:srgbClr val="1A1A1A"/>
                </a:solidFill>
                <a:latin typeface="Arial"/>
                <a:ea typeface="MS PGothic"/>
              </a:rPr>
              <a:t>영상 품질 저하 구간</a:t>
            </a:r>
            <a:r>
              <a:rPr sz="1400" b="0" i="0">
                <a:solidFill>
                  <a:srgbClr val="333333"/>
                </a:solidFill>
                <a:latin typeface="Arial"/>
                <a:ea typeface="MS PGothic"/>
              </a:rPr>
              <a:t>을 구분하여 평가</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추가로 </a:t>
            </a:r>
            <a:r>
              <a:rPr sz="1400" b="1" i="0">
                <a:solidFill>
                  <a:srgbClr val="1A1A1A"/>
                </a:solidFill>
                <a:latin typeface="Arial"/>
                <a:ea typeface="MS PGothic"/>
              </a:rPr>
              <a:t>영상 흐림·프레임 누락</a:t>
            </a:r>
            <a:r>
              <a:rPr sz="1400" b="0" i="0">
                <a:solidFill>
                  <a:srgbClr val="333333"/>
                </a:solidFill>
                <a:latin typeface="Arial"/>
                <a:ea typeface="MS PGothic"/>
              </a:rPr>
              <a:t>을 부여한 실험을 수행하고, 원본 데이터 실험과 구분하여 기록</a:t>
            </a:r>
          </a:p>
          <a:p>
            <a:pPr marL="0" indent="0">
              <a:lnSpc>
                <a:spcPct val="115000"/>
              </a:lnSpc>
              <a:spcBef>
                <a:spcPts val="1200"/>
              </a:spcBef>
              <a:spcAft>
                <a:spcPts val="200"/>
              </a:spcAft>
              <a:buNone/>
            </a:pPr>
            <a:r>
              <a:rPr sz="1550" b="1" i="0">
                <a:solidFill>
                  <a:srgbClr val="1A1A1A"/>
                </a:solidFill>
                <a:latin typeface="Arial"/>
                <a:ea typeface="MS PGothic"/>
              </a:rPr>
              <a:t>평가 지표</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기준 궤적 구간: </a:t>
            </a:r>
            <a:r>
              <a:rPr sz="1400" b="1" i="0">
                <a:solidFill>
                  <a:srgbClr val="1A1A1A"/>
                </a:solidFill>
                <a:latin typeface="Arial"/>
                <a:ea typeface="MS PGothic"/>
              </a:rPr>
              <a:t>위치 RMSE, 최종 위치 오차, 영상 관측 중단 시 오차 증가량</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기준 속도가 있으면 </a:t>
            </a:r>
            <a:r>
              <a:rPr sz="1400" b="1" i="0">
                <a:solidFill>
                  <a:srgbClr val="1A1A1A"/>
                </a:solidFill>
                <a:latin typeface="Arial"/>
                <a:ea typeface="MS PGothic"/>
              </a:rPr>
              <a:t>속도 RMSE</a:t>
            </a:r>
            <a:r>
              <a:rPr sz="1400" b="0" i="0">
                <a:solidFill>
                  <a:srgbClr val="333333"/>
                </a:solidFill>
                <a:latin typeface="Arial"/>
                <a:ea typeface="MS PGothic"/>
              </a:rPr>
              <a:t>, 그리고 구현 가능성을 위한 </a:t>
            </a:r>
            <a:r>
              <a:rPr sz="1400" b="1" i="0">
                <a:solidFill>
                  <a:srgbClr val="1A1A1A"/>
                </a:solidFill>
                <a:latin typeface="Arial"/>
                <a:ea typeface="MS PGothic"/>
              </a:rPr>
              <a:t>처리시간</a:t>
            </a:r>
          </a:p>
          <a:p>
            <a:pPr marL="274320" indent="-164592">
              <a:lnSpc>
                <a:spcPct val="115000"/>
              </a:lnSpc>
              <a:spcBef>
                <a:spcPts val="400"/>
              </a:spcBef>
              <a:buSzPct val="100000"/>
              <a:buFont typeface="MS PGothic"/>
              <a:buChar char="•"/>
            </a:pPr>
            <a:r>
              <a:rPr sz="1400" b="0" i="0">
                <a:solidFill>
                  <a:srgbClr val="333333"/>
                </a:solidFill>
                <a:latin typeface="Arial"/>
                <a:ea typeface="MS PGothic"/>
              </a:rPr>
              <a:t>모든 방법에 </a:t>
            </a:r>
            <a:r>
              <a:rPr sz="1400" b="1" i="0">
                <a:solidFill>
                  <a:srgbClr val="1A1A1A"/>
                </a:solidFill>
                <a:latin typeface="Arial"/>
                <a:ea typeface="MS PGothic"/>
              </a:rPr>
              <a:t>동일한 시간 정합·좌표 정렬 기준</a:t>
            </a:r>
            <a:r>
              <a:rPr sz="1400" b="0" i="0">
                <a:solidFill>
                  <a:srgbClr val="333333"/>
                </a:solidFill>
                <a:latin typeface="Arial"/>
                <a:ea typeface="MS PGothic"/>
              </a:rPr>
              <a:t>을 적용</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MS PGothic"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27475</TotalTime>
  <Words>1597</Words>
  <Application>Microsoft Office PowerPoint</Application>
  <PresentationFormat>On-screen Show (4:3)</PresentationFormat>
  <Paragraphs>393</Paragraphs>
  <Slides>7</Slides>
  <Notes>23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0" baseType="lpstr">
      <vt:lpstr>ＭＳ Ｐゴシック</vt:lpstr>
      <vt:lpstr>Arial</vt:lpstr>
      <vt:lpstr>Courier New</vt:lpstr>
      <vt:lpstr>Times New Roman</vt:lpstr>
      <vt:lpstr>Wingdings</vt:lpstr>
      <vt:lpstr>Wingdings 2</vt:lpstr>
      <vt:lpstr>Blank Presentation</vt:lpstr>
      <vt:lpstr>Equation</vt:lpstr>
      <vt:lpstr>Lecture 3 Control and Estimation</vt:lpstr>
      <vt:lpstr>Outline</vt:lpstr>
      <vt:lpstr>PowerPoint Presentation</vt:lpstr>
      <vt:lpstr>PID Controller</vt:lpstr>
      <vt:lpstr>Proportional Feedback  (P-Control, 비례제어)</vt:lpstr>
      <vt:lpstr>Proportional Differential Feedback  (PD-Control, 비례미분제어)</vt:lpstr>
      <vt:lpstr>Proportional Integral Feedback  (PI-Control, 비례적분 제어)</vt:lpstr>
      <vt:lpstr>Proportional Integral Differential Feedback  (PID-Control, 비례적분미분 제어)</vt:lpstr>
      <vt:lpstr>PowerPoint Presentation</vt:lpstr>
      <vt:lpstr>State Feedback Controller</vt:lpstr>
      <vt:lpstr>Linear Quadratic Regulator</vt:lpstr>
      <vt:lpstr>Linear Quadratic Regulator</vt:lpstr>
      <vt:lpstr>PowerPoint Presentation</vt:lpstr>
      <vt:lpstr>MPC (Model Predictive Control) 작동 개념</vt:lpstr>
      <vt:lpstr>MPC Formulation</vt:lpstr>
      <vt:lpstr>MPC 제어시스템 구조</vt:lpstr>
      <vt:lpstr>MPC 특성</vt:lpstr>
      <vt:lpstr>Model Predictive Control</vt:lpstr>
      <vt:lpstr>PowerPoint Presentation</vt:lpstr>
      <vt:lpstr>PowerPoint Presentation</vt:lpstr>
      <vt:lpstr>Dynamic System</vt:lpstr>
      <vt:lpstr>Representation of Dynamic System</vt:lpstr>
      <vt:lpstr>State Estimation</vt:lpstr>
      <vt:lpstr>State Estimation</vt:lpstr>
      <vt:lpstr>State Estimation</vt:lpstr>
      <vt:lpstr>State Estimation</vt:lpstr>
      <vt:lpstr>Luenberger Observer</vt:lpstr>
      <vt:lpstr>Noise!</vt:lpstr>
      <vt:lpstr>PowerPoint Presentation</vt:lpstr>
      <vt:lpstr>Noise as a Random Variable</vt:lpstr>
      <vt:lpstr>Noise as a Random Variable</vt:lpstr>
      <vt:lpstr>Optimal State Estimation</vt:lpstr>
      <vt:lpstr>Optimal State Estimation</vt:lpstr>
      <vt:lpstr>Kalman Filter</vt:lpstr>
      <vt:lpstr>Luenberger Observer and Kalman Filter</vt:lpstr>
      <vt:lpstr>Kalman Filter and Nonlinearity</vt:lpstr>
      <vt:lpstr>Kalman Filter Family</vt:lpstr>
      <vt:lpstr>Extended Kalman Filter</vt:lpstr>
      <vt:lpstr>Unscented Kalman Filter</vt:lpstr>
      <vt:lpstr>Unscented Kalman Filter</vt:lpstr>
      <vt:lpstr>Particle Filter</vt:lpstr>
      <vt:lpstr>Kalman Filter Summary</vt:lpstr>
    </vt:vector>
  </TitlesOfParts>
  <Company>soe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Changsun Ahn</dc:creator>
  <cp:lastModifiedBy>Changsun Ahn</cp:lastModifiedBy>
  <cp:revision>984</cp:revision>
  <cp:lastPrinted>2007-07-10T13:49:16Z</cp:lastPrinted>
  <dcterms:created xsi:type="dcterms:W3CDTF">2007-07-10T12:52:37Z</dcterms:created>
  <dcterms:modified xsi:type="dcterms:W3CDTF">2026-07-30T01:16:46Z</dcterms:modified>
</cp:coreProperties>
</file>