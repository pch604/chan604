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5" r:id="rId17"/>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자동차 내비게이션은 터널처럼 GPS가 끊기는 구간에서도 관성 정보로 위치를 이어서 계산합니다. 하지만 가속도를 적분하는 방식이라 시간이 지날수록 오차가 쌓입니다. 하늘에서도 같은 문제를 풀어야 하는데, NASA의 화성 헬리콥터 인저뉴어티는 아래를 보는 카메라, IMU, 레이저 고도계를 결합해 위성항법이 없는 화성에서 비행했습니다.</a:t>
            </a:r>
          </a:p>
          <a:p>
            <a:r>
              <a:t>이런 방식의 핵심은 두 가지입니다. IMU는 가속도와 각속도로 움직임을 예측하고, 옵티컬 플로우는 연속된 영상에서 화면이 얼마나 움직였는지를 구합니다. 다만 영상 이동은 픽셀 단위라서, 거리센서로 지면까지의 거리를 알아야 실제 속도가 됩니다.</a:t>
            </a:r>
          </a:p>
          <a:p>
            <a:r>
              <a:t>그래서 본 연구는 이 세 센서로 드론의 위치, 속도, 자세를 추정합니다. 다만 수평 위치는 오차가 쌓일 수 있다는 한계도 함께 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세 센서를 함께 쓰는 이유는 각자 한계가 있기 때문입니다. IMU만 쓰면 오차가 쌓이고, 카메라만으로는 실제로 몇 미터 움직였는지 알 수 없습니다.</a:t>
            </a:r>
          </a:p>
          <a:p>
            <a:r>
              <a:t>그런데 이 센서들을 융합할 때 문제가 생깁니다. 제가 사용할 공개 드론 데이터에서 IMU는 1초에 200번, 카메라는 20번, 거리센서는 30번 측정합니다. 게다가 영상은 처리하는 데 시간이 걸려서, 지금 도착한 영상 측정은 사실 조금 전의 움직임입니다. 이것을 현재 값처럼 쓰면 과거의 움직임을 현재로 잘못 반영하게 되고, 카메라와 IMU의 시간이 어긋나면 추정 정확도가 떨어진다고 보고되어 있습니다.</a:t>
            </a:r>
          </a:p>
          <a:p>
            <a:r>
              <a:t>그래서 연구 목적은 이 세 센서를 하나의 EKF, 즉 IMU로 예측하고 측정값으로 고쳐 나가는 추정 필터로 융합하고, 시간 처리를 했을 때 오차가 얼마나 줄어드는지 정량적으로 확인하는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[45초]</a:t>
            </a:r>
          </a:p>
          <a:p>
            <a:r>
              <a:t>시간 처리 절차는 지도교수님 연구실의 Kim과 Ahn의 논문을 참고합니다. 레이더와 V2X처럼 도착 시점이 다른 정보를 지연 보상, 시간 정렬, 과거 상태 재추정 순서로 처리했습니다.</a:t>
            </a:r>
          </a:p>
          <a:p>
            <a:r>
              <a:t>드론 분야에서는 PX4처럼 필터를 조금 늦은 시점에서 돌리는 방식과, MSF-EKF처럼 과거로 돌아가 다시 계산하는 방식이 쓰입니다.</a:t>
            </a:r>
          </a:p>
          <a:p>
            <a:r>
              <a:t>저는 새 필터를 제안하기보다 이 시간 처리 절차를 제 센서 구성에 구현하고, 방식별 정확도와 처리시간을 같은 데이터에서 비교하는 것을 기여로 둡니다.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방법입니다. 상태는 위치, 속도, 자세와 IMU 바이어스입니다. (위쪽 그림) IMU의 가속도와 각속도로 움직임을 예측하고, 영상 이동과 거리로 보정합니다. 영상 이동은 KLT로 구하는데, 기체가 기울기만 해도 영상이 움직이기 때문에 자이로로 회전 성분을 빼고, 추정한 고도를 이용해 실제 속도와 연결합니다. 거리센서는 기울기를 보정해 고도 측정으로 씁니다.</a:t>
            </a:r>
          </a:p>
          <a:p>
            <a:r>
              <a:t>(아래 흐름) 늦게 도착한 측정은 저장해 둔 이력에서 그 측정이 찍힌 시점의 상태를 꺼내 보정하고, 그 이후의 IMU 입력과 그 사이에 들어온 측정을 다시 적용해 현재까지 계산합니다. 그래서 버퍼는 최대 지연보다 길게 잡습니다.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[30초]</a:t>
            </a:r>
          </a:p>
          <a:p>
            <a:r>
              <a:t>일정입니다. 10월 전반에는 선행논문과 INSANE 데이터를 확보해 센서 주기와 타임스탬프를 정리하고, 10월 후반에는 영상 이동 추적과 IMU 예측으로 지연이 없는 기본 EKF를 만들어 기준 결과를 확보합니다. 핵심인 11월에는 버퍼와 시간 정렬, 과거 상태 재추정을 구현하고, 12월에 지연 크기별로 세 방식을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분야의 시간 처리 절차를 카메라·IMU·거리센서 기반 드론 항법에 구현하고, 지연 처리 방식별 효과를 정량적으로 비교하는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[50초]</a:t>
            </a:r>
          </a:p>
          <a:p>
            <a:r>
              <a:t>구현과 평가 계획입니다. 데이터는 공개 드론 데이터셋 INSANE의 실내 구간을 씁니다. 하향 카메라, 거리센서, IMU가 있고, 모션캡처로 측정한 정답 궤적이 있습니다. 카메라 측정마다 처리시간과 추가 지연을 더해 도착 시점을 정하고, 도착 순서대로 재생해 실시간 상황을 재현합니다.</a:t>
            </a:r>
          </a:p>
          <a:p>
            <a:r>
              <a:t>영상 처리는 파이썬 OpenCV로, 필터와 시간 처리는 매트랩으로 구현합니다. 추가 지연을 0에서 100 ms까지 바꿔 가며, 지연을 무시한 경우, PX4처럼 지연 시점에서 융합한 경우, 과거 상태를 재추정한 경우를 정답 궤적 대비 위치 오차와 처리시간으로 비교하겠습니다. 예상은 정확도는 B와 C가 비슷하고, C는 현재 값이 보정 결과와 일치하는 대신 연산이 늘어난다는 것입니다. 이 차이를 숫자로 확인하겠습니다.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73152" rIns="73152" tIns="36576" bIns="36576">
            <a:normAutofit/>
          </a:bodyPr>
          <a:lstStyle/>
          <a:p>
            <a:pPr algn="ctr" marL="0" indent="0">
              <a:lnSpc>
                <a:spcPct val="110000"/>
              </a:lnSpc>
              <a:buNone/>
            </a:pPr>
            <a:r>
              <a:rPr sz="2600" b="1" i="0">
                <a:solidFill>
                  <a:srgbClr val="000F65"/>
                </a:solidFill>
                <a:latin typeface="Arial"/>
                <a:ea typeface="MS PGothic"/>
              </a:rPr>
              <a:t>GPS 사용 불가 환경에서 비전 보조 항법을 위한</a:t>
            </a:r>
          </a:p>
          <a:p>
            <a:pPr algn="ctr" marL="0" indent="0">
              <a:lnSpc>
                <a:spcPct val="110000"/>
              </a:lnSpc>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73152" rIns="73152" tIns="36576" bIns="36576">
            <a:spAutoFit/>
          </a:bodyPr>
          <a:lstStyle/>
          <a:p>
            <a:pPr algn="ctr" marL="0" indent="0">
              <a:lnSpc>
                <a:spcPct val="110000"/>
              </a:lnSpc>
              <a:buNone/>
            </a:pPr>
            <a:r>
              <a:rPr sz="1700" b="1" i="0">
                <a:solidFill>
                  <a:srgbClr val="333399"/>
                </a:solidFill>
                <a:latin typeface="Arial"/>
                <a:ea typeface="MS PGothic"/>
              </a:rPr>
              <a:t>측정 주기와 지연을 고려한 카메라·IMU·거리센서 융합 추정기</a:t>
            </a:r>
          </a:p>
        </p:txBody>
      </p:sp>
      <p:sp>
        <p:nvSpPr>
          <p:cNvPr id="1028" name="TextBox 1027"/>
          <p:cNvSpPr txBox="1"/>
          <p:nvPr/>
        </p:nvSpPr>
        <p:spPr>
          <a:xfrm>
            <a:off x="731520" y="2880360"/>
            <a:ext cx="7680960" cy="457200"/>
          </a:xfrm>
          <a:prstGeom prst="rect">
            <a:avLst/>
          </a:prstGeom>
          <a:noFill/>
        </p:spPr>
        <p:txBody>
          <a:bodyPr wrap="square" anchor="ctr" lIns="73152" rIns="73152" tIns="36576" bIns="36576">
            <a:spAutoFit/>
          </a:bodyPr>
          <a:lstStyle/>
          <a:p>
            <a:pPr algn="ctr" marL="0" indent="0">
              <a:lnSpc>
                <a:spcPct val="110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73152" rIns="73152" tIns="36576" bIns="36576">
            <a:spAutoFit/>
          </a:bodyPr>
          <a:lstStyle/>
          <a:p>
            <a:pPr algn="ctr" marL="0" indent="0">
              <a:lnSpc>
                <a:spcPct val="110000"/>
              </a:lnSpc>
              <a:buNone/>
            </a:pPr>
            <a:r>
              <a:rPr sz="1400" b="1" i="0">
                <a:solidFill>
                  <a:srgbClr val="000F65"/>
                </a:solidFill>
                <a:latin typeface="Arial"/>
                <a:ea typeface="MS PGothic"/>
              </a:rPr>
              <a:t>학생자율연구 II  연구계획 발표  |  2026학년도 2학기</a:t>
            </a:r>
          </a:p>
          <a:p>
            <a:pPr algn="ctr" marL="0" indent="0">
              <a:lnSpc>
                <a:spcPct val="110000"/>
              </a:lnSpc>
              <a:buNone/>
            </a:pPr>
            <a:r>
              <a:rPr sz="1400" b="0" i="0">
                <a:solidFill>
                  <a:srgbClr val="333333"/>
                </a:solidFill>
                <a:latin typeface="Arial"/>
                <a:ea typeface="MS PGothic"/>
              </a:rPr>
              <a:t>박찬혁 (202121212)  ·  지도교수: 안창선 교수님</a:t>
            </a:r>
          </a:p>
          <a:p>
            <a:pPr algn="ctr" marL="0" indent="0">
              <a:lnSpc>
                <a:spcPct val="110000"/>
              </a:lnSpc>
              <a:buNone/>
            </a:pPr>
            <a:r>
              <a:rPr sz="1300" b="0" i="0">
                <a:solidFill>
                  <a:srgbClr val="333333"/>
                </a:solidFill>
                <a:latin typeface="Arial"/>
                <a:ea typeface="MS PGothic"/>
              </a:rPr>
              <a:t>School of Mechanical Engineering</a:t>
            </a:r>
          </a:p>
          <a:p>
            <a:pPr algn="ctr" marL="0" indent="0">
              <a:lnSpc>
                <a:spcPct val="110000"/>
              </a:lnSpc>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GPS가 없는 환경에서의 움직임 추정</a:t>
            </a:r>
          </a:p>
        </p:txBody>
      </p:sp>
      <p:sp>
        <p:nvSpPr>
          <p:cNvPr id="4" name="TextBox 3"/>
          <p:cNvSpPr txBox="1"/>
          <p:nvPr/>
        </p:nvSpPr>
        <p:spPr>
          <a:xfrm>
            <a:off x="457200" y="1536192"/>
            <a:ext cx="8229600" cy="393192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GPS가 끊기는 구간의 항법</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차량 항법은 GPS 수신이 끊기면 관성 정보로 위치를 이어서 계산하지만, 적분 과정에서 </a:t>
            </a:r>
            <a:r>
              <a:rPr sz="1400" b="1" i="0">
                <a:solidFill>
                  <a:srgbClr val="1A1A1A"/>
                </a:solidFill>
                <a:latin typeface="Arial"/>
                <a:ea typeface="MS PGothic"/>
              </a:rPr>
              <a:t>오차가 시간에 따라 누적</a:t>
            </a:r>
            <a:r>
              <a:rPr sz="1400" b="0" i="0">
                <a:solidFill>
                  <a:srgbClr val="333333"/>
                </a:solidFill>
                <a:latin typeface="Arial"/>
                <a:ea typeface="MS PGothic"/>
              </a:rPr>
              <a:t>된다. [1]</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NASA 화성 헬리콥터 Ingenuity는 </a:t>
            </a:r>
            <a:r>
              <a:rPr sz="1400" b="1" i="0">
                <a:solidFill>
                  <a:srgbClr val="1A1A1A"/>
                </a:solidFill>
                <a:latin typeface="Arial"/>
                <a:ea typeface="MS PGothic"/>
              </a:rPr>
              <a:t>하향 카메라·IMU·레이저 고도계</a:t>
            </a:r>
            <a:r>
              <a:rPr sz="1400" b="0" i="0">
                <a:solidFill>
                  <a:srgbClr val="333333"/>
                </a:solidFill>
                <a:latin typeface="Arial"/>
                <a:ea typeface="MS PGothic"/>
              </a:rPr>
              <a:t>를 결합하여 위성항법이 없는 화성에서 비행하였다. [2]</a:t>
            </a:r>
          </a:p>
          <a:p>
            <a:pPr marL="0" indent="0">
              <a:lnSpc>
                <a:spcPct val="115000"/>
              </a:lnSpc>
              <a:spcBef>
                <a:spcPts val="1200"/>
              </a:spcBef>
              <a:spcAft>
                <a:spcPts val="200"/>
              </a:spcAft>
              <a:buNone/>
            </a:pPr>
            <a:r>
              <a:rPr sz="1550" b="1" i="0">
                <a:solidFill>
                  <a:srgbClr val="1A1A1A"/>
                </a:solidFill>
                <a:latin typeface="Arial"/>
                <a:ea typeface="MS PGothic"/>
              </a:rPr>
              <a:t>카메라와 관성센서를 이용한 움직임 추정</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IMU</a:t>
            </a:r>
            <a:r>
              <a:rPr sz="1400" b="0" i="0">
                <a:solidFill>
                  <a:srgbClr val="333333"/>
                </a:solidFill>
                <a:latin typeface="Arial"/>
                <a:ea typeface="MS PGothic"/>
              </a:rPr>
              <a:t>(관성측정장치)는 가속도·각속도를 측정하여 움직임을 예측한다.</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Optical Flow</a:t>
            </a:r>
            <a:r>
              <a:rPr sz="1400" b="0" i="0">
                <a:solidFill>
                  <a:srgbClr val="333333"/>
                </a:solidFill>
                <a:latin typeface="Arial"/>
                <a:ea typeface="MS PGothic"/>
              </a:rPr>
              <a:t>는 연속 영상에서 화면이 움직인 양을 구하는 기법이며, KLT는 특징점을 추적하여 이를 계산한다. [3]</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영상 이동은 픽셀 단위이므로, </a:t>
            </a:r>
            <a:r>
              <a:rPr sz="1400" b="1" i="0">
                <a:solidFill>
                  <a:srgbClr val="1A1A1A"/>
                </a:solidFill>
                <a:latin typeface="Arial"/>
                <a:ea typeface="MS PGothic"/>
              </a:rPr>
              <a:t>거리센서로 지면까지의 거리를 알아야 실제 속도</a:t>
            </a:r>
            <a:r>
              <a:rPr sz="1400" b="0" i="0">
                <a:solidFill>
                  <a:srgbClr val="333333"/>
                </a:solidFill>
                <a:latin typeface="Arial"/>
                <a:ea typeface="MS PGothic"/>
              </a:rPr>
              <a:t>로 환산된다. [4]</a:t>
            </a:r>
          </a:p>
        </p:txBody>
      </p:sp>
      <p:sp>
        <p:nvSpPr>
          <p:cNvPr id="5" name="TextBox 4"/>
          <p:cNvSpPr txBox="1"/>
          <p:nvPr/>
        </p:nvSpPr>
        <p:spPr>
          <a:xfrm>
            <a:off x="457200" y="507492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본 연구는 하향 카메라·IMU·거리센서로 드론의 </a:t>
            </a:r>
            <a:r>
              <a:rPr sz="1450" b="1" i="0">
                <a:solidFill>
                  <a:srgbClr val="1A1A1A"/>
                </a:solidFill>
                <a:latin typeface="Arial"/>
                <a:ea typeface="MS PGothic"/>
              </a:rPr>
              <a:t>위치·속도·자세</a:t>
            </a:r>
            <a:r>
              <a:rPr sz="1400" b="1" i="0">
                <a:solidFill>
                  <a:srgbClr val="000F65"/>
                </a:solidFill>
                <a:latin typeface="Arial"/>
                <a:ea typeface="MS PGothic"/>
              </a:rPr>
              <a:t>를 추정한다.</a:t>
            </a:r>
          </a:p>
          <a:p>
            <a:pPr>
              <a:lnSpc>
                <a:spcPct val="115000"/>
              </a:lnSpc>
            </a:pPr>
            <a:r>
              <a:rPr sz="1400" b="1" i="0">
                <a:solidFill>
                  <a:srgbClr val="000F65"/>
                </a:solidFill>
                <a:latin typeface="Arial"/>
                <a:ea typeface="MS PGothic"/>
              </a:rPr>
              <a:t>(수평 위치는 속도를 적분해 구하므로 오차가 누적될 수 있다)</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센서 융합에서 측정 시점이 어긋나는 문제</a:t>
            </a:r>
          </a:p>
        </p:txBody>
      </p:sp>
      <p:sp>
        <p:nvSpPr>
          <p:cNvPr id="4" name="TextBox 3"/>
          <p:cNvSpPr txBox="1"/>
          <p:nvPr/>
        </p:nvSpPr>
        <p:spPr>
          <a:xfrm>
            <a:off x="457200" y="1536192"/>
            <a:ext cx="8229600" cy="384048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센서 융합의 필요성</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IMU만 쓰면 오차가 누적되고, 카메라만으로는 실제 이동 거리를 알 수 없으므로 </a:t>
            </a:r>
            <a:r>
              <a:rPr sz="1400" b="1" i="0">
                <a:solidFill>
                  <a:srgbClr val="1A1A1A"/>
                </a:solidFill>
                <a:latin typeface="Arial"/>
                <a:ea typeface="MS PGothic"/>
              </a:rPr>
              <a:t>세 센서를 함께 융합</a:t>
            </a:r>
            <a:r>
              <a:rPr sz="1400" b="0" i="0">
                <a:solidFill>
                  <a:srgbClr val="333333"/>
                </a:solidFill>
                <a:latin typeface="Arial"/>
                <a:ea typeface="MS PGothic"/>
              </a:rPr>
              <a:t>해야 한다. [1, 4]</a:t>
            </a:r>
          </a:p>
          <a:p>
            <a:pPr marL="0" indent="0">
              <a:lnSpc>
                <a:spcPct val="115000"/>
              </a:lnSpc>
              <a:spcBef>
                <a:spcPts val="1200"/>
              </a:spcBef>
              <a:spcAft>
                <a:spcPts val="200"/>
              </a:spcAft>
              <a:buNone/>
            </a:pPr>
            <a:r>
              <a:rPr sz="1550" b="1" i="0">
                <a:solidFill>
                  <a:srgbClr val="1A1A1A"/>
                </a:solidFill>
                <a:latin typeface="Arial"/>
                <a:ea typeface="MS PGothic"/>
              </a:rPr>
              <a:t>기존 융합의 한계: 측정 시점의 차이</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센서마다 </a:t>
            </a:r>
            <a:r>
              <a:rPr sz="1400" b="1" i="0">
                <a:solidFill>
                  <a:srgbClr val="1A1A1A"/>
                </a:solidFill>
                <a:latin typeface="Arial"/>
                <a:ea typeface="MS PGothic"/>
              </a:rPr>
              <a:t>측정 주기가 다르다</a:t>
            </a:r>
            <a:r>
              <a:rPr sz="1400" b="0" i="0">
                <a:solidFill>
                  <a:srgbClr val="333333"/>
                </a:solidFill>
                <a:latin typeface="Arial"/>
                <a:ea typeface="MS PGothic"/>
              </a:rPr>
              <a:t>: IMU 200 Hz, 카메라 20 Hz, 거리센서 30 Hz [5]</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영상은 처리 시간만큼 늦게 도착하므로, 도착한 값을 그대로 쓰면 </a:t>
            </a:r>
            <a:r>
              <a:rPr sz="1400" b="1" i="0">
                <a:solidFill>
                  <a:srgbClr val="1A1A1A"/>
                </a:solidFill>
                <a:latin typeface="Arial"/>
                <a:ea typeface="MS PGothic"/>
              </a:rPr>
              <a:t>이전 시점의 움직임을 현재로 잘못 반영</a:t>
            </a:r>
            <a:r>
              <a:rPr sz="1400" b="0" i="0">
                <a:solidFill>
                  <a:srgbClr val="333333"/>
                </a:solidFill>
                <a:latin typeface="Arial"/>
                <a:ea typeface="MS PGothic"/>
              </a:rPr>
              <a:t>한다.</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카메라와 IMU의 시간이 어긋나면 </a:t>
            </a:r>
            <a:r>
              <a:rPr sz="1400" b="1" i="0">
                <a:solidFill>
                  <a:srgbClr val="1A1A1A"/>
                </a:solidFill>
                <a:latin typeface="Arial"/>
                <a:ea typeface="MS PGothic"/>
              </a:rPr>
              <a:t>추정 정확도가 저하</a:t>
            </a:r>
            <a:r>
              <a:rPr sz="1400" b="0" i="0">
                <a:solidFill>
                  <a:srgbClr val="333333"/>
                </a:solidFill>
                <a:latin typeface="Arial"/>
                <a:ea typeface="MS PGothic"/>
              </a:rPr>
              <a:t>된다. [6]</a:t>
            </a:r>
          </a:p>
        </p:txBody>
      </p:sp>
      <p:sp>
        <p:nvSpPr>
          <p:cNvPr id="5" name="TextBox 4"/>
          <p:cNvSpPr txBox="1"/>
          <p:nvPr/>
        </p:nvSpPr>
        <p:spPr>
          <a:xfrm>
            <a:off x="457200" y="4617720"/>
            <a:ext cx="8229600" cy="77724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연구 목적</a:t>
            </a:r>
          </a:p>
          <a:p>
            <a:pPr>
              <a:lnSpc>
                <a:spcPct val="115000"/>
              </a:lnSpc>
            </a:pPr>
            <a:r>
              <a:rPr sz="1400" b="1" i="0">
                <a:solidFill>
                  <a:srgbClr val="000F65"/>
                </a:solidFill>
                <a:latin typeface="Arial"/>
                <a:ea typeface="MS PGothic"/>
              </a:rPr>
              <a:t>측정 주기와 지연이 다른 카메라·IMU·거리센서를 </a:t>
            </a:r>
            <a:r>
              <a:rPr sz="1400" b="1" i="0">
                <a:solidFill>
                  <a:srgbClr val="1A1A1A"/>
                </a:solidFill>
                <a:latin typeface="Arial"/>
                <a:ea typeface="MS PGothic"/>
              </a:rPr>
              <a:t>하나의 EKF</a:t>
            </a:r>
            <a:r>
              <a:rPr sz="1400" b="1" i="0">
                <a:solidFill>
                  <a:srgbClr val="000F65"/>
                </a:solidFill>
                <a:latin typeface="Arial"/>
                <a:ea typeface="MS PGothic"/>
              </a:rPr>
              <a:t>로 융합하고, 시간 처리의 효과를 정량적으로 확인한다.</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기존 지연 처리 방식과 본 연구의 위치</a:t>
            </a:r>
          </a:p>
        </p:txBody>
      </p:sp>
      <p:sp>
        <p:nvSpPr>
          <p:cNvPr id="4" name="TextBox 3"/>
          <p:cNvSpPr txBox="1"/>
          <p:nvPr/>
        </p:nvSpPr>
        <p:spPr>
          <a:xfrm>
            <a:off x="457200" y="1536192"/>
            <a:ext cx="8229600" cy="393192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차량 분야: Kim &amp; Ahn (2025) [7]</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도착 시점이 다른 레이더·V2X 정보를 </a:t>
            </a:r>
            <a:r>
              <a:rPr sz="1400" b="1" i="0">
                <a:solidFill>
                  <a:srgbClr val="1A1A1A"/>
                </a:solidFill>
                <a:latin typeface="Arial"/>
                <a:ea typeface="MS PGothic"/>
              </a:rPr>
              <a:t>지연 보상 → 시간 정렬 → 과거 상태 재추정</a:t>
            </a:r>
            <a:r>
              <a:rPr sz="1400" b="0" i="0">
                <a:solidFill>
                  <a:srgbClr val="333333"/>
                </a:solidFill>
                <a:latin typeface="Arial"/>
                <a:ea typeface="MS PGothic"/>
              </a:rPr>
              <a:t> 순서로 처리하여 선행 차량의 상태를 추정하였다.</a:t>
            </a:r>
          </a:p>
          <a:p>
            <a:pPr marL="0" indent="0">
              <a:lnSpc>
                <a:spcPct val="115000"/>
              </a:lnSpc>
              <a:spcBef>
                <a:spcPts val="1200"/>
              </a:spcBef>
              <a:spcAft>
                <a:spcPts val="200"/>
              </a:spcAft>
              <a:buNone/>
            </a:pPr>
            <a:r>
              <a:rPr sz="1550" b="1" i="0">
                <a:solidFill>
                  <a:srgbClr val="1A1A1A"/>
                </a:solidFill>
                <a:latin typeface="Arial"/>
                <a:ea typeface="MS PGothic"/>
              </a:rPr>
              <a:t>드론 분야: 두 가지 지연 처리 방식</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PX4 EKF2</a:t>
            </a:r>
            <a:r>
              <a:rPr sz="1400" b="0" i="0">
                <a:solidFill>
                  <a:srgbClr val="333333"/>
                </a:solidFill>
                <a:latin typeface="Arial"/>
                <a:ea typeface="MS PGothic"/>
              </a:rPr>
              <a:t>: 최대 지연만큼 늦은 시점에서 융합하고, 현재 상태는 </a:t>
            </a:r>
            <a:r>
              <a:rPr sz="1400" b="1" i="0">
                <a:solidFill>
                  <a:srgbClr val="1A1A1A"/>
                </a:solidFill>
                <a:latin typeface="Arial"/>
                <a:ea typeface="MS PGothic"/>
              </a:rPr>
              <a:t>출력 예측기</a:t>
            </a:r>
            <a:r>
              <a:rPr sz="1400" b="0" i="0">
                <a:solidFill>
                  <a:srgbClr val="333333"/>
                </a:solidFill>
                <a:latin typeface="Arial"/>
                <a:ea typeface="MS PGothic"/>
              </a:rPr>
              <a:t>로 따로 계산한다. [4]</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MSF-EKF</a:t>
            </a:r>
            <a:r>
              <a:rPr sz="1400" b="0" i="0">
                <a:solidFill>
                  <a:srgbClr val="333333"/>
                </a:solidFill>
                <a:latin typeface="Arial"/>
                <a:ea typeface="MS PGothic"/>
              </a:rPr>
              <a:t>: 늦은 측정이 오면 과거 상태로 돌아가 보정한 뒤 현재까지 다시 계산한다. [8]</a:t>
            </a:r>
          </a:p>
          <a:p>
            <a:pPr marL="0" indent="0">
              <a:lnSpc>
                <a:spcPct val="115000"/>
              </a:lnSpc>
              <a:spcBef>
                <a:spcPts val="1200"/>
              </a:spcBef>
              <a:spcAft>
                <a:spcPts val="200"/>
              </a:spcAft>
              <a:buNone/>
            </a:pPr>
            <a:r>
              <a:rPr sz="1550" b="1" i="0">
                <a:solidFill>
                  <a:srgbClr val="1A1A1A"/>
                </a:solidFill>
                <a:latin typeface="Arial"/>
                <a:ea typeface="MS PGothic"/>
              </a:rPr>
              <a:t>본 연구의 적용 범위</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새 필터 구조를 제안하기보다, 차량 분야의 시간 처리 절차를 카메라·IMU·거리센서 구성에 구현하고 </a:t>
            </a:r>
            <a:r>
              <a:rPr sz="1400" b="1" i="0">
                <a:solidFill>
                  <a:srgbClr val="1A1A1A"/>
                </a:solidFill>
                <a:latin typeface="Arial"/>
                <a:ea typeface="MS PGothic"/>
              </a:rPr>
              <a:t>지연 크기별 효과를 비교</a:t>
            </a:r>
            <a:r>
              <a:rPr sz="1400" b="0" i="0">
                <a:solidFill>
                  <a:srgbClr val="333333"/>
                </a:solidFill>
                <a:latin typeface="Arial"/>
                <a:ea typeface="MS PGothic"/>
              </a:rPr>
              <a:t>한다.</a:t>
            </a:r>
          </a:p>
        </p:txBody>
      </p:sp>
      <p:sp>
        <p:nvSpPr>
          <p:cNvPr id="5" name="TextBox 4"/>
          <p:cNvSpPr txBox="1"/>
          <p:nvPr/>
        </p:nvSpPr>
        <p:spPr>
          <a:xfrm>
            <a:off x="457200" y="475488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기여: 시간 처리 방식별 정확도와 처리시간을 같은 데이터에서 정량 비교</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KLT Optical Flow와 EKF 기반 다중센서 융합</a:t>
            </a:r>
          </a:p>
        </p:txBody>
      </p:sp>
      <p:sp>
        <p:nvSpPr>
          <p:cNvPr id="4" name="TextBox 3"/>
          <p:cNvSpPr txBox="1"/>
          <p:nvPr/>
        </p:nvSpPr>
        <p:spPr>
          <a:xfrm>
            <a:off x="457200" y="1481328"/>
            <a:ext cx="8229600" cy="2011680"/>
          </a:xfrm>
          <a:prstGeom prst="rect">
            <a:avLst/>
          </a:prstGeom>
          <a:noFill/>
        </p:spPr>
        <p:txBody>
          <a:bodyPr wrap="square" lIns="18288" rIns="18288" tIns="18288" bIns="18288">
            <a:spAutoFit/>
          </a:bodyPr>
          <a:lstStyle/>
          <a:p>
            <a:pPr marL="274320" indent="-164592">
              <a:lnSpc>
                <a:spcPct val="115000"/>
              </a:lnSpc>
              <a:spcBef>
                <a:spcPts val="400"/>
              </a:spcBef>
              <a:buSzPct val="100000"/>
              <a:buFont typeface="MS PGothic"/>
              <a:buChar char="•"/>
            </a:pPr>
            <a:r>
              <a:rPr sz="1400" b="1" i="0">
                <a:solidFill>
                  <a:srgbClr val="1A1A1A"/>
                </a:solidFill>
                <a:latin typeface="Arial"/>
                <a:ea typeface="MS PGothic"/>
              </a:rPr>
              <a:t>상태</a:t>
            </a:r>
            <a:r>
              <a:rPr sz="1400" b="0" i="0">
                <a:solidFill>
                  <a:srgbClr val="333333"/>
                </a:solidFill>
                <a:latin typeface="Arial"/>
                <a:ea typeface="MS PGothic"/>
              </a:rPr>
              <a:t>: 위치·속도·자세, IMU 바이어스</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예측</a:t>
            </a:r>
            <a:r>
              <a:rPr sz="1400" b="0" i="0">
                <a:solidFill>
                  <a:srgbClr val="333333"/>
                </a:solidFill>
                <a:latin typeface="Arial"/>
                <a:ea typeface="MS PGothic"/>
              </a:rPr>
              <a:t>: IMU 가속도·각속도  /  </a:t>
            </a:r>
            <a:r>
              <a:rPr sz="1400" b="1" i="0">
                <a:solidFill>
                  <a:srgbClr val="1A1A1A"/>
                </a:solidFill>
                <a:latin typeface="Arial"/>
                <a:ea typeface="MS PGothic"/>
              </a:rPr>
              <a:t>보정</a:t>
            </a:r>
            <a:r>
              <a:rPr sz="1400" b="0" i="0">
                <a:solidFill>
                  <a:srgbClr val="333333"/>
                </a:solidFill>
                <a:latin typeface="Arial"/>
                <a:ea typeface="MS PGothic"/>
              </a:rPr>
              <a:t>: 영상 이동(회전 성분 제거)과 거리(기울기 보정한 고도)</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늦은 측정</a:t>
            </a:r>
            <a:r>
              <a:rPr sz="1400" b="0" i="0">
                <a:solidFill>
                  <a:srgbClr val="333333"/>
                </a:solidFill>
                <a:latin typeface="Arial"/>
                <a:ea typeface="MS PGothic"/>
              </a:rPr>
              <a:t>: 저장해 둔 이력에서 측정 시점의 상태를 꺼내 보정하고, 이후 IMU 입력과 그 사이 측정을 다시 적용해 현재까지 재계산</a:t>
            </a:r>
          </a:p>
        </p:txBody>
      </p:sp>
      <p:sp>
        <p:nvSpPr>
          <p:cNvPr id="5" name="Rectangle 4"/>
          <p:cNvSpPr/>
          <p:nvPr/>
        </p:nvSpPr>
        <p:spPr>
          <a:xfrm>
            <a:off x="457200" y="3246120"/>
            <a:ext cx="196596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300" b="1" i="0">
                <a:solidFill>
                  <a:srgbClr val="000F65"/>
                </a:solidFill>
                <a:latin typeface="Arial"/>
                <a:ea typeface="MS PGothic"/>
              </a:rPr>
              <a:t>IMU</a:t>
            </a:r>
          </a:p>
          <a:p>
            <a:pPr algn="ctr" marL="0" indent="0">
              <a:lnSpc>
                <a:spcPct val="110000"/>
              </a:lnSpc>
              <a:buNone/>
            </a:pPr>
            <a:r>
              <a:rPr sz="1050" b="0" i="0">
                <a:solidFill>
                  <a:srgbClr val="333333"/>
                </a:solidFill>
                <a:latin typeface="Arial"/>
                <a:ea typeface="MS PGothic"/>
              </a:rPr>
              <a:t>가속도·각속도</a:t>
            </a:r>
          </a:p>
        </p:txBody>
      </p:sp>
      <p:sp>
        <p:nvSpPr>
          <p:cNvPr id="6" name="Rectangle 5"/>
          <p:cNvSpPr/>
          <p:nvPr/>
        </p:nvSpPr>
        <p:spPr>
          <a:xfrm>
            <a:off x="457200" y="3995928"/>
            <a:ext cx="196596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300" b="1" i="0">
                <a:solidFill>
                  <a:srgbClr val="000F65"/>
                </a:solidFill>
                <a:latin typeface="Arial"/>
                <a:ea typeface="MS PGothic"/>
              </a:rPr>
              <a:t>카메라 + 거리센서</a:t>
            </a:r>
          </a:p>
          <a:p>
            <a:pPr algn="ctr" marL="0" indent="0">
              <a:lnSpc>
                <a:spcPct val="110000"/>
              </a:lnSpc>
              <a:buNone/>
            </a:pPr>
            <a:r>
              <a:rPr sz="1050" b="0" i="0">
                <a:solidFill>
                  <a:srgbClr val="333333"/>
                </a:solidFill>
                <a:latin typeface="Arial"/>
                <a:ea typeface="MS PGothic"/>
              </a:rPr>
              <a:t>영상 이동·거리</a:t>
            </a:r>
          </a:p>
        </p:txBody>
      </p:sp>
      <p:cxnSp>
        <p:nvCxnSpPr>
          <p:cNvPr id="7" name="Connector 6"/>
          <p:cNvCxnSpPr/>
          <p:nvPr/>
        </p:nvCxnSpPr>
        <p:spPr>
          <a:xfrm>
            <a:off x="2423160" y="3529584"/>
            <a:ext cx="4572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423160" y="4279392"/>
            <a:ext cx="4572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880360" y="3200400"/>
            <a:ext cx="3017520" cy="1408176"/>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400" b="1" i="0">
                <a:solidFill>
                  <a:srgbClr val="FFFFFF"/>
                </a:solidFill>
                <a:latin typeface="Arial"/>
                <a:ea typeface="MS PGothic"/>
              </a:rPr>
              <a:t>EKF (확장 칼만필터)</a:t>
            </a:r>
          </a:p>
          <a:p>
            <a:pPr algn="ctr" marL="0" indent="0">
              <a:lnSpc>
                <a:spcPct val="110000"/>
              </a:lnSpc>
              <a:buNone/>
            </a:pPr>
            <a:r>
              <a:rPr sz="1150" b="0" i="0">
                <a:solidFill>
                  <a:srgbClr val="FFFFFF"/>
                </a:solidFill>
                <a:latin typeface="Arial"/>
                <a:ea typeface="MS PGothic"/>
              </a:rPr>
              <a:t>IMU로 움직임 예측</a:t>
            </a:r>
          </a:p>
          <a:p>
            <a:pPr algn="ctr" marL="0" indent="0">
              <a:lnSpc>
                <a:spcPct val="110000"/>
              </a:lnSpc>
              <a:buNone/>
            </a:pPr>
            <a:r>
              <a:rPr sz="1150" b="0" i="0">
                <a:solidFill>
                  <a:srgbClr val="FFFFFF"/>
                </a:solidFill>
                <a:latin typeface="Arial"/>
                <a:ea typeface="MS PGothic"/>
              </a:rPr>
              <a:t>영상·거리 측정으로 보정</a:t>
            </a:r>
          </a:p>
        </p:txBody>
      </p:sp>
      <p:cxnSp>
        <p:nvCxnSpPr>
          <p:cNvPr id="10" name="Connector 9"/>
          <p:cNvCxnSpPr/>
          <p:nvPr/>
        </p:nvCxnSpPr>
        <p:spPr>
          <a:xfrm>
            <a:off x="5897880" y="3904487"/>
            <a:ext cx="4572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355080" y="3493008"/>
            <a:ext cx="2331720" cy="82296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300" b="1" i="0">
                <a:solidFill>
                  <a:srgbClr val="000F65"/>
                </a:solidFill>
                <a:latin typeface="Arial"/>
                <a:ea typeface="MS PGothic"/>
              </a:rPr>
              <a:t>위치·속도·자세</a:t>
            </a:r>
          </a:p>
          <a:p>
            <a:pPr algn="ctr" marL="0" indent="0">
              <a:lnSpc>
                <a:spcPct val="110000"/>
              </a:lnSpc>
              <a:buNone/>
            </a:pPr>
            <a:r>
              <a:rPr sz="1050" b="0" i="0">
                <a:solidFill>
                  <a:srgbClr val="333333"/>
                </a:solidFill>
                <a:latin typeface="Arial"/>
                <a:ea typeface="MS PGothic"/>
              </a:rPr>
              <a:t>추정값</a:t>
            </a:r>
          </a:p>
        </p:txBody>
      </p:sp>
      <p:sp>
        <p:nvSpPr>
          <p:cNvPr id="12" name="TextBox 11"/>
          <p:cNvSpPr txBox="1"/>
          <p:nvPr/>
        </p:nvSpPr>
        <p:spPr>
          <a:xfrm>
            <a:off x="457200" y="4873752"/>
            <a:ext cx="8229600" cy="274320"/>
          </a:xfrm>
          <a:prstGeom prst="rect">
            <a:avLst/>
          </a:prstGeom>
          <a:noFill/>
        </p:spPr>
        <p:txBody>
          <a:bodyPr wrap="square" anchor="ctr" lIns="0" rIns="0" tIns="0" bIns="0">
            <a:spAutoFit/>
          </a:bodyPr>
          <a:lstStyle/>
          <a:p>
            <a:pPr algn="l" marL="0" indent="0">
              <a:lnSpc>
                <a:spcPct val="110000"/>
              </a:lnSpc>
              <a:buNone/>
            </a:pPr>
            <a:r>
              <a:rPr sz="1250" b="1" i="0">
                <a:solidFill>
                  <a:srgbClr val="000F65"/>
                </a:solidFill>
                <a:latin typeface="Arial"/>
                <a:ea typeface="MS PGothic"/>
              </a:rPr>
              <a:t>늦은 측정 처리 (과거 상태 재추정)</a:t>
            </a:r>
          </a:p>
        </p:txBody>
      </p:sp>
      <p:sp>
        <p:nvSpPr>
          <p:cNvPr id="13" name="Rectangle 12"/>
          <p:cNvSpPr/>
          <p:nvPr/>
        </p:nvSpPr>
        <p:spPr>
          <a:xfrm>
            <a:off x="457200" y="5212080"/>
            <a:ext cx="2514600" cy="45720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측정 시점의 상태로 복귀</a:t>
            </a:r>
          </a:p>
        </p:txBody>
      </p:sp>
      <p:cxnSp>
        <p:nvCxnSpPr>
          <p:cNvPr id="14" name="Connector 13"/>
          <p:cNvCxnSpPr/>
          <p:nvPr/>
        </p:nvCxnSpPr>
        <p:spPr>
          <a:xfrm>
            <a:off x="2971800" y="5440680"/>
            <a:ext cx="32004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291840" y="5212080"/>
            <a:ext cx="2514600" cy="45720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늦은 측정으로 보정</a:t>
            </a:r>
          </a:p>
        </p:txBody>
      </p:sp>
      <p:cxnSp>
        <p:nvCxnSpPr>
          <p:cNvPr id="16" name="Connector 15"/>
          <p:cNvCxnSpPr/>
          <p:nvPr/>
        </p:nvCxnSpPr>
        <p:spPr>
          <a:xfrm>
            <a:off x="5806440" y="5440680"/>
            <a:ext cx="32004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126480" y="5212080"/>
            <a:ext cx="2514600" cy="457200"/>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200" b="1" i="0">
                <a:solidFill>
                  <a:srgbClr val="FFFFFF"/>
                </a:solidFill>
                <a:latin typeface="Arial"/>
                <a:ea typeface="MS PGothic"/>
              </a:rPr>
              <a:t>이후 입력·측정 재적용</a:t>
            </a:r>
          </a:p>
        </p:txBody>
      </p:sp>
      <p:sp>
        <p:nvSpPr>
          <p:cNvPr id="18" name="TextBox 17"/>
          <p:cNvSpPr txBox="1"/>
          <p:nvPr/>
        </p:nvSpPr>
        <p:spPr>
          <a:xfrm>
            <a:off x="457200" y="5779008"/>
            <a:ext cx="8229600" cy="256032"/>
          </a:xfrm>
          <a:prstGeom prst="rect">
            <a:avLst/>
          </a:prstGeom>
          <a:noFill/>
        </p:spPr>
        <p:txBody>
          <a:bodyPr wrap="square" anchor="ctr" lIns="0" rIns="0" tIns="0" bIns="0">
            <a:spAutoFit/>
          </a:bodyPr>
          <a:lstStyle/>
          <a:p>
            <a:pPr algn="l" marL="0" indent="0">
              <a:lnSpc>
                <a:spcPct val="110000"/>
              </a:lnSpc>
              <a:buNone/>
            </a:pPr>
            <a:r>
              <a:rPr sz="1100" b="0" i="0">
                <a:solidFill>
                  <a:srgbClr val="666666"/>
                </a:solidFill>
                <a:latin typeface="Arial"/>
                <a:ea typeface="MS PGothic"/>
              </a:rPr>
              <a:t>저장: 상태·공분산·IMU 입력·측정 이력 (버퍼 길이 ≥ 최대 지연)</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10월 ~ 12월 단계별 추진 계획</a:t>
            </a:r>
          </a:p>
        </p:txBody>
      </p:sp>
      <p:graphicFrame>
        <p:nvGraphicFramePr>
          <p:cNvPr id="4" name="Table 3"/>
          <p:cNvGraphicFramePr>
            <a:graphicFrameLocks noGrp="1"/>
          </p:cNvGraphicFramePr>
          <p:nvPr/>
        </p:nvGraphicFramePr>
        <p:xfrm>
          <a:off x="457200" y="1600200"/>
          <a:ext cx="8229600" cy="3675888"/>
        </p:xfrm>
        <a:graphic>
          <a:graphicData uri="http://schemas.openxmlformats.org/drawingml/2006/table">
            <a:tbl>
              <a:tblPr firstRow="0" bandRow="0"/>
              <a:tblGrid>
                <a:gridCol w="1234440"/>
                <a:gridCol w="3886200"/>
                <a:gridCol w="3108960"/>
              </a:tblGrid>
              <a:tr h="384048">
                <a:tc>
                  <a:txBody>
                    <a:bodyPr/>
                    <a:lstStyle/>
                    <a:p>
                      <a:pPr algn="l"/>
                      <a:r>
                        <a:rPr sz="1250" b="1" i="0">
                          <a:solidFill>
                            <a:srgbClr val="000F65"/>
                          </a:solidFill>
                          <a:latin typeface="Arial"/>
                          <a:ea typeface="MS PGothic"/>
                        </a:rPr>
                        <a:t>시기</a:t>
                      </a:r>
                    </a:p>
                  </a:txBody>
                  <a:tcPr anchor="ctr" marL="91440" marT="27432" marB="27432">
                    <a:lnL w="0">
                      <a:noFill/>
                    </a:lnL>
                    <a:lnR w="0">
                      <a:noFill/>
                    </a:lnR>
                    <a:lnT w="19050">
                      <a:solidFill>
                        <a:srgbClr val="000F65"/>
                      </a:solidFill>
                    </a:lnT>
                    <a:lnB w="12700">
                      <a:solidFill>
                        <a:srgbClr val="000F65"/>
                      </a:solidFill>
                    </a:lnB>
                    <a:solidFill>
                      <a:srgbClr val="E8ECF5"/>
                    </a:solidFill>
                  </a:tcPr>
                </a:tc>
                <a:tc>
                  <a:txBody>
                    <a:bodyPr/>
                    <a:lstStyle/>
                    <a:p>
                      <a:pPr algn="l"/>
                      <a:r>
                        <a:rPr sz="1250" b="1" i="0">
                          <a:solidFill>
                            <a:srgbClr val="000F65"/>
                          </a:solidFill>
                          <a:latin typeface="Arial"/>
                          <a:ea typeface="MS PGothic"/>
                        </a:rPr>
                        <a:t>수행 내용</a:t>
                      </a:r>
                    </a:p>
                  </a:txBody>
                  <a:tcPr anchor="ctr" marL="91440" marT="27432" marB="27432">
                    <a:lnL w="0">
                      <a:noFill/>
                    </a:lnL>
                    <a:lnR w="0">
                      <a:noFill/>
                    </a:lnR>
                    <a:lnT w="19050">
                      <a:solidFill>
                        <a:srgbClr val="000F65"/>
                      </a:solidFill>
                    </a:lnT>
                    <a:lnB w="12700">
                      <a:solidFill>
                        <a:srgbClr val="000F65"/>
                      </a:solidFill>
                    </a:lnB>
                    <a:solidFill>
                      <a:srgbClr val="E8ECF5"/>
                    </a:solidFill>
                  </a:tcPr>
                </a:tc>
                <a:tc>
                  <a:txBody>
                    <a:bodyPr/>
                    <a:lstStyle/>
                    <a:p>
                      <a:pPr algn="l"/>
                      <a:r>
                        <a:rPr sz="1250" b="1" i="0">
                          <a:solidFill>
                            <a:srgbClr val="000F65"/>
                          </a:solidFill>
                          <a:latin typeface="Arial"/>
                          <a:ea typeface="MS PGothic"/>
                        </a:rPr>
                        <a:t>확인할 결과</a:t>
                      </a:r>
                    </a:p>
                  </a:txBody>
                  <a:tcPr anchor="ctr" marL="91440" marT="27432" marB="27432">
                    <a:lnL w="0">
                      <a:noFill/>
                    </a:lnL>
                    <a:lnR w="0">
                      <a:noFill/>
                    </a:lnR>
                    <a:lnT w="19050">
                      <a:solidFill>
                        <a:srgbClr val="000F65"/>
                      </a:solidFill>
                    </a:lnT>
                    <a:lnB w="12700">
                      <a:solidFill>
                        <a:srgbClr val="000F65"/>
                      </a:solidFill>
                    </a:lnB>
                    <a:solidFill>
                      <a:srgbClr val="E8ECF5"/>
                    </a:solidFill>
                  </a:tcPr>
                </a:tc>
              </a:tr>
              <a:tr h="822960">
                <a:tc>
                  <a:txBody>
                    <a:bodyPr/>
                    <a:lstStyle/>
                    <a:p>
                      <a:pPr algn="l"/>
                      <a:r>
                        <a:rPr sz="1300" b="1" i="0">
                          <a:solidFill>
                            <a:srgbClr val="1A1A1A"/>
                          </a:solidFill>
                          <a:latin typeface="Arial"/>
                          <a:ea typeface="MS PGothic"/>
                        </a:rPr>
                        <a:t>10월 전반</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300" b="1" i="0">
                          <a:solidFill>
                            <a:srgbClr val="1A1A1A"/>
                          </a:solidFill>
                          <a:latin typeface="Arial"/>
                          <a:ea typeface="MS PGothic"/>
                        </a:rPr>
                        <a:t>선행논문 분석, INSANE 데이터 확보</a:t>
                      </a:r>
                    </a:p>
                    <a:p>
                      <a:pPr algn="l"/>
                      <a:r>
                        <a:rPr sz="1200" b="0" i="0">
                          <a:solidFill>
                            <a:srgbClr val="333333"/>
                          </a:solidFill>
                          <a:latin typeface="Arial"/>
                          <a:ea typeface="MS PGothic"/>
                        </a:rPr>
                        <a:t>센서 주기·타임스탬프·지연 정리</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0" i="0">
                          <a:solidFill>
                            <a:srgbClr val="333333"/>
                          </a:solidFill>
                          <a:latin typeface="Arial"/>
                          <a:ea typeface="MS PGothic"/>
                        </a:rPr>
                        <a:t>시간 처리 절차 정리</a:t>
                      </a:r>
                    </a:p>
                    <a:p>
                      <a:pPr algn="l"/>
                      <a:r>
                        <a:rPr sz="1200" b="0" i="0">
                          <a:solidFill>
                            <a:srgbClr val="333333"/>
                          </a:solidFill>
                          <a:latin typeface="Arial"/>
                          <a:ea typeface="MS PGothic"/>
                        </a:rPr>
                        <a:t>센서 데이터 특성 파악</a:t>
                      </a:r>
                    </a:p>
                  </a:txBody>
                  <a:tcPr anchor="ctr" marL="91440" marT="27432" marB="27432">
                    <a:lnL w="0">
                      <a:noFill/>
                    </a:lnL>
                    <a:lnR w="0">
                      <a:noFill/>
                    </a:lnR>
                    <a:lnT w="0">
                      <a:noFill/>
                    </a:lnT>
                    <a:lnB w="6350">
                      <a:solidFill>
                        <a:srgbClr val="BFBFBF"/>
                      </a:solidFill>
                    </a:lnB>
                    <a:solidFill>
                      <a:srgbClr val="FFFFFF"/>
                    </a:solidFill>
                  </a:tcPr>
                </a:tc>
              </a:tr>
              <a:tr h="822960">
                <a:tc>
                  <a:txBody>
                    <a:bodyPr/>
                    <a:lstStyle/>
                    <a:p>
                      <a:pPr algn="l"/>
                      <a:r>
                        <a:rPr sz="1300" b="1" i="0">
                          <a:solidFill>
                            <a:srgbClr val="1A1A1A"/>
                          </a:solidFill>
                          <a:latin typeface="Arial"/>
                          <a:ea typeface="MS PGothic"/>
                        </a:rPr>
                        <a:t>10월 후반</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300" b="1" i="0">
                          <a:solidFill>
                            <a:srgbClr val="1A1A1A"/>
                          </a:solidFill>
                          <a:latin typeface="Arial"/>
                          <a:ea typeface="MS PGothic"/>
                        </a:rPr>
                        <a:t>KLT 영상 이동 추적, IMU 예측 구현</a:t>
                      </a:r>
                    </a:p>
                    <a:p>
                      <a:pPr algn="l"/>
                      <a:r>
                        <a:rPr sz="1200" b="0" i="0">
                          <a:solidFill>
                            <a:srgbClr val="333333"/>
                          </a:solidFill>
                          <a:latin typeface="Arial"/>
                          <a:ea typeface="MS PGothic"/>
                        </a:rPr>
                        <a:t>지연 없는 기본 EKF 구성</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0" i="0">
                          <a:solidFill>
                            <a:srgbClr val="333333"/>
                          </a:solidFill>
                          <a:latin typeface="Arial"/>
                          <a:ea typeface="MS PGothic"/>
                        </a:rPr>
                        <a:t>센서별 처리 결과</a:t>
                      </a:r>
                    </a:p>
                    <a:p>
                      <a:pPr algn="l"/>
                      <a:r>
                        <a:rPr sz="1200" b="0" i="0">
                          <a:solidFill>
                            <a:srgbClr val="333333"/>
                          </a:solidFill>
                          <a:latin typeface="Arial"/>
                          <a:ea typeface="MS PGothic"/>
                        </a:rPr>
                        <a:t>기본 추정기 동작(기준 결과)</a:t>
                      </a:r>
                    </a:p>
                  </a:txBody>
                  <a:tcPr anchor="ctr" marL="91440" marT="27432" marB="27432">
                    <a:lnL w="0">
                      <a:noFill/>
                    </a:lnL>
                    <a:lnR w="0">
                      <a:noFill/>
                    </a:lnR>
                    <a:lnT w="0">
                      <a:noFill/>
                    </a:lnT>
                    <a:lnB w="6350">
                      <a:solidFill>
                        <a:srgbClr val="BFBFBF"/>
                      </a:solidFill>
                    </a:lnB>
                    <a:solidFill>
                      <a:srgbClr val="FFFFFF"/>
                    </a:solidFill>
                  </a:tcPr>
                </a:tc>
              </a:tr>
              <a:tr h="822960">
                <a:tc>
                  <a:txBody>
                    <a:bodyPr/>
                    <a:lstStyle/>
                    <a:p>
                      <a:pPr algn="l"/>
                      <a:r>
                        <a:rPr sz="1300" b="1" i="0">
                          <a:solidFill>
                            <a:srgbClr val="1A1A1A"/>
                          </a:solidFill>
                          <a:latin typeface="Arial"/>
                          <a:ea typeface="MS PGothic"/>
                        </a:rPr>
                        <a:t>11월</a:t>
                      </a:r>
                    </a:p>
                  </a:txBody>
                  <a:tcPr anchor="ctr" marL="91440" marT="27432" marB="27432">
                    <a:lnL w="0">
                      <a:noFill/>
                    </a:lnL>
                    <a:lnR w="0">
                      <a:noFill/>
                    </a:lnR>
                    <a:lnT w="0">
                      <a:noFill/>
                    </a:lnT>
                    <a:lnB w="6350">
                      <a:solidFill>
                        <a:srgbClr val="BFBFBF"/>
                      </a:solidFill>
                    </a:lnB>
                    <a:solidFill>
                      <a:srgbClr val="F3F8F9"/>
                    </a:solidFill>
                  </a:tcPr>
                </a:tc>
                <a:tc>
                  <a:txBody>
                    <a:bodyPr/>
                    <a:lstStyle/>
                    <a:p>
                      <a:pPr algn="l"/>
                      <a:r>
                        <a:rPr sz="1300" b="1" i="0">
                          <a:solidFill>
                            <a:srgbClr val="1A1A1A"/>
                          </a:solidFill>
                          <a:latin typeface="Arial"/>
                          <a:ea typeface="MS PGothic"/>
                        </a:rPr>
                        <a:t>버퍼·시간 정렬 구현</a:t>
                      </a:r>
                    </a:p>
                    <a:p>
                      <a:pPr algn="l"/>
                      <a:r>
                        <a:rPr sz="1200" b="0" i="0">
                          <a:solidFill>
                            <a:srgbClr val="333333"/>
                          </a:solidFill>
                          <a:latin typeface="Arial"/>
                          <a:ea typeface="MS PGothic"/>
                        </a:rPr>
                        <a:t>과거 상태 재추정 적용</a:t>
                      </a:r>
                    </a:p>
                  </a:txBody>
                  <a:tcPr anchor="ctr" marL="91440" marT="27432" marB="27432">
                    <a:lnL w="0">
                      <a:noFill/>
                    </a:lnL>
                    <a:lnR w="0">
                      <a:noFill/>
                    </a:lnR>
                    <a:lnT w="0">
                      <a:noFill/>
                    </a:lnT>
                    <a:lnB w="6350">
                      <a:solidFill>
                        <a:srgbClr val="BFBFBF"/>
                      </a:solidFill>
                    </a:lnB>
                    <a:solidFill>
                      <a:srgbClr val="F3F8F9"/>
                    </a:solidFill>
                  </a:tcPr>
                </a:tc>
                <a:tc>
                  <a:txBody>
                    <a:bodyPr/>
                    <a:lstStyle/>
                    <a:p>
                      <a:pPr algn="l"/>
                      <a:r>
                        <a:rPr sz="1200" b="0" i="0">
                          <a:solidFill>
                            <a:srgbClr val="333333"/>
                          </a:solidFill>
                          <a:latin typeface="Arial"/>
                          <a:ea typeface="MS PGothic"/>
                        </a:rPr>
                        <a:t>시간 처리를 포함한</a:t>
                      </a:r>
                    </a:p>
                    <a:p>
                      <a:pPr algn="l"/>
                      <a:r>
                        <a:rPr sz="1200" b="0" i="0">
                          <a:solidFill>
                            <a:srgbClr val="333333"/>
                          </a:solidFill>
                          <a:latin typeface="Arial"/>
                          <a:ea typeface="MS PGothic"/>
                        </a:rPr>
                        <a:t>다중센서 융합 추정기</a:t>
                      </a:r>
                    </a:p>
                  </a:txBody>
                  <a:tcPr anchor="ctr" marL="91440" marT="27432" marB="27432">
                    <a:lnL w="0">
                      <a:noFill/>
                    </a:lnL>
                    <a:lnR w="0">
                      <a:noFill/>
                    </a:lnR>
                    <a:lnT w="0">
                      <a:noFill/>
                    </a:lnT>
                    <a:lnB w="6350">
                      <a:solidFill>
                        <a:srgbClr val="BFBFBF"/>
                      </a:solidFill>
                    </a:lnB>
                    <a:solidFill>
                      <a:srgbClr val="F3F8F9"/>
                    </a:solidFill>
                  </a:tcPr>
                </a:tc>
              </a:tr>
              <a:tr h="822960">
                <a:tc>
                  <a:txBody>
                    <a:bodyPr/>
                    <a:lstStyle/>
                    <a:p>
                      <a:pPr algn="l"/>
                      <a:r>
                        <a:rPr sz="1300" b="1" i="0">
                          <a:solidFill>
                            <a:srgbClr val="1A1A1A"/>
                          </a:solidFill>
                          <a:latin typeface="Arial"/>
                          <a:ea typeface="MS PGothic"/>
                        </a:rPr>
                        <a:t>12월</a:t>
                      </a:r>
                    </a:p>
                  </a:txBody>
                  <a:tcPr anchor="ctr" marL="91440" marT="27432" marB="27432">
                    <a:lnL w="0">
                      <a:noFill/>
                    </a:lnL>
                    <a:lnR w="0">
                      <a:noFill/>
                    </a:lnR>
                    <a:lnT w="0">
                      <a:noFill/>
                    </a:lnT>
                    <a:lnB w="12700">
                      <a:solidFill>
                        <a:srgbClr val="000F65"/>
                      </a:solidFill>
                    </a:lnB>
                    <a:solidFill>
                      <a:srgbClr val="FFFFFF"/>
                    </a:solidFill>
                  </a:tcPr>
                </a:tc>
                <a:tc>
                  <a:txBody>
                    <a:bodyPr/>
                    <a:lstStyle/>
                    <a:p>
                      <a:pPr algn="l"/>
                      <a:r>
                        <a:rPr sz="1300" b="1" i="0">
                          <a:solidFill>
                            <a:srgbClr val="1A1A1A"/>
                          </a:solidFill>
                          <a:latin typeface="Arial"/>
                          <a:ea typeface="MS PGothic"/>
                        </a:rPr>
                        <a:t>지연 크기별 A·B·C 비교</a:t>
                      </a:r>
                    </a:p>
                    <a:p>
                      <a:pPr algn="l"/>
                      <a:r>
                        <a:rPr sz="1200" b="0" i="0">
                          <a:solidFill>
                            <a:srgbClr val="333333"/>
                          </a:solidFill>
                          <a:latin typeface="Arial"/>
                          <a:ea typeface="MS PGothic"/>
                        </a:rPr>
                        <a:t>추정 오차·처리시간 분석</a:t>
                      </a:r>
                    </a:p>
                  </a:txBody>
                  <a:tcPr anchor="ctr" marL="91440" marT="27432" marB="27432">
                    <a:lnL w="0">
                      <a:noFill/>
                    </a:lnL>
                    <a:lnR w="0">
                      <a:noFill/>
                    </a:lnR>
                    <a:lnT w="0">
                      <a:noFill/>
                    </a:lnT>
                    <a:lnB w="12700">
                      <a:solidFill>
                        <a:srgbClr val="000F65"/>
                      </a:solidFill>
                    </a:lnB>
                    <a:solidFill>
                      <a:srgbClr val="FFFFFF"/>
                    </a:solidFill>
                  </a:tcPr>
                </a:tc>
                <a:tc>
                  <a:txBody>
                    <a:bodyPr/>
                    <a:lstStyle/>
                    <a:p>
                      <a:pPr algn="l"/>
                      <a:r>
                        <a:rPr sz="1200" b="0" i="0">
                          <a:solidFill>
                            <a:srgbClr val="333333"/>
                          </a:solidFill>
                          <a:latin typeface="Arial"/>
                          <a:ea typeface="MS PGothic"/>
                        </a:rPr>
                        <a:t>효과와 한계 정리</a:t>
                      </a:r>
                    </a:p>
                    <a:p>
                      <a:pPr algn="l"/>
                      <a:r>
                        <a:rPr sz="1200" b="0" i="0">
                          <a:solidFill>
                            <a:srgbClr val="333333"/>
                          </a:solidFill>
                          <a:latin typeface="Arial"/>
                          <a:ea typeface="MS PGothic"/>
                        </a:rPr>
                        <a:t>최종 보고서 및 발표</a:t>
                      </a:r>
                    </a:p>
                  </a:txBody>
                  <a:tcPr anchor="ctr" marL="91440" marT="27432" marB="27432">
                    <a:lnL w="0">
                      <a:noFill/>
                    </a:lnL>
                    <a:lnR w="0">
                      <a:noFill/>
                    </a:lnR>
                    <a:lnT w="0">
                      <a:noFill/>
                    </a:lnT>
                    <a:lnB w="12700">
                      <a:solidFill>
                        <a:srgbClr val="000F65"/>
                      </a:solidFill>
                    </a:lnB>
                    <a:solidFill>
                      <a:srgbClr val="FFFFFF"/>
                    </a:solidFill>
                  </a:tcPr>
                </a:tc>
              </a:tr>
            </a:tbl>
          </a:graphicData>
        </a:graphic>
      </p:graphicFrame>
      <p:sp>
        <p:nvSpPr>
          <p:cNvPr id="5" name="TextBox 4"/>
          <p:cNvSpPr txBox="1"/>
          <p:nvPr/>
        </p:nvSpPr>
        <p:spPr>
          <a:xfrm>
            <a:off x="457200" y="548640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최종 목표: 시간 처리를 포함한 다중센서 융합 추정기 구현과 그 효과의 정량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 / 감사합니다</a:t>
            </a:r>
          </a:p>
        </p:txBody>
      </p:sp>
      <p:nvGrpSpPr>
        <p:cNvPr id="1" name=""/>
        <p:cNvGrpSpPr/>
        <p:nvPr/>
      </p:nvGrpSpPr>
      <p:sp>
        <p:nvSpPr>
          <p:cNvPr id="3" name="TextBox 2"/>
          <p:cNvSpPr txBox="1"/>
          <p:nvPr/>
        </p:nvSpPr>
        <p:spPr>
          <a:xfrm>
            <a:off x="457200" y="1097280"/>
            <a:ext cx="8229600" cy="4206240"/>
          </a:xfrm>
          <a:prstGeom prst="rect">
            <a:avLst/>
          </a:prstGeom>
          <a:noFill/>
        </p:spPr>
        <p:txBody>
          <a:bodyPr wrap="square">
            <a:spAutoFit/>
          </a:bodyPr>
          <a:lstStyle/>
          <a:p>
            <a:pPr marL="384048" indent="-384048">
              <a:lnSpc>
                <a:spcPct val="105000"/>
              </a:lnSpc>
              <a:spcBef>
                <a:spcPts val="0"/>
              </a:spcBef>
              <a:buNone/>
            </a:pPr>
            <a:r>
              <a:rPr sz="1150" b="1" i="0">
                <a:solidFill>
                  <a:srgbClr val="000F65"/>
                </a:solidFill>
                <a:latin typeface="Arial"/>
                <a:ea typeface="MS PGothic"/>
              </a:rPr>
              <a:t>[1]  </a:t>
            </a:r>
            <a:r>
              <a:rPr sz="1150" b="0" i="0">
                <a:solidFill>
                  <a:srgbClr val="333333"/>
                </a:solidFill>
                <a:latin typeface="Arial"/>
                <a:ea typeface="MS PGothic"/>
              </a:rPr>
              <a:t>P. D. Groves, Principles of GNSS, Inertial, and Multisensor Integrated Navigation Systems, 2nd ed., Artech House, 2013.</a:t>
            </a:r>
          </a:p>
          <a:p>
            <a:pPr marL="384048" indent="-384048">
              <a:lnSpc>
                <a:spcPct val="105000"/>
              </a:lnSpc>
              <a:spcBef>
                <a:spcPts val="600"/>
              </a:spcBef>
              <a:buNone/>
            </a:pPr>
            <a:r>
              <a:rPr sz="1150" b="1" i="0">
                <a:solidFill>
                  <a:srgbClr val="000F65"/>
                </a:solidFill>
                <a:latin typeface="Arial"/>
                <a:ea typeface="MS PGothic"/>
              </a:rPr>
              <a:t>[2]  </a:t>
            </a:r>
            <a:r>
              <a:rPr sz="1150" b="0" i="0">
                <a:solidFill>
                  <a:srgbClr val="333333"/>
                </a:solidFill>
                <a:latin typeface="Arial"/>
                <a:ea typeface="MS PGothic"/>
              </a:rPr>
              <a:t>D. S. Bayard et al., “Vision-Based Navigation for the NASA Mars Helicopter,” AIAA SciTech Forum, 2019.</a:t>
            </a:r>
          </a:p>
          <a:p>
            <a:pPr marL="384048" indent="-384048">
              <a:lnSpc>
                <a:spcPct val="105000"/>
              </a:lnSpc>
              <a:spcBef>
                <a:spcPts val="600"/>
              </a:spcBef>
              <a:buNone/>
            </a:pPr>
            <a:r>
              <a:rPr sz="1150" b="1" i="0">
                <a:solidFill>
                  <a:srgbClr val="000F65"/>
                </a:solidFill>
                <a:latin typeface="Arial"/>
                <a:ea typeface="MS PGothic"/>
              </a:rPr>
              <a:t>[3]  </a:t>
            </a:r>
            <a:r>
              <a:rPr sz="1150" b="0" i="0">
                <a:solidFill>
                  <a:srgbClr val="333333"/>
                </a:solidFill>
                <a:latin typeface="Arial"/>
                <a:ea typeface="MS PGothic"/>
              </a:rPr>
              <a:t>B. D. Lucas and T. Kanade, “An Iterative Image Registration Technique with an Application to Stereo Vision,” IJCAI, 1981.</a:t>
            </a:r>
          </a:p>
          <a:p>
            <a:pPr marL="384048" indent="-384048">
              <a:lnSpc>
                <a:spcPct val="105000"/>
              </a:lnSpc>
              <a:spcBef>
                <a:spcPts val="600"/>
              </a:spcBef>
              <a:buNone/>
            </a:pPr>
            <a:r>
              <a:rPr sz="1150" b="1" i="0">
                <a:solidFill>
                  <a:srgbClr val="000F65"/>
                </a:solidFill>
                <a:latin typeface="Arial"/>
                <a:ea typeface="MS PGothic"/>
              </a:rPr>
              <a:t>[4]  </a:t>
            </a:r>
            <a:r>
              <a:rPr sz="1150" b="0" i="0">
                <a:solidFill>
                  <a:srgbClr val="333333"/>
                </a:solidFill>
                <a:latin typeface="Arial"/>
                <a:ea typeface="MS PGothic"/>
              </a:rPr>
              <a:t>PX4 Autopilot User Guide, “Optical Flow” and “Using PX4's Navigation Filter (EKF2),” docs.px4.io, 2026. 10. 확인.</a:t>
            </a:r>
          </a:p>
          <a:p>
            <a:pPr marL="384048" indent="-384048">
              <a:lnSpc>
                <a:spcPct val="105000"/>
              </a:lnSpc>
              <a:spcBef>
                <a:spcPts val="600"/>
              </a:spcBef>
              <a:buNone/>
            </a:pPr>
            <a:r>
              <a:rPr sz="1150" b="1" i="0">
                <a:solidFill>
                  <a:srgbClr val="000F65"/>
                </a:solidFill>
                <a:latin typeface="Arial"/>
                <a:ea typeface="MS PGothic"/>
              </a:rPr>
              <a:t>[5]  </a:t>
            </a:r>
            <a:r>
              <a:rPr sz="1150" b="0" i="0">
                <a:solidFill>
                  <a:srgbClr val="333333"/>
                </a:solidFill>
                <a:latin typeface="Arial"/>
                <a:ea typeface="MS PGothic"/>
              </a:rPr>
              <a:t>C. Brommer et al., “The INSANE Dataset: Large Number of Sensors for Challenging UAV Flights in Mars Analog, Outdoor, and Out-/Indoor Transition Scenarios,” IJRR, vol. 43, no. 8, 2024.</a:t>
            </a:r>
          </a:p>
          <a:p>
            <a:pPr marL="384048" indent="-384048">
              <a:lnSpc>
                <a:spcPct val="105000"/>
              </a:lnSpc>
              <a:spcBef>
                <a:spcPts val="600"/>
              </a:spcBef>
              <a:buNone/>
            </a:pPr>
            <a:r>
              <a:rPr sz="1150" b="1" i="0">
                <a:solidFill>
                  <a:srgbClr val="000F65"/>
                </a:solidFill>
                <a:latin typeface="Arial"/>
                <a:ea typeface="MS PGothic"/>
              </a:rPr>
              <a:t>[6]  </a:t>
            </a:r>
            <a:r>
              <a:rPr sz="1150" b="0" i="0">
                <a:solidFill>
                  <a:srgbClr val="333333"/>
                </a:solidFill>
                <a:latin typeface="Arial"/>
                <a:ea typeface="MS PGothic"/>
              </a:rPr>
              <a:t>T. Qin and S. Shen, “Online Temporal Calibration for Monocular Visual-Inertial Systems,” IEEE/RSJ IROS, 2018.</a:t>
            </a:r>
          </a:p>
          <a:p>
            <a:pPr marL="384048" indent="-384048">
              <a:lnSpc>
                <a:spcPct val="105000"/>
              </a:lnSpc>
              <a:spcBef>
                <a:spcPts val="600"/>
              </a:spcBef>
              <a:buNone/>
            </a:pPr>
            <a:r>
              <a:rPr sz="1150" b="1" i="0">
                <a:solidFill>
                  <a:srgbClr val="000F65"/>
                </a:solidFill>
                <a:latin typeface="Arial"/>
                <a:ea typeface="MS PGothic"/>
              </a:rPr>
              <a:t>[7]  </a:t>
            </a:r>
            <a:r>
              <a:rPr sz="1150" b="0" i="0">
                <a:solidFill>
                  <a:srgbClr val="333333"/>
                </a:solidFill>
                <a:latin typeface="Arial"/>
                <a:ea typeface="MS PGothic"/>
              </a:rPr>
              <a:t>M. Kim and C. Ahn, “State Estimation of Preceding Target Vehicle Using Radar and V2X,” IEEE Access, vol. 13, pp. 198482–198495, 2025.</a:t>
            </a:r>
          </a:p>
          <a:p>
            <a:pPr marL="384048" indent="-384048">
              <a:lnSpc>
                <a:spcPct val="105000"/>
              </a:lnSpc>
              <a:spcBef>
                <a:spcPts val="600"/>
              </a:spcBef>
              <a:buNone/>
            </a:pPr>
            <a:r>
              <a:rPr sz="1150" b="1" i="0">
                <a:solidFill>
                  <a:srgbClr val="000F65"/>
                </a:solidFill>
                <a:latin typeface="Arial"/>
                <a:ea typeface="MS PGothic"/>
              </a:rPr>
              <a:t>[8]  </a:t>
            </a:r>
            <a:r>
              <a:rPr sz="1150" b="0" i="0">
                <a:solidFill>
                  <a:srgbClr val="333333"/>
                </a:solidFill>
                <a:latin typeface="Arial"/>
                <a:ea typeface="MS PGothic"/>
              </a:rPr>
              <a:t>S. Lynen et al., “A Robust and Modular Multi-Sensor Fusion Approach Applied to MAV Navigation,” IEEE/RSJ IROS, 2013.</a:t>
            </a:r>
          </a:p>
          <a:p>
            <a:pPr marL="384048" indent="-384048">
              <a:lnSpc>
                <a:spcPct val="105000"/>
              </a:lnSpc>
              <a:spcBef>
                <a:spcPts val="600"/>
              </a:spcBef>
              <a:buNone/>
            </a:pPr>
            <a:r>
              <a:rPr sz="1150" b="1" i="0">
                <a:solidFill>
                  <a:srgbClr val="000F65"/>
                </a:solidFill>
                <a:latin typeface="Arial"/>
                <a:ea typeface="MS PGothic"/>
              </a:rPr>
              <a:t>[9]  </a:t>
            </a:r>
            <a:r>
              <a:rPr sz="1150" b="0" i="0">
                <a:solidFill>
                  <a:srgbClr val="333333"/>
                </a:solidFill>
                <a:latin typeface="Arial"/>
                <a:ea typeface="MS PGothic"/>
              </a:rPr>
              <a:t>Z. Zhang and D. Scaramuzza, “A Tutorial on Quantitative Trajectory Evaluation for Visual(-Inertial) Odometry,” IEEE/RSJ IROS, 2018.</a:t>
            </a:r>
          </a:p>
        </p:txBody>
      </p:sp>
      <p:sp>
        <p:nvSpPr>
          <p:cNvPr id="4" name="TextBox 3"/>
          <p:cNvSpPr txBox="1"/>
          <p:nvPr/>
        </p:nvSpPr>
        <p:spPr>
          <a:xfrm>
            <a:off x="457200" y="5257800"/>
            <a:ext cx="8229600" cy="411480"/>
          </a:xfrm>
          <a:prstGeom prst="rect">
            <a:avLst/>
          </a:prstGeom>
          <a:noFill/>
        </p:spPr>
        <p:txBody>
          <a:bodyPr wrap="square" anchor="ctr" lIns="0" rIns="0" tIns="0" bIns="0">
            <a:spAutoFit/>
          </a:bodyPr>
          <a:lstStyle/>
          <a:p>
            <a:pPr algn="l" marL="0" indent="0">
              <a:lnSpc>
                <a:spcPct val="110000"/>
              </a:lnSpc>
              <a:buNone/>
            </a:pPr>
            <a:r>
              <a:rPr sz="2000" b="1" i="0">
                <a:solidFill>
                  <a:srgbClr val="000F65"/>
                </a:solidFill>
                <a:latin typeface="Arial"/>
                <a:ea typeface="MS PGothic"/>
              </a:rPr>
              <a:t>감사합니다</a:t>
            </a:r>
          </a:p>
        </p:txBody>
      </p:sp>
      <p:sp>
        <p:nvSpPr>
          <p:cNvPr id="5" name="TextBox 4"/>
          <p:cNvSpPr txBox="1"/>
          <p:nvPr/>
        </p:nvSpPr>
        <p:spPr>
          <a:xfrm>
            <a:off x="457200" y="5669280"/>
            <a:ext cx="8229600" cy="320040"/>
          </a:xfrm>
          <a:prstGeom prst="rect">
            <a:avLst/>
          </a:prstGeom>
          <a:noFill/>
        </p:spPr>
        <p:txBody>
          <a:bodyPr wrap="square" anchor="ctr" lIns="0" rIns="0" tIns="0" bIns="0">
            <a:spAutoFit/>
          </a:bodyPr>
          <a:lstStyle/>
          <a:p>
            <a:pPr algn="l" marL="0" indent="0">
              <a:lnSpc>
                <a:spcPct val="110000"/>
              </a:lnSpc>
              <a:buNone/>
            </a:pPr>
            <a:r>
              <a:rPr sz="1300" b="0" i="0">
                <a:solidFill>
                  <a:srgbClr val="333333"/>
                </a:solidFill>
                <a:latin typeface="Arial"/>
                <a:ea typeface="MS PGothic"/>
              </a:rPr>
              <a:t>연구계획에 대한 의견과 질문 부탁드립니다.</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구현 및 평가 계획</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공개 드론 데이터에서 지연을 재현하여 비교</a:t>
            </a:r>
          </a:p>
        </p:txBody>
      </p:sp>
      <p:sp>
        <p:nvSpPr>
          <p:cNvPr id="4" name="TextBox 3"/>
          <p:cNvSpPr txBox="1"/>
          <p:nvPr/>
        </p:nvSpPr>
        <p:spPr>
          <a:xfrm>
            <a:off x="457200" y="1463040"/>
            <a:ext cx="8229600" cy="457200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00" b="1" i="0">
                <a:solidFill>
                  <a:srgbClr val="1A1A1A"/>
                </a:solidFill>
                <a:latin typeface="Arial"/>
                <a:ea typeface="MS PGothic"/>
              </a:rPr>
              <a:t>데이터</a:t>
            </a:r>
          </a:p>
          <a:p>
            <a:pPr marL="274320" indent="-164592">
              <a:lnSpc>
                <a:spcPct val="115000"/>
              </a:lnSpc>
              <a:spcBef>
                <a:spcPts val="400"/>
              </a:spcBef>
              <a:buSzPct val="100000"/>
              <a:buFont typeface="MS PGothic"/>
              <a:buChar char="•"/>
            </a:pPr>
            <a:r>
              <a:rPr sz="1350" b="1" i="0">
                <a:solidFill>
                  <a:srgbClr val="1A1A1A"/>
                </a:solidFill>
                <a:latin typeface="Arial"/>
                <a:ea typeface="MS PGothic"/>
              </a:rPr>
              <a:t>INSANE</a:t>
            </a:r>
            <a:r>
              <a:rPr sz="1350" b="0" i="0">
                <a:solidFill>
                  <a:srgbClr val="333333"/>
                </a:solidFill>
                <a:latin typeface="Arial"/>
                <a:ea typeface="MS PGothic"/>
              </a:rPr>
              <a:t> 실내 구간: 하향 카메라 20 Hz, 거리센서 30 Hz, IMU / 정답: </a:t>
            </a:r>
            <a:r>
              <a:rPr sz="1350" b="1" i="0">
                <a:solidFill>
                  <a:srgbClr val="1A1A1A"/>
                </a:solidFill>
                <a:latin typeface="Arial"/>
                <a:ea typeface="MS PGothic"/>
              </a:rPr>
              <a:t>모션캡처 궤적</a:t>
            </a:r>
            <a:r>
              <a:rPr sz="1350" b="0" i="0">
                <a:solidFill>
                  <a:srgbClr val="333333"/>
                </a:solidFill>
                <a:latin typeface="Arial"/>
                <a:ea typeface="MS PGothic"/>
              </a:rPr>
              <a:t> [5]</a:t>
            </a:r>
          </a:p>
          <a:p>
            <a:pPr marL="274320" indent="-164592">
              <a:lnSpc>
                <a:spcPct val="115000"/>
              </a:lnSpc>
              <a:spcBef>
                <a:spcPts val="400"/>
              </a:spcBef>
              <a:buSzPct val="100000"/>
              <a:buFont typeface="MS PGothic"/>
              <a:buChar char="•"/>
            </a:pPr>
            <a:r>
              <a:rPr sz="1350" b="0" i="0">
                <a:solidFill>
                  <a:srgbClr val="333333"/>
                </a:solidFill>
                <a:latin typeface="Arial"/>
                <a:ea typeface="MS PGothic"/>
              </a:rPr>
              <a:t>카메라 측정에 </a:t>
            </a:r>
            <a:r>
              <a:rPr sz="1350" b="1" i="0">
                <a:solidFill>
                  <a:srgbClr val="1A1A1A"/>
                </a:solidFill>
                <a:latin typeface="Arial"/>
                <a:ea typeface="MS PGothic"/>
              </a:rPr>
              <a:t>도착 시점 = 촬영 시점 + 실측 처리시간 + 추가 지연</a:t>
            </a:r>
            <a:r>
              <a:rPr sz="1350" b="0" i="0">
                <a:solidFill>
                  <a:srgbClr val="333333"/>
                </a:solidFill>
                <a:latin typeface="Arial"/>
                <a:ea typeface="MS PGothic"/>
              </a:rPr>
              <a:t>을 부여하고, </a:t>
            </a:r>
            <a:r>
              <a:rPr sz="1350" b="1" i="0">
                <a:solidFill>
                  <a:srgbClr val="1A1A1A"/>
                </a:solidFill>
                <a:latin typeface="Arial"/>
                <a:ea typeface="MS PGothic"/>
              </a:rPr>
              <a:t>도착 순서대로 재생</a:t>
            </a:r>
            <a:r>
              <a:rPr sz="1350" b="0" i="0">
                <a:solidFill>
                  <a:srgbClr val="333333"/>
                </a:solidFill>
                <a:latin typeface="Arial"/>
                <a:ea typeface="MS PGothic"/>
              </a:rPr>
              <a:t>하여 실시간 상황을 재현</a:t>
            </a:r>
          </a:p>
          <a:p>
            <a:pPr marL="274320" indent="-164592">
              <a:lnSpc>
                <a:spcPct val="115000"/>
              </a:lnSpc>
              <a:spcBef>
                <a:spcPts val="400"/>
              </a:spcBef>
              <a:buSzPct val="100000"/>
              <a:buFont typeface="MS PGothic"/>
              <a:buChar char="•"/>
            </a:pPr>
            <a:r>
              <a:rPr sz="1350" b="0" i="0">
                <a:solidFill>
                  <a:srgbClr val="333333"/>
                </a:solidFill>
                <a:latin typeface="Arial"/>
                <a:ea typeface="MS PGothic"/>
              </a:rPr>
              <a:t>전제: 촬영 시각은 정확하다고 가정 (시간 오프셋 추정은 범위 밖)</a:t>
            </a:r>
          </a:p>
          <a:p>
            <a:pPr marL="0" indent="0">
              <a:lnSpc>
                <a:spcPct val="115000"/>
              </a:lnSpc>
              <a:spcBef>
                <a:spcPts val="1200"/>
              </a:spcBef>
              <a:spcAft>
                <a:spcPts val="200"/>
              </a:spcAft>
              <a:buNone/>
            </a:pPr>
            <a:r>
              <a:rPr sz="1500" b="1" i="0">
                <a:solidFill>
                  <a:srgbClr val="1A1A1A"/>
                </a:solidFill>
                <a:latin typeface="Arial"/>
                <a:ea typeface="MS PGothic"/>
              </a:rPr>
              <a:t>구현</a:t>
            </a:r>
          </a:p>
          <a:p>
            <a:pPr marL="274320" indent="-164592">
              <a:lnSpc>
                <a:spcPct val="115000"/>
              </a:lnSpc>
              <a:spcBef>
                <a:spcPts val="400"/>
              </a:spcBef>
              <a:buSzPct val="100000"/>
              <a:buFont typeface="MS PGothic"/>
              <a:buChar char="•"/>
            </a:pPr>
            <a:r>
              <a:rPr sz="1350" b="1" i="0">
                <a:solidFill>
                  <a:srgbClr val="1A1A1A"/>
                </a:solidFill>
                <a:latin typeface="Arial"/>
                <a:ea typeface="MS PGothic"/>
              </a:rPr>
              <a:t>Python·OpenCV</a:t>
            </a:r>
            <a:r>
              <a:rPr sz="1350" b="0" i="0">
                <a:solidFill>
                  <a:srgbClr val="333333"/>
                </a:solidFill>
                <a:latin typeface="Arial"/>
                <a:ea typeface="MS PGothic"/>
              </a:rPr>
              <a:t>: KLT 영상 이동과 처리시간  /  </a:t>
            </a:r>
            <a:r>
              <a:rPr sz="1350" b="1" i="0">
                <a:solidFill>
                  <a:srgbClr val="1A1A1A"/>
                </a:solidFill>
                <a:latin typeface="Arial"/>
                <a:ea typeface="MS PGothic"/>
              </a:rPr>
              <a:t>MATLAB</a:t>
            </a:r>
            <a:r>
              <a:rPr sz="1350" b="0" i="0">
                <a:solidFill>
                  <a:srgbClr val="333333"/>
                </a:solidFill>
                <a:latin typeface="Arial"/>
                <a:ea typeface="MS PGothic"/>
              </a:rPr>
              <a:t>: EKF·시간 처리·평가(동일 환경)</a:t>
            </a:r>
          </a:p>
          <a:p>
            <a:pPr marL="0" indent="0">
              <a:lnSpc>
                <a:spcPct val="115000"/>
              </a:lnSpc>
              <a:spcBef>
                <a:spcPts val="1200"/>
              </a:spcBef>
              <a:spcAft>
                <a:spcPts val="200"/>
              </a:spcAft>
              <a:buNone/>
            </a:pPr>
            <a:r>
              <a:rPr sz="1500" b="1" i="0">
                <a:solidFill>
                  <a:srgbClr val="1A1A1A"/>
                </a:solidFill>
                <a:latin typeface="Arial"/>
                <a:ea typeface="MS PGothic"/>
              </a:rPr>
              <a:t>비교 및 평가</a:t>
            </a:r>
          </a:p>
          <a:p>
            <a:pPr marL="274320" indent="-164592">
              <a:lnSpc>
                <a:spcPct val="115000"/>
              </a:lnSpc>
              <a:spcBef>
                <a:spcPts val="400"/>
              </a:spcBef>
              <a:buSzPct val="100000"/>
              <a:buFont typeface="MS PGothic"/>
              <a:buChar char="•"/>
            </a:pPr>
            <a:r>
              <a:rPr sz="1350" b="0" i="0">
                <a:solidFill>
                  <a:srgbClr val="333333"/>
                </a:solidFill>
                <a:latin typeface="Arial"/>
                <a:ea typeface="MS PGothic"/>
              </a:rPr>
              <a:t>추가 지연 0·25·50·100 ms에서 세 방식을 비교</a:t>
            </a:r>
          </a:p>
          <a:p>
            <a:pPr marL="502920" indent="-164592">
              <a:lnSpc>
                <a:spcPct val="115000"/>
              </a:lnSpc>
              <a:spcBef>
                <a:spcPts val="200"/>
              </a:spcBef>
              <a:buSzPct val="100000"/>
              <a:buFont typeface="MS PGothic"/>
              <a:buChar char="–"/>
            </a:pPr>
            <a:r>
              <a:rPr sz="1300" b="1" i="0">
                <a:solidFill>
                  <a:srgbClr val="1A1A1A"/>
                </a:solidFill>
                <a:latin typeface="Arial"/>
                <a:ea typeface="MS PGothic"/>
              </a:rPr>
              <a:t>A. 지연 무시</a:t>
            </a:r>
            <a:r>
              <a:rPr sz="1300" b="0" i="0">
                <a:solidFill>
                  <a:srgbClr val="333333"/>
                </a:solidFill>
                <a:latin typeface="Arial"/>
                <a:ea typeface="MS PGothic"/>
              </a:rPr>
              <a:t>: 도착한 측정을 현재 값으로 바로 보정</a:t>
            </a:r>
          </a:p>
          <a:p>
            <a:pPr marL="502920" indent="-164592">
              <a:lnSpc>
                <a:spcPct val="115000"/>
              </a:lnSpc>
              <a:spcBef>
                <a:spcPts val="200"/>
              </a:spcBef>
              <a:buSzPct val="100000"/>
              <a:buFont typeface="MS PGothic"/>
              <a:buChar char="–"/>
            </a:pPr>
            <a:r>
              <a:rPr sz="1300" b="1" i="0">
                <a:solidFill>
                  <a:srgbClr val="1A1A1A"/>
                </a:solidFill>
                <a:latin typeface="Arial"/>
                <a:ea typeface="MS PGothic"/>
              </a:rPr>
              <a:t>B. 지연 시점 융합</a:t>
            </a:r>
            <a:r>
              <a:rPr sz="1300" b="0" i="0">
                <a:solidFill>
                  <a:srgbClr val="333333"/>
                </a:solidFill>
                <a:latin typeface="Arial"/>
                <a:ea typeface="MS PGothic"/>
              </a:rPr>
              <a:t>: PX4 EKF2 방식 (현재 값은 출력 예측기)</a:t>
            </a:r>
          </a:p>
          <a:p>
            <a:pPr marL="502920" indent="-164592">
              <a:lnSpc>
                <a:spcPct val="115000"/>
              </a:lnSpc>
              <a:spcBef>
                <a:spcPts val="200"/>
              </a:spcBef>
              <a:buSzPct val="100000"/>
              <a:buFont typeface="MS PGothic"/>
              <a:buChar char="–"/>
            </a:pPr>
            <a:r>
              <a:rPr sz="1300" b="1" i="0">
                <a:solidFill>
                  <a:srgbClr val="1A1A1A"/>
                </a:solidFill>
                <a:latin typeface="Arial"/>
                <a:ea typeface="MS PGothic"/>
              </a:rPr>
              <a:t>C. 과거 상태 재추정</a:t>
            </a:r>
            <a:r>
              <a:rPr sz="1300" b="0" i="0">
                <a:solidFill>
                  <a:srgbClr val="333333"/>
                </a:solidFill>
                <a:latin typeface="Arial"/>
                <a:ea typeface="MS PGothic"/>
              </a:rPr>
              <a:t>: Kim &amp; Ahn, MSF-EKF 방식</a:t>
            </a:r>
          </a:p>
          <a:p>
            <a:pPr marL="274320" indent="-164592">
              <a:lnSpc>
                <a:spcPct val="115000"/>
              </a:lnSpc>
              <a:spcBef>
                <a:spcPts val="400"/>
              </a:spcBef>
              <a:buSzPct val="100000"/>
              <a:buFont typeface="MS PGothic"/>
              <a:buChar char="•"/>
            </a:pPr>
            <a:r>
              <a:rPr sz="1350" b="0" i="0">
                <a:solidFill>
                  <a:srgbClr val="333333"/>
                </a:solidFill>
                <a:latin typeface="Arial"/>
                <a:ea typeface="MS PGothic"/>
              </a:rPr>
              <a:t>현재 시각 추정값 vs 정답: </a:t>
            </a:r>
            <a:r>
              <a:rPr sz="1350" b="1" i="0">
                <a:solidFill>
                  <a:srgbClr val="1A1A1A"/>
                </a:solidFill>
                <a:latin typeface="Arial"/>
                <a:ea typeface="MS PGothic"/>
              </a:rPr>
              <a:t>ATE</a:t>
            </a:r>
            <a:r>
              <a:rPr sz="1350" b="0" i="0">
                <a:solidFill>
                  <a:srgbClr val="333333"/>
                </a:solidFill>
                <a:latin typeface="Arial"/>
                <a:ea typeface="MS PGothic"/>
              </a:rPr>
              <a:t>(전체 궤적), </a:t>
            </a:r>
            <a:r>
              <a:rPr sz="1350" b="1" i="0">
                <a:solidFill>
                  <a:srgbClr val="1A1A1A"/>
                </a:solidFill>
                <a:latin typeface="Arial"/>
                <a:ea typeface="MS PGothic"/>
              </a:rPr>
              <a:t>RE</a:t>
            </a:r>
            <a:r>
              <a:rPr sz="1350" b="0" i="0">
                <a:solidFill>
                  <a:srgbClr val="333333"/>
                </a:solidFill>
                <a:latin typeface="Arial"/>
                <a:ea typeface="MS PGothic"/>
              </a:rPr>
              <a:t>(구간별), </a:t>
            </a:r>
            <a:r>
              <a:rPr sz="1350" b="1" i="0">
                <a:solidFill>
                  <a:srgbClr val="1A1A1A"/>
                </a:solidFill>
                <a:latin typeface="Arial"/>
                <a:ea typeface="MS PGothic"/>
              </a:rPr>
              <a:t>처리시간</a:t>
            </a:r>
            <a:r>
              <a:rPr sz="1350" b="0" i="0">
                <a:solidFill>
                  <a:srgbClr val="333333"/>
                </a:solidFill>
                <a:latin typeface="Arial"/>
                <a:ea typeface="MS PGothic"/>
              </a:rPr>
              <a:t> [9]</a:t>
            </a:r>
          </a:p>
          <a:p>
            <a:pPr marL="274320" indent="-164592">
              <a:lnSpc>
                <a:spcPct val="115000"/>
              </a:lnSpc>
              <a:spcBef>
                <a:spcPts val="400"/>
              </a:spcBef>
              <a:buSzPct val="100000"/>
              <a:buFont typeface="MS PGothic"/>
              <a:buChar char="•"/>
            </a:pPr>
            <a:r>
              <a:rPr sz="1350" b="0" i="0">
                <a:solidFill>
                  <a:srgbClr val="333333"/>
                </a:solidFill>
                <a:latin typeface="Arial"/>
                <a:ea typeface="MS PGothic"/>
              </a:rPr>
              <a:t>가설: 정확도는 B·C가 비슷, C는 현재 값이 보정 결과와 일치하는 대신 </a:t>
            </a:r>
            <a:r>
              <a:rPr sz="1350" b="1" i="0">
                <a:solidFill>
                  <a:srgbClr val="1A1A1A"/>
                </a:solidFill>
                <a:latin typeface="Arial"/>
                <a:ea typeface="MS PGothic"/>
              </a:rPr>
              <a:t>연산 증가</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