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4"/>
  </p:notesMasterIdLst>
  <p:handoutMasterIdLst>
    <p:handoutMasterId r:id="rId45"/>
  </p:handoutMasterIdLst>
  <p:sldIdLst>
    <p:sldId id="257" r:id="rId51"/>
    <p:sldId id="258" r:id="rId52"/>
    <p:sldId id="259" r:id="rId53"/>
    <p:sldId id="260" r:id="rId54"/>
    <p:sldId id="261" r:id="rId55"/>
    <p:sldId id="262" r:id="rId56"/>
    <p:sldId id="263" r:id="rId57"/>
    <p:sldId id="264" r:id="rIdTextOnlySlide8"/>
    <p:sldId id="265" r:id="rId17"/>
    <p:sldId id="266" r:id="rId18"/>
    <p:sldId id="267" r:id="rId19"/>
    <p:sldId id="268" r:id="rId20"/>
    <p:sldId id="269" r:id="rId21"/>
  </p:sldIdLst>
  <p:sldSz cx="9144000" cy="6858000" type="screen4x3"/>
  <p:notesSz cx="6858000" cy="9144000"/>
  <p:defaultTextStyle>
    <a:defPPr>
      <a:defRPr lang="en-US">
        <a:latin typeface="Arial"/>
        <a:ea typeface="MS PGothic"/>
      </a:defRPr>
    </a:defPPr>
    <a:lvl1pPr algn="l" rtl="0" eaLnBrk="0" fontAlgn="base" hangingPunct="0">
      <a:spcBef>
        <a:spcPct val="0"/>
      </a:spcBef>
      <a:spcAft>
        <a:spcPct val="0"/>
      </a:spcAft>
      <a:defRPr sz="2400" kern="1200">
        <a:solidFill>
          <a:schemeClr val="tx1"/>
        </a:solidFill>
        <a:latin typeface="Arial" charset="0"/>
        <a:ea typeface="MS PGothic" pitchFamily="34" charset="-128"/>
        <a:cs typeface="+mn-cs"/>
      </a:defRPr>
    </a:lvl1pPr>
    <a:lvl2pPr marL="457200" algn="l" rtl="0" eaLnBrk="0" fontAlgn="base" hangingPunct="0">
      <a:spcBef>
        <a:spcPct val="0"/>
      </a:spcBef>
      <a:spcAft>
        <a:spcPct val="0"/>
      </a:spcAft>
      <a:defRPr sz="2400" kern="1200">
        <a:solidFill>
          <a:schemeClr val="tx1"/>
        </a:solidFill>
        <a:latin typeface="Arial" charset="0"/>
        <a:ea typeface="MS PGothic" pitchFamily="34" charset="-128"/>
        <a:cs typeface="+mn-cs"/>
      </a:defRPr>
    </a:lvl2pPr>
    <a:lvl3pPr marL="914400" algn="l" rtl="0" eaLnBrk="0" fontAlgn="base" hangingPunct="0">
      <a:spcBef>
        <a:spcPct val="0"/>
      </a:spcBef>
      <a:spcAft>
        <a:spcPct val="0"/>
      </a:spcAft>
      <a:defRPr sz="2400" kern="1200">
        <a:solidFill>
          <a:schemeClr val="tx1"/>
        </a:solidFill>
        <a:latin typeface="Arial" charset="0"/>
        <a:ea typeface="MS PGothic" pitchFamily="34" charset="-128"/>
        <a:cs typeface="+mn-cs"/>
      </a:defRPr>
    </a:lvl3pPr>
    <a:lvl4pPr marL="1371600" algn="l" rtl="0" eaLnBrk="0" fontAlgn="base" hangingPunct="0">
      <a:spcBef>
        <a:spcPct val="0"/>
      </a:spcBef>
      <a:spcAft>
        <a:spcPct val="0"/>
      </a:spcAft>
      <a:defRPr sz="2400" kern="1200">
        <a:solidFill>
          <a:schemeClr val="tx1"/>
        </a:solidFill>
        <a:latin typeface="Arial" charset="0"/>
        <a:ea typeface="MS PGothic" pitchFamily="34" charset="-128"/>
        <a:cs typeface="+mn-cs"/>
      </a:defRPr>
    </a:lvl4pPr>
    <a:lvl5pPr marL="1828800" algn="l" rtl="0" eaLnBrk="0" fontAlgn="base" hangingPunct="0">
      <a:spcBef>
        <a:spcPct val="0"/>
      </a:spcBef>
      <a:spcAft>
        <a:spcPct val="0"/>
      </a:spcAft>
      <a:defRPr sz="2400" kern="1200">
        <a:solidFill>
          <a:schemeClr val="tx1"/>
        </a:solidFill>
        <a:latin typeface="Arial" charset="0"/>
        <a:ea typeface="MS PGothic" pitchFamily="34" charset="-128"/>
        <a:cs typeface="+mn-cs"/>
      </a:defRPr>
    </a:lvl5pPr>
    <a:lvl6pPr marL="2286000" algn="l" defTabSz="914400" rtl="0" eaLnBrk="1" latinLnBrk="0" hangingPunct="1">
      <a:defRPr sz="2400" kern="1200">
        <a:solidFill>
          <a:schemeClr val="tx1"/>
        </a:solidFill>
        <a:latin typeface="Arial" charset="0"/>
        <a:ea typeface="MS PGothic" pitchFamily="34" charset="-128"/>
        <a:cs typeface="+mn-cs"/>
      </a:defRPr>
    </a:lvl6pPr>
    <a:lvl7pPr marL="2743200" algn="l" defTabSz="914400" rtl="0" eaLnBrk="1" latinLnBrk="0" hangingPunct="1">
      <a:defRPr sz="2400" kern="1200">
        <a:solidFill>
          <a:schemeClr val="tx1"/>
        </a:solidFill>
        <a:latin typeface="Arial" charset="0"/>
        <a:ea typeface="MS PGothic" pitchFamily="34" charset="-128"/>
        <a:cs typeface="+mn-cs"/>
      </a:defRPr>
    </a:lvl7pPr>
    <a:lvl8pPr marL="3200400" algn="l" defTabSz="914400" rtl="0" eaLnBrk="1" latinLnBrk="0" hangingPunct="1">
      <a:defRPr sz="2400" kern="1200">
        <a:solidFill>
          <a:schemeClr val="tx1"/>
        </a:solidFill>
        <a:latin typeface="Arial" charset="0"/>
        <a:ea typeface="MS PGothic" pitchFamily="34" charset="-128"/>
        <a:cs typeface="+mn-cs"/>
      </a:defRPr>
    </a:lvl8pPr>
    <a:lvl9pPr marL="3657600" algn="l" defTabSz="914400" rtl="0" eaLnBrk="1" latinLnBrk="0" hangingPunct="1">
      <a:defRPr sz="2400" kern="1200">
        <a:solidFill>
          <a:schemeClr val="tx1"/>
        </a:solidFill>
        <a:latin typeface="Arial" charset="0"/>
        <a:ea typeface="MS PGothic" pitchFamily="34" charset="-128"/>
        <a:cs typeface="+mn-cs"/>
      </a:defRPr>
    </a:lvl9pPr>
  </p:defaultTextStyle>
  <p:extLst>
    <p:ext uri="{521415D9-36F7-43E2-AB2F-B90AF26B5E84}">
      <p14:sectionLst xmlns:p14="http://schemas.microsoft.com/office/powerpoint/2010/main">
        <p14:section name="Default Section" id="{4D0A106E-F050-4475-AE74-186DD2AE9C4F}">
          <p14:sldIdLst>
            <p14:sldId id="257"/>
            <p14:sldId id="258"/>
            <p14:sldId id="259"/>
            <p14:sldId id="260"/>
            <p14:sldId id="261"/>
            <p14:sldId id="262"/>
            <p14:sldId id="26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CC"/>
    <a:srgbClr val="99CCFF"/>
    <a:srgbClr val="0066FF"/>
    <a:srgbClr val="3B4C97"/>
    <a:srgbClr val="000099"/>
    <a:srgbClr val="000F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5" autoAdjust="0"/>
    <p:restoredTop sz="89065" autoAdjust="0"/>
  </p:normalViewPr>
  <p:slideViewPr>
    <p:cSldViewPr>
      <p:cViewPr varScale="1">
        <p:scale>
          <a:sx n="112" d="100"/>
          <a:sy n="112" d="100"/>
        </p:scale>
        <p:origin x="94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280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TextOnlySlide8" Type="http://schemas.openxmlformats.org/officeDocument/2006/relationships/slide" Target="slides/slide8.xml"/><Relationship Id="rId1" Type="http://schemas.openxmlformats.org/officeDocument/2006/relationships/slideMaster" Target="slideMasters/slideMaster1.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44" Type="http://schemas.openxmlformats.org/officeDocument/2006/relationships/notesMaster" Target="notesMasters/notesMaster1.xml"/><Relationship Id="rId45" Type="http://schemas.openxmlformats.org/officeDocument/2006/relationships/handoutMaster" Target="handoutMasters/handout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openxmlformats.org/officeDocument/2006/relationships/slide" Target="slides/slide1.xml"/><Relationship Id="rId52" Type="http://schemas.openxmlformats.org/officeDocument/2006/relationships/slide" Target="slides/slide2.xml"/><Relationship Id="rId53" Type="http://schemas.openxmlformats.org/officeDocument/2006/relationships/slide" Target="slides/slide3.xml"/><Relationship Id="rId54" Type="http://schemas.openxmlformats.org/officeDocument/2006/relationships/slide" Target="slides/slide4.xml"/><Relationship Id="rId55" Type="http://schemas.openxmlformats.org/officeDocument/2006/relationships/slide" Target="slides/slide5.xml"/><Relationship Id="rId56" Type="http://schemas.openxmlformats.org/officeDocument/2006/relationships/slide" Target="slides/slide6.xml"/><Relationship Id="rId57"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gsun Ahn" userId="518abb9056612078" providerId="LiveId" clId="{26BC773D-7115-4A87-A284-8E0674A1E3A0}"/>
    <pc:docChg chg="undo custSel delSld modSld modSection">
      <pc:chgData name="Changsun Ahn" userId="518abb9056612078" providerId="LiveId" clId="{26BC773D-7115-4A87-A284-8E0674A1E3A0}" dt="2026-07-30T01:16:33.489" v="7" actId="47"/>
      <pc:docMkLst>
        <pc:docMk/>
      </pc:docMkLst>
      <pc:sldChg chg="del">
        <pc:chgData name="Changsun Ahn" userId="518abb9056612078" providerId="LiveId" clId="{26BC773D-7115-4A87-A284-8E0674A1E3A0}" dt="2026-07-30T01:16:33.489" v="7" actId="47"/>
        <pc:sldMkLst>
          <pc:docMk/>
          <pc:sldMk cId="474195226" sldId="871"/>
        </pc:sldMkLst>
      </pc:sldChg>
      <pc:sldChg chg="del">
        <pc:chgData name="Changsun Ahn" userId="518abb9056612078" providerId="LiveId" clId="{26BC773D-7115-4A87-A284-8E0674A1E3A0}" dt="2026-07-30T01:16:33.489" v="7" actId="47"/>
        <pc:sldMkLst>
          <pc:docMk/>
          <pc:sldMk cId="297504490" sldId="872"/>
        </pc:sldMkLst>
      </pc:sldChg>
      <pc:sldChg chg="modSp mod">
        <pc:chgData name="Changsun Ahn" userId="518abb9056612078" providerId="LiveId" clId="{26BC773D-7115-4A87-A284-8E0674A1E3A0}" dt="2026-07-30T01:15:31.563" v="5" actId="20577"/>
        <pc:sldMkLst>
          <pc:docMk/>
          <pc:sldMk cId="3174226046" sldId="915"/>
        </pc:sldMkLst>
        <pc:spChg chg="mod">
          <ac:chgData name="Changsun Ahn" userId="518abb9056612078" providerId="LiveId" clId="{26BC773D-7115-4A87-A284-8E0674A1E3A0}" dt="2026-07-30T01:15:31.563" v="5" actId="20577"/>
          <ac:spMkLst>
            <pc:docMk/>
            <pc:sldMk cId="3174226046" sldId="915"/>
            <ac:spMk id="19" creationId="{00000000-0000-0000-0000-000000000000}"/>
          </ac:spMkLst>
        </pc:spChg>
      </pc:sldChg>
      <pc:sldChg chg="del">
        <pc:chgData name="Changsun Ahn" userId="518abb9056612078" providerId="LiveId" clId="{26BC773D-7115-4A87-A284-8E0674A1E3A0}" dt="2026-07-30T01:16:20.971" v="6" actId="47"/>
        <pc:sldMkLst>
          <pc:docMk/>
          <pc:sldMk cId="1743384770" sldId="917"/>
        </pc:sldMkLst>
      </pc:sldChg>
      <pc:sldChg chg="del">
        <pc:chgData name="Changsun Ahn" userId="518abb9056612078" providerId="LiveId" clId="{26BC773D-7115-4A87-A284-8E0674A1E3A0}" dt="2026-07-30T01:16:20.971" v="6" actId="47"/>
        <pc:sldMkLst>
          <pc:docMk/>
          <pc:sldMk cId="2437741310" sldId="918"/>
        </pc:sldMkLst>
      </pc:sldChg>
      <pc:sldChg chg="del">
        <pc:chgData name="Changsun Ahn" userId="518abb9056612078" providerId="LiveId" clId="{26BC773D-7115-4A87-A284-8E0674A1E3A0}" dt="2026-07-30T01:16:20.971" v="6" actId="47"/>
        <pc:sldMkLst>
          <pc:docMk/>
          <pc:sldMk cId="2166412743" sldId="919"/>
        </pc:sldMkLst>
      </pc:sldChg>
      <pc:sldChg chg="del">
        <pc:chgData name="Changsun Ahn" userId="518abb9056612078" providerId="LiveId" clId="{26BC773D-7115-4A87-A284-8E0674A1E3A0}" dt="2026-07-30T01:16:20.971" v="6" actId="47"/>
        <pc:sldMkLst>
          <pc:docMk/>
          <pc:sldMk cId="1701861227" sldId="920"/>
        </pc:sldMkLst>
      </pc:sldChg>
      <pc:sldChg chg="del">
        <pc:chgData name="Changsun Ahn" userId="518abb9056612078" providerId="LiveId" clId="{26BC773D-7115-4A87-A284-8E0674A1E3A0}" dt="2026-07-30T01:16:20.971" v="6" actId="47"/>
        <pc:sldMkLst>
          <pc:docMk/>
          <pc:sldMk cId="519232037" sldId="921"/>
        </pc:sldMkLst>
      </pc:sldChg>
      <pc:sldChg chg="del">
        <pc:chgData name="Changsun Ahn" userId="518abb9056612078" providerId="LiveId" clId="{26BC773D-7115-4A87-A284-8E0674A1E3A0}" dt="2026-07-30T01:16:20.971" v="6" actId="47"/>
        <pc:sldMkLst>
          <pc:docMk/>
          <pc:sldMk cId="4136637569" sldId="922"/>
        </pc:sldMkLst>
      </pc:sldChg>
      <pc:sldChg chg="del">
        <pc:chgData name="Changsun Ahn" userId="518abb9056612078" providerId="LiveId" clId="{26BC773D-7115-4A87-A284-8E0674A1E3A0}" dt="2026-07-30T01:16:20.971" v="6" actId="47"/>
        <pc:sldMkLst>
          <pc:docMk/>
          <pc:sldMk cId="831033970" sldId="923"/>
        </pc:sldMkLst>
      </pc:sldChg>
      <pc:sldChg chg="del">
        <pc:chgData name="Changsun Ahn" userId="518abb9056612078" providerId="LiveId" clId="{26BC773D-7115-4A87-A284-8E0674A1E3A0}" dt="2026-07-30T01:16:20.971" v="6" actId="47"/>
        <pc:sldMkLst>
          <pc:docMk/>
          <pc:sldMk cId="3151416821" sldId="924"/>
        </pc:sldMkLst>
      </pc:sldChg>
      <pc:sldChg chg="del">
        <pc:chgData name="Changsun Ahn" userId="518abb9056612078" providerId="LiveId" clId="{26BC773D-7115-4A87-A284-8E0674A1E3A0}" dt="2026-07-30T01:16:20.971" v="6" actId="47"/>
        <pc:sldMkLst>
          <pc:docMk/>
          <pc:sldMk cId="1829320128" sldId="925"/>
        </pc:sldMkLst>
      </pc:sldChg>
      <pc:sldChg chg="del">
        <pc:chgData name="Changsun Ahn" userId="518abb9056612078" providerId="LiveId" clId="{26BC773D-7115-4A87-A284-8E0674A1E3A0}" dt="2026-07-30T01:16:20.971" v="6" actId="47"/>
        <pc:sldMkLst>
          <pc:docMk/>
          <pc:sldMk cId="3431485836" sldId="926"/>
        </pc:sldMkLst>
      </pc:sldChg>
      <pc:sldChg chg="del">
        <pc:chgData name="Changsun Ahn" userId="518abb9056612078" providerId="LiveId" clId="{26BC773D-7115-4A87-A284-8E0674A1E3A0}" dt="2026-07-30T01:16:20.971" v="6" actId="47"/>
        <pc:sldMkLst>
          <pc:docMk/>
          <pc:sldMk cId="3081601730" sldId="927"/>
        </pc:sldMkLst>
      </pc:sldChg>
      <pc:sldChg chg="del">
        <pc:chgData name="Changsun Ahn" userId="518abb9056612078" providerId="LiveId" clId="{26BC773D-7115-4A87-A284-8E0674A1E3A0}" dt="2026-07-30T01:16:20.971" v="6" actId="47"/>
        <pc:sldMkLst>
          <pc:docMk/>
          <pc:sldMk cId="1756593512" sldId="928"/>
        </pc:sldMkLst>
      </pc:sldChg>
    </pc:docChg>
  </pc:docChgLst>
  <pc:docChgLst>
    <pc:chgData name="Changsun Ahn" userId="518abb9056612078" providerId="LiveId" clId="{35FD0D37-7309-4F33-8079-6672F617D33C}"/>
    <pc:docChg chg="modSld">
      <pc:chgData name="Changsun Ahn" userId="518abb9056612078" providerId="LiveId" clId="{35FD0D37-7309-4F33-8079-6672F617D33C}" dt="2025-10-14T01:50:28.014" v="10"/>
      <pc:docMkLst>
        <pc:docMk/>
      </pc:docMkLst>
      <pc:sldChg chg="modSp mod">
        <pc:chgData name="Changsun Ahn" userId="518abb9056612078" providerId="LiveId" clId="{35FD0D37-7309-4F33-8079-6672F617D33C}" dt="2025-10-14T00:27:45.224" v="4" actId="20577"/>
        <pc:sldMkLst>
          <pc:docMk/>
          <pc:sldMk cId="297504490" sldId="872"/>
        </pc:sldMkLst>
        <pc:spChg chg="mod">
          <ac:chgData name="Changsun Ahn" userId="518abb9056612078" providerId="LiveId" clId="{35FD0D37-7309-4F33-8079-6672F617D33C}" dt="2025-10-14T00:27:45.224" v="4" actId="20577"/>
          <ac:spMkLst>
            <pc:docMk/>
            <pc:sldMk cId="297504490" sldId="872"/>
            <ac:spMk id="3" creationId="{00000000-0000-0000-0000-000000000000}"/>
          </ac:spMkLst>
        </pc:spChg>
      </pc:sldChg>
      <pc:sldChg chg="modSp">
        <pc:chgData name="Changsun Ahn" userId="518abb9056612078" providerId="LiveId" clId="{35FD0D37-7309-4F33-8079-6672F617D33C}" dt="2025-10-14T01:44:06.588" v="6"/>
        <pc:sldMkLst>
          <pc:docMk/>
          <pc:sldMk cId="3860292029" sldId="881"/>
        </pc:sldMkLst>
        <pc:graphicFrameChg chg="mod">
          <ac:chgData name="Changsun Ahn" userId="518abb9056612078" providerId="LiveId" clId="{35FD0D37-7309-4F33-8079-6672F617D33C}" dt="2025-10-14T01:44:06.588" v="6"/>
          <ac:graphicFrameMkLst>
            <pc:docMk/>
            <pc:sldMk cId="3860292029" sldId="881"/>
            <ac:graphicFrameMk id="19" creationId="{00000000-0000-0000-0000-000000000000}"/>
          </ac:graphicFrameMkLst>
        </pc:graphicFrameChg>
      </pc:sldChg>
      <pc:sldChg chg="addSp modSp mod">
        <pc:chgData name="Changsun Ahn" userId="518abb9056612078" providerId="LiveId" clId="{35FD0D37-7309-4F33-8079-6672F617D33C}" dt="2025-10-14T01:50:03.289" v="8" actId="1076"/>
        <pc:sldMkLst>
          <pc:docMk/>
          <pc:sldMk cId="3380350785" sldId="886"/>
        </pc:sldMkLst>
        <pc:graphicFrameChg chg="add mod">
          <ac:chgData name="Changsun Ahn" userId="518abb9056612078" providerId="LiveId" clId="{35FD0D37-7309-4F33-8079-6672F617D33C}" dt="2025-10-14T01:50:03.289" v="8" actId="1076"/>
          <ac:graphicFrameMkLst>
            <pc:docMk/>
            <pc:sldMk cId="3380350785" sldId="886"/>
            <ac:graphicFrameMk id="3" creationId="{85C9AF3D-D5DA-4ACB-8565-363D4BB568BF}"/>
          </ac:graphicFrameMkLst>
        </pc:graphicFrameChg>
      </pc:sldChg>
      <pc:sldChg chg="modSp">
        <pc:chgData name="Changsun Ahn" userId="518abb9056612078" providerId="LiveId" clId="{35FD0D37-7309-4F33-8079-6672F617D33C}" dt="2025-10-14T01:50:28.014" v="10"/>
        <pc:sldMkLst>
          <pc:docMk/>
          <pc:sldMk cId="2711729751" sldId="887"/>
        </pc:sldMkLst>
        <pc:spChg chg="mod">
          <ac:chgData name="Changsun Ahn" userId="518abb9056612078" providerId="LiveId" clId="{35FD0D37-7309-4F33-8079-6672F617D33C}" dt="2025-10-14T01:50:28.014" v="10"/>
          <ac:spMkLst>
            <pc:docMk/>
            <pc:sldMk cId="2711729751" sldId="887"/>
            <ac:spMk id="47" creationId="{00000000-0000-0000-0000-000000000000}"/>
          </ac:spMkLst>
        </pc:spChg>
        <pc:spChg chg="mod">
          <ac:chgData name="Changsun Ahn" userId="518abb9056612078" providerId="LiveId" clId="{35FD0D37-7309-4F33-8079-6672F617D33C}" dt="2025-10-14T01:50:28.014" v="10"/>
          <ac:spMkLst>
            <pc:docMk/>
            <pc:sldMk cId="2711729751" sldId="887"/>
            <ac:spMk id="52" creationId="{00000000-0000-0000-0000-000000000000}"/>
          </ac:spMkLst>
        </pc:spChg>
        <pc:grpChg chg="mod">
          <ac:chgData name="Changsun Ahn" userId="518abb9056612078" providerId="LiveId" clId="{35FD0D37-7309-4F33-8079-6672F617D33C}" dt="2025-10-14T01:50:28.014" v="10"/>
          <ac:grpSpMkLst>
            <pc:docMk/>
            <pc:sldMk cId="2711729751" sldId="887"/>
            <ac:grpSpMk id="53" creationId="{00000000-0000-0000-0000-000000000000}"/>
          </ac:grpSpMkLst>
        </pc:grpChg>
        <pc:graphicFrameChg chg="mod">
          <ac:chgData name="Changsun Ahn" userId="518abb9056612078" providerId="LiveId" clId="{35FD0D37-7309-4F33-8079-6672F617D33C}" dt="2025-10-14T01:50:28.014" v="10"/>
          <ac:graphicFrameMkLst>
            <pc:docMk/>
            <pc:sldMk cId="2711729751" sldId="887"/>
            <ac:graphicFrameMk id="46"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3"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4"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5"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E519B566-4DAF-4B26-ADC8-A43E608533F5}"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11101006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noProof="0">
                <a:latin typeface="Arial"/>
                <a:ea typeface="MS PGothic"/>
              </a:rPr>
              <a:t>Click to edit Master text styles</a:t>
            </a:r>
          </a:p>
          <a:p>
            <a:pPr lvl="1"/>
            <a:r>
              <a:rPr lang="en-US" noProof="0">
                <a:latin typeface="Arial"/>
                <a:ea typeface="MS PGothic"/>
              </a:rPr>
              <a:t>Second level</a:t>
            </a:r>
          </a:p>
          <a:p>
            <a:pPr lvl="2"/>
            <a:r>
              <a:rPr lang="en-US" noProof="0">
                <a:latin typeface="Arial"/>
                <a:ea typeface="MS PGothic"/>
              </a:rPr>
              <a:t>Third level</a:t>
            </a:r>
          </a:p>
          <a:p>
            <a:pPr lvl="3"/>
            <a:r>
              <a:rPr lang="en-US" noProof="0">
                <a:latin typeface="Arial"/>
                <a:ea typeface="MS PGothic"/>
              </a:rPr>
              <a:t>Fourth level</a:t>
            </a:r>
          </a:p>
          <a:p>
            <a:pPr lvl="4"/>
            <a:r>
              <a:rPr lang="en-US" noProof="0">
                <a:latin typeface="Arial"/>
                <a:ea typeface="MS PGothic"/>
              </a:rPr>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5096BAED-5FB2-4DAD-92B2-076325177B4F}"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38159845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5pPr>
    <a:lvl6pPr marL="2286000" algn="l" defTabSz="914400" rtl="0" eaLnBrk="1" latinLnBrk="0" hangingPunct="1">
      <a:defRPr sz="1200" kern="1200">
        <a:solidFill>
          <a:schemeClr val="tx1"/>
        </a:solidFill>
        <a:latin typeface="Arial"/>
        <a:ea typeface="MS PGothic"/>
        <a:cs typeface="+mn-cs"/>
      </a:defRPr>
    </a:lvl6pPr>
    <a:lvl7pPr marL="2743200" algn="l" defTabSz="914400" rtl="0" eaLnBrk="1" latinLnBrk="0" hangingPunct="1">
      <a:defRPr sz="1200" kern="1200">
        <a:solidFill>
          <a:schemeClr val="tx1"/>
        </a:solidFill>
        <a:latin typeface="Arial"/>
        <a:ea typeface="MS PGothic"/>
        <a:cs typeface="+mn-cs"/>
      </a:defRPr>
    </a:lvl7pPr>
    <a:lvl8pPr marL="3200400" algn="l" defTabSz="914400" rtl="0" eaLnBrk="1" latinLnBrk="0" hangingPunct="1">
      <a:defRPr sz="1200" kern="1200">
        <a:solidFill>
          <a:schemeClr val="tx1"/>
        </a:solidFill>
        <a:latin typeface="Arial"/>
        <a:ea typeface="MS PGothic"/>
        <a:cs typeface="+mn-cs"/>
      </a:defRPr>
    </a:lvl8pPr>
    <a:lvl9pPr marL="3657600" algn="l" defTabSz="914400" rtl="0" eaLnBrk="1" latinLnBrk="0" hangingPunct="1">
      <a:defRPr sz="1200" kern="1200">
        <a:solidFill>
          <a:schemeClr val="tx1"/>
        </a:solidFill>
        <a:latin typeface="Arial"/>
        <a:ea typeface="MS PGothic"/>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Arial" charset="0"/>
                <a:ea typeface="MS PGothic" pitchFamily="18" charset="-120"/>
              </a:defRPr>
            </a:lvl1pPr>
            <a:lvl2pPr marL="742950" indent="-285750" eaLnBrk="0" hangingPunct="0">
              <a:defRPr sz="2400" b="1">
                <a:solidFill>
                  <a:schemeClr val="tx1"/>
                </a:solidFill>
                <a:latin typeface="Arial" charset="0"/>
                <a:ea typeface="MS PGothic" pitchFamily="18" charset="-120"/>
              </a:defRPr>
            </a:lvl2pPr>
            <a:lvl3pPr marL="1143000" indent="-228600" eaLnBrk="0" hangingPunct="0">
              <a:defRPr sz="2400" b="1">
                <a:solidFill>
                  <a:schemeClr val="tx1"/>
                </a:solidFill>
                <a:latin typeface="Arial" charset="0"/>
                <a:ea typeface="MS PGothic" pitchFamily="18" charset="-120"/>
              </a:defRPr>
            </a:lvl3pPr>
            <a:lvl4pPr marL="1600200" indent="-228600" eaLnBrk="0" hangingPunct="0">
              <a:defRPr sz="2400" b="1">
                <a:solidFill>
                  <a:schemeClr val="tx1"/>
                </a:solidFill>
                <a:latin typeface="Arial" charset="0"/>
                <a:ea typeface="MS PGothic" pitchFamily="18" charset="-120"/>
              </a:defRPr>
            </a:lvl4pPr>
            <a:lvl5pPr marL="2057400" indent="-228600" eaLnBrk="0" hangingPunct="0">
              <a:defRPr sz="2400" b="1">
                <a:solidFill>
                  <a:schemeClr val="tx1"/>
                </a:solidFill>
                <a:latin typeface="Arial" charset="0"/>
                <a:ea typeface="MS PGothic" pitchFamily="18" charset="-120"/>
              </a:defRPr>
            </a:lvl5pPr>
            <a:lvl6pPr marL="2514600" indent="-228600" eaLnBrk="0" fontAlgn="base" hangingPunct="0">
              <a:spcBef>
                <a:spcPct val="0"/>
              </a:spcBef>
              <a:spcAft>
                <a:spcPct val="0"/>
              </a:spcAft>
              <a:defRPr sz="2400" b="1">
                <a:solidFill>
                  <a:schemeClr val="tx1"/>
                </a:solidFill>
                <a:latin typeface="Arial" charset="0"/>
                <a:ea typeface="MS PGothic" pitchFamily="18" charset="-120"/>
              </a:defRPr>
            </a:lvl6pPr>
            <a:lvl7pPr marL="2971800" indent="-228600" eaLnBrk="0" fontAlgn="base" hangingPunct="0">
              <a:spcBef>
                <a:spcPct val="0"/>
              </a:spcBef>
              <a:spcAft>
                <a:spcPct val="0"/>
              </a:spcAft>
              <a:defRPr sz="2400" b="1">
                <a:solidFill>
                  <a:schemeClr val="tx1"/>
                </a:solidFill>
                <a:latin typeface="Arial" charset="0"/>
                <a:ea typeface="MS PGothic" pitchFamily="18" charset="-120"/>
              </a:defRPr>
            </a:lvl7pPr>
            <a:lvl8pPr marL="3429000" indent="-228600" eaLnBrk="0" fontAlgn="base" hangingPunct="0">
              <a:spcBef>
                <a:spcPct val="0"/>
              </a:spcBef>
              <a:spcAft>
                <a:spcPct val="0"/>
              </a:spcAft>
              <a:defRPr sz="2400" b="1">
                <a:solidFill>
                  <a:schemeClr val="tx1"/>
                </a:solidFill>
                <a:latin typeface="Arial" charset="0"/>
                <a:ea typeface="MS PGothic" pitchFamily="18" charset="-120"/>
              </a:defRPr>
            </a:lvl8pPr>
            <a:lvl9pPr marL="3886200" indent="-228600" eaLnBrk="0" fontAlgn="base" hangingPunct="0">
              <a:spcBef>
                <a:spcPct val="0"/>
              </a:spcBef>
              <a:spcAft>
                <a:spcPct val="0"/>
              </a:spcAft>
              <a:defRPr sz="2400" b="1">
                <a:solidFill>
                  <a:schemeClr val="tx1"/>
                </a:solidFill>
                <a:latin typeface="Arial" charset="0"/>
                <a:ea typeface="MS PGothic" pitchFamily="18" charset="-120"/>
              </a:defRPr>
            </a:lvl9pPr>
          </a:lstStyle>
          <a:p>
            <a:pPr>
              <a:defRPr>
                <a:latin typeface="Arial"/>
                <a:ea typeface="MS PGothic"/>
              </a:defRPr>
            </a:pPr>
            <a:fld id="{8A1CC2BC-5918-49F0-B63E-CBAD895B9FF1}" type="slidenum">
              <a:rPr lang="en-US" altLang="zh-TW" sz="1200" b="0" smtClean="0">
                <a:latin typeface="Arial"/>
                <a:ea typeface="MS PGothic"/>
              </a:rPr>
              <a:pPr>
                <a:defRPr>
                  <a:latin typeface="Arial"/>
                  <a:ea typeface="MS PGothic"/>
                </a:defRPr>
              </a:pPr>
              <a:t>1</a:t>
            </a:fld>
            <a:endParaRPr lang="en-US" altLang="zh-TW" sz="1200" b="0">
              <a:latin typeface="Arial"/>
              <a:ea typeface="MS PGothic"/>
            </a:endParaRPr>
          </a:p>
        </p:txBody>
      </p:sp>
      <p:sp>
        <p:nvSpPr>
          <p:cNvPr id="70659" name="Rectangle 2"/>
          <p:cNvSpPr>
            <a:spLocks noGrp="1" noRot="1" noChangeAspect="1" noChangeArrowheads="1" noTextEdit="1"/>
          </p:cNvSpPr>
          <p:nvPr>
            <p:ph type="sldImg"/>
          </p:nvPr>
        </p:nvSpPr>
        <p:spPr>
          <a:xfrm>
            <a:off x="1143000" y="685800"/>
            <a:ext cx="4572000" cy="3429000"/>
          </a:xfrm>
          <a:ln/>
        </p:spPr>
      </p:sp>
      <p:sp>
        <p:nvSpPr>
          <p:cNvPr id="70660" name="Notes Placeholder 4"/>
          <p:cNvSpPr>
            <a:spLocks noGrp="1"/>
          </p:cNvSpPr>
          <p:nvPr/>
        </p:nvSpPr>
        <p:spPr bwMode="auto">
          <a:xfrm>
            <a:off x="914508" y="4343144"/>
            <a:ext cx="5028986" cy="4115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30000"/>
              </a:spcBef>
            </a:pPr>
            <a:endParaRPr kumimoji="1" lang="en-US" sz="1200" b="0">
              <a:latin typeface="Arial" pitchFamily="18" charset="0"/>
              <a:ea typeface="MS PGothic"/>
            </a:endParaRPr>
          </a:p>
        </p:txBody>
      </p:sp>
      <p:sp>
        <p:nvSpPr>
          <p:cNvPr id="2" name="Notes Placeholder 1"/>
          <p:cNvSpPr>
            <a:spLocks noGrp="1"/>
          </p:cNvSpPr>
          <p:nvPr>
            <p:ph type="body" idx="1"/>
          </p:nvPr>
        </p:nvSpPr>
        <p:spPr/>
        <p:txBody>
          <a:bodyPr/>
          <a:lstStyle/>
          <a:p>
            <a:r>
              <a:t>[10초]</a:t>
            </a:r>
          </a:p>
          <a:p>
            <a:r>
              <a:t>안녕하세요, 학생자율연구II 연구계획을 발표할 박찬혁입니다. 제 연구는 GPS를 쓸 수 없는 환경에서 카메라와 IMU를 융합해 위치, 속도, 자세를 추정하고, 영상 품질이 나빠질 때에도 안정적으로 추정하는 방법을 다룹니다.</a:t>
            </a:r>
          </a:p>
        </p:txBody>
      </p:sp>
    </p:spTree>
    <p:extLst>
      <p:ext uri="{BB962C8B-B14F-4D97-AF65-F5344CB8AC3E}">
        <p14:creationId xmlns:p14="http://schemas.microsoft.com/office/powerpoint/2010/main" val="3421518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[10초]</a:t>
            </a:r>
          </a:p>
          <a:p>
            <a:r>
              <a:t>발표는 연구 배경과 필요성, 목적, 이론적 배경, 핵심 방법, 시스템 구조와 연구 방법, 검증 계획, 수행 일정 순서로 진행하겠습니다.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[35초]</a:t>
            </a:r>
          </a:p>
          <a:p>
            <a:r>
              <a:t>실내, 지하 공간, 구조물 내부처럼 위성 신호가 막히는 곳에서는 GPS를 쓸 수 없어서, 다른 센서로 위치와 속도, 자세를 추정해야 합니다.</a:t>
            </a:r>
          </a:p>
          <a:p>
            <a:r>
              <a:t>(왼쪽) 가장 기본은 IMU만 쓰는 관성항법인데, 가속도와 각속도를 적분하기 때문에 잡음과 바이어스가 쌓여 시간이 갈수록 오차가 커집니다. (오른쪽) 그래서 카메라 영상의 움직임으로 이 오차를 보정하는 비전 보조 항법을 씁니다. NASA의 화성 헬리콥터 인저뉴어티도 아래를 보는 카메라와 IMU로 비행했습니다.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[40초]</a:t>
            </a:r>
          </a:p>
          <a:p>
            <a:r>
              <a:t>(위 두 칸) IMU는 높은 주기로 측정해 움직임을 끊김 없이 예측하지만 오차가 쌓이고, 카메라는 주변 환경을 보며 그 오차를 잡아 주지만 조명 변화, 흐림, 특징점 부족에 약하고 영상만으로는 실제 거리 스케일을 알기 어렵습니다. 그래서 둘을 융합합니다.</a:t>
            </a:r>
          </a:p>
          <a:p>
            <a:r>
              <a:t>(빨간 상자) 그런데 영상 품질이 나쁜 구간에서도 영상 관측을 항상 같은 비중으로 반영하면 오히려 추정이 흔들릴 수 있습니다. 그래서 영상 측정 품질을 평가해 반영 비중을 조절하는 융합이 필요합니다.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[30초]</a:t>
            </a:r>
          </a:p>
          <a:p>
            <a:r>
              <a:t>연구 목적은 세 단계로 정리됩니다. IMU로 운동 상태를 예측하고, 옵티컬 플로우로 얻은 영상 움직임으로 누적 오차를 보정하며, 특징점 수와 추적 성공률, 잔차로 영상 신뢰도를 판단해 보정 비중을 조절합니다.</a:t>
            </a:r>
          </a:p>
          <a:p>
            <a:r>
              <a:t>즉, 필터 기반 상태추정을 구현하고 영상 품질에 따라 성능이 어떻게 달라지는지 분석해서, GPS 없이도 위치·속도·자세를 정확하고 안정적으로 추정할 수 있는지 평가하는 것이 목표입니다.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[35초]</a:t>
            </a:r>
          </a:p>
          <a:p>
            <a:r>
              <a:t>상태추정 필터는 두 단계를 반복합니다. (위 그림) IMU 입력으로 다음 상태를 예측하고, 카메라 관측으로 그 예측을 고칩니다. 예측하면 불확실성이 커지고, 보정하면 줄어듭니다.</a:t>
            </a:r>
          </a:p>
          <a:p>
            <a:r>
              <a:t>상태는 위치, 속도, 자세와 IMU 바이어스입니다. (오른쪽 빨간 상자) 중요한 점은 칼만 이득입니다. 관측 잡음 R을 크게 잡으면 이득이 작아져 그 관측을 덜 반영하게 됩니다. 이것이 뒤에서 설명할 영상 품질 반영의 원리입니다.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[40초]</a:t>
            </a:r>
          </a:p>
          <a:p>
            <a:r>
              <a:t>(위 식) 아래를 보는 카메라에서 영상 속 이동은 대략 실제 이동 속도를 높이로 나눈 성분과 회전 성분의 합입니다. 즉, 기체가 제자리에서 기울기만 해도 영상은 움직이고, 같은 속도라도 높이에 따라 영상 이동이 달라집니다.</a:t>
            </a:r>
          </a:p>
          <a:p>
            <a:r>
              <a:t>(아래 흐름) 그래서 연속 영상에서 KLT로 특징점을 추적한 뒤, 자이로로 회전 성분을 빼고, 카메라 높이와 평면 가정으로 실제 크기로 바꿔서 속도 관측으로 필터에 넣습니다. 이때 카메라 보정값, 장착 위치와 방향, 좌표계도 함께 맞춰야 합니다.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[40초]</a:t>
            </a:r>
          </a:p>
          <a:p>
            <a:r>
              <a:t>이 연구의 핵심입니다. (왼쪽) 영상 품질은 유효 특징점 수, 추적 성공률, 운동 모델 잔차 세 가지로 판단합니다.</a:t>
            </a:r>
          </a:p>
          <a:p>
            <a:r>
              <a:t>(오른쪽) 신뢰도가 높으면 평소처럼 보정하고, 낮으면 관측 잡음을 크게 잡아 보정 비중을 줄이며, 유효한 관측이 아예 없으면 보정을 건너뛰고 IMU 예측을 유지합니다. 이 기준은 조정용 구간에서 정하고, 결과는 별도의 평가 구간에서 확인합니다. 이렇게 해서 영상이 나빠지는 구간에서도 추정이 무너지지 않게 하는 것이 목표입니다.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[30초]</a:t>
            </a:r>
          </a:p>
          <a:p>
            <a:r>
              <a:t>전체 구조입니다. IMU는 예측에, 카메라 영상은 KLT와 품질 평가를 거쳐 보정에 쓰이고, 품질에 따라 보정 비중이 조절됩니다. 필터는 위치, 속도, 자세를 출력합니다.</a:t>
            </a:r>
          </a:p>
          <a:p>
            <a:r>
              <a:t>GPS는 입력에서 완전히 빼고, 기준 궤적은 성능 평가에만 씁니다. 구현은 매트랩으로 하며, 센서 주기와 시간 동기화, 좌표계는 연구실의 시간 정합 절차를 참고해 맞춥니다.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연구는 다섯 단계로 진행합니다. 먼저 데이터를 구성하고 시간 동기화와 좌표계를 맞춥니다. 다음으로 IMU 예측과 옵티컬 플로우 보정을 결합한 기준 추정기를 만듭니다. 세 번째, 빨간색으로 표시한 핵심 단계에서 영상 품질 지표와 보정 규칙을 만듭니다. 네 번째로 조건별 비교 실험을 하고, 마지막으로 코드와 그래프, 평가표, 보고서로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(위 세 칸) 세 방법을 같은 초기 조건과 같은 데이터 구간에서 비교합니다. IMU 단독, 보정 비중을 고정한 융합, 그리고 영상 신뢰도를 반영한 본 연구의 융합입니다.</a:t>
            </a:r>
          </a:p>
          <a:p>
            <a:r>
              <a:t>실험 조건은 직선 주행, 선회, 정지와 출발, 영상 품질이 떨어지는 구간으로 나누고, 영상을 흐리게 하거나 프레임을 빼는 실험도 따로 기록합니다. 평가는 위치 RMSE, 최종 위치 오차, 영상이 끊겼을 때 오차가 얼마나 늘어나는지를 중심으로, 속도 RMSE와 처리시간도 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[30초]</a:t>
            </a:r>
          </a:p>
          <a:p>
            <a:r>
              <a:t>일정은 15주입니다. 3주까지 선행연구와 데이터를 확보하고, 5주까지 전처리, 8주까지 기준 추정기를 만들어 중간 점검을 합니다. 핵심인 영상 품질 반영은 9주부터 11주, 비교 실험은 12, 13주, 마지막 두 주는 결과 정리와 보고서입니다.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[10초]</a:t>
            </a:r>
          </a:p>
          <a:p>
            <a:r>
              <a:t>정리하면, GPS를 쓸 수 없는 환경에서 카메라와 IMU를 융합하고, 영상 품질에 따라 보정 비중을 조절해 위치·속도·자세를 안정적으로 추정하는 것이 이 연구입니다.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latin typeface="Arial"/>
                <a:ea typeface="MS PGothic"/>
              </a:rP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a:ea typeface="MS PGothic"/>
              </a:defRPr>
            </a:lvl1pPr>
            <a:lvl2pPr marL="457200" indent="0" algn="ctr">
              <a:buNone/>
              <a:defRPr>
                <a:latin typeface="Arial"/>
                <a:ea typeface="MS PGothic"/>
              </a:defRPr>
            </a:lvl2pPr>
            <a:lvl3pPr marL="914400" indent="0" algn="ctr">
              <a:buNone/>
              <a:defRPr>
                <a:latin typeface="Arial"/>
                <a:ea typeface="MS PGothic"/>
              </a:defRPr>
            </a:lvl3pPr>
            <a:lvl4pPr marL="1371600" indent="0" algn="ctr">
              <a:buNone/>
              <a:defRPr>
                <a:latin typeface="Arial"/>
                <a:ea typeface="MS PGothic"/>
              </a:defRPr>
            </a:lvl4pPr>
            <a:lvl5pPr marL="1828800" indent="0" algn="ctr">
              <a:buNone/>
              <a:defRPr>
                <a:latin typeface="Arial"/>
                <a:ea typeface="MS PGothic"/>
              </a:defRPr>
            </a:lvl5pPr>
            <a:lvl6pPr marL="2286000" indent="0" algn="ctr">
              <a:buNone/>
              <a:defRPr>
                <a:latin typeface="Arial"/>
                <a:ea typeface="MS PGothic"/>
              </a:defRPr>
            </a:lvl6pPr>
            <a:lvl7pPr marL="2743200" indent="0" algn="ctr">
              <a:buNone/>
              <a:defRPr>
                <a:latin typeface="Arial"/>
                <a:ea typeface="MS PGothic"/>
              </a:defRPr>
            </a:lvl7pPr>
            <a:lvl8pPr marL="3200400" indent="0" algn="ctr">
              <a:buNone/>
              <a:defRPr>
                <a:latin typeface="Arial"/>
                <a:ea typeface="MS PGothic"/>
              </a:defRPr>
            </a:lvl8pPr>
            <a:lvl9pPr marL="3657600" indent="0" algn="ctr">
              <a:buNone/>
              <a:defRPr>
                <a:latin typeface="Arial"/>
                <a:ea typeface="MS PGothic"/>
              </a:defRPr>
            </a:lvl9pPr>
          </a:lstStyle>
          <a:p>
            <a:r>
              <a:rPr lang="en-US">
                <a:latin typeface="Arial"/>
                <a:ea typeface="MS PGothic"/>
              </a:rPr>
              <a:t>Click to edit Master subtitle style</a:t>
            </a:r>
          </a:p>
        </p:txBody>
      </p:sp>
    </p:spTree>
    <p:extLst>
      <p:ext uri="{BB962C8B-B14F-4D97-AF65-F5344CB8AC3E}">
        <p14:creationId xmlns:p14="http://schemas.microsoft.com/office/powerpoint/2010/main" val="378271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3" name="Content Placeholder 2"/>
          <p:cNvSpPr>
            <a:spLocks noGrp="1"/>
          </p:cNvSpPr>
          <p:nvPr>
            <p:ph idx="1"/>
          </p:nvPr>
        </p:nvSpPr>
        <p:spPr>
          <a:xfrm>
            <a:off x="457200" y="939800"/>
            <a:ext cx="8229600" cy="5334000"/>
          </a:xfrm>
        </p:spPr>
        <p:txBody>
          <a:bodyPr/>
          <a:lstStyle>
            <a:lvl2pPr marL="742950" indent="-285750">
              <a:buFont typeface="Arial" panose="020B0604020202020204" pitchFamily="34" charset="0"/>
              <a:buChar char="-"/>
              <a:defRPr>
                <a:latin typeface="Arial"/>
                <a:ea typeface="MS PGothic"/>
              </a:defRPr>
            </a:lvl2pPr>
          </a:lstStyle>
          <a:p>
            <a:pPr lvl="0"/>
            <a:r>
              <a:rPr lang="en-US" dirty="0">
                <a:latin typeface="Arial"/>
                <a:ea typeface="MS PGothic"/>
              </a:rPr>
              <a:t>Click to edit Master text styles</a:t>
            </a:r>
          </a:p>
          <a:p>
            <a:pPr lvl="1"/>
            <a:r>
              <a:rPr lang="en-US" dirty="0">
                <a:latin typeface="Arial"/>
                <a:ea typeface="MS PGothic"/>
              </a:rPr>
              <a:t>Second level</a:t>
            </a:r>
          </a:p>
          <a:p>
            <a:pPr lvl="2"/>
            <a:r>
              <a:rPr lang="en-US" dirty="0">
                <a:latin typeface="Arial"/>
                <a:ea typeface="MS PGothic"/>
              </a:rPr>
              <a:t>Third level</a:t>
            </a:r>
          </a:p>
          <a:p>
            <a:pPr lvl="3"/>
            <a:r>
              <a:rPr lang="en-US" dirty="0">
                <a:latin typeface="Arial"/>
                <a:ea typeface="MS PGothic"/>
              </a:rPr>
              <a:t>Fourth level</a:t>
            </a:r>
          </a:p>
          <a:p>
            <a:pPr lvl="4"/>
            <a:r>
              <a:rPr lang="en-US" dirty="0">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399604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Arial"/>
                <a:ea typeface="MS PGothic"/>
              </a:defRPr>
            </a:lvl1pPr>
            <a:lvl2pPr marL="457200" indent="0">
              <a:buNone/>
              <a:defRPr sz="1800">
                <a:latin typeface="Arial"/>
                <a:ea typeface="MS PGothic"/>
              </a:defRPr>
            </a:lvl2pPr>
            <a:lvl3pPr marL="914400" indent="0">
              <a:buNone/>
              <a:defRPr sz="1600">
                <a:latin typeface="Arial"/>
                <a:ea typeface="MS PGothic"/>
              </a:defRPr>
            </a:lvl3pPr>
            <a:lvl4pPr marL="1371600" indent="0">
              <a:buNone/>
              <a:defRPr sz="1400">
                <a:latin typeface="Arial"/>
                <a:ea typeface="MS PGothic"/>
              </a:defRPr>
            </a:lvl4pPr>
            <a:lvl5pPr marL="1828800" indent="0">
              <a:buNone/>
              <a:defRPr sz="1400">
                <a:latin typeface="Arial"/>
                <a:ea typeface="MS PGothic"/>
              </a:defRPr>
            </a:lvl5pPr>
            <a:lvl6pPr marL="2286000" indent="0">
              <a:buNone/>
              <a:defRPr sz="1400">
                <a:latin typeface="Arial"/>
                <a:ea typeface="MS PGothic"/>
              </a:defRPr>
            </a:lvl6pPr>
            <a:lvl7pPr marL="2743200" indent="0">
              <a:buNone/>
              <a:defRPr sz="1400">
                <a:latin typeface="Arial"/>
                <a:ea typeface="MS PGothic"/>
              </a:defRPr>
            </a:lvl7pPr>
            <a:lvl8pPr marL="3200400" indent="0">
              <a:buNone/>
              <a:defRPr sz="1400">
                <a:latin typeface="Arial"/>
                <a:ea typeface="MS PGothic"/>
              </a:defRPr>
            </a:lvl8pPr>
            <a:lvl9pPr marL="3657600" indent="0">
              <a:buNone/>
              <a:defRPr sz="1400">
                <a:latin typeface="Arial"/>
                <a:ea typeface="MS PGothic"/>
              </a:defRPr>
            </a:lvl9pPr>
          </a:lstStyle>
          <a:p>
            <a:pPr lvl="0"/>
            <a:r>
              <a:rPr lang="en-US">
                <a:latin typeface="Arial"/>
                <a:ea typeface="MS PGothic"/>
              </a:rPr>
              <a:t>Click to edit Master text styles</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20148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ontent Placeholder 3"/>
          <p:cNvSpPr>
            <a:spLocks noGrp="1"/>
          </p:cNvSpPr>
          <p:nvPr>
            <p:ph sz="half" idx="2"/>
          </p:nvPr>
        </p:nvSpPr>
        <p:spPr>
          <a:xfrm>
            <a:off x="46482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7" name="Straight Connector 6"/>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9" name="TextBox 8"/>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857885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7"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8" name="TextBox 7"/>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525879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7" name="TextBox 6"/>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49159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3" name="TextBox 2"/>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426982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Content Placeholder 2"/>
          <p:cNvSpPr>
            <a:spLocks noGrp="1"/>
          </p:cNvSpPr>
          <p:nvPr>
            <p:ph idx="1"/>
          </p:nvPr>
        </p:nvSpPr>
        <p:spPr>
          <a:xfrm>
            <a:off x="3575051" y="273052"/>
            <a:ext cx="5111750" cy="5853113"/>
          </a:xfrm>
        </p:spPr>
        <p:txBody>
          <a:bodyPr/>
          <a:lstStyle>
            <a:lvl1pPr>
              <a:defRPr sz="3200">
                <a:latin typeface="Arial"/>
                <a:ea typeface="MS PGothic"/>
              </a:defRPr>
            </a:lvl1pPr>
            <a:lvl2pPr>
              <a:defRPr sz="2800">
                <a:latin typeface="Arial"/>
                <a:ea typeface="MS PGothic"/>
              </a:defRPr>
            </a:lvl2pPr>
            <a:lvl3pPr>
              <a:defRPr sz="2400">
                <a:latin typeface="Arial"/>
                <a:ea typeface="MS PGothic"/>
              </a:defRPr>
            </a:lvl3pPr>
            <a:lvl4pPr>
              <a:defRPr sz="2000">
                <a:latin typeface="Arial"/>
                <a:ea typeface="MS PGothic"/>
              </a:defRPr>
            </a:lvl4pPr>
            <a:lvl5pPr>
              <a:defRPr sz="2000">
                <a:latin typeface="Arial"/>
                <a:ea typeface="MS PGothic"/>
              </a:defRPr>
            </a:lvl5pPr>
            <a:lvl6pPr>
              <a:defRPr sz="2000">
                <a:latin typeface="Arial"/>
                <a:ea typeface="MS PGothic"/>
              </a:defRPr>
            </a:lvl6pPr>
            <a:lvl7pPr>
              <a:defRPr sz="2000">
                <a:latin typeface="Arial"/>
                <a:ea typeface="MS PGothic"/>
              </a:defRPr>
            </a:lvl7pPr>
            <a:lvl8pPr>
              <a:defRPr sz="2000">
                <a:latin typeface="Arial"/>
                <a:ea typeface="MS PGothic"/>
              </a:defRPr>
            </a:lvl8pPr>
            <a:lvl9pPr>
              <a:defRPr sz="20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Text Placeholder 3"/>
          <p:cNvSpPr>
            <a:spLocks noGrp="1"/>
          </p:cNvSpPr>
          <p:nvPr>
            <p:ph type="body" sz="half" idx="2"/>
          </p:nvPr>
        </p:nvSpPr>
        <p:spPr>
          <a:xfrm>
            <a:off x="457200" y="1435102"/>
            <a:ext cx="3008313" cy="4691063"/>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811820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Arial"/>
                <a:ea typeface="MS PGothic"/>
              </a:defRPr>
            </a:lvl1pPr>
            <a:lvl2pPr marL="457200" indent="0">
              <a:buNone/>
              <a:defRPr sz="2800">
                <a:latin typeface="Arial"/>
                <a:ea typeface="MS PGothic"/>
              </a:defRPr>
            </a:lvl2pPr>
            <a:lvl3pPr marL="914400" indent="0">
              <a:buNone/>
              <a:defRPr sz="2400">
                <a:latin typeface="Arial"/>
                <a:ea typeface="MS PGothic"/>
              </a:defRPr>
            </a:lvl3pPr>
            <a:lvl4pPr marL="1371600" indent="0">
              <a:buNone/>
              <a:defRPr sz="2000">
                <a:latin typeface="Arial"/>
                <a:ea typeface="MS PGothic"/>
              </a:defRPr>
            </a:lvl4pPr>
            <a:lvl5pPr marL="1828800" indent="0">
              <a:buNone/>
              <a:defRPr sz="2000">
                <a:latin typeface="Arial"/>
                <a:ea typeface="MS PGothic"/>
              </a:defRPr>
            </a:lvl5pPr>
            <a:lvl6pPr marL="2286000" indent="0">
              <a:buNone/>
              <a:defRPr sz="2000">
                <a:latin typeface="Arial"/>
                <a:ea typeface="MS PGothic"/>
              </a:defRPr>
            </a:lvl6pPr>
            <a:lvl7pPr marL="2743200" indent="0">
              <a:buNone/>
              <a:defRPr sz="2000">
                <a:latin typeface="Arial"/>
                <a:ea typeface="MS PGothic"/>
              </a:defRPr>
            </a:lvl7pPr>
            <a:lvl8pPr marL="3200400" indent="0">
              <a:buNone/>
              <a:defRPr sz="2000">
                <a:latin typeface="Arial"/>
                <a:ea typeface="MS PGothic"/>
              </a:defRPr>
            </a:lvl8pPr>
            <a:lvl9pPr marL="3657600" indent="0">
              <a:buNone/>
              <a:defRPr sz="2000">
                <a:latin typeface="Arial"/>
                <a:ea typeface="MS PGothic"/>
              </a:defRPr>
            </a:lvl9pPr>
          </a:lstStyle>
          <a:p>
            <a:pPr lvl="0"/>
            <a:endParaRPr lang="en-US" noProof="0" dirty="0">
              <a:latin typeface="Arial"/>
              <a:ea typeface="MS PGothic"/>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751233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Arial"/>
                <a:ea typeface="MS PGothic"/>
              </a:rPr>
              <a:t>Click to edit Master title style</a:t>
            </a:r>
          </a:p>
        </p:txBody>
      </p:sp>
      <p:sp>
        <p:nvSpPr>
          <p:cNvPr id="3" name="Vertical Text Placeholder 2"/>
          <p:cNvSpPr>
            <a:spLocks noGrp="1"/>
          </p:cNvSpPr>
          <p:nvPr>
            <p:ph type="body" orient="vert" idx="1"/>
          </p:nvPr>
        </p:nvSpPr>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69577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715000"/>
          </a:xfrm>
        </p:spPr>
        <p:txBody>
          <a:bodyPr vert="eaVert"/>
          <a:lstStyle/>
          <a:p>
            <a:r>
              <a:rPr lang="en-US">
                <a:latin typeface="Arial"/>
                <a:ea typeface="MS PGothic"/>
              </a:rPr>
              <a:t>Click to edit Master title style</a:t>
            </a:r>
          </a:p>
        </p:txBody>
      </p:sp>
      <p:sp>
        <p:nvSpPr>
          <p:cNvPr id="3" name="Vertical Text Placeholder 2"/>
          <p:cNvSpPr>
            <a:spLocks noGrp="1"/>
          </p:cNvSpPr>
          <p:nvPr>
            <p:ph type="body" orient="vert" idx="1"/>
          </p:nvPr>
        </p:nvSpPr>
        <p:spPr>
          <a:xfrm>
            <a:off x="685800" y="228600"/>
            <a:ext cx="5676900" cy="5715000"/>
          </a:xfrm>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4273031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latin typeface="Arial"/>
                <a:ea typeface="MS PGothic"/>
              </a:rPr>
              <a:t>Click to edit Master title style</a:t>
            </a:r>
          </a:p>
        </p:txBody>
      </p:sp>
      <p:sp>
        <p:nvSpPr>
          <p:cNvPr id="3" name="Text Placeholder 2"/>
          <p:cNvSpPr>
            <a:spLocks noGrp="1"/>
          </p:cNvSpPr>
          <p:nvPr>
            <p:ph type="body" sz="half" idx="1"/>
          </p:nvPr>
        </p:nvSpPr>
        <p:spPr>
          <a:xfrm>
            <a:off x="685800" y="1676400"/>
            <a:ext cx="3810000" cy="4267200"/>
          </a:xfrm>
        </p:spPr>
        <p:txBody>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hart Placeholder 3"/>
          <p:cNvSpPr>
            <a:spLocks noGrp="1"/>
          </p:cNvSpPr>
          <p:nvPr>
            <p:ph type="chart" sz="half" idx="2"/>
          </p:nvPr>
        </p:nvSpPr>
        <p:spPr>
          <a:xfrm>
            <a:off x="4648200" y="1676400"/>
            <a:ext cx="3810000" cy="4267200"/>
          </a:xfrm>
        </p:spPr>
        <p:txBody>
          <a:bodyPr/>
          <a:lstStyle/>
          <a:p>
            <a:pPr lvl="0"/>
            <a:endParaRPr lang="en-US" noProof="0" dirty="0">
              <a:latin typeface="Arial"/>
              <a:ea typeface="MS PGothic"/>
            </a:endParaRP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5611519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bwMode="auto">
          <a:xfrm>
            <a:off x="0" y="6315075"/>
            <a:ext cx="9144000" cy="542925"/>
          </a:xfrm>
          <a:prstGeom prst="rect">
            <a:avLst/>
          </a:prstGeom>
          <a:gradFill flip="none" rotWithShape="1">
            <a:gsLst>
              <a:gs pos="0">
                <a:schemeClr val="bg1"/>
              </a:gs>
              <a:gs pos="11664">
                <a:srgbClr val="FFFFFF"/>
              </a:gs>
              <a:gs pos="100000">
                <a:srgbClr val="3B4C97">
                  <a:shade val="100000"/>
                  <a:satMod val="115000"/>
                </a:srgbClr>
              </a:gs>
            </a:gsLst>
            <a:lin ang="0" scaled="0"/>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MS PGothic" pitchFamily="1" charset="-128"/>
            </a:endParaRPr>
          </a:p>
        </p:txBody>
      </p:sp>
      <p:sp>
        <p:nvSpPr>
          <p:cNvPr id="1027" name="Rectangle 2"/>
          <p:cNvSpPr>
            <a:spLocks noGrp="1" noChangeArrowheads="1"/>
          </p:cNvSpPr>
          <p:nvPr>
            <p:ph type="title"/>
          </p:nvPr>
        </p:nvSpPr>
        <p:spPr bwMode="auto">
          <a:xfrm>
            <a:off x="457200" y="228600"/>
            <a:ext cx="8229600" cy="822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latin typeface="Arial"/>
                <a:ea typeface="MS PGothic"/>
              </a:rPr>
              <a:t>Click to edit Master title style</a:t>
            </a:r>
          </a:p>
        </p:txBody>
      </p:sp>
      <p:sp>
        <p:nvSpPr>
          <p:cNvPr id="1028" name="Rectangle 3"/>
          <p:cNvSpPr>
            <a:spLocks noGrp="1" noChangeArrowheads="1"/>
          </p:cNvSpPr>
          <p:nvPr>
            <p:ph type="body" idx="1"/>
          </p:nvPr>
        </p:nvSpPr>
        <p:spPr bwMode="auto">
          <a:xfrm>
            <a:off x="457200" y="1185400"/>
            <a:ext cx="8229600" cy="4937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12" name="TextBox 11"/>
          <p:cNvSpPr txBox="1"/>
          <p:nvPr userDrawn="1"/>
        </p:nvSpPr>
        <p:spPr>
          <a:xfrm>
            <a:off x="1133475" y="6372438"/>
            <a:ext cx="1547537" cy="415498"/>
          </a:xfrm>
          <a:prstGeom prst="rect">
            <a:avLst/>
          </a:prstGeom>
          <a:noFill/>
        </p:spPr>
        <p:txBody>
          <a:bodyPr wrap="square" rtlCol="0">
            <a:spAutoFit/>
          </a:bodyPr>
          <a:lstStyle/>
          <a:p>
            <a:r>
              <a:rPr lang="en-US" sz="1050" dirty="0">
                <a:solidFill>
                  <a:schemeClr val="tx1"/>
                </a:solidFill>
                <a:latin typeface="Arial"/>
                <a:ea typeface="MS PGothic"/>
              </a:rPr>
              <a:t>Vehicle</a:t>
            </a:r>
            <a:r>
              <a:rPr lang="en-US" sz="1050" baseline="0" dirty="0">
                <a:solidFill>
                  <a:schemeClr val="tx1"/>
                </a:solidFill>
                <a:latin typeface="Arial"/>
                <a:ea typeface="MS PGothic"/>
              </a:rPr>
              <a:t> Dynamics and Energy Control Lab.</a:t>
            </a:r>
            <a:endParaRPr lang="en-US" sz="1050" dirty="0">
              <a:solidFill>
                <a:schemeClr val="tx1"/>
              </a:solidFill>
              <a:latin typeface="Arial"/>
              <a:ea typeface="MS PGothic"/>
            </a:endParaRPr>
          </a:p>
        </p:txBody>
      </p:sp>
      <p:pic>
        <p:nvPicPr>
          <p:cNvPr id="4" name="Picture 3"/>
          <p:cNvPicPr>
            <a:picLocks noChangeAspect="1" noChangeArrowheads="1"/>
          </p:cNvPicPr>
          <p:nvPr userDrawn="1"/>
        </p:nvPicPr>
        <p:blipFill>
          <a:blip r:embed="rId14" cstate="print">
            <a:clrChange>
              <a:clrFrom>
                <a:srgbClr val="070404"/>
              </a:clrFrom>
              <a:clrTo>
                <a:srgbClr val="070404">
                  <a:alpha val="0"/>
                </a:srgbClr>
              </a:clrTo>
            </a:clrChange>
            <a:extLst>
              <a:ext uri="{28A0092B-C50C-407E-A947-70E740481C1C}">
                <a14:useLocalDpi xmlns:a14="http://schemas.microsoft.com/office/drawing/2010/main" val="0"/>
              </a:ext>
            </a:extLst>
          </a:blip>
          <a:srcRect/>
          <a:stretch>
            <a:fillRect/>
          </a:stretch>
        </p:blipFill>
        <p:spPr bwMode="auto">
          <a:xfrm>
            <a:off x="7710488" y="6397184"/>
            <a:ext cx="1243012" cy="390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4"/>
          <p:cNvPicPr>
            <a:picLocks noChangeAspect="1" noChangeArrowheads="1"/>
          </p:cNvPicPr>
          <p:nvPr userDrawn="1"/>
        </p:nvPicPr>
        <p:blipFill rotWithShape="1">
          <a:blip r:embed="rId15" cstate="print">
            <a:extLst>
              <a:ext uri="{28A0092B-C50C-407E-A947-70E740481C1C}">
                <a14:useLocalDpi xmlns:a14="http://schemas.microsoft.com/office/drawing/2010/main" val="0"/>
              </a:ext>
            </a:extLst>
          </a:blip>
          <a:srcRect b="16120"/>
          <a:stretch/>
        </p:blipFill>
        <p:spPr bwMode="auto">
          <a:xfrm>
            <a:off x="114300" y="6372225"/>
            <a:ext cx="1047750" cy="35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200" b="1">
          <a:solidFill>
            <a:srgbClr val="000F65"/>
          </a:solidFill>
          <a:latin typeface="Arial"/>
          <a:ea typeface="MS PGothic"/>
          <a:cs typeface="+mj-cs"/>
        </a:defRPr>
      </a:lvl1pPr>
      <a:lvl2pPr algn="l" rtl="0" eaLnBrk="0" fontAlgn="base" hangingPunct="0">
        <a:spcBef>
          <a:spcPct val="0"/>
        </a:spcBef>
        <a:spcAft>
          <a:spcPct val="0"/>
        </a:spcAft>
        <a:defRPr sz="4200" b="1">
          <a:solidFill>
            <a:srgbClr val="000F65"/>
          </a:solidFill>
          <a:latin typeface="Arial" charset="0"/>
          <a:ea typeface="MS PGothic" pitchFamily="1" charset="-128"/>
        </a:defRPr>
      </a:lvl2pPr>
      <a:lvl3pPr algn="l" rtl="0" eaLnBrk="0" fontAlgn="base" hangingPunct="0">
        <a:spcBef>
          <a:spcPct val="0"/>
        </a:spcBef>
        <a:spcAft>
          <a:spcPct val="0"/>
        </a:spcAft>
        <a:defRPr sz="4200" b="1">
          <a:solidFill>
            <a:srgbClr val="000F65"/>
          </a:solidFill>
          <a:latin typeface="Arial" charset="0"/>
          <a:ea typeface="MS PGothic" pitchFamily="1" charset="-128"/>
        </a:defRPr>
      </a:lvl3pPr>
      <a:lvl4pPr algn="l" rtl="0" eaLnBrk="0" fontAlgn="base" hangingPunct="0">
        <a:spcBef>
          <a:spcPct val="0"/>
        </a:spcBef>
        <a:spcAft>
          <a:spcPct val="0"/>
        </a:spcAft>
        <a:defRPr sz="4200" b="1">
          <a:solidFill>
            <a:srgbClr val="000F65"/>
          </a:solidFill>
          <a:latin typeface="Arial" charset="0"/>
          <a:ea typeface="MS PGothic" pitchFamily="1" charset="-128"/>
        </a:defRPr>
      </a:lvl4pPr>
      <a:lvl5pPr algn="l" rtl="0" eaLnBrk="0" fontAlgn="base" hangingPunct="0">
        <a:spcBef>
          <a:spcPct val="0"/>
        </a:spcBef>
        <a:spcAft>
          <a:spcPct val="0"/>
        </a:spcAft>
        <a:defRPr sz="4200" b="1">
          <a:solidFill>
            <a:srgbClr val="000F65"/>
          </a:solidFill>
          <a:latin typeface="Arial" charset="0"/>
          <a:ea typeface="MS PGothic" pitchFamily="1" charset="-128"/>
        </a:defRPr>
      </a:lvl5pPr>
      <a:lvl6pPr marL="457200" algn="l" rtl="0" fontAlgn="base">
        <a:spcBef>
          <a:spcPct val="0"/>
        </a:spcBef>
        <a:spcAft>
          <a:spcPct val="0"/>
        </a:spcAft>
        <a:defRPr sz="4200" b="1">
          <a:solidFill>
            <a:srgbClr val="000F65"/>
          </a:solidFill>
          <a:latin typeface="Arial" charset="0"/>
          <a:ea typeface="MS PGothic" pitchFamily="1" charset="-128"/>
        </a:defRPr>
      </a:lvl6pPr>
      <a:lvl7pPr marL="914400" algn="l" rtl="0" fontAlgn="base">
        <a:spcBef>
          <a:spcPct val="0"/>
        </a:spcBef>
        <a:spcAft>
          <a:spcPct val="0"/>
        </a:spcAft>
        <a:defRPr sz="4200" b="1">
          <a:solidFill>
            <a:srgbClr val="000F65"/>
          </a:solidFill>
          <a:latin typeface="Arial" charset="0"/>
          <a:ea typeface="MS PGothic" pitchFamily="1" charset="-128"/>
        </a:defRPr>
      </a:lvl7pPr>
      <a:lvl8pPr marL="1371600" algn="l" rtl="0" fontAlgn="base">
        <a:spcBef>
          <a:spcPct val="0"/>
        </a:spcBef>
        <a:spcAft>
          <a:spcPct val="0"/>
        </a:spcAft>
        <a:defRPr sz="4200" b="1">
          <a:solidFill>
            <a:srgbClr val="000F65"/>
          </a:solidFill>
          <a:latin typeface="Arial" charset="0"/>
          <a:ea typeface="MS PGothic" pitchFamily="1" charset="-128"/>
        </a:defRPr>
      </a:lvl8pPr>
      <a:lvl9pPr marL="1828800" algn="l" rtl="0" fontAlgn="base">
        <a:spcBef>
          <a:spcPct val="0"/>
        </a:spcBef>
        <a:spcAft>
          <a:spcPct val="0"/>
        </a:spcAft>
        <a:defRPr sz="4200" b="1">
          <a:solidFill>
            <a:srgbClr val="000F65"/>
          </a:solidFill>
          <a:latin typeface="Arial" charset="0"/>
          <a:ea typeface="MS PGothic" pitchFamily="1" charset="-128"/>
        </a:defRPr>
      </a:lvl9pPr>
    </p:titleStyle>
    <p:bodyStyle>
      <a:lvl1pPr marL="342900" indent="-342900" algn="l" rtl="0" eaLnBrk="0" fontAlgn="base" hangingPunct="0">
        <a:spcBef>
          <a:spcPct val="20000"/>
        </a:spcBef>
        <a:spcAft>
          <a:spcPct val="0"/>
        </a:spcAft>
        <a:buFont typeface="Wingdings" pitchFamily="2" charset="2"/>
        <a:defRPr sz="2800">
          <a:solidFill>
            <a:srgbClr val="000F65"/>
          </a:solidFill>
          <a:latin typeface="Arial"/>
          <a:ea typeface="MS PGothic"/>
          <a:cs typeface="+mn-cs"/>
        </a:defRPr>
      </a:lvl1pPr>
      <a:lvl2pPr marL="742950" indent="-285750" algn="l" rtl="0" eaLnBrk="0" fontAlgn="base" hangingPunct="0">
        <a:spcBef>
          <a:spcPct val="20000"/>
        </a:spcBef>
        <a:spcAft>
          <a:spcPct val="0"/>
        </a:spcAft>
        <a:buFont typeface="Wingdings" pitchFamily="2" charset="2"/>
        <a:buChar char="§"/>
        <a:defRPr sz="2800">
          <a:solidFill>
            <a:srgbClr val="000F65"/>
          </a:solidFill>
          <a:latin typeface="Arial"/>
          <a:ea typeface="MS PGothic"/>
        </a:defRPr>
      </a:lvl2pPr>
      <a:lvl3pPr marL="1143000" indent="-228600" algn="l" rtl="0" eaLnBrk="0" fontAlgn="base" hangingPunct="0">
        <a:spcBef>
          <a:spcPct val="20000"/>
        </a:spcBef>
        <a:spcAft>
          <a:spcPct val="0"/>
        </a:spcAft>
        <a:buFont typeface="Wingdings" pitchFamily="2" charset="2"/>
        <a:buChar char="§"/>
        <a:defRPr sz="2400">
          <a:solidFill>
            <a:srgbClr val="000F65"/>
          </a:solidFill>
          <a:latin typeface="Arial"/>
          <a:ea typeface="MS PGothic"/>
        </a:defRPr>
      </a:lvl3pPr>
      <a:lvl4pPr marL="1600200" indent="-228600" algn="l" rtl="0" eaLnBrk="0" fontAlgn="base" hangingPunct="0">
        <a:spcBef>
          <a:spcPct val="20000"/>
        </a:spcBef>
        <a:spcAft>
          <a:spcPct val="0"/>
        </a:spcAft>
        <a:buFont typeface="Wingdings" pitchFamily="2" charset="2"/>
        <a:buChar char="§"/>
        <a:defRPr sz="2000">
          <a:solidFill>
            <a:srgbClr val="000F65"/>
          </a:solidFill>
          <a:latin typeface="Arial"/>
          <a:ea typeface="MS PGothic"/>
        </a:defRPr>
      </a:lvl4pPr>
      <a:lvl5pPr marL="2057400" indent="-228600" algn="l" rtl="0" eaLnBrk="0" fontAlgn="base" hangingPunct="0">
        <a:spcBef>
          <a:spcPct val="20000"/>
        </a:spcBef>
        <a:spcAft>
          <a:spcPct val="0"/>
        </a:spcAft>
        <a:buFont typeface="Wingdings" pitchFamily="2" charset="2"/>
        <a:defRPr sz="1400">
          <a:solidFill>
            <a:srgbClr val="000F65"/>
          </a:solidFill>
          <a:latin typeface="Arial"/>
          <a:ea typeface="MS PGothic"/>
        </a:defRPr>
      </a:lvl5pPr>
      <a:lvl6pPr marL="2514600" indent="-228600" algn="l" rtl="0" fontAlgn="base">
        <a:spcBef>
          <a:spcPct val="20000"/>
        </a:spcBef>
        <a:spcAft>
          <a:spcPct val="0"/>
        </a:spcAft>
        <a:buFont typeface="Wingdings" pitchFamily="1" charset="2"/>
        <a:defRPr sz="1400">
          <a:solidFill>
            <a:srgbClr val="000F65"/>
          </a:solidFill>
          <a:latin typeface="Arial"/>
          <a:ea typeface="MS PGothic"/>
        </a:defRPr>
      </a:lvl6pPr>
      <a:lvl7pPr marL="2971800" indent="-228600" algn="l" rtl="0" fontAlgn="base">
        <a:spcBef>
          <a:spcPct val="20000"/>
        </a:spcBef>
        <a:spcAft>
          <a:spcPct val="0"/>
        </a:spcAft>
        <a:buFont typeface="Wingdings" pitchFamily="1" charset="2"/>
        <a:defRPr sz="1400">
          <a:solidFill>
            <a:srgbClr val="000F65"/>
          </a:solidFill>
          <a:latin typeface="Arial"/>
          <a:ea typeface="MS PGothic"/>
        </a:defRPr>
      </a:lvl7pPr>
      <a:lvl8pPr marL="3429000" indent="-228600" algn="l" rtl="0" fontAlgn="base">
        <a:spcBef>
          <a:spcPct val="20000"/>
        </a:spcBef>
        <a:spcAft>
          <a:spcPct val="0"/>
        </a:spcAft>
        <a:buFont typeface="Wingdings" pitchFamily="1" charset="2"/>
        <a:defRPr sz="1400">
          <a:solidFill>
            <a:srgbClr val="000F65"/>
          </a:solidFill>
          <a:latin typeface="Arial"/>
          <a:ea typeface="MS PGothic"/>
        </a:defRPr>
      </a:lvl8pPr>
      <a:lvl9pPr marL="3886200" indent="-228600" algn="l" rtl="0" fontAlgn="base">
        <a:spcBef>
          <a:spcPct val="20000"/>
        </a:spcBef>
        <a:spcAft>
          <a:spcPct val="0"/>
        </a:spcAft>
        <a:buFont typeface="Wingdings" pitchFamily="1" charset="2"/>
        <a:defRPr sz="1400">
          <a:solidFill>
            <a:srgbClr val="000F65"/>
          </a:solidFill>
          <a:latin typeface="Arial"/>
          <a:ea typeface="MS PGothic"/>
        </a:defRPr>
      </a:lvl9pPr>
    </p:bodyStyle>
    <p:otherStyle>
      <a:defPPr>
        <a:defRPr lang="en-US">
          <a:latin typeface="Arial"/>
          <a:ea typeface="MS PGothic"/>
        </a:defRPr>
      </a:defPPr>
      <a:lvl1pPr marL="0" algn="l" defTabSz="914400" rtl="0" eaLnBrk="1" latinLnBrk="0" hangingPunct="1">
        <a:defRPr sz="1800" kern="1200">
          <a:solidFill>
            <a:schemeClr val="tx1"/>
          </a:solidFill>
          <a:latin typeface="Arial"/>
          <a:ea typeface="MS PGothic"/>
          <a:cs typeface="+mn-cs"/>
        </a:defRPr>
      </a:lvl1pPr>
      <a:lvl2pPr marL="457200" algn="l" defTabSz="914400" rtl="0" eaLnBrk="1" latinLnBrk="0" hangingPunct="1">
        <a:defRPr sz="1800" kern="1200">
          <a:solidFill>
            <a:schemeClr val="tx1"/>
          </a:solidFill>
          <a:latin typeface="Arial"/>
          <a:ea typeface="MS PGothic"/>
          <a:cs typeface="+mn-cs"/>
        </a:defRPr>
      </a:lvl2pPr>
      <a:lvl3pPr marL="914400" algn="l" defTabSz="914400" rtl="0" eaLnBrk="1" latinLnBrk="0" hangingPunct="1">
        <a:defRPr sz="1800" kern="1200">
          <a:solidFill>
            <a:schemeClr val="tx1"/>
          </a:solidFill>
          <a:latin typeface="Arial"/>
          <a:ea typeface="MS PGothic"/>
          <a:cs typeface="+mn-cs"/>
        </a:defRPr>
      </a:lvl3pPr>
      <a:lvl4pPr marL="1371600" algn="l" defTabSz="914400" rtl="0" eaLnBrk="1" latinLnBrk="0" hangingPunct="1">
        <a:defRPr sz="1800" kern="1200">
          <a:solidFill>
            <a:schemeClr val="tx1"/>
          </a:solidFill>
          <a:latin typeface="Arial"/>
          <a:ea typeface="MS PGothic"/>
          <a:cs typeface="+mn-cs"/>
        </a:defRPr>
      </a:lvl4pPr>
      <a:lvl5pPr marL="1828800" algn="l" defTabSz="914400" rtl="0" eaLnBrk="1" latinLnBrk="0" hangingPunct="1">
        <a:defRPr sz="1800" kern="1200">
          <a:solidFill>
            <a:schemeClr val="tx1"/>
          </a:solidFill>
          <a:latin typeface="Arial"/>
          <a:ea typeface="MS PGothic"/>
          <a:cs typeface="+mn-cs"/>
        </a:defRPr>
      </a:lvl5pPr>
      <a:lvl6pPr marL="2286000" algn="l" defTabSz="914400" rtl="0" eaLnBrk="1" latinLnBrk="0" hangingPunct="1">
        <a:defRPr sz="1800" kern="1200">
          <a:solidFill>
            <a:schemeClr val="tx1"/>
          </a:solidFill>
          <a:latin typeface="Arial"/>
          <a:ea typeface="MS PGothic"/>
          <a:cs typeface="+mn-cs"/>
        </a:defRPr>
      </a:lvl6pPr>
      <a:lvl7pPr marL="2743200" algn="l" defTabSz="914400" rtl="0" eaLnBrk="1" latinLnBrk="0" hangingPunct="1">
        <a:defRPr sz="1800" kern="1200">
          <a:solidFill>
            <a:schemeClr val="tx1"/>
          </a:solidFill>
          <a:latin typeface="Arial"/>
          <a:ea typeface="MS PGothic"/>
          <a:cs typeface="+mn-cs"/>
        </a:defRPr>
      </a:lvl7pPr>
      <a:lvl8pPr marL="3200400" algn="l" defTabSz="914400" rtl="0" eaLnBrk="1" latinLnBrk="0" hangingPunct="1">
        <a:defRPr sz="1800" kern="1200">
          <a:solidFill>
            <a:schemeClr val="tx1"/>
          </a:solidFill>
          <a:latin typeface="Arial"/>
          <a:ea typeface="MS PGothic"/>
          <a:cs typeface="+mn-cs"/>
        </a:defRPr>
      </a:lvl8pPr>
      <a:lvl9pPr marL="3657600" algn="l" defTabSz="914400" rtl="0" eaLnBrk="1" latinLnBrk="0" hangingPunct="1">
        <a:defRPr sz="1800" kern="1200">
          <a:solidFill>
            <a:schemeClr val="tx1"/>
          </a:solidFill>
          <a:latin typeface="Arial"/>
          <a:ea typeface="MS PGothic"/>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ctrTitle"/>
          </p:nvPr>
        </p:nvSpPr>
        <p:spPr>
          <a:xfrm>
            <a:off x="548640" y="1051560"/>
            <a:ext cx="8046720" cy="1325880"/>
          </a:xfrm>
        </p:spPr>
        <p:txBody>
          <a:bodyPr wrap="square" anchor="ctr" lIns="73152" rIns="73152" tIns="36576" bIns="36576">
            <a:normAutofit/>
          </a:bodyPr>
          <a:lstStyle/>
          <a:p>
            <a:pPr algn="ctr" marL="0" indent="0">
              <a:lnSpc>
                <a:spcPct val="110000"/>
              </a:lnSpc>
              <a:buNone/>
            </a:pPr>
            <a:r>
              <a:rPr sz="2600" b="1" i="0">
                <a:solidFill>
                  <a:srgbClr val="000F65"/>
                </a:solidFill>
                <a:latin typeface="Arial"/>
                <a:ea typeface="MS PGothic"/>
              </a:rPr>
              <a:t>GPS 사용 불가 환경에서 비전 보조 항법을 위한</a:t>
            </a:r>
          </a:p>
          <a:p>
            <a:pPr algn="ctr" marL="0" indent="0">
              <a:lnSpc>
                <a:spcPct val="110000"/>
              </a:lnSpc>
              <a:buNone/>
            </a:pPr>
            <a:r>
              <a:rPr sz="2600" b="1" i="0">
                <a:solidFill>
                  <a:srgbClr val="000F65"/>
                </a:solidFill>
                <a:latin typeface="Arial"/>
                <a:ea typeface="MS PGothic"/>
              </a:rPr>
              <a:t>다중센서 융합</a:t>
            </a:r>
          </a:p>
        </p:txBody>
      </p:sp>
      <p:sp>
        <p:nvSpPr>
          <p:cNvPr id="1027" name="TextBox 1026"/>
          <p:cNvSpPr txBox="1"/>
          <p:nvPr/>
        </p:nvSpPr>
        <p:spPr>
          <a:xfrm>
            <a:off x="731520" y="2423160"/>
            <a:ext cx="7680960" cy="411480"/>
          </a:xfrm>
          <a:prstGeom prst="rect">
            <a:avLst/>
          </a:prstGeom>
          <a:noFill/>
        </p:spPr>
        <p:txBody>
          <a:bodyPr wrap="square" anchor="ctr" lIns="73152" rIns="73152" tIns="36576" bIns="36576">
            <a:spAutoFit/>
          </a:bodyPr>
          <a:lstStyle/>
          <a:p>
            <a:pPr algn="ctr" marL="0" indent="0">
              <a:lnSpc>
                <a:spcPct val="110000"/>
              </a:lnSpc>
              <a:buNone/>
            </a:pPr>
            <a:r>
              <a:rPr sz="1700" b="1" i="0">
                <a:solidFill>
                  <a:srgbClr val="333399"/>
                </a:solidFill>
                <a:latin typeface="Arial"/>
                <a:ea typeface="MS PGothic"/>
              </a:rPr>
              <a:t>카메라·IMU 융합 기반 위치·속도·자세 추정과 영상 측정 품질 반영</a:t>
            </a:r>
          </a:p>
        </p:txBody>
      </p:sp>
      <p:sp>
        <p:nvSpPr>
          <p:cNvPr id="1028" name="TextBox 1027"/>
          <p:cNvSpPr txBox="1"/>
          <p:nvPr/>
        </p:nvSpPr>
        <p:spPr>
          <a:xfrm>
            <a:off x="731520" y="2880360"/>
            <a:ext cx="7680960" cy="457200"/>
          </a:xfrm>
          <a:prstGeom prst="rect">
            <a:avLst/>
          </a:prstGeom>
          <a:noFill/>
        </p:spPr>
        <p:txBody>
          <a:bodyPr wrap="square" anchor="ctr" lIns="73152" rIns="73152" tIns="36576" bIns="36576">
            <a:spAutoFit/>
          </a:bodyPr>
          <a:lstStyle/>
          <a:p>
            <a:pPr algn="ctr" marL="0" indent="0">
              <a:lnSpc>
                <a:spcPct val="110000"/>
              </a:lnSpc>
              <a:buNone/>
            </a:pPr>
            <a:r>
              <a:rPr sz="1300" b="0" i="1">
                <a:solidFill>
                  <a:srgbClr val="333399"/>
                </a:solidFill>
                <a:latin typeface="Arial"/>
                <a:ea typeface="MS PGothic"/>
              </a:rPr>
              <a:t>Multi-Sensor Fusion for Vision-Aided Navigation in GPS-Denied Environments</a:t>
            </a:r>
          </a:p>
        </p:txBody>
      </p:sp>
      <p:sp>
        <p:nvSpPr>
          <p:cNvPr id="1029" name="TextBox 1028"/>
          <p:cNvSpPr txBox="1"/>
          <p:nvPr/>
        </p:nvSpPr>
        <p:spPr>
          <a:xfrm>
            <a:off x="914400" y="3977639"/>
            <a:ext cx="7315200" cy="1600200"/>
          </a:xfrm>
          <a:prstGeom prst="rect">
            <a:avLst/>
          </a:prstGeom>
          <a:noFill/>
        </p:spPr>
        <p:txBody>
          <a:bodyPr wrap="square" anchor="ctr" lIns="73152" rIns="73152" tIns="36576" bIns="36576">
            <a:spAutoFit/>
          </a:bodyPr>
          <a:lstStyle/>
          <a:p>
            <a:pPr algn="ctr" marL="0" indent="0">
              <a:lnSpc>
                <a:spcPct val="110000"/>
              </a:lnSpc>
              <a:buNone/>
            </a:pPr>
            <a:r>
              <a:rPr sz="1400" b="1" i="0">
                <a:solidFill>
                  <a:srgbClr val="000F65"/>
                </a:solidFill>
                <a:latin typeface="Arial"/>
                <a:ea typeface="MS PGothic"/>
              </a:rPr>
              <a:t>학생자율연구 II  연구계획 발표  |  2026학년도 2학기</a:t>
            </a:r>
          </a:p>
          <a:p>
            <a:pPr algn="ctr" marL="0" indent="0">
              <a:lnSpc>
                <a:spcPct val="110000"/>
              </a:lnSpc>
              <a:buNone/>
            </a:pPr>
            <a:r>
              <a:rPr sz="1400" b="0" i="0">
                <a:solidFill>
                  <a:srgbClr val="333333"/>
                </a:solidFill>
                <a:latin typeface="Arial"/>
                <a:ea typeface="MS PGothic"/>
              </a:rPr>
              <a:t>박찬혁 (202121212)  ·  지도교수: 안창선 교수님</a:t>
            </a:r>
          </a:p>
          <a:p>
            <a:pPr algn="ctr" marL="0" indent="0">
              <a:lnSpc>
                <a:spcPct val="110000"/>
              </a:lnSpc>
              <a:buNone/>
            </a:pPr>
            <a:r>
              <a:rPr sz="1300" b="0" i="0">
                <a:solidFill>
                  <a:srgbClr val="333333"/>
                </a:solidFill>
                <a:latin typeface="Arial"/>
                <a:ea typeface="MS PGothic"/>
              </a:rPr>
              <a:t>School of Mechanical Engineering</a:t>
            </a:r>
          </a:p>
          <a:p>
            <a:pPr algn="ctr" marL="0" indent="0">
              <a:lnSpc>
                <a:spcPct val="110000"/>
              </a:lnSpc>
              <a:buNone/>
            </a:pPr>
            <a:r>
              <a:rPr sz="1300" b="0" i="0">
                <a:solidFill>
                  <a:srgbClr val="333333"/>
                </a:solidFill>
                <a:latin typeface="Arial"/>
                <a:ea typeface="MS PGothic"/>
              </a:rPr>
              <a:t>Pusan National University</a:t>
            </a:r>
          </a:p>
        </p:txBody>
      </p:sp>
    </p:spTree>
    <p:extLst>
      <p:ext uri="{BB962C8B-B14F-4D97-AF65-F5344CB8AC3E}">
        <p14:creationId xmlns:p14="http://schemas.microsoft.com/office/powerpoint/2010/main" val="11195965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목차</a:t>
            </a:r>
          </a:p>
        </p:txBody>
      </p:sp>
      <p:sp>
        <p:nvSpPr>
          <p:cNvPr id="3" name="Rounded Rectangle 2"/>
          <p:cNvSpPr/>
          <p:nvPr/>
        </p:nvSpPr>
        <p:spPr>
          <a:xfrm>
            <a:off x="1463040" y="1325880"/>
            <a:ext cx="502920" cy="45720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700" b="1" i="0">
                <a:solidFill>
                  <a:srgbClr val="FFFFFF"/>
                </a:solidFill>
                <a:latin typeface="Arial"/>
                <a:ea typeface="MS PGothic"/>
              </a:rPr>
              <a:t>1</a:t>
            </a:r>
          </a:p>
        </p:txBody>
      </p:sp>
      <p:sp>
        <p:nvSpPr>
          <p:cNvPr id="4" name="TextBox 3"/>
          <p:cNvSpPr txBox="1"/>
          <p:nvPr/>
        </p:nvSpPr>
        <p:spPr>
          <a:xfrm>
            <a:off x="2194560" y="1344168"/>
            <a:ext cx="5486400" cy="420624"/>
          </a:xfrm>
          <a:prstGeom prst="rect">
            <a:avLst/>
          </a:prstGeom>
          <a:noFill/>
        </p:spPr>
        <p:txBody>
          <a:bodyPr wrap="square" anchor="ctr" lIns="0" rIns="0" tIns="0" bIns="0">
            <a:spAutoFit/>
          </a:bodyPr>
          <a:lstStyle/>
          <a:p>
            <a:pPr algn="l" marL="0" indent="0">
              <a:lnSpc>
                <a:spcPct val="110000"/>
              </a:lnSpc>
              <a:buNone/>
            </a:pPr>
            <a:r>
              <a:rPr sz="1700" b="1" i="0">
                <a:solidFill>
                  <a:srgbClr val="1A1A1A"/>
                </a:solidFill>
                <a:latin typeface="Arial"/>
                <a:ea typeface="MS PGothic"/>
              </a:rPr>
              <a:t>연구 배경 및 필요성</a:t>
            </a:r>
          </a:p>
        </p:txBody>
      </p:sp>
      <p:sp>
        <p:nvSpPr>
          <p:cNvPr id="5" name="Rounded Rectangle 4"/>
          <p:cNvSpPr/>
          <p:nvPr/>
        </p:nvSpPr>
        <p:spPr>
          <a:xfrm>
            <a:off x="1463040" y="1965960"/>
            <a:ext cx="502920" cy="45720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700" b="1" i="0">
                <a:solidFill>
                  <a:srgbClr val="FFFFFF"/>
                </a:solidFill>
                <a:latin typeface="Arial"/>
                <a:ea typeface="MS PGothic"/>
              </a:rPr>
              <a:t>2</a:t>
            </a:r>
          </a:p>
        </p:txBody>
      </p:sp>
      <p:sp>
        <p:nvSpPr>
          <p:cNvPr id="6" name="TextBox 5"/>
          <p:cNvSpPr txBox="1"/>
          <p:nvPr/>
        </p:nvSpPr>
        <p:spPr>
          <a:xfrm>
            <a:off x="2194560" y="1984248"/>
            <a:ext cx="5486400" cy="420624"/>
          </a:xfrm>
          <a:prstGeom prst="rect">
            <a:avLst/>
          </a:prstGeom>
          <a:noFill/>
        </p:spPr>
        <p:txBody>
          <a:bodyPr wrap="square" anchor="ctr" lIns="0" rIns="0" tIns="0" bIns="0">
            <a:spAutoFit/>
          </a:bodyPr>
          <a:lstStyle/>
          <a:p>
            <a:pPr algn="l" marL="0" indent="0">
              <a:lnSpc>
                <a:spcPct val="110000"/>
              </a:lnSpc>
              <a:buNone/>
            </a:pPr>
            <a:r>
              <a:rPr sz="1700" b="1" i="0">
                <a:solidFill>
                  <a:srgbClr val="1A1A1A"/>
                </a:solidFill>
                <a:latin typeface="Arial"/>
                <a:ea typeface="MS PGothic"/>
              </a:rPr>
              <a:t>연구 목적</a:t>
            </a:r>
          </a:p>
        </p:txBody>
      </p:sp>
      <p:sp>
        <p:nvSpPr>
          <p:cNvPr id="7" name="Rounded Rectangle 6"/>
          <p:cNvSpPr/>
          <p:nvPr/>
        </p:nvSpPr>
        <p:spPr>
          <a:xfrm>
            <a:off x="1463040" y="2606039"/>
            <a:ext cx="502920" cy="45720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700" b="1" i="0">
                <a:solidFill>
                  <a:srgbClr val="FFFFFF"/>
                </a:solidFill>
                <a:latin typeface="Arial"/>
                <a:ea typeface="MS PGothic"/>
              </a:rPr>
              <a:t>3</a:t>
            </a:r>
          </a:p>
        </p:txBody>
      </p:sp>
      <p:sp>
        <p:nvSpPr>
          <p:cNvPr id="8" name="TextBox 7"/>
          <p:cNvSpPr txBox="1"/>
          <p:nvPr/>
        </p:nvSpPr>
        <p:spPr>
          <a:xfrm>
            <a:off x="2194560" y="2624327"/>
            <a:ext cx="5486400" cy="420624"/>
          </a:xfrm>
          <a:prstGeom prst="rect">
            <a:avLst/>
          </a:prstGeom>
          <a:noFill/>
        </p:spPr>
        <p:txBody>
          <a:bodyPr wrap="square" anchor="ctr" lIns="0" rIns="0" tIns="0" bIns="0">
            <a:spAutoFit/>
          </a:bodyPr>
          <a:lstStyle/>
          <a:p>
            <a:pPr algn="l" marL="0" indent="0">
              <a:lnSpc>
                <a:spcPct val="110000"/>
              </a:lnSpc>
              <a:buNone/>
            </a:pPr>
            <a:r>
              <a:rPr sz="1700" b="1" i="0">
                <a:solidFill>
                  <a:srgbClr val="1A1A1A"/>
                </a:solidFill>
                <a:latin typeface="Arial"/>
                <a:ea typeface="MS PGothic"/>
              </a:rPr>
              <a:t>이론적 배경</a:t>
            </a:r>
          </a:p>
        </p:txBody>
      </p:sp>
      <p:sp>
        <p:nvSpPr>
          <p:cNvPr id="9" name="Rounded Rectangle 8"/>
          <p:cNvSpPr/>
          <p:nvPr/>
        </p:nvSpPr>
        <p:spPr>
          <a:xfrm>
            <a:off x="1463040" y="3246120"/>
            <a:ext cx="502920" cy="45720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700" b="1" i="0">
                <a:solidFill>
                  <a:srgbClr val="FFFFFF"/>
                </a:solidFill>
                <a:latin typeface="Arial"/>
                <a:ea typeface="MS PGothic"/>
              </a:rPr>
              <a:t>4</a:t>
            </a:r>
          </a:p>
        </p:txBody>
      </p:sp>
      <p:sp>
        <p:nvSpPr>
          <p:cNvPr id="10" name="TextBox 9"/>
          <p:cNvSpPr txBox="1"/>
          <p:nvPr/>
        </p:nvSpPr>
        <p:spPr>
          <a:xfrm>
            <a:off x="2194560" y="3264408"/>
            <a:ext cx="5486400" cy="420624"/>
          </a:xfrm>
          <a:prstGeom prst="rect">
            <a:avLst/>
          </a:prstGeom>
          <a:noFill/>
        </p:spPr>
        <p:txBody>
          <a:bodyPr wrap="square" anchor="ctr" lIns="0" rIns="0" tIns="0" bIns="0">
            <a:spAutoFit/>
          </a:bodyPr>
          <a:lstStyle/>
          <a:p>
            <a:pPr algn="l" marL="0" indent="0">
              <a:lnSpc>
                <a:spcPct val="110000"/>
              </a:lnSpc>
              <a:buNone/>
            </a:pPr>
            <a:r>
              <a:rPr sz="1700" b="1" i="0">
                <a:solidFill>
                  <a:srgbClr val="1A1A1A"/>
                </a:solidFill>
                <a:latin typeface="Arial"/>
                <a:ea typeface="MS PGothic"/>
              </a:rPr>
              <a:t>핵심 방법: 영상 측정 품질 반영</a:t>
            </a:r>
          </a:p>
        </p:txBody>
      </p:sp>
      <p:sp>
        <p:nvSpPr>
          <p:cNvPr id="11" name="Rounded Rectangle 10"/>
          <p:cNvSpPr/>
          <p:nvPr/>
        </p:nvSpPr>
        <p:spPr>
          <a:xfrm>
            <a:off x="1463040" y="3886200"/>
            <a:ext cx="502920" cy="45720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700" b="1" i="0">
                <a:solidFill>
                  <a:srgbClr val="FFFFFF"/>
                </a:solidFill>
                <a:latin typeface="Arial"/>
                <a:ea typeface="MS PGothic"/>
              </a:rPr>
              <a:t>5</a:t>
            </a:r>
          </a:p>
        </p:txBody>
      </p:sp>
      <p:sp>
        <p:nvSpPr>
          <p:cNvPr id="12" name="TextBox 11"/>
          <p:cNvSpPr txBox="1"/>
          <p:nvPr/>
        </p:nvSpPr>
        <p:spPr>
          <a:xfrm>
            <a:off x="2194560" y="3904487"/>
            <a:ext cx="5486400" cy="420624"/>
          </a:xfrm>
          <a:prstGeom prst="rect">
            <a:avLst/>
          </a:prstGeom>
          <a:noFill/>
        </p:spPr>
        <p:txBody>
          <a:bodyPr wrap="square" anchor="ctr" lIns="0" rIns="0" tIns="0" bIns="0">
            <a:spAutoFit/>
          </a:bodyPr>
          <a:lstStyle/>
          <a:p>
            <a:pPr algn="l" marL="0" indent="0">
              <a:lnSpc>
                <a:spcPct val="110000"/>
              </a:lnSpc>
              <a:buNone/>
            </a:pPr>
            <a:r>
              <a:rPr sz="1700" b="1" i="0">
                <a:solidFill>
                  <a:srgbClr val="1A1A1A"/>
                </a:solidFill>
                <a:latin typeface="Arial"/>
                <a:ea typeface="MS PGothic"/>
              </a:rPr>
              <a:t>시스템 구조 및 연구 방법</a:t>
            </a:r>
          </a:p>
        </p:txBody>
      </p:sp>
      <p:sp>
        <p:nvSpPr>
          <p:cNvPr id="13" name="Rounded Rectangle 12"/>
          <p:cNvSpPr/>
          <p:nvPr/>
        </p:nvSpPr>
        <p:spPr>
          <a:xfrm>
            <a:off x="1463040" y="4526280"/>
            <a:ext cx="502920" cy="45720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700" b="1" i="0">
                <a:solidFill>
                  <a:srgbClr val="FFFFFF"/>
                </a:solidFill>
                <a:latin typeface="Arial"/>
                <a:ea typeface="MS PGothic"/>
              </a:rPr>
              <a:t>6</a:t>
            </a:r>
          </a:p>
        </p:txBody>
      </p:sp>
      <p:sp>
        <p:nvSpPr>
          <p:cNvPr id="14" name="TextBox 13"/>
          <p:cNvSpPr txBox="1"/>
          <p:nvPr/>
        </p:nvSpPr>
        <p:spPr>
          <a:xfrm>
            <a:off x="2194560" y="4544568"/>
            <a:ext cx="5486400" cy="420624"/>
          </a:xfrm>
          <a:prstGeom prst="rect">
            <a:avLst/>
          </a:prstGeom>
          <a:noFill/>
        </p:spPr>
        <p:txBody>
          <a:bodyPr wrap="square" anchor="ctr" lIns="0" rIns="0" tIns="0" bIns="0">
            <a:spAutoFit/>
          </a:bodyPr>
          <a:lstStyle/>
          <a:p>
            <a:pPr algn="l" marL="0" indent="0">
              <a:lnSpc>
                <a:spcPct val="110000"/>
              </a:lnSpc>
              <a:buNone/>
            </a:pPr>
            <a:r>
              <a:rPr sz="1700" b="1" i="0">
                <a:solidFill>
                  <a:srgbClr val="1A1A1A"/>
                </a:solidFill>
                <a:latin typeface="Arial"/>
                <a:ea typeface="MS PGothic"/>
              </a:rPr>
              <a:t>검증 계획</a:t>
            </a:r>
          </a:p>
        </p:txBody>
      </p:sp>
      <p:sp>
        <p:nvSpPr>
          <p:cNvPr id="15" name="Rounded Rectangle 14"/>
          <p:cNvSpPr/>
          <p:nvPr/>
        </p:nvSpPr>
        <p:spPr>
          <a:xfrm>
            <a:off x="1463040" y="5166359"/>
            <a:ext cx="502920" cy="45720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700" b="1" i="0">
                <a:solidFill>
                  <a:srgbClr val="FFFFFF"/>
                </a:solidFill>
                <a:latin typeface="Arial"/>
                <a:ea typeface="MS PGothic"/>
              </a:rPr>
              <a:t>7</a:t>
            </a:r>
          </a:p>
        </p:txBody>
      </p:sp>
      <p:sp>
        <p:nvSpPr>
          <p:cNvPr id="16" name="TextBox 15"/>
          <p:cNvSpPr txBox="1"/>
          <p:nvPr/>
        </p:nvSpPr>
        <p:spPr>
          <a:xfrm>
            <a:off x="2194560" y="5184647"/>
            <a:ext cx="5486400" cy="420624"/>
          </a:xfrm>
          <a:prstGeom prst="rect">
            <a:avLst/>
          </a:prstGeom>
          <a:noFill/>
        </p:spPr>
        <p:txBody>
          <a:bodyPr wrap="square" anchor="ctr" lIns="0" rIns="0" tIns="0" bIns="0">
            <a:spAutoFit/>
          </a:bodyPr>
          <a:lstStyle/>
          <a:p>
            <a:pPr algn="l" marL="0" indent="0">
              <a:lnSpc>
                <a:spcPct val="110000"/>
              </a:lnSpc>
              <a:buNone/>
            </a:pPr>
            <a:r>
              <a:rPr sz="1700" b="1" i="0">
                <a:solidFill>
                  <a:srgbClr val="1A1A1A"/>
                </a:solidFill>
                <a:latin typeface="Arial"/>
                <a:ea typeface="MS PGothic"/>
              </a:rPr>
              <a:t>수행 일정 (15주)</a:t>
            </a:r>
          </a:p>
        </p:txBody>
      </p:sp>
    </p:spTree>
    <p:extLst>
      <p:ext uri="{BB962C8B-B14F-4D97-AF65-F5344CB8AC3E}">
        <p14:creationId xmlns:p14="http://schemas.microsoft.com/office/powerpoint/2010/main" val="371350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 배경</a:t>
            </a:r>
          </a:p>
        </p:txBody>
      </p:sp>
      <p:sp>
        <p:nvSpPr>
          <p:cNvPr id="3" name="TextBox 2"/>
          <p:cNvSpPr txBox="1"/>
          <p:nvPr/>
        </p:nvSpPr>
        <p:spPr>
          <a:xfrm>
            <a:off x="457200" y="987552"/>
            <a:ext cx="8229600" cy="411480"/>
          </a:xfrm>
          <a:prstGeom prst="rect">
            <a:avLst/>
          </a:prstGeom>
          <a:noFill/>
        </p:spPr>
        <p:txBody>
          <a:bodyPr wrap="square" lIns="0" rIns="0">
            <a:spAutoFit/>
          </a:bodyPr>
          <a:lstStyle/>
          <a:p>
            <a:pPr algn="ctr"/>
            <a:r>
              <a:rPr sz="1700" b="1" i="0">
                <a:solidFill>
                  <a:srgbClr val="000F65"/>
                </a:solidFill>
                <a:latin typeface="Arial"/>
                <a:ea typeface="MS PGothic"/>
              </a:rPr>
              <a:t>GPS를 쓸 수 없는 환경에서는 다른 센서로 위치·속도·자세를 추정해야 한다</a:t>
            </a:r>
          </a:p>
        </p:txBody>
      </p:sp>
      <p:sp>
        <p:nvSpPr>
          <p:cNvPr id="4" name="Rounded Rectangle 3"/>
          <p:cNvSpPr/>
          <p:nvPr/>
        </p:nvSpPr>
        <p:spPr>
          <a:xfrm>
            <a:off x="457200" y="1600200"/>
            <a:ext cx="2560320" cy="658368"/>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400" b="1" i="0">
                <a:solidFill>
                  <a:srgbClr val="000F65"/>
                </a:solidFill>
                <a:latin typeface="Arial"/>
                <a:ea typeface="MS PGothic"/>
              </a:rPr>
              <a:t>실내</a:t>
            </a:r>
          </a:p>
          <a:p>
            <a:pPr algn="ctr" marL="0" indent="0">
              <a:lnSpc>
                <a:spcPct val="110000"/>
              </a:lnSpc>
              <a:buNone/>
            </a:pPr>
            <a:r>
              <a:rPr sz="1200" b="0" i="0">
                <a:solidFill>
                  <a:srgbClr val="333333"/>
                </a:solidFill>
                <a:latin typeface="Arial"/>
                <a:ea typeface="MS PGothic"/>
              </a:rPr>
              <a:t>건물 내부</a:t>
            </a:r>
          </a:p>
        </p:txBody>
      </p:sp>
      <p:sp>
        <p:nvSpPr>
          <p:cNvPr id="5" name="Rounded Rectangle 4"/>
          <p:cNvSpPr/>
          <p:nvPr/>
        </p:nvSpPr>
        <p:spPr>
          <a:xfrm>
            <a:off x="3291840" y="1600200"/>
            <a:ext cx="2560320" cy="658368"/>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400" b="1" i="0">
                <a:solidFill>
                  <a:srgbClr val="000F65"/>
                </a:solidFill>
                <a:latin typeface="Arial"/>
                <a:ea typeface="MS PGothic"/>
              </a:rPr>
              <a:t>지하 공간</a:t>
            </a:r>
          </a:p>
          <a:p>
            <a:pPr algn="ctr" marL="0" indent="0">
              <a:lnSpc>
                <a:spcPct val="110000"/>
              </a:lnSpc>
              <a:buNone/>
            </a:pPr>
            <a:r>
              <a:rPr sz="1200" b="0" i="0">
                <a:solidFill>
                  <a:srgbClr val="333333"/>
                </a:solidFill>
                <a:latin typeface="Arial"/>
                <a:ea typeface="MS PGothic"/>
              </a:rPr>
              <a:t>터널·지하 시설</a:t>
            </a:r>
          </a:p>
        </p:txBody>
      </p:sp>
      <p:sp>
        <p:nvSpPr>
          <p:cNvPr id="6" name="Rounded Rectangle 5"/>
          <p:cNvSpPr/>
          <p:nvPr/>
        </p:nvSpPr>
        <p:spPr>
          <a:xfrm>
            <a:off x="6126480" y="1600200"/>
            <a:ext cx="2560320" cy="658368"/>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400" b="1" i="0">
                <a:solidFill>
                  <a:srgbClr val="000F65"/>
                </a:solidFill>
                <a:latin typeface="Arial"/>
                <a:ea typeface="MS PGothic"/>
              </a:rPr>
              <a:t>구조물 내부</a:t>
            </a:r>
          </a:p>
          <a:p>
            <a:pPr algn="ctr" marL="0" indent="0">
              <a:lnSpc>
                <a:spcPct val="110000"/>
              </a:lnSpc>
              <a:buNone/>
            </a:pPr>
            <a:r>
              <a:rPr sz="1200" b="0" i="0">
                <a:solidFill>
                  <a:srgbClr val="333333"/>
                </a:solidFill>
                <a:latin typeface="Arial"/>
                <a:ea typeface="MS PGothic"/>
              </a:rPr>
              <a:t>대형 구조물 안</a:t>
            </a:r>
          </a:p>
        </p:txBody>
      </p:sp>
      <p:sp>
        <p:nvSpPr>
          <p:cNvPr id="7" name="Down Arrow 6"/>
          <p:cNvSpPr/>
          <p:nvPr/>
        </p:nvSpPr>
        <p:spPr>
          <a:xfrm>
            <a:off x="4389120" y="2331720"/>
            <a:ext cx="365760" cy="292608"/>
          </a:xfrm>
          <a:prstGeom prst="downArrow">
            <a:avLst/>
          </a:prstGeom>
          <a:solidFill>
            <a:srgbClr val="333399"/>
          </a:solidFill>
          <a:ln>
            <a:noFill/>
          </a:ln>
        </p:spPr>
        <p:txBody>
          <a:bodyPr rtlCol="0" anchor="ctr"/>
          <a:lstStyle/>
          <a:p>
            <a:pPr algn="ctr"/>
          </a:p>
        </p:txBody>
      </p:sp>
      <p:sp>
        <p:nvSpPr>
          <p:cNvPr id="8" name="Rounded Rectangle 7"/>
          <p:cNvSpPr/>
          <p:nvPr/>
        </p:nvSpPr>
        <p:spPr>
          <a:xfrm>
            <a:off x="457200" y="2697480"/>
            <a:ext cx="8229600" cy="45720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위성 신호 차단 → GPS 사용 불가</a:t>
            </a:r>
          </a:p>
        </p:txBody>
      </p:sp>
      <p:sp>
        <p:nvSpPr>
          <p:cNvPr id="9" name="Rounded Rectangle 8"/>
          <p:cNvSpPr/>
          <p:nvPr/>
        </p:nvSpPr>
        <p:spPr>
          <a:xfrm>
            <a:off x="457200" y="3383280"/>
            <a:ext cx="3749039" cy="173736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400" b="1" i="0">
                <a:solidFill>
                  <a:srgbClr val="000F65"/>
                </a:solidFill>
                <a:latin typeface="Arial"/>
                <a:ea typeface="MS PGothic"/>
              </a:rPr>
              <a:t>IMU 단독 관성항법</a:t>
            </a:r>
          </a:p>
          <a:p>
            <a:pPr algn="ctr" marL="0" indent="0">
              <a:lnSpc>
                <a:spcPct val="110000"/>
              </a:lnSpc>
              <a:buNone/>
            </a:pPr>
            <a:r>
              <a:rPr sz="1200" b="0" i="0">
                <a:solidFill>
                  <a:srgbClr val="333333"/>
                </a:solidFill>
                <a:latin typeface="Arial"/>
                <a:ea typeface="MS PGothic"/>
              </a:rPr>
              <a:t>가속도·각속도를 적분하여 추정</a:t>
            </a:r>
          </a:p>
          <a:p>
            <a:pPr algn="ctr" marL="0" indent="0">
              <a:lnSpc>
                <a:spcPct val="110000"/>
              </a:lnSpc>
              <a:buNone/>
            </a:pPr>
            <a:r>
              <a:rPr sz="1200" b="1" i="0">
                <a:solidFill>
                  <a:srgbClr val="C00000"/>
                </a:solidFill>
                <a:latin typeface="Arial"/>
                <a:ea typeface="MS PGothic"/>
              </a:rPr>
              <a:t>잡음·바이어스가 적분되어</a:t>
            </a:r>
          </a:p>
          <a:p>
            <a:pPr algn="ctr" marL="0" indent="0">
              <a:lnSpc>
                <a:spcPct val="110000"/>
              </a:lnSpc>
              <a:buNone/>
            </a:pPr>
            <a:r>
              <a:rPr sz="1200" b="1" i="0">
                <a:solidFill>
                  <a:srgbClr val="C00000"/>
                </a:solidFill>
                <a:latin typeface="Arial"/>
                <a:ea typeface="MS PGothic"/>
              </a:rPr>
              <a:t>오차가 시간에 따라 누적 [1]</a:t>
            </a:r>
          </a:p>
        </p:txBody>
      </p:sp>
      <p:sp>
        <p:nvSpPr>
          <p:cNvPr id="10" name="Right Arrow 9"/>
          <p:cNvSpPr/>
          <p:nvPr/>
        </p:nvSpPr>
        <p:spPr>
          <a:xfrm>
            <a:off x="4297680" y="4069080"/>
            <a:ext cx="457200" cy="365760"/>
          </a:xfrm>
          <a:prstGeom prst="rightArrow">
            <a:avLst/>
          </a:prstGeom>
          <a:solidFill>
            <a:srgbClr val="333399"/>
          </a:solidFill>
          <a:ln>
            <a:noFill/>
          </a:ln>
        </p:spPr>
        <p:txBody>
          <a:bodyPr rtlCol="0" anchor="ctr"/>
          <a:lstStyle/>
          <a:p>
            <a:pPr algn="ctr"/>
          </a:p>
        </p:txBody>
      </p:sp>
      <p:sp>
        <p:nvSpPr>
          <p:cNvPr id="11" name="Rounded Rectangle 10"/>
          <p:cNvSpPr/>
          <p:nvPr/>
        </p:nvSpPr>
        <p:spPr>
          <a:xfrm>
            <a:off x="4846320" y="3383280"/>
            <a:ext cx="3840480" cy="1737360"/>
          </a:xfrm>
          <a:prstGeom prst="roundRect">
            <a:avLst>
              <a:gd name="adj" fmla="val 8000"/>
            </a:avLst>
          </a:prstGeom>
          <a:solidFill>
            <a:srgbClr val="333399"/>
          </a:solidFill>
          <a:ln>
            <a:noFill/>
          </a:ln>
        </p:spPr>
        <p:txBody>
          <a:bodyPr rtlCol="0" anchor="ctr" wrap="square"/>
          <a:lstStyle/>
          <a:p>
            <a:pPr algn="ctr" marL="0" indent="0">
              <a:lnSpc>
                <a:spcPct val="110000"/>
              </a:lnSpc>
              <a:buNone/>
            </a:pPr>
            <a:r>
              <a:rPr sz="1400" b="1" i="0">
                <a:solidFill>
                  <a:srgbClr val="FFFFFF"/>
                </a:solidFill>
                <a:latin typeface="Arial"/>
                <a:ea typeface="MS PGothic"/>
              </a:rPr>
              <a:t>비전 보조 항법</a:t>
            </a:r>
          </a:p>
          <a:p>
            <a:pPr algn="ctr" marL="0" indent="0">
              <a:lnSpc>
                <a:spcPct val="110000"/>
              </a:lnSpc>
              <a:buNone/>
            </a:pPr>
            <a:r>
              <a:rPr sz="1200" b="0" i="0">
                <a:solidFill>
                  <a:srgbClr val="FFFFFF"/>
                </a:solidFill>
                <a:latin typeface="Arial"/>
                <a:ea typeface="MS PGothic"/>
              </a:rPr>
              <a:t>카메라 영상의 움직임으로</a:t>
            </a:r>
          </a:p>
          <a:p>
            <a:pPr algn="ctr" marL="0" indent="0">
              <a:lnSpc>
                <a:spcPct val="110000"/>
              </a:lnSpc>
              <a:buNone/>
            </a:pPr>
            <a:r>
              <a:rPr sz="1200" b="0" i="0">
                <a:solidFill>
                  <a:srgbClr val="FFFFFF"/>
                </a:solidFill>
                <a:latin typeface="Arial"/>
                <a:ea typeface="MS PGothic"/>
              </a:rPr>
              <a:t>IMU의 누적 오차를 보정 [2]</a:t>
            </a:r>
          </a:p>
          <a:p>
            <a:pPr algn="ctr" marL="0" indent="0">
              <a:lnSpc>
                <a:spcPct val="110000"/>
              </a:lnSpc>
              <a:buNone/>
            </a:pPr>
            <a:r>
              <a:rPr sz="1200" b="0" i="0">
                <a:solidFill>
                  <a:srgbClr val="C8CEEA"/>
                </a:solidFill>
                <a:latin typeface="Arial"/>
                <a:ea typeface="MS PGothic"/>
              </a:rPr>
              <a:t>예: NASA 화성 헬리콥터 Ingenuity</a:t>
            </a:r>
          </a:p>
          <a:p>
            <a:pPr algn="ctr" marL="0" indent="0">
              <a:lnSpc>
                <a:spcPct val="110000"/>
              </a:lnSpc>
              <a:buNone/>
            </a:pPr>
            <a:r>
              <a:rPr sz="1200" b="0" i="0">
                <a:solidFill>
                  <a:srgbClr val="C8CEEA"/>
                </a:solidFill>
                <a:latin typeface="Arial"/>
                <a:ea typeface="MS PGothic"/>
              </a:rPr>
              <a:t>(하향 카메라 + IMU) [3]</a:t>
            </a:r>
          </a:p>
        </p:txBody>
      </p:sp>
      <p:sp>
        <p:nvSpPr>
          <p:cNvPr id="12" name="Rounded Rectangle 11"/>
          <p:cNvSpPr/>
          <p:nvPr/>
        </p:nvSpPr>
        <p:spPr>
          <a:xfrm>
            <a:off x="457200" y="5349240"/>
            <a:ext cx="8229600" cy="54864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400" b="1" i="0">
                <a:solidFill>
                  <a:srgbClr val="000F65"/>
                </a:solidFill>
                <a:latin typeface="Arial"/>
                <a:ea typeface="MS PGothic"/>
              </a:rPr>
              <a:t>본 연구: GPS 사용 불가 환경을 위한 카메라·IMU 다중센서 융합 기반 비전 보조 항법</a:t>
            </a:r>
          </a:p>
        </p:txBody>
      </p:sp>
    </p:spTree>
    <p:extLst>
      <p:ext uri="{BB962C8B-B14F-4D97-AF65-F5344CB8AC3E}">
        <p14:creationId xmlns:p14="http://schemas.microsoft.com/office/powerpoint/2010/main" val="371350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연구의 필요성</a:t>
            </a:r>
          </a:p>
        </p:txBody>
      </p:sp>
      <p:sp>
        <p:nvSpPr>
          <p:cNvPr id="3" name="TextBox 2"/>
          <p:cNvSpPr txBox="1"/>
          <p:nvPr/>
        </p:nvSpPr>
        <p:spPr>
          <a:xfrm>
            <a:off x="457200" y="987552"/>
            <a:ext cx="8229600" cy="411480"/>
          </a:xfrm>
          <a:prstGeom prst="rect">
            <a:avLst/>
          </a:prstGeom>
          <a:noFill/>
        </p:spPr>
        <p:txBody>
          <a:bodyPr wrap="square" lIns="0" rIns="0">
            <a:spAutoFit/>
          </a:bodyPr>
          <a:lstStyle/>
          <a:p>
            <a:pPr algn="ctr"/>
            <a:r>
              <a:rPr sz="1700" b="1" i="0">
                <a:solidFill>
                  <a:srgbClr val="000F65"/>
                </a:solidFill>
                <a:latin typeface="Arial"/>
                <a:ea typeface="MS PGothic"/>
              </a:rPr>
              <a:t>카메라와 IMU는 서로의 약점을 보완한다</a:t>
            </a:r>
          </a:p>
        </p:txBody>
      </p:sp>
      <p:sp>
        <p:nvSpPr>
          <p:cNvPr id="4" name="Rounded Rectangle 3"/>
          <p:cNvSpPr/>
          <p:nvPr/>
        </p:nvSpPr>
        <p:spPr>
          <a:xfrm>
            <a:off x="457200" y="1554480"/>
            <a:ext cx="3977639" cy="438912"/>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IMU</a:t>
            </a:r>
          </a:p>
        </p:txBody>
      </p:sp>
      <p:sp>
        <p:nvSpPr>
          <p:cNvPr id="5" name="Rounded Rectangle 4"/>
          <p:cNvSpPr/>
          <p:nvPr/>
        </p:nvSpPr>
        <p:spPr>
          <a:xfrm>
            <a:off x="457200" y="2057400"/>
            <a:ext cx="3977639" cy="566928"/>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장점</a:t>
            </a:r>
          </a:p>
          <a:p>
            <a:pPr algn="ctr" marL="0" indent="0">
              <a:lnSpc>
                <a:spcPct val="110000"/>
              </a:lnSpc>
              <a:buNone/>
            </a:pPr>
            <a:r>
              <a:rPr sz="1200" b="0" i="0">
                <a:solidFill>
                  <a:srgbClr val="333333"/>
                </a:solidFill>
                <a:latin typeface="Arial"/>
                <a:ea typeface="MS PGothic"/>
              </a:rPr>
              <a:t>높은 주기로 측정 → 끊김 없는 움직임 예측</a:t>
            </a:r>
          </a:p>
        </p:txBody>
      </p:sp>
      <p:sp>
        <p:nvSpPr>
          <p:cNvPr id="6" name="Rounded Rectangle 5"/>
          <p:cNvSpPr/>
          <p:nvPr/>
        </p:nvSpPr>
        <p:spPr>
          <a:xfrm>
            <a:off x="457200" y="2688336"/>
            <a:ext cx="3977639" cy="658368"/>
          </a:xfrm>
          <a:prstGeom prst="roundRect">
            <a:avLst>
              <a:gd name="adj" fmla="val 8000"/>
            </a:avLst>
          </a:prstGeom>
          <a:solidFill>
            <a:srgbClr val="FFFFFF"/>
          </a:solidFill>
          <a:ln w="9525">
            <a:solidFill>
              <a:srgbClr val="BFBFBF"/>
            </a:solidFill>
          </a:ln>
        </p:spPr>
        <p:txBody>
          <a:bodyPr rtlCol="0" anchor="ctr" wrap="square"/>
          <a:lstStyle/>
          <a:p>
            <a:pPr algn="ctr" marL="0" indent="0">
              <a:lnSpc>
                <a:spcPct val="110000"/>
              </a:lnSpc>
              <a:buNone/>
            </a:pPr>
            <a:r>
              <a:rPr sz="1200" b="1" i="0">
                <a:solidFill>
                  <a:srgbClr val="C00000"/>
                </a:solidFill>
                <a:latin typeface="Arial"/>
                <a:ea typeface="MS PGothic"/>
              </a:rPr>
              <a:t>한계</a:t>
            </a:r>
          </a:p>
          <a:p>
            <a:pPr algn="ctr" marL="0" indent="0">
              <a:lnSpc>
                <a:spcPct val="110000"/>
              </a:lnSpc>
              <a:buNone/>
            </a:pPr>
            <a:r>
              <a:rPr sz="1200" b="0" i="0">
                <a:solidFill>
                  <a:srgbClr val="333333"/>
                </a:solidFill>
                <a:latin typeface="Arial"/>
                <a:ea typeface="MS PGothic"/>
              </a:rPr>
              <a:t>적분 오차 누적 → 장시간 사용 시 오차 증가</a:t>
            </a:r>
          </a:p>
        </p:txBody>
      </p:sp>
      <p:sp>
        <p:nvSpPr>
          <p:cNvPr id="7" name="Rounded Rectangle 6"/>
          <p:cNvSpPr/>
          <p:nvPr/>
        </p:nvSpPr>
        <p:spPr>
          <a:xfrm>
            <a:off x="4709160" y="1554480"/>
            <a:ext cx="3977639" cy="438912"/>
          </a:xfrm>
          <a:prstGeom prst="roundRect">
            <a:avLst>
              <a:gd name="adj" fmla="val 8000"/>
            </a:avLst>
          </a:prstGeom>
          <a:solidFill>
            <a:srgbClr val="333399"/>
          </a:solidFill>
          <a:ln>
            <a:noFill/>
          </a:ln>
        </p:spPr>
        <p:txBody>
          <a:bodyPr rtlCol="0" anchor="ctr" wrap="square"/>
          <a:lstStyle/>
          <a:p>
            <a:pPr algn="ctr" marL="0" indent="0">
              <a:lnSpc>
                <a:spcPct val="110000"/>
              </a:lnSpc>
              <a:buNone/>
            </a:pPr>
            <a:r>
              <a:rPr sz="1400" b="1" i="0">
                <a:solidFill>
                  <a:srgbClr val="FFFFFF"/>
                </a:solidFill>
                <a:latin typeface="Arial"/>
                <a:ea typeface="MS PGothic"/>
              </a:rPr>
              <a:t>카메라</a:t>
            </a:r>
          </a:p>
        </p:txBody>
      </p:sp>
      <p:sp>
        <p:nvSpPr>
          <p:cNvPr id="8" name="Rounded Rectangle 7"/>
          <p:cNvSpPr/>
          <p:nvPr/>
        </p:nvSpPr>
        <p:spPr>
          <a:xfrm>
            <a:off x="4709160" y="2057400"/>
            <a:ext cx="3977639" cy="566928"/>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장점</a:t>
            </a:r>
          </a:p>
          <a:p>
            <a:pPr algn="ctr" marL="0" indent="0">
              <a:lnSpc>
                <a:spcPct val="110000"/>
              </a:lnSpc>
              <a:buNone/>
            </a:pPr>
            <a:r>
              <a:rPr sz="1200" b="0" i="0">
                <a:solidFill>
                  <a:srgbClr val="333333"/>
                </a:solidFill>
                <a:latin typeface="Arial"/>
                <a:ea typeface="MS PGothic"/>
              </a:rPr>
              <a:t>주변 환경 관측 → 누적 오차 보정</a:t>
            </a:r>
          </a:p>
        </p:txBody>
      </p:sp>
      <p:sp>
        <p:nvSpPr>
          <p:cNvPr id="9" name="Rounded Rectangle 8"/>
          <p:cNvSpPr/>
          <p:nvPr/>
        </p:nvSpPr>
        <p:spPr>
          <a:xfrm>
            <a:off x="4709160" y="2688336"/>
            <a:ext cx="3977639" cy="658368"/>
          </a:xfrm>
          <a:prstGeom prst="roundRect">
            <a:avLst>
              <a:gd name="adj" fmla="val 8000"/>
            </a:avLst>
          </a:prstGeom>
          <a:solidFill>
            <a:srgbClr val="FFFFFF"/>
          </a:solidFill>
          <a:ln w="9525">
            <a:solidFill>
              <a:srgbClr val="BFBFBF"/>
            </a:solidFill>
          </a:ln>
        </p:spPr>
        <p:txBody>
          <a:bodyPr rtlCol="0" anchor="ctr" wrap="square"/>
          <a:lstStyle/>
          <a:p>
            <a:pPr algn="ctr" marL="0" indent="0">
              <a:lnSpc>
                <a:spcPct val="110000"/>
              </a:lnSpc>
              <a:buNone/>
            </a:pPr>
            <a:r>
              <a:rPr sz="1200" b="1" i="0">
                <a:solidFill>
                  <a:srgbClr val="C00000"/>
                </a:solidFill>
                <a:latin typeface="Arial"/>
                <a:ea typeface="MS PGothic"/>
              </a:rPr>
              <a:t>한계</a:t>
            </a:r>
          </a:p>
          <a:p>
            <a:pPr algn="ctr" marL="0" indent="0">
              <a:lnSpc>
                <a:spcPct val="110000"/>
              </a:lnSpc>
              <a:buNone/>
            </a:pPr>
            <a:r>
              <a:rPr sz="1200" b="0" i="0">
                <a:solidFill>
                  <a:srgbClr val="333333"/>
                </a:solidFill>
                <a:latin typeface="Arial"/>
                <a:ea typeface="MS PGothic"/>
              </a:rPr>
              <a:t>조명 변화·영상 흐림·특징점 부족, 깊이(거리 스케일) 불확실</a:t>
            </a:r>
          </a:p>
        </p:txBody>
      </p:sp>
      <p:sp>
        <p:nvSpPr>
          <p:cNvPr id="10" name="Down Arrow 9"/>
          <p:cNvSpPr/>
          <p:nvPr/>
        </p:nvSpPr>
        <p:spPr>
          <a:xfrm>
            <a:off x="4389120" y="3429000"/>
            <a:ext cx="365760" cy="274320"/>
          </a:xfrm>
          <a:prstGeom prst="downArrow">
            <a:avLst/>
          </a:prstGeom>
          <a:solidFill>
            <a:srgbClr val="333399"/>
          </a:solidFill>
          <a:ln>
            <a:noFill/>
          </a:ln>
        </p:spPr>
        <p:txBody>
          <a:bodyPr rtlCol="0" anchor="ctr"/>
          <a:lstStyle/>
          <a:p>
            <a:pPr algn="ctr"/>
          </a:p>
        </p:txBody>
      </p:sp>
      <p:sp>
        <p:nvSpPr>
          <p:cNvPr id="11" name="Rounded Rectangle 10"/>
          <p:cNvSpPr/>
          <p:nvPr/>
        </p:nvSpPr>
        <p:spPr>
          <a:xfrm>
            <a:off x="1828800" y="3749039"/>
            <a:ext cx="5486400" cy="45720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상호 보완 → 다중센서 융합</a:t>
            </a:r>
          </a:p>
        </p:txBody>
      </p:sp>
      <p:sp>
        <p:nvSpPr>
          <p:cNvPr id="12" name="Rounded Rectangle 11"/>
          <p:cNvSpPr/>
          <p:nvPr/>
        </p:nvSpPr>
        <p:spPr>
          <a:xfrm>
            <a:off x="457200" y="4389120"/>
            <a:ext cx="8229600" cy="713232"/>
          </a:xfrm>
          <a:prstGeom prst="roundRect">
            <a:avLst>
              <a:gd name="adj" fmla="val 8000"/>
            </a:avLst>
          </a:prstGeom>
          <a:solidFill>
            <a:srgbClr val="FFFFFF"/>
          </a:solidFill>
          <a:ln w="15875">
            <a:solidFill>
              <a:srgbClr val="C00000"/>
            </a:solidFill>
          </a:ln>
        </p:spPr>
        <p:txBody>
          <a:bodyPr rtlCol="0" anchor="ctr" wrap="square"/>
          <a:lstStyle/>
          <a:p>
            <a:pPr algn="ctr" marL="0" indent="0">
              <a:lnSpc>
                <a:spcPct val="110000"/>
              </a:lnSpc>
              <a:buNone/>
            </a:pPr>
            <a:r>
              <a:rPr sz="1200" b="1" i="0">
                <a:solidFill>
                  <a:srgbClr val="C00000"/>
                </a:solidFill>
                <a:latin typeface="Arial"/>
                <a:ea typeface="MS PGothic"/>
              </a:rPr>
              <a:t>현실적 문제</a:t>
            </a:r>
          </a:p>
          <a:p>
            <a:pPr algn="ctr" marL="0" indent="0">
              <a:lnSpc>
                <a:spcPct val="110000"/>
              </a:lnSpc>
              <a:buNone/>
            </a:pPr>
            <a:r>
              <a:rPr sz="1200" b="0" i="0">
                <a:solidFill>
                  <a:srgbClr val="333333"/>
                </a:solidFill>
                <a:latin typeface="Arial"/>
                <a:ea typeface="MS PGothic"/>
              </a:rPr>
              <a:t>영상 품질이 떨어지는 구간에서도 영상 관측을 고정된 비중으로 반영하면, 추정의 정확성과 안정성이 떨어질 수 있다</a:t>
            </a:r>
          </a:p>
        </p:txBody>
      </p:sp>
      <p:sp>
        <p:nvSpPr>
          <p:cNvPr id="13" name="Rounded Rectangle 12"/>
          <p:cNvSpPr/>
          <p:nvPr/>
        </p:nvSpPr>
        <p:spPr>
          <a:xfrm>
            <a:off x="457200" y="5257800"/>
            <a:ext cx="8229600" cy="64008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해결 방향</a:t>
            </a:r>
          </a:p>
          <a:p>
            <a:pPr algn="ctr" marL="0" indent="0">
              <a:lnSpc>
                <a:spcPct val="110000"/>
              </a:lnSpc>
              <a:buNone/>
            </a:pPr>
            <a:r>
              <a:rPr sz="1400" b="1" i="0">
                <a:solidFill>
                  <a:srgbClr val="000F65"/>
                </a:solidFill>
                <a:latin typeface="Arial"/>
                <a:ea typeface="MS PGothic"/>
              </a:rPr>
              <a:t>영상 측정 품질을 평가하여 관측 반영 비중을 조절하는 다중센서 융합</a:t>
            </a:r>
          </a:p>
        </p:txBody>
      </p:sp>
    </p:spTree>
    <p:extLst>
      <p:ext uri="{BB962C8B-B14F-4D97-AF65-F5344CB8AC3E}">
        <p14:creationId xmlns:p14="http://schemas.microsoft.com/office/powerpoint/2010/main" val="371350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 목적</a:t>
            </a:r>
          </a:p>
        </p:txBody>
      </p:sp>
      <p:sp>
        <p:nvSpPr>
          <p:cNvPr id="3" name="TextBox 2"/>
          <p:cNvSpPr txBox="1"/>
          <p:nvPr/>
        </p:nvSpPr>
        <p:spPr>
          <a:xfrm>
            <a:off x="457200" y="987552"/>
            <a:ext cx="8229600" cy="411480"/>
          </a:xfrm>
          <a:prstGeom prst="rect">
            <a:avLst/>
          </a:prstGeom>
          <a:noFill/>
        </p:spPr>
        <p:txBody>
          <a:bodyPr wrap="square" lIns="0" rIns="0">
            <a:spAutoFit/>
          </a:bodyPr>
          <a:lstStyle/>
          <a:p>
            <a:pPr algn="ctr"/>
            <a:r>
              <a:rPr sz="1700" b="1" i="0">
                <a:solidFill>
                  <a:srgbClr val="000F65"/>
                </a:solidFill>
                <a:latin typeface="Arial"/>
                <a:ea typeface="MS PGothic"/>
              </a:rPr>
              <a:t>IMU 예측 + 영상 보정 + 영상 품질 반영</a:t>
            </a:r>
          </a:p>
        </p:txBody>
      </p:sp>
      <p:sp>
        <p:nvSpPr>
          <p:cNvPr id="4" name="Rounded Rectangle 3"/>
          <p:cNvSpPr/>
          <p:nvPr/>
        </p:nvSpPr>
        <p:spPr>
          <a:xfrm>
            <a:off x="457200" y="1691640"/>
            <a:ext cx="2377440" cy="1051560"/>
          </a:xfrm>
          <a:prstGeom prst="roundRect">
            <a:avLst>
              <a:gd name="adj" fmla="val 8000"/>
            </a:avLst>
          </a:prstGeom>
          <a:solidFill>
            <a:srgbClr val="333399"/>
          </a:solidFill>
          <a:ln>
            <a:noFill/>
          </a:ln>
        </p:spPr>
        <p:txBody>
          <a:bodyPr rtlCol="0" anchor="ctr" wrap="square"/>
          <a:lstStyle/>
          <a:p>
            <a:pPr algn="ctr" marL="0" indent="0">
              <a:lnSpc>
                <a:spcPct val="110000"/>
              </a:lnSpc>
              <a:buNone/>
            </a:pPr>
            <a:r>
              <a:rPr sz="1400" b="1" i="0">
                <a:solidFill>
                  <a:srgbClr val="FFFFFF"/>
                </a:solidFill>
                <a:latin typeface="Arial"/>
                <a:ea typeface="MS PGothic"/>
              </a:rPr>
              <a:t>IMU 예측</a:t>
            </a:r>
          </a:p>
          <a:p>
            <a:pPr algn="ctr" marL="0" indent="0">
              <a:lnSpc>
                <a:spcPct val="110000"/>
              </a:lnSpc>
              <a:buNone/>
            </a:pPr>
            <a:r>
              <a:rPr sz="1200" b="0" i="0">
                <a:solidFill>
                  <a:srgbClr val="C8CEEA"/>
                </a:solidFill>
                <a:latin typeface="Arial"/>
                <a:ea typeface="MS PGothic"/>
              </a:rPr>
              <a:t>운동 상태 예측</a:t>
            </a:r>
          </a:p>
        </p:txBody>
      </p:sp>
      <p:sp>
        <p:nvSpPr>
          <p:cNvPr id="5" name="TextBox 4"/>
          <p:cNvSpPr txBox="1"/>
          <p:nvPr/>
        </p:nvSpPr>
        <p:spPr>
          <a:xfrm>
            <a:off x="457200" y="2852928"/>
            <a:ext cx="2377440" cy="914400"/>
          </a:xfrm>
          <a:prstGeom prst="rect">
            <a:avLst/>
          </a:prstGeom>
          <a:noFill/>
        </p:spPr>
        <p:txBody>
          <a:bodyPr wrap="square" anchor="t" lIns="18288" rIns="18288" tIns="0" bIns="0">
            <a:spAutoFit/>
          </a:bodyPr>
          <a:lstStyle/>
          <a:p>
            <a:pPr algn="l" marL="0" indent="0">
              <a:lnSpc>
                <a:spcPct val="110000"/>
              </a:lnSpc>
              <a:buNone/>
            </a:pPr>
            <a:r>
              <a:rPr sz="1200" b="1" i="0">
                <a:solidFill>
                  <a:srgbClr val="1A1A1A"/>
                </a:solidFill>
                <a:latin typeface="Arial"/>
                <a:ea typeface="MS PGothic"/>
              </a:rPr>
              <a:t>가속도·각속도로 이동체의 운동 상태를 연속적으로 예측</a:t>
            </a:r>
          </a:p>
        </p:txBody>
      </p:sp>
      <p:sp>
        <p:nvSpPr>
          <p:cNvPr id="6" name="Right Arrow 5"/>
          <p:cNvSpPr/>
          <p:nvPr/>
        </p:nvSpPr>
        <p:spPr>
          <a:xfrm>
            <a:off x="2907792" y="2075688"/>
            <a:ext cx="402336" cy="310896"/>
          </a:xfrm>
          <a:prstGeom prst="rightArrow">
            <a:avLst/>
          </a:prstGeom>
          <a:solidFill>
            <a:srgbClr val="333399"/>
          </a:solidFill>
          <a:ln>
            <a:noFill/>
          </a:ln>
        </p:spPr>
        <p:txBody>
          <a:bodyPr rtlCol="0" anchor="ctr"/>
          <a:lstStyle/>
          <a:p>
            <a:pPr algn="ctr"/>
          </a:p>
        </p:txBody>
      </p:sp>
      <p:sp>
        <p:nvSpPr>
          <p:cNvPr id="7" name="Rounded Rectangle 6"/>
          <p:cNvSpPr/>
          <p:nvPr/>
        </p:nvSpPr>
        <p:spPr>
          <a:xfrm>
            <a:off x="3383280" y="1691640"/>
            <a:ext cx="2377440" cy="105156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영상 기반 보정</a:t>
            </a:r>
          </a:p>
          <a:p>
            <a:pPr algn="ctr" marL="0" indent="0">
              <a:lnSpc>
                <a:spcPct val="110000"/>
              </a:lnSpc>
              <a:buNone/>
            </a:pPr>
            <a:r>
              <a:rPr sz="1200" b="0" i="0">
                <a:solidFill>
                  <a:srgbClr val="C8CEEA"/>
                </a:solidFill>
                <a:latin typeface="Arial"/>
                <a:ea typeface="MS PGothic"/>
              </a:rPr>
              <a:t>옵티컬 플로우</a:t>
            </a:r>
          </a:p>
        </p:txBody>
      </p:sp>
      <p:sp>
        <p:nvSpPr>
          <p:cNvPr id="8" name="TextBox 7"/>
          <p:cNvSpPr txBox="1"/>
          <p:nvPr/>
        </p:nvSpPr>
        <p:spPr>
          <a:xfrm>
            <a:off x="3383280" y="2852928"/>
            <a:ext cx="2377440" cy="914400"/>
          </a:xfrm>
          <a:prstGeom prst="rect">
            <a:avLst/>
          </a:prstGeom>
          <a:noFill/>
        </p:spPr>
        <p:txBody>
          <a:bodyPr wrap="square" anchor="t" lIns="18288" rIns="18288" tIns="0" bIns="0">
            <a:spAutoFit/>
          </a:bodyPr>
          <a:lstStyle/>
          <a:p>
            <a:pPr algn="l" marL="0" indent="0">
              <a:lnSpc>
                <a:spcPct val="110000"/>
              </a:lnSpc>
              <a:buNone/>
            </a:pPr>
            <a:r>
              <a:rPr sz="1200" b="1" i="0">
                <a:solidFill>
                  <a:srgbClr val="1A1A1A"/>
                </a:solidFill>
                <a:latin typeface="Arial"/>
                <a:ea typeface="MS PGothic"/>
              </a:rPr>
              <a:t>KLT 옵티컬 플로우로 얻은 영상 움직임으로 누적 오차 보정</a:t>
            </a:r>
          </a:p>
        </p:txBody>
      </p:sp>
      <p:sp>
        <p:nvSpPr>
          <p:cNvPr id="9" name="Right Arrow 8"/>
          <p:cNvSpPr/>
          <p:nvPr/>
        </p:nvSpPr>
        <p:spPr>
          <a:xfrm>
            <a:off x="5833872" y="2075688"/>
            <a:ext cx="402336" cy="310896"/>
          </a:xfrm>
          <a:prstGeom prst="rightArrow">
            <a:avLst/>
          </a:prstGeom>
          <a:solidFill>
            <a:srgbClr val="333399"/>
          </a:solidFill>
          <a:ln>
            <a:noFill/>
          </a:ln>
        </p:spPr>
        <p:txBody>
          <a:bodyPr rtlCol="0" anchor="ctr"/>
          <a:lstStyle/>
          <a:p>
            <a:pPr algn="ctr"/>
          </a:p>
        </p:txBody>
      </p:sp>
      <p:sp>
        <p:nvSpPr>
          <p:cNvPr id="10" name="Rounded Rectangle 9"/>
          <p:cNvSpPr/>
          <p:nvPr/>
        </p:nvSpPr>
        <p:spPr>
          <a:xfrm>
            <a:off x="6309360" y="1691640"/>
            <a:ext cx="2377440" cy="1051560"/>
          </a:xfrm>
          <a:prstGeom prst="roundRect">
            <a:avLst>
              <a:gd name="adj" fmla="val 8000"/>
            </a:avLst>
          </a:prstGeom>
          <a:solidFill>
            <a:srgbClr val="333399"/>
          </a:solidFill>
          <a:ln>
            <a:noFill/>
          </a:ln>
        </p:spPr>
        <p:txBody>
          <a:bodyPr rtlCol="0" anchor="ctr" wrap="square"/>
          <a:lstStyle/>
          <a:p>
            <a:pPr algn="ctr" marL="0" indent="0">
              <a:lnSpc>
                <a:spcPct val="110000"/>
              </a:lnSpc>
              <a:buNone/>
            </a:pPr>
            <a:r>
              <a:rPr sz="1400" b="1" i="0">
                <a:solidFill>
                  <a:srgbClr val="FFFFFF"/>
                </a:solidFill>
                <a:latin typeface="Arial"/>
                <a:ea typeface="MS PGothic"/>
              </a:rPr>
              <a:t>영상 품질 반영</a:t>
            </a:r>
          </a:p>
          <a:p>
            <a:pPr algn="ctr" marL="0" indent="0">
              <a:lnSpc>
                <a:spcPct val="110000"/>
              </a:lnSpc>
              <a:buNone/>
            </a:pPr>
            <a:r>
              <a:rPr sz="1200" b="0" i="0">
                <a:solidFill>
                  <a:srgbClr val="C8CEEA"/>
                </a:solidFill>
                <a:latin typeface="Arial"/>
                <a:ea typeface="MS PGothic"/>
              </a:rPr>
              <a:t>신뢰도 기반 비중 조절</a:t>
            </a:r>
          </a:p>
        </p:txBody>
      </p:sp>
      <p:sp>
        <p:nvSpPr>
          <p:cNvPr id="11" name="TextBox 10"/>
          <p:cNvSpPr txBox="1"/>
          <p:nvPr/>
        </p:nvSpPr>
        <p:spPr>
          <a:xfrm>
            <a:off x="6309360" y="2852928"/>
            <a:ext cx="2377440" cy="914400"/>
          </a:xfrm>
          <a:prstGeom prst="rect">
            <a:avLst/>
          </a:prstGeom>
          <a:noFill/>
        </p:spPr>
        <p:txBody>
          <a:bodyPr wrap="square" anchor="t" lIns="18288" rIns="18288" tIns="0" bIns="0">
            <a:spAutoFit/>
          </a:bodyPr>
          <a:lstStyle/>
          <a:p>
            <a:pPr algn="l" marL="0" indent="0">
              <a:lnSpc>
                <a:spcPct val="110000"/>
              </a:lnSpc>
              <a:buNone/>
            </a:pPr>
            <a:r>
              <a:rPr sz="1200" b="1" i="0">
                <a:solidFill>
                  <a:srgbClr val="1A1A1A"/>
                </a:solidFill>
                <a:latin typeface="Arial"/>
                <a:ea typeface="MS PGothic"/>
              </a:rPr>
              <a:t>특징점 수·추적 성공률·잔차로 영상 신뢰도를 판단하여 보정 비중 조절</a:t>
            </a:r>
          </a:p>
        </p:txBody>
      </p:sp>
      <p:sp>
        <p:nvSpPr>
          <p:cNvPr id="12" name="Rounded Rectangle 11"/>
          <p:cNvSpPr/>
          <p:nvPr/>
        </p:nvSpPr>
        <p:spPr>
          <a:xfrm>
            <a:off x="457200" y="4069080"/>
            <a:ext cx="8229600" cy="86868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연구 목적</a:t>
            </a:r>
          </a:p>
          <a:p>
            <a:pPr algn="ctr" marL="0" indent="0">
              <a:lnSpc>
                <a:spcPct val="110000"/>
              </a:lnSpc>
              <a:buNone/>
            </a:pPr>
            <a:r>
              <a:rPr sz="1400" b="1" i="0">
                <a:solidFill>
                  <a:srgbClr val="1A1A1A"/>
                </a:solidFill>
                <a:latin typeface="Arial"/>
                <a:ea typeface="MS PGothic"/>
              </a:rPr>
              <a:t>IMU 예측과 영상 보정을 결합한 filter 기반 상태추정을 구현하고,</a:t>
            </a:r>
          </a:p>
          <a:p>
            <a:pPr algn="ctr" marL="0" indent="0">
              <a:lnSpc>
                <a:spcPct val="110000"/>
              </a:lnSpc>
              <a:buNone/>
            </a:pPr>
            <a:r>
              <a:rPr sz="1400" b="1" i="0">
                <a:solidFill>
                  <a:srgbClr val="1A1A1A"/>
                </a:solidFill>
                <a:latin typeface="Arial"/>
                <a:ea typeface="MS PGothic"/>
              </a:rPr>
              <a:t>영상 측정 품질에 따른 추정 성능 변화를 분석한다</a:t>
            </a:r>
          </a:p>
        </p:txBody>
      </p:sp>
      <p:sp>
        <p:nvSpPr>
          <p:cNvPr id="13" name="Rounded Rectangle 12"/>
          <p:cNvSpPr/>
          <p:nvPr/>
        </p:nvSpPr>
        <p:spPr>
          <a:xfrm>
            <a:off x="457200" y="5120640"/>
            <a:ext cx="8229600" cy="68580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최종 목표: GPS 사용 불가 환경에서 위치·속도·자세 추정의 정확성과 안정성 평가</a:t>
            </a:r>
          </a:p>
        </p:txBody>
      </p:sp>
    </p:spTree>
    <p:extLst>
      <p:ext uri="{BB962C8B-B14F-4D97-AF65-F5344CB8AC3E}">
        <p14:creationId xmlns:p14="http://schemas.microsoft.com/office/powerpoint/2010/main" val="371350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이론적 배경 ① 상태추정 filter</a:t>
            </a:r>
          </a:p>
        </p:txBody>
      </p:sp>
      <p:sp>
        <p:nvSpPr>
          <p:cNvPr id="3" name="TextBox 2"/>
          <p:cNvSpPr txBox="1"/>
          <p:nvPr/>
        </p:nvSpPr>
        <p:spPr>
          <a:xfrm>
            <a:off x="457200" y="987552"/>
            <a:ext cx="8229600" cy="411480"/>
          </a:xfrm>
          <a:prstGeom prst="rect">
            <a:avLst/>
          </a:prstGeom>
          <a:noFill/>
        </p:spPr>
        <p:txBody>
          <a:bodyPr wrap="square" lIns="0" rIns="0">
            <a:spAutoFit/>
          </a:bodyPr>
          <a:lstStyle/>
          <a:p>
            <a:pPr algn="ctr"/>
            <a:r>
              <a:rPr sz="1700" b="1" i="0">
                <a:solidFill>
                  <a:srgbClr val="000F65"/>
                </a:solidFill>
                <a:latin typeface="Arial"/>
                <a:ea typeface="MS PGothic"/>
              </a:rPr>
              <a:t>운동 모델로 예측하고, 센서 관측으로 보정한다</a:t>
            </a:r>
          </a:p>
        </p:txBody>
      </p:sp>
      <p:sp>
        <p:nvSpPr>
          <p:cNvPr id="4" name="Rounded Rectangle 3"/>
          <p:cNvSpPr/>
          <p:nvPr/>
        </p:nvSpPr>
        <p:spPr>
          <a:xfrm>
            <a:off x="457200" y="1783080"/>
            <a:ext cx="1554480" cy="68580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400" b="1" i="0">
                <a:solidFill>
                  <a:srgbClr val="000F65"/>
                </a:solidFill>
                <a:latin typeface="Arial"/>
                <a:ea typeface="MS PGothic"/>
              </a:rPr>
              <a:t>IMU</a:t>
            </a:r>
          </a:p>
          <a:p>
            <a:pPr algn="ctr" marL="0" indent="0">
              <a:lnSpc>
                <a:spcPct val="110000"/>
              </a:lnSpc>
              <a:buNone/>
            </a:pPr>
            <a:r>
              <a:rPr sz="1050" b="0" i="0">
                <a:solidFill>
                  <a:srgbClr val="333333"/>
                </a:solidFill>
                <a:latin typeface="Arial"/>
                <a:ea typeface="MS PGothic"/>
              </a:rPr>
              <a:t>가속도·각속도 u</a:t>
            </a:r>
          </a:p>
        </p:txBody>
      </p:sp>
      <p:sp>
        <p:nvSpPr>
          <p:cNvPr id="5" name="Right Arrow 4"/>
          <p:cNvSpPr/>
          <p:nvPr/>
        </p:nvSpPr>
        <p:spPr>
          <a:xfrm>
            <a:off x="2084832" y="1984248"/>
            <a:ext cx="365760" cy="292608"/>
          </a:xfrm>
          <a:prstGeom prst="rightArrow">
            <a:avLst/>
          </a:prstGeom>
          <a:solidFill>
            <a:srgbClr val="333399"/>
          </a:solidFill>
          <a:ln>
            <a:noFill/>
          </a:ln>
        </p:spPr>
        <p:txBody>
          <a:bodyPr rtlCol="0" anchor="ctr"/>
          <a:lstStyle/>
          <a:p>
            <a:pPr algn="ctr"/>
          </a:p>
        </p:txBody>
      </p:sp>
      <p:sp>
        <p:nvSpPr>
          <p:cNvPr id="6" name="Rounded Rectangle 5"/>
          <p:cNvSpPr/>
          <p:nvPr/>
        </p:nvSpPr>
        <p:spPr>
          <a:xfrm>
            <a:off x="2514600" y="1600200"/>
            <a:ext cx="2514600" cy="1051560"/>
          </a:xfrm>
          <a:prstGeom prst="roundRect">
            <a:avLst>
              <a:gd name="adj" fmla="val 8000"/>
            </a:avLst>
          </a:prstGeom>
          <a:solidFill>
            <a:srgbClr val="333399"/>
          </a:solidFill>
          <a:ln>
            <a:noFill/>
          </a:ln>
        </p:spPr>
        <p:txBody>
          <a:bodyPr rtlCol="0" anchor="ctr" wrap="square"/>
          <a:lstStyle/>
          <a:p>
            <a:pPr algn="ctr" marL="0" indent="0">
              <a:lnSpc>
                <a:spcPct val="110000"/>
              </a:lnSpc>
              <a:buNone/>
            </a:pPr>
            <a:r>
              <a:rPr sz="1400" b="1" i="0">
                <a:solidFill>
                  <a:srgbClr val="FFFFFF"/>
                </a:solidFill>
                <a:latin typeface="Arial"/>
                <a:ea typeface="MS PGothic"/>
              </a:rPr>
              <a:t>예측 (Prediction)</a:t>
            </a:r>
          </a:p>
          <a:p>
            <a:pPr algn="ctr" marL="0" indent="0">
              <a:lnSpc>
                <a:spcPct val="110000"/>
              </a:lnSpc>
              <a:buNone/>
            </a:pPr>
            <a:r>
              <a:rPr sz="1400" b="0" i="0">
                <a:solidFill>
                  <a:srgbClr val="FFFFFF"/>
                </a:solidFill>
                <a:latin typeface="Arial"/>
                <a:ea typeface="MS PGothic"/>
              </a:rPr>
              <a:t>x⁻ₖ = f(xₖ₋₁, uₖ)</a:t>
            </a:r>
          </a:p>
          <a:p>
            <a:pPr algn="ctr" marL="0" indent="0">
              <a:lnSpc>
                <a:spcPct val="110000"/>
              </a:lnSpc>
              <a:buNone/>
            </a:pPr>
            <a:r>
              <a:rPr sz="1050" b="0" i="0">
                <a:solidFill>
                  <a:srgbClr val="C8CEEA"/>
                </a:solidFill>
                <a:latin typeface="Arial"/>
                <a:ea typeface="MS PGothic"/>
              </a:rPr>
              <a:t>공분산 P 증가</a:t>
            </a:r>
          </a:p>
        </p:txBody>
      </p:sp>
      <p:sp>
        <p:nvSpPr>
          <p:cNvPr id="7" name="Right Arrow 6"/>
          <p:cNvSpPr/>
          <p:nvPr/>
        </p:nvSpPr>
        <p:spPr>
          <a:xfrm>
            <a:off x="5102352" y="1984248"/>
            <a:ext cx="365760" cy="292608"/>
          </a:xfrm>
          <a:prstGeom prst="rightArrow">
            <a:avLst/>
          </a:prstGeom>
          <a:solidFill>
            <a:srgbClr val="333399"/>
          </a:solidFill>
          <a:ln>
            <a:noFill/>
          </a:ln>
        </p:spPr>
        <p:txBody>
          <a:bodyPr rtlCol="0" anchor="ctr"/>
          <a:lstStyle/>
          <a:p>
            <a:pPr algn="ctr"/>
          </a:p>
        </p:txBody>
      </p:sp>
      <p:sp>
        <p:nvSpPr>
          <p:cNvPr id="8" name="Rounded Rectangle 7"/>
          <p:cNvSpPr/>
          <p:nvPr/>
        </p:nvSpPr>
        <p:spPr>
          <a:xfrm>
            <a:off x="5532120" y="1600200"/>
            <a:ext cx="3154680" cy="105156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보정 (Update)</a:t>
            </a:r>
          </a:p>
          <a:p>
            <a:pPr algn="ctr" marL="0" indent="0">
              <a:lnSpc>
                <a:spcPct val="110000"/>
              </a:lnSpc>
              <a:buNone/>
            </a:pPr>
            <a:r>
              <a:rPr sz="1400" b="0" i="0">
                <a:solidFill>
                  <a:srgbClr val="FFFFFF"/>
                </a:solidFill>
                <a:latin typeface="Arial"/>
                <a:ea typeface="MS PGothic"/>
              </a:rPr>
              <a:t>xₖ = x⁻ₖ + Kₖ (zₖ − h(x⁻ₖ))</a:t>
            </a:r>
          </a:p>
          <a:p>
            <a:pPr algn="ctr" marL="0" indent="0">
              <a:lnSpc>
                <a:spcPct val="110000"/>
              </a:lnSpc>
              <a:buNone/>
            </a:pPr>
            <a:r>
              <a:rPr sz="1050" b="0" i="0">
                <a:solidFill>
                  <a:srgbClr val="C8CEEA"/>
                </a:solidFill>
                <a:latin typeface="Arial"/>
                <a:ea typeface="MS PGothic"/>
              </a:rPr>
              <a:t>공분산 P 감소</a:t>
            </a:r>
          </a:p>
        </p:txBody>
      </p:sp>
      <p:sp>
        <p:nvSpPr>
          <p:cNvPr id="9" name="Rounded Rectangle 8"/>
          <p:cNvSpPr/>
          <p:nvPr/>
        </p:nvSpPr>
        <p:spPr>
          <a:xfrm>
            <a:off x="6035040" y="2971800"/>
            <a:ext cx="2148840" cy="64008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400" b="1" i="0">
                <a:solidFill>
                  <a:srgbClr val="000F65"/>
                </a:solidFill>
                <a:latin typeface="Arial"/>
                <a:ea typeface="MS PGothic"/>
              </a:rPr>
              <a:t>카메라</a:t>
            </a:r>
          </a:p>
          <a:p>
            <a:pPr algn="ctr" marL="0" indent="0">
              <a:lnSpc>
                <a:spcPct val="110000"/>
              </a:lnSpc>
              <a:buNone/>
            </a:pPr>
            <a:r>
              <a:rPr sz="1050" b="0" i="0">
                <a:solidFill>
                  <a:srgbClr val="333333"/>
                </a:solidFill>
                <a:latin typeface="Arial"/>
                <a:ea typeface="MS PGothic"/>
              </a:rPr>
              <a:t>영상 관측 z (움직임)</a:t>
            </a:r>
          </a:p>
        </p:txBody>
      </p:sp>
      <p:sp>
        <p:nvSpPr>
          <p:cNvPr id="10" name="Down Arrow 9"/>
          <p:cNvSpPr/>
          <p:nvPr/>
        </p:nvSpPr>
        <p:spPr>
          <a:xfrm rot="10800000">
            <a:off x="6967728" y="2679192"/>
            <a:ext cx="292608" cy="274320"/>
          </a:xfrm>
          <a:prstGeom prst="downArrow">
            <a:avLst/>
          </a:prstGeom>
          <a:solidFill>
            <a:srgbClr val="333399"/>
          </a:solidFill>
          <a:ln>
            <a:noFill/>
          </a:ln>
        </p:spPr>
        <p:txBody>
          <a:bodyPr rtlCol="0" anchor="ctr"/>
          <a:lstStyle/>
          <a:p>
            <a:pPr algn="ctr"/>
          </a:p>
        </p:txBody>
      </p:sp>
      <p:cxnSp>
        <p:nvCxnSpPr>
          <p:cNvPr id="11" name="Connector 10"/>
          <p:cNvCxnSpPr/>
          <p:nvPr/>
        </p:nvCxnSpPr>
        <p:spPr>
          <a:xfrm>
            <a:off x="5760720" y="2651760"/>
            <a:ext cx="0" cy="777240"/>
          </a:xfrm>
          <a:prstGeom prst="line">
            <a:avLst/>
          </a:prstGeom>
          <a:ln w="1905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3749039" y="3429000"/>
            <a:ext cx="2011681" cy="0"/>
          </a:xfrm>
          <a:prstGeom prst="line">
            <a:avLst/>
          </a:prstGeom>
          <a:ln w="1905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749039" y="2670048"/>
            <a:ext cx="0" cy="758952"/>
          </a:xfrm>
          <a:prstGeom prst="line">
            <a:avLst/>
          </a:prstGeom>
          <a:ln w="19050">
            <a:solidFill>
              <a:srgbClr val="333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749039" y="3456432"/>
            <a:ext cx="2011680" cy="237744"/>
          </a:xfrm>
          <a:prstGeom prst="rect">
            <a:avLst/>
          </a:prstGeom>
          <a:noFill/>
        </p:spPr>
        <p:txBody>
          <a:bodyPr wrap="square" anchor="ctr" lIns="0" rIns="0" tIns="0" bIns="0">
            <a:spAutoFit/>
          </a:bodyPr>
          <a:lstStyle/>
          <a:p>
            <a:pPr algn="ctr" marL="0" indent="0">
              <a:lnSpc>
                <a:spcPct val="110000"/>
              </a:lnSpc>
              <a:buNone/>
            </a:pPr>
            <a:r>
              <a:rPr sz="1050" b="1" i="0">
                <a:solidFill>
                  <a:srgbClr val="333399"/>
                </a:solidFill>
                <a:latin typeface="Arial"/>
                <a:ea typeface="MS PGothic"/>
              </a:rPr>
              <a:t>다음 시점 (k → k+1) 반복</a:t>
            </a:r>
          </a:p>
        </p:txBody>
      </p:sp>
      <p:sp>
        <p:nvSpPr>
          <p:cNvPr id="15" name="Rounded Rectangle 14"/>
          <p:cNvSpPr/>
          <p:nvPr/>
        </p:nvSpPr>
        <p:spPr>
          <a:xfrm>
            <a:off x="457200" y="3977639"/>
            <a:ext cx="3977639" cy="118872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400" b="1" i="0">
                <a:solidFill>
                  <a:srgbClr val="000F65"/>
                </a:solidFill>
                <a:latin typeface="Arial"/>
                <a:ea typeface="MS PGothic"/>
              </a:rPr>
              <a:t>상태 x</a:t>
            </a:r>
          </a:p>
          <a:p>
            <a:pPr algn="ctr" marL="0" indent="0">
              <a:lnSpc>
                <a:spcPct val="110000"/>
              </a:lnSpc>
              <a:buNone/>
            </a:pPr>
            <a:r>
              <a:rPr sz="1200" b="0" i="0">
                <a:solidFill>
                  <a:srgbClr val="333333"/>
                </a:solidFill>
                <a:latin typeface="Arial"/>
                <a:ea typeface="MS PGothic"/>
              </a:rPr>
              <a:t>위치 · 속도 · 자세 (+ IMU 바이어스)</a:t>
            </a:r>
          </a:p>
          <a:p>
            <a:pPr algn="ctr" marL="0" indent="0">
              <a:lnSpc>
                <a:spcPct val="110000"/>
              </a:lnSpc>
              <a:buNone/>
            </a:pPr>
            <a:r>
              <a:rPr sz="1050" b="0" i="0">
                <a:solidFill>
                  <a:srgbClr val="666666"/>
                </a:solidFill>
                <a:latin typeface="Arial"/>
                <a:ea typeface="MS PGothic"/>
              </a:rPr>
              <a:t>filter 구조는 데이터 특성에 맞춰 선정 (예: EKF)</a:t>
            </a:r>
          </a:p>
        </p:txBody>
      </p:sp>
      <p:sp>
        <p:nvSpPr>
          <p:cNvPr id="16" name="Rounded Rectangle 15"/>
          <p:cNvSpPr/>
          <p:nvPr/>
        </p:nvSpPr>
        <p:spPr>
          <a:xfrm>
            <a:off x="4709160" y="3977639"/>
            <a:ext cx="3977639" cy="1188720"/>
          </a:xfrm>
          <a:prstGeom prst="roundRect">
            <a:avLst>
              <a:gd name="adj" fmla="val 8000"/>
            </a:avLst>
          </a:prstGeom>
          <a:solidFill>
            <a:srgbClr val="FFFFFF"/>
          </a:solidFill>
          <a:ln w="15875">
            <a:solidFill>
              <a:srgbClr val="C00000"/>
            </a:solidFill>
          </a:ln>
        </p:spPr>
        <p:txBody>
          <a:bodyPr rtlCol="0" anchor="ctr" wrap="square"/>
          <a:lstStyle/>
          <a:p>
            <a:pPr algn="ctr" marL="0" indent="0">
              <a:lnSpc>
                <a:spcPct val="110000"/>
              </a:lnSpc>
              <a:buNone/>
            </a:pPr>
            <a:r>
              <a:rPr sz="1400" b="1" i="0">
                <a:solidFill>
                  <a:srgbClr val="000F65"/>
                </a:solidFill>
                <a:latin typeface="Arial"/>
                <a:ea typeface="MS PGothic"/>
              </a:rPr>
              <a:t>칼만 이득 K</a:t>
            </a:r>
          </a:p>
          <a:p>
            <a:pPr algn="ctr" marL="0" indent="0">
              <a:lnSpc>
                <a:spcPct val="110000"/>
              </a:lnSpc>
              <a:buNone/>
            </a:pPr>
            <a:r>
              <a:rPr sz="1200" b="0" i="0">
                <a:solidFill>
                  <a:srgbClr val="333333"/>
                </a:solidFill>
                <a:latin typeface="Arial"/>
                <a:ea typeface="MS PGothic"/>
              </a:rPr>
              <a:t>관측 잡음 R이 클수록 K가 작아져</a:t>
            </a:r>
          </a:p>
          <a:p>
            <a:pPr algn="ctr" marL="0" indent="0">
              <a:lnSpc>
                <a:spcPct val="110000"/>
              </a:lnSpc>
              <a:buNone/>
            </a:pPr>
            <a:r>
              <a:rPr sz="1200" b="1" i="0">
                <a:solidFill>
                  <a:srgbClr val="C00000"/>
                </a:solidFill>
                <a:latin typeface="Arial"/>
                <a:ea typeface="MS PGothic"/>
              </a:rPr>
              <a:t>관측 반영 비중이 줄어든다</a:t>
            </a:r>
          </a:p>
        </p:txBody>
      </p:sp>
      <p:sp>
        <p:nvSpPr>
          <p:cNvPr id="17" name="Rounded Rectangle 16"/>
          <p:cNvSpPr/>
          <p:nvPr/>
        </p:nvSpPr>
        <p:spPr>
          <a:xfrm>
            <a:off x="457200" y="5349240"/>
            <a:ext cx="8229600" cy="54864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400" b="1" i="0">
                <a:solidFill>
                  <a:srgbClr val="000F65"/>
                </a:solidFill>
                <a:latin typeface="Arial"/>
                <a:ea typeface="MS PGothic"/>
              </a:rPr>
              <a:t>IMU로 예측 → 영상으로 보정: 비전 보조 항법의 기본 구조 [2]</a:t>
            </a:r>
          </a:p>
        </p:txBody>
      </p:sp>
    </p:spTree>
    <p:extLst>
      <p:ext uri="{BB962C8B-B14F-4D97-AF65-F5344CB8AC3E}">
        <p14:creationId xmlns:p14="http://schemas.microsoft.com/office/powerpoint/2010/main" val="371350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이론적 배경 ② 옵티컬 플로우</a:t>
            </a:r>
          </a:p>
        </p:txBody>
      </p:sp>
      <p:nvGrpSpPr>
        <p:cNvPr id="1" name=""/>
        <p:cNvGrpSpPr/>
        <p:nvPr/>
      </p:nvGrpSpPr>
      <p:sp>
        <p:nvSpPr>
          <p:cNvPr id="3" name="TextBox 2"/>
          <p:cNvSpPr txBox="1"/>
          <p:nvPr/>
        </p:nvSpPr>
        <p:spPr>
          <a:xfrm>
            <a:off x="457200" y="987552"/>
            <a:ext cx="8229600" cy="411480"/>
          </a:xfrm>
          <a:prstGeom prst="rect">
            <a:avLst/>
          </a:prstGeom>
          <a:noFill/>
        </p:spPr>
        <p:txBody>
          <a:bodyPr wrap="square" lIns="0" rIns="0">
            <a:spAutoFit/>
          </a:bodyPr>
          <a:lstStyle/>
          <a:p>
            <a:pPr algn="ctr"/>
            <a:r>
              <a:rPr sz="1700" b="1" i="0">
                <a:solidFill>
                  <a:srgbClr val="000F65"/>
                </a:solidFill>
                <a:latin typeface="Arial"/>
                <a:ea typeface="MS PGothic"/>
              </a:rPr>
              <a:t>영상 이동에는 병진운동·회전운동·깊이가 함께 섞여 있다</a:t>
            </a:r>
          </a:p>
        </p:txBody>
      </p:sp>
      <p:sp>
        <p:nvSpPr>
          <p:cNvPr id="4" name="Rounded Rectangle 3"/>
          <p:cNvSpPr/>
          <p:nvPr/>
        </p:nvSpPr>
        <p:spPr>
          <a:xfrm>
            <a:off x="1554480" y="1600200"/>
            <a:ext cx="6035040" cy="731520"/>
          </a:xfrm>
          <a:prstGeom prst="roundRect">
            <a:avLst>
              <a:gd name="adj" fmla="val 8000"/>
            </a:avLst>
          </a:prstGeom>
          <a:solidFill>
            <a:srgbClr val="FFFFFF"/>
          </a:solidFill>
          <a:ln w="15875">
            <a:solidFill>
              <a:srgbClr val="000F65"/>
            </a:solidFill>
          </a:ln>
        </p:spPr>
        <p:txBody>
          <a:bodyPr rtlCol="0" anchor="ctr" wrap="square"/>
          <a:lstStyle/>
          <a:p>
            <a:pPr algn="ctr" marL="0" indent="0">
              <a:lnSpc>
                <a:spcPct val="110000"/>
              </a:lnSpc>
              <a:buNone/>
            </a:pPr>
            <a:r>
              <a:rPr sz="1700" b="1" i="0">
                <a:solidFill>
                  <a:srgbClr val="000F65"/>
                </a:solidFill>
                <a:latin typeface="Arial"/>
                <a:ea typeface="MS PGothic"/>
              </a:rPr>
              <a:t>영상 이동  ≈  (f / h) · v   +   f · ω</a:t>
            </a:r>
          </a:p>
        </p:txBody>
      </p:sp>
      <p:sp>
        <p:nvSpPr>
          <p:cNvPr id="5" name="Rounded Rectangle 4"/>
          <p:cNvSpPr/>
          <p:nvPr/>
        </p:nvSpPr>
        <p:spPr>
          <a:xfrm>
            <a:off x="1554480" y="2468880"/>
            <a:ext cx="2880360" cy="59436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병진운동 v ÷ 깊이 h</a:t>
            </a:r>
          </a:p>
          <a:p>
            <a:pPr algn="ctr" marL="0" indent="0">
              <a:lnSpc>
                <a:spcPct val="110000"/>
              </a:lnSpc>
              <a:buNone/>
            </a:pPr>
            <a:r>
              <a:rPr sz="1050" b="0" i="0">
                <a:solidFill>
                  <a:srgbClr val="333333"/>
                </a:solidFill>
                <a:latin typeface="Arial"/>
                <a:ea typeface="MS PGothic"/>
              </a:rPr>
              <a:t>실제 이동 속도 / 카메라 높이</a:t>
            </a:r>
          </a:p>
        </p:txBody>
      </p:sp>
      <p:sp>
        <p:nvSpPr>
          <p:cNvPr id="6" name="Rounded Rectangle 5"/>
          <p:cNvSpPr/>
          <p:nvPr/>
        </p:nvSpPr>
        <p:spPr>
          <a:xfrm>
            <a:off x="4709160" y="2468880"/>
            <a:ext cx="2880360" cy="59436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회전운동 ω</a:t>
            </a:r>
          </a:p>
          <a:p>
            <a:pPr algn="ctr" marL="0" indent="0">
              <a:lnSpc>
                <a:spcPct val="110000"/>
              </a:lnSpc>
              <a:buNone/>
            </a:pPr>
            <a:r>
              <a:rPr sz="1050" b="0" i="0">
                <a:solidFill>
                  <a:srgbClr val="333333"/>
                </a:solidFill>
                <a:latin typeface="Arial"/>
                <a:ea typeface="MS PGothic"/>
              </a:rPr>
              <a:t>기체 회전도 영상을 움직임</a:t>
            </a:r>
          </a:p>
        </p:txBody>
      </p:sp>
      <p:sp>
        <p:nvSpPr>
          <p:cNvPr id="7" name="TextBox 6"/>
          <p:cNvSpPr txBox="1"/>
          <p:nvPr/>
        </p:nvSpPr>
        <p:spPr>
          <a:xfrm>
            <a:off x="457200" y="3090672"/>
            <a:ext cx="8229600" cy="237744"/>
          </a:xfrm>
          <a:prstGeom prst="rect">
            <a:avLst/>
          </a:prstGeom>
          <a:noFill/>
        </p:spPr>
        <p:txBody>
          <a:bodyPr wrap="square" anchor="ctr" lIns="0" rIns="0" tIns="0" bIns="0">
            <a:spAutoFit/>
          </a:bodyPr>
          <a:lstStyle/>
          <a:p>
            <a:pPr algn="ctr" marL="0" indent="0">
              <a:lnSpc>
                <a:spcPct val="110000"/>
              </a:lnSpc>
              <a:buNone/>
            </a:pPr>
            <a:r>
              <a:rPr sz="1050" b="0" i="0">
                <a:solidFill>
                  <a:srgbClr val="666666"/>
                </a:solidFill>
                <a:latin typeface="Arial"/>
                <a:ea typeface="MS PGothic"/>
              </a:rPr>
              <a:t>f: 초점거리, 하향 카메라·평면 지면 가정</a:t>
            </a:r>
          </a:p>
        </p:txBody>
      </p:sp>
      <p:sp>
        <p:nvSpPr>
          <p:cNvPr id="8" name="Rounded Rectangle 7"/>
          <p:cNvSpPr/>
          <p:nvPr/>
        </p:nvSpPr>
        <p:spPr>
          <a:xfrm>
            <a:off x="457200" y="3611880"/>
            <a:ext cx="1371600" cy="86868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연속 영상</a:t>
            </a:r>
          </a:p>
          <a:p>
            <a:pPr algn="ctr" marL="0" indent="0">
              <a:lnSpc>
                <a:spcPct val="110000"/>
              </a:lnSpc>
              <a:buNone/>
            </a:pPr>
            <a:r>
              <a:rPr sz="1050" b="0" i="0">
                <a:solidFill>
                  <a:srgbClr val="333333"/>
                </a:solidFill>
                <a:latin typeface="Arial"/>
                <a:ea typeface="MS PGothic"/>
              </a:rPr>
              <a:t>카메라</a:t>
            </a:r>
          </a:p>
        </p:txBody>
      </p:sp>
      <p:sp>
        <p:nvSpPr>
          <p:cNvPr id="9" name="Right Arrow 8"/>
          <p:cNvSpPr/>
          <p:nvPr/>
        </p:nvSpPr>
        <p:spPr>
          <a:xfrm>
            <a:off x="1856232" y="3913632"/>
            <a:ext cx="274320" cy="256032"/>
          </a:xfrm>
          <a:prstGeom prst="rightArrow">
            <a:avLst/>
          </a:prstGeom>
          <a:solidFill>
            <a:srgbClr val="333399"/>
          </a:solidFill>
          <a:ln>
            <a:noFill/>
          </a:ln>
        </p:spPr>
        <p:txBody>
          <a:bodyPr rtlCol="0" anchor="ctr"/>
          <a:lstStyle/>
          <a:p>
            <a:pPr algn="ctr"/>
          </a:p>
        </p:txBody>
      </p:sp>
      <p:sp>
        <p:nvSpPr>
          <p:cNvPr id="10" name="Rounded Rectangle 9"/>
          <p:cNvSpPr/>
          <p:nvPr/>
        </p:nvSpPr>
        <p:spPr>
          <a:xfrm>
            <a:off x="2157984" y="3611880"/>
            <a:ext cx="1371600" cy="86868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특징점 추적</a:t>
            </a:r>
          </a:p>
          <a:p>
            <a:pPr algn="ctr" marL="0" indent="0">
              <a:lnSpc>
                <a:spcPct val="110000"/>
              </a:lnSpc>
              <a:buNone/>
            </a:pPr>
            <a:r>
              <a:rPr sz="1050" b="0" i="0">
                <a:solidFill>
                  <a:srgbClr val="333333"/>
                </a:solidFill>
                <a:latin typeface="Arial"/>
                <a:ea typeface="MS PGothic"/>
              </a:rPr>
              <a:t>KLT [4]</a:t>
            </a:r>
          </a:p>
        </p:txBody>
      </p:sp>
      <p:sp>
        <p:nvSpPr>
          <p:cNvPr id="11" name="Right Arrow 10"/>
          <p:cNvSpPr/>
          <p:nvPr/>
        </p:nvSpPr>
        <p:spPr>
          <a:xfrm>
            <a:off x="3557016" y="3913632"/>
            <a:ext cx="274320" cy="256032"/>
          </a:xfrm>
          <a:prstGeom prst="rightArrow">
            <a:avLst/>
          </a:prstGeom>
          <a:solidFill>
            <a:srgbClr val="333399"/>
          </a:solidFill>
          <a:ln>
            <a:noFill/>
          </a:ln>
        </p:spPr>
        <p:txBody>
          <a:bodyPr rtlCol="0" anchor="ctr"/>
          <a:lstStyle/>
          <a:p>
            <a:pPr algn="ctr"/>
          </a:p>
        </p:txBody>
      </p:sp>
      <p:sp>
        <p:nvSpPr>
          <p:cNvPr id="12" name="Rounded Rectangle 11"/>
          <p:cNvSpPr/>
          <p:nvPr/>
        </p:nvSpPr>
        <p:spPr>
          <a:xfrm>
            <a:off x="3858768" y="3611880"/>
            <a:ext cx="1371600" cy="86868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회전 보상</a:t>
            </a:r>
          </a:p>
          <a:p>
            <a:pPr algn="ctr" marL="0" indent="0">
              <a:lnSpc>
                <a:spcPct val="110000"/>
              </a:lnSpc>
              <a:buNone/>
            </a:pPr>
            <a:r>
              <a:rPr sz="1050" b="0" i="0">
                <a:solidFill>
                  <a:srgbClr val="333333"/>
                </a:solidFill>
                <a:latin typeface="Arial"/>
                <a:ea typeface="MS PGothic"/>
              </a:rPr>
              <a:t>자이로 ω로 제거</a:t>
            </a:r>
          </a:p>
        </p:txBody>
      </p:sp>
      <p:sp>
        <p:nvSpPr>
          <p:cNvPr id="13" name="Right Arrow 12"/>
          <p:cNvSpPr/>
          <p:nvPr/>
        </p:nvSpPr>
        <p:spPr>
          <a:xfrm>
            <a:off x="5257800" y="3913632"/>
            <a:ext cx="274320" cy="256032"/>
          </a:xfrm>
          <a:prstGeom prst="rightArrow">
            <a:avLst/>
          </a:prstGeom>
          <a:solidFill>
            <a:srgbClr val="333399"/>
          </a:solidFill>
          <a:ln>
            <a:noFill/>
          </a:ln>
        </p:spPr>
        <p:txBody>
          <a:bodyPr rtlCol="0" anchor="ctr"/>
          <a:lstStyle/>
          <a:p>
            <a:pPr algn="ctr"/>
          </a:p>
        </p:txBody>
      </p:sp>
      <p:sp>
        <p:nvSpPr>
          <p:cNvPr id="14" name="Rounded Rectangle 13"/>
          <p:cNvSpPr/>
          <p:nvPr/>
        </p:nvSpPr>
        <p:spPr>
          <a:xfrm>
            <a:off x="5559552" y="3611880"/>
            <a:ext cx="1371600" cy="86868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스케일 환산</a:t>
            </a:r>
          </a:p>
          <a:p>
            <a:pPr algn="ctr" marL="0" indent="0">
              <a:lnSpc>
                <a:spcPct val="110000"/>
              </a:lnSpc>
              <a:buNone/>
            </a:pPr>
            <a:r>
              <a:rPr sz="1050" b="0" i="0">
                <a:solidFill>
                  <a:srgbClr val="333333"/>
                </a:solidFill>
                <a:latin typeface="Arial"/>
                <a:ea typeface="MS PGothic"/>
              </a:rPr>
              <a:t>높이 h·평면 가정</a:t>
            </a:r>
          </a:p>
        </p:txBody>
      </p:sp>
      <p:sp>
        <p:nvSpPr>
          <p:cNvPr id="15" name="Right Arrow 14"/>
          <p:cNvSpPr/>
          <p:nvPr/>
        </p:nvSpPr>
        <p:spPr>
          <a:xfrm>
            <a:off x="6958584" y="3913632"/>
            <a:ext cx="274320" cy="256032"/>
          </a:xfrm>
          <a:prstGeom prst="rightArrow">
            <a:avLst/>
          </a:prstGeom>
          <a:solidFill>
            <a:srgbClr val="333399"/>
          </a:solidFill>
          <a:ln>
            <a:noFill/>
          </a:ln>
        </p:spPr>
        <p:txBody>
          <a:bodyPr rtlCol="0" anchor="ctr"/>
          <a:lstStyle/>
          <a:p>
            <a:pPr algn="ctr"/>
          </a:p>
        </p:txBody>
      </p:sp>
      <p:sp>
        <p:nvSpPr>
          <p:cNvPr id="16" name="Rounded Rectangle 15"/>
          <p:cNvSpPr/>
          <p:nvPr/>
        </p:nvSpPr>
        <p:spPr>
          <a:xfrm>
            <a:off x="7260336" y="3611880"/>
            <a:ext cx="1371600" cy="86868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200" b="1" i="0">
                <a:solidFill>
                  <a:srgbClr val="FFFFFF"/>
                </a:solidFill>
                <a:latin typeface="Arial"/>
                <a:ea typeface="MS PGothic"/>
              </a:rPr>
              <a:t>속도 관측 z</a:t>
            </a:r>
          </a:p>
          <a:p>
            <a:pPr algn="ctr" marL="0" indent="0">
              <a:lnSpc>
                <a:spcPct val="110000"/>
              </a:lnSpc>
              <a:buNone/>
            </a:pPr>
            <a:r>
              <a:rPr sz="1050" b="0" i="0">
                <a:solidFill>
                  <a:srgbClr val="FFFFFF"/>
                </a:solidFill>
                <a:latin typeface="Arial"/>
                <a:ea typeface="MS PGothic"/>
              </a:rPr>
              <a:t>filter 보정에 사용</a:t>
            </a:r>
          </a:p>
        </p:txBody>
      </p:sp>
      <p:sp>
        <p:nvSpPr>
          <p:cNvPr id="17" name="Rounded Rectangle 16"/>
          <p:cNvSpPr/>
          <p:nvPr/>
        </p:nvSpPr>
        <p:spPr>
          <a:xfrm>
            <a:off x="457200" y="4754880"/>
            <a:ext cx="8229600" cy="566928"/>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함께 고려: 카메라 보정(내부 파라미터) · 센서 장착 위치와 방향 · 좌표계</a:t>
            </a:r>
          </a:p>
        </p:txBody>
      </p:sp>
      <p:sp>
        <p:nvSpPr>
          <p:cNvPr id="18" name="Rounded Rectangle 17"/>
          <p:cNvSpPr/>
          <p:nvPr/>
        </p:nvSpPr>
        <p:spPr>
          <a:xfrm>
            <a:off x="457200" y="5440680"/>
            <a:ext cx="8229600" cy="45720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옵티컬 플로우를 이동체 운동과 연결하려면 회전 보상과 거리 스케일이 필수</a:t>
            </a:r>
          </a:p>
        </p:txBody>
      </p:sp>
    </p:spTree>
    <p:extLst>
      <p:ext uri="{BB962C8B-B14F-4D97-AF65-F5344CB8AC3E}">
        <p14:creationId xmlns:p14="http://schemas.microsoft.com/office/powerpoint/2010/main" val="371350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핵심 방법: 영상 측정 품질 반영</a:t>
            </a:r>
          </a:p>
        </p:txBody>
      </p:sp>
      <p:nvGrpSpPr>
        <p:cNvPr id="1" name=""/>
        <p:cNvGrpSpPr/>
        <p:nvPr/>
      </p:nvGrpSpPr>
      <p:sp>
        <p:nvSpPr>
          <p:cNvPr id="3" name="TextBox 2"/>
          <p:cNvSpPr txBox="1"/>
          <p:nvPr/>
        </p:nvSpPr>
        <p:spPr>
          <a:xfrm>
            <a:off x="457200" y="987552"/>
            <a:ext cx="8229600" cy="411480"/>
          </a:xfrm>
          <a:prstGeom prst="rect">
            <a:avLst/>
          </a:prstGeom>
          <a:noFill/>
        </p:spPr>
        <p:txBody>
          <a:bodyPr wrap="square" lIns="0" rIns="0">
            <a:spAutoFit/>
          </a:bodyPr>
          <a:lstStyle/>
          <a:p>
            <a:pPr algn="ctr"/>
            <a:r>
              <a:rPr sz="1700" b="1" i="0">
                <a:solidFill>
                  <a:srgbClr val="000F65"/>
                </a:solidFill>
                <a:latin typeface="Arial"/>
                <a:ea typeface="MS PGothic"/>
              </a:rPr>
              <a:t>영상 신뢰도에 따라 관측 반영 비중을 조절한다</a:t>
            </a:r>
          </a:p>
        </p:txBody>
      </p:sp>
      <p:sp>
        <p:nvSpPr>
          <p:cNvPr id="4" name="TextBox 3"/>
          <p:cNvSpPr txBox="1"/>
          <p:nvPr/>
        </p:nvSpPr>
        <p:spPr>
          <a:xfrm>
            <a:off x="457200" y="1481328"/>
            <a:ext cx="2377440" cy="237744"/>
          </a:xfrm>
          <a:prstGeom prst="rect">
            <a:avLst/>
          </a:prstGeom>
          <a:noFill/>
        </p:spPr>
        <p:txBody>
          <a:bodyPr wrap="square" anchor="ctr" lIns="0" rIns="0" tIns="0" bIns="0">
            <a:spAutoFit/>
          </a:bodyPr>
          <a:lstStyle/>
          <a:p>
            <a:pPr algn="ctr" marL="0" indent="0">
              <a:lnSpc>
                <a:spcPct val="110000"/>
              </a:lnSpc>
              <a:buNone/>
            </a:pPr>
            <a:r>
              <a:rPr sz="1200" b="1" i="0">
                <a:solidFill>
                  <a:srgbClr val="000F65"/>
                </a:solidFill>
                <a:latin typeface="Arial"/>
                <a:ea typeface="MS PGothic"/>
              </a:rPr>
              <a:t>품질 지표</a:t>
            </a:r>
          </a:p>
        </p:txBody>
      </p:sp>
      <p:sp>
        <p:nvSpPr>
          <p:cNvPr id="5" name="Rounded Rectangle 4"/>
          <p:cNvSpPr/>
          <p:nvPr/>
        </p:nvSpPr>
        <p:spPr>
          <a:xfrm>
            <a:off x="457200" y="1783080"/>
            <a:ext cx="2377440" cy="713232"/>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유효 특징점 수</a:t>
            </a:r>
          </a:p>
          <a:p>
            <a:pPr algn="ctr" marL="0" indent="0">
              <a:lnSpc>
                <a:spcPct val="110000"/>
              </a:lnSpc>
              <a:buNone/>
            </a:pPr>
            <a:r>
              <a:rPr sz="1050" b="0" i="0">
                <a:solidFill>
                  <a:srgbClr val="333333"/>
                </a:solidFill>
                <a:latin typeface="Arial"/>
                <a:ea typeface="MS PGothic"/>
              </a:rPr>
              <a:t>추적 가능한 점의 개수</a:t>
            </a:r>
          </a:p>
        </p:txBody>
      </p:sp>
      <p:sp>
        <p:nvSpPr>
          <p:cNvPr id="6" name="Rounded Rectangle 5"/>
          <p:cNvSpPr/>
          <p:nvPr/>
        </p:nvSpPr>
        <p:spPr>
          <a:xfrm>
            <a:off x="457200" y="2624328"/>
            <a:ext cx="2377440" cy="713232"/>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추적 성공률</a:t>
            </a:r>
          </a:p>
          <a:p>
            <a:pPr algn="ctr" marL="0" indent="0">
              <a:lnSpc>
                <a:spcPct val="110000"/>
              </a:lnSpc>
              <a:buNone/>
            </a:pPr>
            <a:r>
              <a:rPr sz="1050" b="0" i="0">
                <a:solidFill>
                  <a:srgbClr val="333333"/>
                </a:solidFill>
                <a:latin typeface="Arial"/>
                <a:ea typeface="MS PGothic"/>
              </a:rPr>
              <a:t>이전 프레임 대비 유지 비율</a:t>
            </a:r>
          </a:p>
        </p:txBody>
      </p:sp>
      <p:sp>
        <p:nvSpPr>
          <p:cNvPr id="7" name="Rounded Rectangle 6"/>
          <p:cNvSpPr/>
          <p:nvPr/>
        </p:nvSpPr>
        <p:spPr>
          <a:xfrm>
            <a:off x="457200" y="3465576"/>
            <a:ext cx="2377440" cy="713232"/>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운동 모델 잔차</a:t>
            </a:r>
          </a:p>
          <a:p>
            <a:pPr algn="ctr" marL="0" indent="0">
              <a:lnSpc>
                <a:spcPct val="110000"/>
              </a:lnSpc>
              <a:buNone/>
            </a:pPr>
            <a:r>
              <a:rPr sz="1050" b="0" i="0">
                <a:solidFill>
                  <a:srgbClr val="333333"/>
                </a:solidFill>
                <a:latin typeface="Arial"/>
                <a:ea typeface="MS PGothic"/>
              </a:rPr>
              <a:t>추정 운동과 맞지 않는 정도</a:t>
            </a:r>
          </a:p>
        </p:txBody>
      </p:sp>
      <p:sp>
        <p:nvSpPr>
          <p:cNvPr id="8" name="Right Arrow 7"/>
          <p:cNvSpPr/>
          <p:nvPr/>
        </p:nvSpPr>
        <p:spPr>
          <a:xfrm>
            <a:off x="2926080" y="2880360"/>
            <a:ext cx="411480" cy="329184"/>
          </a:xfrm>
          <a:prstGeom prst="rightArrow">
            <a:avLst/>
          </a:prstGeom>
          <a:solidFill>
            <a:srgbClr val="333399"/>
          </a:solidFill>
          <a:ln>
            <a:noFill/>
          </a:ln>
        </p:spPr>
        <p:txBody>
          <a:bodyPr rtlCol="0" anchor="ctr"/>
          <a:lstStyle/>
          <a:p>
            <a:pPr algn="ctr"/>
          </a:p>
        </p:txBody>
      </p:sp>
      <p:sp>
        <p:nvSpPr>
          <p:cNvPr id="9" name="Rounded Rectangle 8"/>
          <p:cNvSpPr/>
          <p:nvPr/>
        </p:nvSpPr>
        <p:spPr>
          <a:xfrm>
            <a:off x="3429000" y="2240280"/>
            <a:ext cx="1828800" cy="160020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영상 신뢰도</a:t>
            </a:r>
          </a:p>
          <a:p>
            <a:pPr algn="ctr" marL="0" indent="0">
              <a:lnSpc>
                <a:spcPct val="110000"/>
              </a:lnSpc>
              <a:buNone/>
            </a:pPr>
            <a:r>
              <a:rPr sz="1400" b="1" i="0">
                <a:solidFill>
                  <a:srgbClr val="FFFFFF"/>
                </a:solidFill>
                <a:latin typeface="Arial"/>
                <a:ea typeface="MS PGothic"/>
              </a:rPr>
              <a:t>판단</a:t>
            </a:r>
          </a:p>
        </p:txBody>
      </p:sp>
      <p:cxnSp>
        <p:nvCxnSpPr>
          <p:cNvPr id="10" name="Connector 9"/>
          <p:cNvCxnSpPr/>
          <p:nvPr/>
        </p:nvCxnSpPr>
        <p:spPr>
          <a:xfrm flipV="1">
            <a:off x="5257800" y="2139696"/>
            <a:ext cx="365760" cy="896112"/>
          </a:xfrm>
          <a:prstGeom prst="line">
            <a:avLst/>
          </a:prstGeom>
          <a:ln w="19050">
            <a:solidFill>
              <a:srgbClr val="333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623560" y="1783080"/>
            <a:ext cx="3063240" cy="713232"/>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신뢰도 높음</a:t>
            </a:r>
          </a:p>
          <a:p>
            <a:pPr algn="ctr" marL="0" indent="0">
              <a:lnSpc>
                <a:spcPct val="110000"/>
              </a:lnSpc>
              <a:buNone/>
            </a:pPr>
            <a:r>
              <a:rPr sz="1200" b="0" i="0">
                <a:solidFill>
                  <a:srgbClr val="333333"/>
                </a:solidFill>
                <a:latin typeface="Arial"/>
                <a:ea typeface="MS PGothic"/>
              </a:rPr>
              <a:t>정상 보정</a:t>
            </a:r>
          </a:p>
        </p:txBody>
      </p:sp>
      <p:cxnSp>
        <p:nvCxnSpPr>
          <p:cNvPr id="12" name="Connector 11"/>
          <p:cNvCxnSpPr/>
          <p:nvPr/>
        </p:nvCxnSpPr>
        <p:spPr>
          <a:xfrm flipV="1">
            <a:off x="5257800" y="2980944"/>
            <a:ext cx="365760" cy="54864"/>
          </a:xfrm>
          <a:prstGeom prst="line">
            <a:avLst/>
          </a:prstGeom>
          <a:ln w="19050">
            <a:solidFill>
              <a:srgbClr val="333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623560" y="2624328"/>
            <a:ext cx="3063240" cy="713232"/>
          </a:xfrm>
          <a:prstGeom prst="roundRect">
            <a:avLst>
              <a:gd name="adj" fmla="val 8000"/>
            </a:avLst>
          </a:prstGeom>
          <a:solidFill>
            <a:srgbClr val="333399"/>
          </a:solidFill>
          <a:ln>
            <a:noFill/>
          </a:ln>
        </p:spPr>
        <p:txBody>
          <a:bodyPr rtlCol="0" anchor="ctr" wrap="square"/>
          <a:lstStyle/>
          <a:p>
            <a:pPr algn="ctr" marL="0" indent="0">
              <a:lnSpc>
                <a:spcPct val="110000"/>
              </a:lnSpc>
              <a:buNone/>
            </a:pPr>
            <a:r>
              <a:rPr sz="1200" b="1" i="0">
                <a:solidFill>
                  <a:srgbClr val="FFFFFF"/>
                </a:solidFill>
                <a:latin typeface="Arial"/>
                <a:ea typeface="MS PGothic"/>
              </a:rPr>
              <a:t>신뢰도 낮음</a:t>
            </a:r>
          </a:p>
          <a:p>
            <a:pPr algn="ctr" marL="0" indent="0">
              <a:lnSpc>
                <a:spcPct val="110000"/>
              </a:lnSpc>
              <a:buNone/>
            </a:pPr>
            <a:r>
              <a:rPr sz="1200" b="1" i="0">
                <a:solidFill>
                  <a:srgbClr val="FFFFFF"/>
                </a:solidFill>
                <a:latin typeface="Arial"/>
                <a:ea typeface="MS PGothic"/>
              </a:rPr>
              <a:t>관측 잡음 R↑ → 보정 비중↓</a:t>
            </a:r>
          </a:p>
        </p:txBody>
      </p:sp>
      <p:cxnSp>
        <p:nvCxnSpPr>
          <p:cNvPr id="14" name="Connector 13"/>
          <p:cNvCxnSpPr/>
          <p:nvPr/>
        </p:nvCxnSpPr>
        <p:spPr>
          <a:xfrm>
            <a:off x="5257800" y="3035808"/>
            <a:ext cx="365760" cy="786383"/>
          </a:xfrm>
          <a:prstGeom prst="line">
            <a:avLst/>
          </a:prstGeom>
          <a:ln w="19050">
            <a:solidFill>
              <a:srgbClr val="333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623560" y="3465576"/>
            <a:ext cx="3063240" cy="713232"/>
          </a:xfrm>
          <a:prstGeom prst="roundRect">
            <a:avLst>
              <a:gd name="adj" fmla="val 8000"/>
            </a:avLst>
          </a:prstGeom>
          <a:solidFill>
            <a:srgbClr val="FFFFFF"/>
          </a:solidFill>
          <a:ln w="15875">
            <a:solidFill>
              <a:srgbClr val="C00000"/>
            </a:solidFill>
          </a:ln>
        </p:spPr>
        <p:txBody>
          <a:bodyPr rtlCol="0" anchor="ctr" wrap="square"/>
          <a:lstStyle/>
          <a:p>
            <a:pPr algn="ctr" marL="0" indent="0">
              <a:lnSpc>
                <a:spcPct val="110000"/>
              </a:lnSpc>
              <a:buNone/>
            </a:pPr>
            <a:r>
              <a:rPr sz="1200" b="1" i="0">
                <a:solidFill>
                  <a:srgbClr val="C00000"/>
                </a:solidFill>
                <a:latin typeface="Arial"/>
                <a:ea typeface="MS PGothic"/>
              </a:rPr>
              <a:t>유효 관측 없음</a:t>
            </a:r>
          </a:p>
          <a:p>
            <a:pPr algn="ctr" marL="0" indent="0">
              <a:lnSpc>
                <a:spcPct val="110000"/>
              </a:lnSpc>
              <a:buNone/>
            </a:pPr>
            <a:r>
              <a:rPr sz="1200" b="0" i="0">
                <a:solidFill>
                  <a:srgbClr val="C00000"/>
                </a:solidFill>
                <a:latin typeface="Arial"/>
                <a:ea typeface="MS PGothic"/>
              </a:rPr>
              <a:t>보정 생략, IMU 예측 유지</a:t>
            </a:r>
          </a:p>
        </p:txBody>
      </p:sp>
      <p:sp>
        <p:nvSpPr>
          <p:cNvPr id="16" name="Rounded Rectangle 15"/>
          <p:cNvSpPr/>
          <p:nvPr/>
        </p:nvSpPr>
        <p:spPr>
          <a:xfrm>
            <a:off x="457200" y="4526280"/>
            <a:ext cx="8229600" cy="621792"/>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신뢰도 기준과 보정 규칙은 조정용 구간에서 결정하고, 별도의 평가 구간에 적용</a:t>
            </a:r>
          </a:p>
        </p:txBody>
      </p:sp>
      <p:sp>
        <p:nvSpPr>
          <p:cNvPr id="17" name="Rounded Rectangle 16"/>
          <p:cNvSpPr/>
          <p:nvPr/>
        </p:nvSpPr>
        <p:spPr>
          <a:xfrm>
            <a:off x="457200" y="5303520"/>
            <a:ext cx="8229600" cy="566928"/>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영상 품질이 나빠도 추정이 무너지지 않는 다중센서 융합</a:t>
            </a:r>
          </a:p>
        </p:txBody>
      </p:sp>
    </p:spTree>
    <p:extLst>
      <p:ext uri="{BB962C8B-B14F-4D97-AF65-F5344CB8AC3E}">
        <p14:creationId xmlns:p14="http://schemas.microsoft.com/office/powerpoint/2010/main" val="371350854"/>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S PGothic"/>
              </a:rPr>
              <a:t>시스템 구조</a:t>
            </a:r>
          </a:p>
        </p:txBody>
      </p:sp>
      <p:sp>
        <p:nvSpPr>
          <p:cNvPr id="3" name="TextBox 2"/>
          <p:cNvSpPr txBox="1"/>
          <p:nvPr/>
        </p:nvSpPr>
        <p:spPr>
          <a:xfrm>
            <a:off x="457200" y="987552"/>
            <a:ext cx="8229600" cy="411480"/>
          </a:xfrm>
          <a:prstGeom prst="rect">
            <a:avLst/>
          </a:prstGeom>
          <a:noFill/>
        </p:spPr>
        <p:txBody>
          <a:bodyPr wrap="square" lIns="0" rIns="0">
            <a:spAutoFit/>
          </a:bodyPr>
          <a:lstStyle/>
          <a:p>
            <a:pPr algn="ctr"/>
            <a:r>
              <a:rPr sz="1700" b="1" i="0">
                <a:solidFill>
                  <a:srgbClr val="000F65"/>
                </a:solidFill>
                <a:latin typeface="Arial"/>
                <a:ea typeface="MS PGothic"/>
              </a:rPr>
              <a:t>GPS는 입력에서 제외하고, 기준 궤적은 검증에만 사용한다</a:t>
            </a:r>
          </a:p>
        </p:txBody>
      </p:sp>
      <p:sp>
        <p:nvSpPr>
          <p:cNvPr id="4" name="Rounded Rectangle 3"/>
          <p:cNvSpPr/>
          <p:nvPr/>
        </p:nvSpPr>
        <p:spPr>
          <a:xfrm>
            <a:off x="457200" y="1645920"/>
            <a:ext cx="1417320" cy="64008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400" b="1" i="0">
                <a:solidFill>
                  <a:srgbClr val="000F65"/>
                </a:solidFill>
                <a:latin typeface="Arial"/>
                <a:ea typeface="MS PGothic"/>
              </a:rPr>
              <a:t>IMU</a:t>
            </a:r>
          </a:p>
          <a:p>
            <a:pPr algn="ctr" marL="0" indent="0">
              <a:lnSpc>
                <a:spcPct val="110000"/>
              </a:lnSpc>
              <a:buNone/>
            </a:pPr>
            <a:r>
              <a:rPr sz="1050" b="0" i="0">
                <a:solidFill>
                  <a:srgbClr val="333333"/>
                </a:solidFill>
                <a:latin typeface="Arial"/>
                <a:ea typeface="MS PGothic"/>
              </a:rPr>
              <a:t>가속도·각속도</a:t>
            </a:r>
          </a:p>
        </p:txBody>
      </p:sp>
      <p:sp>
        <p:nvSpPr>
          <p:cNvPr id="5" name="Rounded Rectangle 4"/>
          <p:cNvSpPr/>
          <p:nvPr/>
        </p:nvSpPr>
        <p:spPr>
          <a:xfrm>
            <a:off x="457200" y="2743200"/>
            <a:ext cx="1417320" cy="64008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400" b="1" i="0">
                <a:solidFill>
                  <a:srgbClr val="000F65"/>
                </a:solidFill>
                <a:latin typeface="Arial"/>
                <a:ea typeface="MS PGothic"/>
              </a:rPr>
              <a:t>카메라</a:t>
            </a:r>
          </a:p>
          <a:p>
            <a:pPr algn="ctr" marL="0" indent="0">
              <a:lnSpc>
                <a:spcPct val="110000"/>
              </a:lnSpc>
              <a:buNone/>
            </a:pPr>
            <a:r>
              <a:rPr sz="1050" b="0" i="0">
                <a:solidFill>
                  <a:srgbClr val="333333"/>
                </a:solidFill>
                <a:latin typeface="Arial"/>
                <a:ea typeface="MS PGothic"/>
              </a:rPr>
              <a:t>연속 영상</a:t>
            </a:r>
          </a:p>
        </p:txBody>
      </p:sp>
      <p:sp>
        <p:nvSpPr>
          <p:cNvPr id="6" name="Rounded Rectangle 5"/>
          <p:cNvSpPr/>
          <p:nvPr/>
        </p:nvSpPr>
        <p:spPr>
          <a:xfrm>
            <a:off x="2148840" y="2743200"/>
            <a:ext cx="1234440" cy="64008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KLT</a:t>
            </a:r>
          </a:p>
          <a:p>
            <a:pPr algn="ctr" marL="0" indent="0">
              <a:lnSpc>
                <a:spcPct val="110000"/>
              </a:lnSpc>
              <a:buNone/>
            </a:pPr>
            <a:r>
              <a:rPr sz="1050" b="0" i="0">
                <a:solidFill>
                  <a:srgbClr val="333333"/>
                </a:solidFill>
                <a:latin typeface="Arial"/>
                <a:ea typeface="MS PGothic"/>
              </a:rPr>
              <a:t>옵티컬 플로우</a:t>
            </a:r>
          </a:p>
        </p:txBody>
      </p:sp>
      <p:sp>
        <p:nvSpPr>
          <p:cNvPr id="7" name="Rounded Rectangle 6"/>
          <p:cNvSpPr/>
          <p:nvPr/>
        </p:nvSpPr>
        <p:spPr>
          <a:xfrm>
            <a:off x="3657600" y="2743200"/>
            <a:ext cx="1417320" cy="640080"/>
          </a:xfrm>
          <a:prstGeom prst="roundRect">
            <a:avLst>
              <a:gd name="adj" fmla="val 8000"/>
            </a:avLst>
          </a:prstGeom>
          <a:solidFill>
            <a:srgbClr val="FFFFFF"/>
          </a:solidFill>
          <a:ln w="15875">
            <a:solidFill>
              <a:srgbClr val="C00000"/>
            </a:solidFill>
          </a:ln>
        </p:spPr>
        <p:txBody>
          <a:bodyPr rtlCol="0" anchor="ctr" wrap="square"/>
          <a:lstStyle/>
          <a:p>
            <a:pPr algn="ctr" marL="0" indent="0">
              <a:lnSpc>
                <a:spcPct val="110000"/>
              </a:lnSpc>
              <a:buNone/>
            </a:pPr>
            <a:r>
              <a:rPr sz="1200" b="1" i="0">
                <a:solidFill>
                  <a:srgbClr val="C00000"/>
                </a:solidFill>
                <a:latin typeface="Arial"/>
                <a:ea typeface="MS PGothic"/>
              </a:rPr>
              <a:t>품질 평가</a:t>
            </a:r>
          </a:p>
          <a:p>
            <a:pPr algn="ctr" marL="0" indent="0">
              <a:lnSpc>
                <a:spcPct val="110000"/>
              </a:lnSpc>
              <a:buNone/>
            </a:pPr>
            <a:r>
              <a:rPr sz="1050" b="0" i="0">
                <a:solidFill>
                  <a:srgbClr val="333333"/>
                </a:solidFill>
                <a:latin typeface="Arial"/>
                <a:ea typeface="MS PGothic"/>
              </a:rPr>
              <a:t>신뢰도 판단</a:t>
            </a:r>
          </a:p>
        </p:txBody>
      </p:sp>
      <p:cxnSp>
        <p:nvCxnSpPr>
          <p:cNvPr id="8" name="Connector 7"/>
          <p:cNvCxnSpPr/>
          <p:nvPr/>
        </p:nvCxnSpPr>
        <p:spPr>
          <a:xfrm>
            <a:off x="1874519" y="1965960"/>
            <a:ext cx="3474721" cy="0"/>
          </a:xfrm>
          <a:prstGeom prst="line">
            <a:avLst/>
          </a:prstGeom>
          <a:ln w="22225">
            <a:solidFill>
              <a:srgbClr val="333399"/>
            </a:solidFill>
            <a:tailEnd type="triangle" w="sm" len="sm"/>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011680" y="1719072"/>
            <a:ext cx="1828800" cy="237744"/>
          </a:xfrm>
          <a:prstGeom prst="rect">
            <a:avLst/>
          </a:prstGeom>
          <a:noFill/>
        </p:spPr>
        <p:txBody>
          <a:bodyPr wrap="square" anchor="ctr" lIns="0" rIns="0" tIns="0" bIns="0">
            <a:spAutoFit/>
          </a:bodyPr>
          <a:lstStyle/>
          <a:p>
            <a:pPr algn="l" marL="0" indent="0">
              <a:lnSpc>
                <a:spcPct val="110000"/>
              </a:lnSpc>
              <a:buNone/>
            </a:pPr>
            <a:r>
              <a:rPr sz="1050" b="1" i="0">
                <a:solidFill>
                  <a:srgbClr val="333399"/>
                </a:solidFill>
                <a:latin typeface="Arial"/>
                <a:ea typeface="MS PGothic"/>
              </a:rPr>
              <a:t>예측</a:t>
            </a:r>
          </a:p>
        </p:txBody>
      </p:sp>
      <p:cxnSp>
        <p:nvCxnSpPr>
          <p:cNvPr id="10" name="Connector 9"/>
          <p:cNvCxnSpPr/>
          <p:nvPr/>
        </p:nvCxnSpPr>
        <p:spPr>
          <a:xfrm>
            <a:off x="1874519" y="3063240"/>
            <a:ext cx="274321" cy="0"/>
          </a:xfrm>
          <a:prstGeom prst="line">
            <a:avLst/>
          </a:prstGeom>
          <a:ln w="22225">
            <a:solidFill>
              <a:srgbClr val="333399"/>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383280" y="3063240"/>
            <a:ext cx="274320" cy="0"/>
          </a:xfrm>
          <a:prstGeom prst="line">
            <a:avLst/>
          </a:prstGeom>
          <a:ln w="22225">
            <a:solidFill>
              <a:srgbClr val="333399"/>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74920" y="3063240"/>
            <a:ext cx="274320" cy="0"/>
          </a:xfrm>
          <a:prstGeom prst="line">
            <a:avLst/>
          </a:prstGeom>
          <a:ln w="22225">
            <a:solidFill>
              <a:srgbClr val="333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657600" y="3401568"/>
            <a:ext cx="1828800" cy="237744"/>
          </a:xfrm>
          <a:prstGeom prst="rect">
            <a:avLst/>
          </a:prstGeom>
          <a:noFill/>
        </p:spPr>
        <p:txBody>
          <a:bodyPr wrap="square" anchor="ctr" lIns="0" rIns="0" tIns="0" bIns="0">
            <a:spAutoFit/>
          </a:bodyPr>
          <a:lstStyle/>
          <a:p>
            <a:pPr algn="l" marL="0" indent="0">
              <a:lnSpc>
                <a:spcPct val="110000"/>
              </a:lnSpc>
              <a:buNone/>
            </a:pPr>
            <a:r>
              <a:rPr sz="1050" b="1" i="0">
                <a:solidFill>
                  <a:srgbClr val="C00000"/>
                </a:solidFill>
                <a:latin typeface="Arial"/>
                <a:ea typeface="MS PGothic"/>
              </a:rPr>
              <a:t>보정 비중 조절</a:t>
            </a:r>
          </a:p>
        </p:txBody>
      </p:sp>
      <p:sp>
        <p:nvSpPr>
          <p:cNvPr id="14" name="Rounded Rectangle 13"/>
          <p:cNvSpPr/>
          <p:nvPr/>
        </p:nvSpPr>
        <p:spPr>
          <a:xfrm>
            <a:off x="5349240" y="1645920"/>
            <a:ext cx="1645920" cy="173736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상태추정</a:t>
            </a:r>
          </a:p>
          <a:p>
            <a:pPr algn="ctr" marL="0" indent="0">
              <a:lnSpc>
                <a:spcPct val="110000"/>
              </a:lnSpc>
              <a:buNone/>
            </a:pPr>
            <a:r>
              <a:rPr sz="1400" b="1" i="0">
                <a:solidFill>
                  <a:srgbClr val="FFFFFF"/>
                </a:solidFill>
                <a:latin typeface="Arial"/>
                <a:ea typeface="MS PGothic"/>
              </a:rPr>
              <a:t>filter</a:t>
            </a:r>
          </a:p>
          <a:p>
            <a:pPr algn="ctr" marL="0" indent="0">
              <a:lnSpc>
                <a:spcPct val="110000"/>
              </a:lnSpc>
              <a:buNone/>
            </a:pPr>
            <a:r>
              <a:rPr sz="1050" b="0" i="0">
                <a:solidFill>
                  <a:srgbClr val="C8CEEA"/>
                </a:solidFill>
                <a:latin typeface="Arial"/>
                <a:ea typeface="MS PGothic"/>
              </a:rPr>
              <a:t>예측 + 보정</a:t>
            </a:r>
          </a:p>
        </p:txBody>
      </p:sp>
      <p:cxnSp>
        <p:nvCxnSpPr>
          <p:cNvPr id="15" name="Connector 14"/>
          <p:cNvCxnSpPr/>
          <p:nvPr/>
        </p:nvCxnSpPr>
        <p:spPr>
          <a:xfrm>
            <a:off x="6995160" y="2514600"/>
            <a:ext cx="274320" cy="0"/>
          </a:xfrm>
          <a:prstGeom prst="line">
            <a:avLst/>
          </a:prstGeom>
          <a:ln w="22225">
            <a:solidFill>
              <a:srgbClr val="333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269480" y="2103120"/>
            <a:ext cx="1417320" cy="82296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위치·속도·자세</a:t>
            </a:r>
          </a:p>
        </p:txBody>
      </p:sp>
      <p:sp>
        <p:nvSpPr>
          <p:cNvPr id="17" name="Rounded Rectangle 16"/>
          <p:cNvSpPr/>
          <p:nvPr/>
        </p:nvSpPr>
        <p:spPr>
          <a:xfrm>
            <a:off x="7269480" y="3886200"/>
            <a:ext cx="1417320" cy="640080"/>
          </a:xfrm>
          <a:prstGeom prst="roundRect">
            <a:avLst>
              <a:gd name="adj" fmla="val 8000"/>
            </a:avLst>
          </a:prstGeom>
          <a:solidFill>
            <a:srgbClr val="333399"/>
          </a:solidFill>
          <a:ln>
            <a:noFill/>
          </a:ln>
        </p:spPr>
        <p:txBody>
          <a:bodyPr rtlCol="0" anchor="ctr" wrap="square"/>
          <a:lstStyle/>
          <a:p>
            <a:pPr algn="ctr" marL="0" indent="0">
              <a:lnSpc>
                <a:spcPct val="110000"/>
              </a:lnSpc>
              <a:buNone/>
            </a:pPr>
            <a:r>
              <a:rPr sz="1200" b="1" i="0">
                <a:solidFill>
                  <a:srgbClr val="FFFFFF"/>
                </a:solidFill>
                <a:latin typeface="Arial"/>
                <a:ea typeface="MS PGothic"/>
              </a:rPr>
              <a:t>성능 평가</a:t>
            </a:r>
          </a:p>
        </p:txBody>
      </p:sp>
      <p:cxnSp>
        <p:nvCxnSpPr>
          <p:cNvPr id="18" name="Connector 17"/>
          <p:cNvCxnSpPr/>
          <p:nvPr/>
        </p:nvCxnSpPr>
        <p:spPr>
          <a:xfrm>
            <a:off x="7973568" y="2926080"/>
            <a:ext cx="0" cy="960120"/>
          </a:xfrm>
          <a:prstGeom prst="line">
            <a:avLst/>
          </a:prstGeom>
          <a:ln w="19050">
            <a:solidFill>
              <a:srgbClr val="333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349240" y="3886200"/>
            <a:ext cx="1645920" cy="640080"/>
          </a:xfrm>
          <a:prstGeom prst="roundRect">
            <a:avLst>
              <a:gd name="adj" fmla="val 8000"/>
            </a:avLst>
          </a:prstGeom>
          <a:solidFill>
            <a:srgbClr val="FFFFFF"/>
          </a:solidFill>
          <a:ln w="12700">
            <a:solidFill>
              <a:srgbClr val="BFBFBF"/>
            </a:solidFill>
          </a:ln>
        </p:spPr>
        <p:txBody>
          <a:bodyPr rtlCol="0" anchor="ctr" wrap="square"/>
          <a:lstStyle/>
          <a:p>
            <a:pPr algn="ctr" marL="0" indent="0">
              <a:lnSpc>
                <a:spcPct val="110000"/>
              </a:lnSpc>
              <a:buNone/>
            </a:pPr>
            <a:r>
              <a:rPr sz="1200" b="1" i="0">
                <a:solidFill>
                  <a:srgbClr val="666666"/>
                </a:solidFill>
                <a:latin typeface="Arial"/>
                <a:ea typeface="MS PGothic"/>
              </a:rPr>
              <a:t>기준 궤적</a:t>
            </a:r>
          </a:p>
          <a:p>
            <a:pPr algn="ctr" marL="0" indent="0">
              <a:lnSpc>
                <a:spcPct val="110000"/>
              </a:lnSpc>
              <a:buNone/>
            </a:pPr>
            <a:r>
              <a:rPr sz="1050" b="0" i="0">
                <a:solidFill>
                  <a:srgbClr val="666666"/>
                </a:solidFill>
                <a:latin typeface="Arial"/>
                <a:ea typeface="MS PGothic"/>
              </a:rPr>
              <a:t>검증용</a:t>
            </a:r>
          </a:p>
        </p:txBody>
      </p:sp>
      <p:cxnSp>
        <p:nvCxnSpPr>
          <p:cNvPr id="20" name="Connector 19"/>
          <p:cNvCxnSpPr/>
          <p:nvPr/>
        </p:nvCxnSpPr>
        <p:spPr>
          <a:xfrm>
            <a:off x="6995160" y="4206240"/>
            <a:ext cx="274320" cy="0"/>
          </a:xfrm>
          <a:prstGeom prst="line">
            <a:avLst/>
          </a:prstGeom>
          <a:ln w="15875">
            <a:solidFill>
              <a:srgbClr val="666666"/>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57200" y="3886200"/>
            <a:ext cx="1417320" cy="640080"/>
          </a:xfrm>
          <a:prstGeom prst="roundRect">
            <a:avLst>
              <a:gd name="adj" fmla="val 8000"/>
            </a:avLst>
          </a:prstGeom>
          <a:solidFill>
            <a:srgbClr val="FFFFFF"/>
          </a:solidFill>
          <a:ln w="12700">
            <a:solidFill>
              <a:srgbClr val="C00000"/>
            </a:solidFill>
          </a:ln>
        </p:spPr>
        <p:txBody>
          <a:bodyPr rtlCol="0" anchor="ctr" wrap="square"/>
          <a:lstStyle/>
          <a:p>
            <a:pPr algn="ctr" marL="0" indent="0">
              <a:lnSpc>
                <a:spcPct val="110000"/>
              </a:lnSpc>
              <a:buNone/>
            </a:pPr>
            <a:r>
              <a:rPr sz="1200" b="1" i="0">
                <a:solidFill>
                  <a:srgbClr val="666666"/>
                </a:solidFill>
                <a:latin typeface="Arial"/>
                <a:ea typeface="MS PGothic"/>
              </a:rPr>
              <a:t>GPS</a:t>
            </a:r>
          </a:p>
          <a:p>
            <a:pPr algn="ctr" marL="0" indent="0">
              <a:lnSpc>
                <a:spcPct val="110000"/>
              </a:lnSpc>
              <a:buNone/>
            </a:pPr>
            <a:r>
              <a:rPr sz="1050" b="1" i="0">
                <a:solidFill>
                  <a:srgbClr val="C00000"/>
                </a:solidFill>
                <a:latin typeface="Arial"/>
                <a:ea typeface="MS PGothic"/>
              </a:rPr>
              <a:t>사용 안 함</a:t>
            </a:r>
          </a:p>
        </p:txBody>
      </p:sp>
      <p:sp>
        <p:nvSpPr>
          <p:cNvPr id="22" name="Rounded Rectangle 21"/>
          <p:cNvSpPr/>
          <p:nvPr/>
        </p:nvSpPr>
        <p:spPr>
          <a:xfrm>
            <a:off x="457200" y="4846320"/>
            <a:ext cx="8229600" cy="100584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400" b="1" i="0">
                <a:solidFill>
                  <a:srgbClr val="000F65"/>
                </a:solidFill>
                <a:latin typeface="Arial"/>
                <a:ea typeface="MS PGothic"/>
              </a:rPr>
              <a:t>구현: MATLAB 기반 영상·IMU 처리</a:t>
            </a:r>
          </a:p>
          <a:p>
            <a:pPr algn="ctr" marL="0" indent="0">
              <a:lnSpc>
                <a:spcPct val="110000"/>
              </a:lnSpc>
              <a:buNone/>
            </a:pPr>
            <a:r>
              <a:rPr sz="1200" b="0" i="0">
                <a:solidFill>
                  <a:srgbClr val="333333"/>
                </a:solidFill>
                <a:latin typeface="Arial"/>
                <a:ea typeface="MS PGothic"/>
              </a:rPr>
              <a:t>센서별 측정 주기·시간 동기화·좌표계·카메라 보정을 확인한 뒤 융합 (연구실 시간 정합·지연 보상 절차 참고 [5, 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S PGothic"/>
              </a:rPr>
              <a:t>연구 방법</a:t>
            </a:r>
          </a:p>
        </p:txBody>
      </p:sp>
      <p:sp>
        <p:nvSpPr>
          <p:cNvPr id="3" name="TextBox 2"/>
          <p:cNvSpPr txBox="1"/>
          <p:nvPr/>
        </p:nvSpPr>
        <p:spPr>
          <a:xfrm>
            <a:off x="457200" y="987552"/>
            <a:ext cx="8229600" cy="411480"/>
          </a:xfrm>
          <a:prstGeom prst="rect">
            <a:avLst/>
          </a:prstGeom>
          <a:noFill/>
        </p:spPr>
        <p:txBody>
          <a:bodyPr wrap="square" lIns="0" rIns="0">
            <a:spAutoFit/>
          </a:bodyPr>
          <a:lstStyle/>
          <a:p>
            <a:pPr algn="ctr"/>
            <a:r>
              <a:rPr sz="1700" b="1" i="0">
                <a:solidFill>
                  <a:srgbClr val="000F65"/>
                </a:solidFill>
                <a:latin typeface="Arial"/>
                <a:ea typeface="MS PGothic"/>
              </a:rPr>
              <a:t>연구계획서의 5단계 진행</a:t>
            </a:r>
          </a:p>
        </p:txBody>
      </p:sp>
      <p:sp>
        <p:nvSpPr>
          <p:cNvPr id="4" name="Rounded Rectangle 3"/>
          <p:cNvSpPr/>
          <p:nvPr/>
        </p:nvSpPr>
        <p:spPr>
          <a:xfrm>
            <a:off x="457200" y="1508760"/>
            <a:ext cx="1325880" cy="713232"/>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Phase 1</a:t>
            </a:r>
          </a:p>
        </p:txBody>
      </p:sp>
      <p:sp>
        <p:nvSpPr>
          <p:cNvPr id="5" name="Rounded Rectangle 4"/>
          <p:cNvSpPr/>
          <p:nvPr/>
        </p:nvSpPr>
        <p:spPr>
          <a:xfrm>
            <a:off x="1920240" y="1508760"/>
            <a:ext cx="6766560" cy="713232"/>
          </a:xfrm>
          <a:prstGeom prst="roundRect">
            <a:avLst>
              <a:gd name="adj" fmla="val 8000"/>
            </a:avLst>
          </a:prstGeom>
          <a:solidFill>
            <a:srgbClr val="DAEDEF"/>
          </a:solidFill>
          <a:ln>
            <a:noFill/>
          </a:ln>
        </p:spPr>
        <p:txBody>
          <a:bodyPr rtlCol="0" anchor="ctr" wrap="square" lIns="164592" rIns="164592" tIns="36576" bIns="36576"/>
          <a:lstStyle/>
          <a:p>
            <a:pPr algn="l" marL="0" indent="0">
              <a:lnSpc>
                <a:spcPct val="110000"/>
              </a:lnSpc>
              <a:buNone/>
            </a:pPr>
            <a:r>
              <a:rPr sz="1400" b="1" i="0">
                <a:solidFill>
                  <a:srgbClr val="000F65"/>
                </a:solidFill>
                <a:latin typeface="Arial"/>
                <a:ea typeface="MS PGothic"/>
              </a:rPr>
              <a:t>데이터 구성 및 전처리</a:t>
            </a:r>
          </a:p>
          <a:p>
            <a:pPr algn="l" marL="0" indent="0">
              <a:lnSpc>
                <a:spcPct val="110000"/>
              </a:lnSpc>
              <a:buNone/>
            </a:pPr>
            <a:r>
              <a:rPr sz="1200" b="0" i="0">
                <a:solidFill>
                  <a:srgbClr val="333333"/>
                </a:solidFill>
                <a:latin typeface="Arial"/>
                <a:ea typeface="MS PGothic"/>
              </a:rPr>
              <a:t>센서별 측정 주기·시간 동기화·좌표계·카메라 보정 확인, 기준 궤적은 검증용으로 분리</a:t>
            </a:r>
          </a:p>
        </p:txBody>
      </p:sp>
      <p:sp>
        <p:nvSpPr>
          <p:cNvPr id="6" name="Rounded Rectangle 5"/>
          <p:cNvSpPr/>
          <p:nvPr/>
        </p:nvSpPr>
        <p:spPr>
          <a:xfrm>
            <a:off x="457200" y="2350008"/>
            <a:ext cx="1325880" cy="713232"/>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Phase 2</a:t>
            </a:r>
          </a:p>
        </p:txBody>
      </p:sp>
      <p:sp>
        <p:nvSpPr>
          <p:cNvPr id="7" name="Rounded Rectangle 6"/>
          <p:cNvSpPr/>
          <p:nvPr/>
        </p:nvSpPr>
        <p:spPr>
          <a:xfrm>
            <a:off x="1920240" y="2350008"/>
            <a:ext cx="6766560" cy="713232"/>
          </a:xfrm>
          <a:prstGeom prst="roundRect">
            <a:avLst>
              <a:gd name="adj" fmla="val 8000"/>
            </a:avLst>
          </a:prstGeom>
          <a:solidFill>
            <a:srgbClr val="DAEDEF"/>
          </a:solidFill>
          <a:ln>
            <a:noFill/>
          </a:ln>
        </p:spPr>
        <p:txBody>
          <a:bodyPr rtlCol="0" anchor="ctr" wrap="square" lIns="164592" rIns="164592" tIns="36576" bIns="36576"/>
          <a:lstStyle/>
          <a:p>
            <a:pPr algn="l" marL="0" indent="0">
              <a:lnSpc>
                <a:spcPct val="110000"/>
              </a:lnSpc>
              <a:buNone/>
            </a:pPr>
            <a:r>
              <a:rPr sz="1400" b="1" i="0">
                <a:solidFill>
                  <a:srgbClr val="000F65"/>
                </a:solidFill>
                <a:latin typeface="Arial"/>
                <a:ea typeface="MS PGothic"/>
              </a:rPr>
              <a:t>기준 추정기 구성</a:t>
            </a:r>
          </a:p>
          <a:p>
            <a:pPr algn="l" marL="0" indent="0">
              <a:lnSpc>
                <a:spcPct val="110000"/>
              </a:lnSpc>
              <a:buNone/>
            </a:pPr>
            <a:r>
              <a:rPr sz="1200" b="0" i="0">
                <a:solidFill>
                  <a:srgbClr val="333333"/>
                </a:solidFill>
                <a:latin typeface="Arial"/>
                <a:ea typeface="MS PGothic"/>
              </a:rPr>
              <a:t>MATLAB 기반 IMU 예측 + 옵티컬 플로우 보정, 잡음·바이어스·회전·거리 스케일 고려</a:t>
            </a:r>
          </a:p>
        </p:txBody>
      </p:sp>
      <p:sp>
        <p:nvSpPr>
          <p:cNvPr id="8" name="Rounded Rectangle 7"/>
          <p:cNvSpPr/>
          <p:nvPr/>
        </p:nvSpPr>
        <p:spPr>
          <a:xfrm>
            <a:off x="457200" y="3191256"/>
            <a:ext cx="1325880" cy="713232"/>
          </a:xfrm>
          <a:prstGeom prst="roundRect">
            <a:avLst>
              <a:gd name="adj" fmla="val 8000"/>
            </a:avLst>
          </a:prstGeom>
          <a:solidFill>
            <a:srgbClr val="C00000"/>
          </a:solidFill>
          <a:ln>
            <a:noFill/>
          </a:ln>
        </p:spPr>
        <p:txBody>
          <a:bodyPr rtlCol="0" anchor="ctr" wrap="square"/>
          <a:lstStyle/>
          <a:p>
            <a:pPr algn="ctr" marL="0" indent="0">
              <a:lnSpc>
                <a:spcPct val="110000"/>
              </a:lnSpc>
              <a:buNone/>
            </a:pPr>
            <a:r>
              <a:rPr sz="1400" b="1" i="0">
                <a:solidFill>
                  <a:srgbClr val="FFFFFF"/>
                </a:solidFill>
                <a:latin typeface="Arial"/>
                <a:ea typeface="MS PGothic"/>
              </a:rPr>
              <a:t>Phase 3</a:t>
            </a:r>
          </a:p>
        </p:txBody>
      </p:sp>
      <p:sp>
        <p:nvSpPr>
          <p:cNvPr id="9" name="Rounded Rectangle 8"/>
          <p:cNvSpPr/>
          <p:nvPr/>
        </p:nvSpPr>
        <p:spPr>
          <a:xfrm>
            <a:off x="1920240" y="3191256"/>
            <a:ext cx="6766560" cy="713232"/>
          </a:xfrm>
          <a:prstGeom prst="roundRect">
            <a:avLst>
              <a:gd name="adj" fmla="val 8000"/>
            </a:avLst>
          </a:prstGeom>
          <a:solidFill>
            <a:srgbClr val="DAEDEF"/>
          </a:solidFill>
          <a:ln w="15875">
            <a:solidFill>
              <a:srgbClr val="C00000"/>
            </a:solidFill>
          </a:ln>
        </p:spPr>
        <p:txBody>
          <a:bodyPr rtlCol="0" anchor="ctr" wrap="square" lIns="164592" rIns="164592" tIns="36576" bIns="36576"/>
          <a:lstStyle/>
          <a:p>
            <a:pPr algn="l" marL="0" indent="0">
              <a:lnSpc>
                <a:spcPct val="110000"/>
              </a:lnSpc>
              <a:buNone/>
            </a:pPr>
            <a:r>
              <a:rPr sz="1400" b="1" i="0">
                <a:solidFill>
                  <a:srgbClr val="000F65"/>
                </a:solidFill>
                <a:latin typeface="Arial"/>
                <a:ea typeface="MS PGothic"/>
              </a:rPr>
              <a:t>영상 품질 반영 융합</a:t>
            </a:r>
          </a:p>
          <a:p>
            <a:pPr algn="l" marL="0" indent="0">
              <a:lnSpc>
                <a:spcPct val="110000"/>
              </a:lnSpc>
              <a:buNone/>
            </a:pPr>
            <a:r>
              <a:rPr sz="1200" b="0" i="0">
                <a:solidFill>
                  <a:srgbClr val="333333"/>
                </a:solidFill>
                <a:latin typeface="Arial"/>
                <a:ea typeface="MS PGothic"/>
              </a:rPr>
              <a:t>품질 지표 구성 → 신뢰도 기준·보정 규칙 설정 (비중 축소 / 보정 생략)</a:t>
            </a:r>
          </a:p>
        </p:txBody>
      </p:sp>
      <p:sp>
        <p:nvSpPr>
          <p:cNvPr id="10" name="Rounded Rectangle 9"/>
          <p:cNvSpPr/>
          <p:nvPr/>
        </p:nvSpPr>
        <p:spPr>
          <a:xfrm>
            <a:off x="457200" y="4032504"/>
            <a:ext cx="1325880" cy="713232"/>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Phase 4</a:t>
            </a:r>
          </a:p>
        </p:txBody>
      </p:sp>
      <p:sp>
        <p:nvSpPr>
          <p:cNvPr id="11" name="Rounded Rectangle 10"/>
          <p:cNvSpPr/>
          <p:nvPr/>
        </p:nvSpPr>
        <p:spPr>
          <a:xfrm>
            <a:off x="1920240" y="4032504"/>
            <a:ext cx="6766560" cy="713232"/>
          </a:xfrm>
          <a:prstGeom prst="roundRect">
            <a:avLst>
              <a:gd name="adj" fmla="val 8000"/>
            </a:avLst>
          </a:prstGeom>
          <a:solidFill>
            <a:srgbClr val="DAEDEF"/>
          </a:solidFill>
          <a:ln>
            <a:noFill/>
          </a:ln>
        </p:spPr>
        <p:txBody>
          <a:bodyPr rtlCol="0" anchor="ctr" wrap="square" lIns="164592" rIns="164592" tIns="36576" bIns="36576"/>
          <a:lstStyle/>
          <a:p>
            <a:pPr algn="l" marL="0" indent="0">
              <a:lnSpc>
                <a:spcPct val="110000"/>
              </a:lnSpc>
              <a:buNone/>
            </a:pPr>
            <a:r>
              <a:rPr sz="1400" b="1" i="0">
                <a:solidFill>
                  <a:srgbClr val="000F65"/>
                </a:solidFill>
                <a:latin typeface="Arial"/>
                <a:ea typeface="MS PGothic"/>
              </a:rPr>
              <a:t>비교 실험 및 성능 평가</a:t>
            </a:r>
          </a:p>
          <a:p>
            <a:pPr algn="l" marL="0" indent="0">
              <a:lnSpc>
                <a:spcPct val="110000"/>
              </a:lnSpc>
              <a:buNone/>
            </a:pPr>
            <a:r>
              <a:rPr sz="1200" b="0" i="0">
                <a:solidFill>
                  <a:srgbClr val="333333"/>
                </a:solidFill>
                <a:latin typeface="Arial"/>
                <a:ea typeface="MS PGothic"/>
              </a:rPr>
              <a:t>이동 조건·영상 조건별로 세 방법 비교, 영상 흐림·프레임 누락 실험</a:t>
            </a:r>
          </a:p>
        </p:txBody>
      </p:sp>
      <p:sp>
        <p:nvSpPr>
          <p:cNvPr id="12" name="Rounded Rectangle 11"/>
          <p:cNvSpPr/>
          <p:nvPr/>
        </p:nvSpPr>
        <p:spPr>
          <a:xfrm>
            <a:off x="457200" y="4873752"/>
            <a:ext cx="1325880" cy="713232"/>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Phase 5</a:t>
            </a:r>
          </a:p>
        </p:txBody>
      </p:sp>
      <p:sp>
        <p:nvSpPr>
          <p:cNvPr id="13" name="Rounded Rectangle 12"/>
          <p:cNvSpPr/>
          <p:nvPr/>
        </p:nvSpPr>
        <p:spPr>
          <a:xfrm>
            <a:off x="1920240" y="4873752"/>
            <a:ext cx="6766560" cy="713232"/>
          </a:xfrm>
          <a:prstGeom prst="roundRect">
            <a:avLst>
              <a:gd name="adj" fmla="val 8000"/>
            </a:avLst>
          </a:prstGeom>
          <a:solidFill>
            <a:srgbClr val="DAEDEF"/>
          </a:solidFill>
          <a:ln>
            <a:noFill/>
          </a:ln>
        </p:spPr>
        <p:txBody>
          <a:bodyPr rtlCol="0" anchor="ctr" wrap="square" lIns="164592" rIns="164592" tIns="36576" bIns="36576"/>
          <a:lstStyle/>
          <a:p>
            <a:pPr algn="l" marL="0" indent="0">
              <a:lnSpc>
                <a:spcPct val="110000"/>
              </a:lnSpc>
              <a:buNone/>
            </a:pPr>
            <a:r>
              <a:rPr sz="1400" b="1" i="0">
                <a:solidFill>
                  <a:srgbClr val="000F65"/>
                </a:solidFill>
                <a:latin typeface="Arial"/>
                <a:ea typeface="MS PGothic"/>
              </a:rPr>
              <a:t>결과 분석 및 정리</a:t>
            </a:r>
          </a:p>
          <a:p>
            <a:pPr algn="l" marL="0" indent="0">
              <a:lnSpc>
                <a:spcPct val="110000"/>
              </a:lnSpc>
              <a:buNone/>
            </a:pPr>
            <a:r>
              <a:rPr sz="1200" b="0" i="0">
                <a:solidFill>
                  <a:srgbClr val="333333"/>
                </a:solidFill>
                <a:latin typeface="Arial"/>
                <a:ea typeface="MS PGothic"/>
              </a:rPr>
              <a:t>알고리즘 코드 · 비교 그래프 · 성능 평가표 · 최종 연구보고서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S PGothic"/>
              </a:rPr>
              <a:t>검증 계획</a:t>
            </a:r>
          </a:p>
        </p:txBody>
      </p:sp>
      <p:sp>
        <p:nvSpPr>
          <p:cNvPr id="3" name="TextBox 2"/>
          <p:cNvSpPr txBox="1"/>
          <p:nvPr/>
        </p:nvSpPr>
        <p:spPr>
          <a:xfrm>
            <a:off x="457200" y="987552"/>
            <a:ext cx="8229600" cy="411480"/>
          </a:xfrm>
          <a:prstGeom prst="rect">
            <a:avLst/>
          </a:prstGeom>
          <a:noFill/>
        </p:spPr>
        <p:txBody>
          <a:bodyPr wrap="square" lIns="0" rIns="0">
            <a:spAutoFit/>
          </a:bodyPr>
          <a:lstStyle/>
          <a:p>
            <a:pPr algn="ctr"/>
            <a:r>
              <a:rPr sz="1700" b="1" i="0">
                <a:solidFill>
                  <a:srgbClr val="000F65"/>
                </a:solidFill>
                <a:latin typeface="Arial"/>
                <a:ea typeface="MS PGothic"/>
              </a:rPr>
              <a:t>동일한 초기 조건과 데이터 구간에서 세 방법 비교</a:t>
            </a:r>
          </a:p>
        </p:txBody>
      </p:sp>
      <p:sp>
        <p:nvSpPr>
          <p:cNvPr id="4" name="Rounded Rectangle 3"/>
          <p:cNvSpPr/>
          <p:nvPr/>
        </p:nvSpPr>
        <p:spPr>
          <a:xfrm>
            <a:off x="457200" y="1554480"/>
            <a:ext cx="2560320" cy="77724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400" b="1" i="0">
                <a:solidFill>
                  <a:srgbClr val="000F65"/>
                </a:solidFill>
                <a:latin typeface="Arial"/>
                <a:ea typeface="MS PGothic"/>
              </a:rPr>
              <a:t>IMU 단독</a:t>
            </a:r>
          </a:p>
          <a:p>
            <a:pPr algn="ctr" marL="0" indent="0">
              <a:lnSpc>
                <a:spcPct val="110000"/>
              </a:lnSpc>
              <a:buNone/>
            </a:pPr>
            <a:r>
              <a:rPr sz="1200" b="0" i="0">
                <a:solidFill>
                  <a:srgbClr val="333333"/>
                </a:solidFill>
                <a:latin typeface="Arial"/>
                <a:ea typeface="MS PGothic"/>
              </a:rPr>
              <a:t>비교 기준</a:t>
            </a:r>
          </a:p>
        </p:txBody>
      </p:sp>
      <p:sp>
        <p:nvSpPr>
          <p:cNvPr id="5" name="Rounded Rectangle 4"/>
          <p:cNvSpPr/>
          <p:nvPr/>
        </p:nvSpPr>
        <p:spPr>
          <a:xfrm>
            <a:off x="3291840" y="1554480"/>
            <a:ext cx="2560320" cy="77724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400" b="1" i="0">
                <a:solidFill>
                  <a:srgbClr val="000F65"/>
                </a:solidFill>
                <a:latin typeface="Arial"/>
                <a:ea typeface="MS PGothic"/>
              </a:rPr>
              <a:t>고정 신뢰도 융합</a:t>
            </a:r>
          </a:p>
          <a:p>
            <a:pPr algn="ctr" marL="0" indent="0">
              <a:lnSpc>
                <a:spcPct val="110000"/>
              </a:lnSpc>
              <a:buNone/>
            </a:pPr>
            <a:r>
              <a:rPr sz="1200" b="0" i="0">
                <a:solidFill>
                  <a:srgbClr val="333333"/>
                </a:solidFill>
                <a:latin typeface="Arial"/>
                <a:ea typeface="MS PGothic"/>
              </a:rPr>
              <a:t>영상 보정 비중 고정</a:t>
            </a:r>
          </a:p>
        </p:txBody>
      </p:sp>
      <p:sp>
        <p:nvSpPr>
          <p:cNvPr id="6" name="Rounded Rectangle 5"/>
          <p:cNvSpPr/>
          <p:nvPr/>
        </p:nvSpPr>
        <p:spPr>
          <a:xfrm>
            <a:off x="6126480" y="1554480"/>
            <a:ext cx="2560320" cy="777240"/>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영상 신뢰도 반영 융합</a:t>
            </a:r>
          </a:p>
          <a:p>
            <a:pPr algn="ctr" marL="0" indent="0">
              <a:lnSpc>
                <a:spcPct val="110000"/>
              </a:lnSpc>
              <a:buNone/>
            </a:pPr>
            <a:r>
              <a:rPr sz="1200" b="0" i="0">
                <a:solidFill>
                  <a:srgbClr val="C8CEEA"/>
                </a:solidFill>
                <a:latin typeface="Arial"/>
                <a:ea typeface="MS PGothic"/>
              </a:rPr>
              <a:t>본 연구</a:t>
            </a:r>
          </a:p>
        </p:txBody>
      </p:sp>
      <p:sp>
        <p:nvSpPr>
          <p:cNvPr id="7" name="TextBox 6"/>
          <p:cNvSpPr txBox="1"/>
          <p:nvPr/>
        </p:nvSpPr>
        <p:spPr>
          <a:xfrm>
            <a:off x="457200" y="2514600"/>
            <a:ext cx="8229600" cy="292608"/>
          </a:xfrm>
          <a:prstGeom prst="rect">
            <a:avLst/>
          </a:prstGeom>
          <a:noFill/>
        </p:spPr>
        <p:txBody>
          <a:bodyPr wrap="square" anchor="ctr" lIns="0" rIns="0" tIns="0" bIns="0">
            <a:spAutoFit/>
          </a:bodyPr>
          <a:lstStyle/>
          <a:p>
            <a:pPr algn="ctr" marL="0" indent="0">
              <a:lnSpc>
                <a:spcPct val="110000"/>
              </a:lnSpc>
              <a:buNone/>
            </a:pPr>
            <a:r>
              <a:rPr sz="1400" b="1" i="0">
                <a:solidFill>
                  <a:srgbClr val="000F65"/>
                </a:solidFill>
                <a:latin typeface="Arial"/>
                <a:ea typeface="MS PGothic"/>
              </a:rPr>
              <a:t>실험 조건</a:t>
            </a:r>
          </a:p>
        </p:txBody>
      </p:sp>
      <p:sp>
        <p:nvSpPr>
          <p:cNvPr id="8" name="Rounded Rectangle 7"/>
          <p:cNvSpPr/>
          <p:nvPr/>
        </p:nvSpPr>
        <p:spPr>
          <a:xfrm>
            <a:off x="457200" y="2852928"/>
            <a:ext cx="1920240" cy="50292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직선 주행</a:t>
            </a:r>
          </a:p>
        </p:txBody>
      </p:sp>
      <p:sp>
        <p:nvSpPr>
          <p:cNvPr id="9" name="Rounded Rectangle 8"/>
          <p:cNvSpPr/>
          <p:nvPr/>
        </p:nvSpPr>
        <p:spPr>
          <a:xfrm>
            <a:off x="2560320" y="2852928"/>
            <a:ext cx="1920240" cy="50292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선회</a:t>
            </a:r>
          </a:p>
        </p:txBody>
      </p:sp>
      <p:sp>
        <p:nvSpPr>
          <p:cNvPr id="10" name="Rounded Rectangle 9"/>
          <p:cNvSpPr/>
          <p:nvPr/>
        </p:nvSpPr>
        <p:spPr>
          <a:xfrm>
            <a:off x="4663440" y="2852928"/>
            <a:ext cx="1920240" cy="50292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정지·출발</a:t>
            </a:r>
          </a:p>
        </p:txBody>
      </p:sp>
      <p:sp>
        <p:nvSpPr>
          <p:cNvPr id="11" name="Rounded Rectangle 10"/>
          <p:cNvSpPr/>
          <p:nvPr/>
        </p:nvSpPr>
        <p:spPr>
          <a:xfrm>
            <a:off x="6766559" y="2852928"/>
            <a:ext cx="1920240" cy="50292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영상 품질 저하 구간</a:t>
            </a:r>
          </a:p>
        </p:txBody>
      </p:sp>
      <p:sp>
        <p:nvSpPr>
          <p:cNvPr id="12" name="Rounded Rectangle 11"/>
          <p:cNvSpPr/>
          <p:nvPr/>
        </p:nvSpPr>
        <p:spPr>
          <a:xfrm>
            <a:off x="457200" y="3429000"/>
            <a:ext cx="8229600" cy="411480"/>
          </a:xfrm>
          <a:prstGeom prst="roundRect">
            <a:avLst>
              <a:gd name="adj" fmla="val 8000"/>
            </a:avLst>
          </a:prstGeom>
          <a:solidFill>
            <a:srgbClr val="FFFFFF"/>
          </a:solidFill>
          <a:ln w="12700">
            <a:solidFill>
              <a:srgbClr val="C00000"/>
            </a:solidFill>
          </a:ln>
        </p:spPr>
        <p:txBody>
          <a:bodyPr rtlCol="0" anchor="ctr" wrap="square"/>
          <a:lstStyle/>
          <a:p>
            <a:pPr algn="ctr" marL="0" indent="0">
              <a:lnSpc>
                <a:spcPct val="110000"/>
              </a:lnSpc>
              <a:buNone/>
            </a:pPr>
            <a:r>
              <a:rPr sz="1200" b="1" i="0">
                <a:solidFill>
                  <a:srgbClr val="C00000"/>
                </a:solidFill>
                <a:latin typeface="Arial"/>
                <a:ea typeface="MS PGothic"/>
              </a:rPr>
              <a:t>추가: 영상 흐림 · 프레임 누락 부여 (원본 데이터 실험과 구분하여 기록)</a:t>
            </a:r>
          </a:p>
        </p:txBody>
      </p:sp>
      <p:sp>
        <p:nvSpPr>
          <p:cNvPr id="13" name="TextBox 12"/>
          <p:cNvSpPr txBox="1"/>
          <p:nvPr/>
        </p:nvSpPr>
        <p:spPr>
          <a:xfrm>
            <a:off x="457200" y="4005072"/>
            <a:ext cx="8229600" cy="292608"/>
          </a:xfrm>
          <a:prstGeom prst="rect">
            <a:avLst/>
          </a:prstGeom>
          <a:noFill/>
        </p:spPr>
        <p:txBody>
          <a:bodyPr wrap="square" anchor="ctr" lIns="0" rIns="0" tIns="0" bIns="0">
            <a:spAutoFit/>
          </a:bodyPr>
          <a:lstStyle/>
          <a:p>
            <a:pPr algn="ctr" marL="0" indent="0">
              <a:lnSpc>
                <a:spcPct val="110000"/>
              </a:lnSpc>
              <a:buNone/>
            </a:pPr>
            <a:r>
              <a:rPr sz="1400" b="1" i="0">
                <a:solidFill>
                  <a:srgbClr val="000F65"/>
                </a:solidFill>
                <a:latin typeface="Arial"/>
                <a:ea typeface="MS PGothic"/>
              </a:rPr>
              <a:t>평가 지표</a:t>
            </a:r>
          </a:p>
        </p:txBody>
      </p:sp>
      <p:sp>
        <p:nvSpPr>
          <p:cNvPr id="14" name="Rounded Rectangle 13"/>
          <p:cNvSpPr/>
          <p:nvPr/>
        </p:nvSpPr>
        <p:spPr>
          <a:xfrm>
            <a:off x="457200" y="4343400"/>
            <a:ext cx="2560320" cy="50292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위치 RMSE</a:t>
            </a:r>
          </a:p>
        </p:txBody>
      </p:sp>
      <p:sp>
        <p:nvSpPr>
          <p:cNvPr id="15" name="Rounded Rectangle 14"/>
          <p:cNvSpPr/>
          <p:nvPr/>
        </p:nvSpPr>
        <p:spPr>
          <a:xfrm>
            <a:off x="3291840" y="4343400"/>
            <a:ext cx="2560320" cy="50292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최종 위치 오차</a:t>
            </a:r>
          </a:p>
        </p:txBody>
      </p:sp>
      <p:sp>
        <p:nvSpPr>
          <p:cNvPr id="16" name="Rounded Rectangle 15"/>
          <p:cNvSpPr/>
          <p:nvPr/>
        </p:nvSpPr>
        <p:spPr>
          <a:xfrm>
            <a:off x="6126480" y="4343400"/>
            <a:ext cx="2560320" cy="50292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영상 중단 시 오차 증가량</a:t>
            </a:r>
          </a:p>
        </p:txBody>
      </p:sp>
      <p:sp>
        <p:nvSpPr>
          <p:cNvPr id="17" name="Rounded Rectangle 16"/>
          <p:cNvSpPr/>
          <p:nvPr/>
        </p:nvSpPr>
        <p:spPr>
          <a:xfrm>
            <a:off x="1874519" y="4937760"/>
            <a:ext cx="2560320" cy="50292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속도 RMSE (기준 속도 제공 시)</a:t>
            </a:r>
          </a:p>
        </p:txBody>
      </p:sp>
      <p:sp>
        <p:nvSpPr>
          <p:cNvPr id="18" name="Rounded Rectangle 17"/>
          <p:cNvSpPr/>
          <p:nvPr/>
        </p:nvSpPr>
        <p:spPr>
          <a:xfrm>
            <a:off x="4709160" y="4937760"/>
            <a:ext cx="2560320" cy="502920"/>
          </a:xfrm>
          <a:prstGeom prst="roundRect">
            <a:avLst>
              <a:gd name="adj" fmla="val 8000"/>
            </a:avLst>
          </a:prstGeom>
          <a:solidFill>
            <a:srgbClr val="DAEDEF"/>
          </a:solidFill>
          <a:ln>
            <a:noFill/>
          </a:ln>
        </p:spPr>
        <p:txBody>
          <a:bodyPr rtlCol="0" anchor="ctr" wrap="square"/>
          <a:lstStyle/>
          <a:p>
            <a:pPr algn="ctr" marL="0" indent="0">
              <a:lnSpc>
                <a:spcPct val="110000"/>
              </a:lnSpc>
              <a:buNone/>
            </a:pPr>
            <a:r>
              <a:rPr sz="1200" b="1" i="0">
                <a:solidFill>
                  <a:srgbClr val="000F65"/>
                </a:solidFill>
                <a:latin typeface="Arial"/>
                <a:ea typeface="MS PGothic"/>
              </a:rPr>
              <a:t>처리시간 (구현 가능성)</a:t>
            </a:r>
          </a:p>
        </p:txBody>
      </p:sp>
      <p:sp>
        <p:nvSpPr>
          <p:cNvPr id="19" name="TextBox 18"/>
          <p:cNvSpPr txBox="1"/>
          <p:nvPr/>
        </p:nvSpPr>
        <p:spPr>
          <a:xfrm>
            <a:off x="457200" y="5559552"/>
            <a:ext cx="8229600" cy="237744"/>
          </a:xfrm>
          <a:prstGeom prst="rect">
            <a:avLst/>
          </a:prstGeom>
          <a:noFill/>
        </p:spPr>
        <p:txBody>
          <a:bodyPr wrap="square" anchor="ctr" lIns="0" rIns="0" tIns="0" bIns="0">
            <a:spAutoFit/>
          </a:bodyPr>
          <a:lstStyle/>
          <a:p>
            <a:pPr algn="ctr" marL="0" indent="0">
              <a:lnSpc>
                <a:spcPct val="110000"/>
              </a:lnSpc>
              <a:buNone/>
            </a:pPr>
            <a:r>
              <a:rPr sz="1200" b="1" i="0">
                <a:solidFill>
                  <a:srgbClr val="666666"/>
                </a:solidFill>
                <a:latin typeface="Arial"/>
                <a:ea typeface="MS PGothic"/>
              </a:rPr>
              <a:t>모든 방법에 동일한 시간 정합·좌표 정렬 기준 적용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S PGothic"/>
              </a:rPr>
              <a:t>수행 일정 (15주)</a:t>
            </a:r>
          </a:p>
        </p:txBody>
      </p:sp>
      <p:sp>
        <p:nvSpPr>
          <p:cNvPr id="3" name="TextBox 2"/>
          <p:cNvSpPr txBox="1"/>
          <p:nvPr/>
        </p:nvSpPr>
        <p:spPr>
          <a:xfrm>
            <a:off x="3703320" y="1097280"/>
            <a:ext cx="332232" cy="228600"/>
          </a:xfrm>
          <a:prstGeom prst="rect">
            <a:avLst/>
          </a:prstGeom>
          <a:noFill/>
        </p:spPr>
        <p:txBody>
          <a:bodyPr wrap="square" anchor="ctr" lIns="0" rIns="0" tIns="0" bIns="0">
            <a:spAutoFit/>
          </a:bodyPr>
          <a:lstStyle/>
          <a:p>
            <a:pPr algn="ctr" marL="0" indent="0">
              <a:lnSpc>
                <a:spcPct val="110000"/>
              </a:lnSpc>
              <a:buNone/>
            </a:pPr>
            <a:r>
              <a:rPr sz="1050" b="1" i="0">
                <a:solidFill>
                  <a:srgbClr val="000F65"/>
                </a:solidFill>
                <a:latin typeface="Arial"/>
                <a:ea typeface="MS PGothic"/>
              </a:rPr>
              <a:t>1</a:t>
            </a:r>
          </a:p>
        </p:txBody>
      </p:sp>
      <p:sp>
        <p:nvSpPr>
          <p:cNvPr id="4" name="TextBox 3"/>
          <p:cNvSpPr txBox="1"/>
          <p:nvPr/>
        </p:nvSpPr>
        <p:spPr>
          <a:xfrm>
            <a:off x="4035552" y="1097280"/>
            <a:ext cx="332232" cy="228600"/>
          </a:xfrm>
          <a:prstGeom prst="rect">
            <a:avLst/>
          </a:prstGeom>
          <a:noFill/>
        </p:spPr>
        <p:txBody>
          <a:bodyPr wrap="square" anchor="ctr" lIns="0" rIns="0" tIns="0" bIns="0">
            <a:spAutoFit/>
          </a:bodyPr>
          <a:lstStyle/>
          <a:p>
            <a:pPr algn="ctr" marL="0" indent="0">
              <a:lnSpc>
                <a:spcPct val="110000"/>
              </a:lnSpc>
              <a:buNone/>
            </a:pPr>
            <a:r>
              <a:rPr sz="1050" b="1" i="0">
                <a:solidFill>
                  <a:srgbClr val="000F65"/>
                </a:solidFill>
                <a:latin typeface="Arial"/>
                <a:ea typeface="MS PGothic"/>
              </a:rPr>
              <a:t>2</a:t>
            </a:r>
          </a:p>
        </p:txBody>
      </p:sp>
      <p:sp>
        <p:nvSpPr>
          <p:cNvPr id="5" name="TextBox 4"/>
          <p:cNvSpPr txBox="1"/>
          <p:nvPr/>
        </p:nvSpPr>
        <p:spPr>
          <a:xfrm>
            <a:off x="4367784" y="1097280"/>
            <a:ext cx="332232" cy="228600"/>
          </a:xfrm>
          <a:prstGeom prst="rect">
            <a:avLst/>
          </a:prstGeom>
          <a:noFill/>
        </p:spPr>
        <p:txBody>
          <a:bodyPr wrap="square" anchor="ctr" lIns="0" rIns="0" tIns="0" bIns="0">
            <a:spAutoFit/>
          </a:bodyPr>
          <a:lstStyle/>
          <a:p>
            <a:pPr algn="ctr" marL="0" indent="0">
              <a:lnSpc>
                <a:spcPct val="110000"/>
              </a:lnSpc>
              <a:buNone/>
            </a:pPr>
            <a:r>
              <a:rPr sz="1050" b="1" i="0">
                <a:solidFill>
                  <a:srgbClr val="000F65"/>
                </a:solidFill>
                <a:latin typeface="Arial"/>
                <a:ea typeface="MS PGothic"/>
              </a:rPr>
              <a:t>3</a:t>
            </a:r>
          </a:p>
        </p:txBody>
      </p:sp>
      <p:sp>
        <p:nvSpPr>
          <p:cNvPr id="6" name="TextBox 5"/>
          <p:cNvSpPr txBox="1"/>
          <p:nvPr/>
        </p:nvSpPr>
        <p:spPr>
          <a:xfrm>
            <a:off x="4700016" y="1097280"/>
            <a:ext cx="332232" cy="228600"/>
          </a:xfrm>
          <a:prstGeom prst="rect">
            <a:avLst/>
          </a:prstGeom>
          <a:noFill/>
        </p:spPr>
        <p:txBody>
          <a:bodyPr wrap="square" anchor="ctr" lIns="0" rIns="0" tIns="0" bIns="0">
            <a:spAutoFit/>
          </a:bodyPr>
          <a:lstStyle/>
          <a:p>
            <a:pPr algn="ctr" marL="0" indent="0">
              <a:lnSpc>
                <a:spcPct val="110000"/>
              </a:lnSpc>
              <a:buNone/>
            </a:pPr>
            <a:r>
              <a:rPr sz="1050" b="1" i="0">
                <a:solidFill>
                  <a:srgbClr val="000F65"/>
                </a:solidFill>
                <a:latin typeface="Arial"/>
                <a:ea typeface="MS PGothic"/>
              </a:rPr>
              <a:t>4</a:t>
            </a:r>
          </a:p>
        </p:txBody>
      </p:sp>
      <p:sp>
        <p:nvSpPr>
          <p:cNvPr id="7" name="TextBox 6"/>
          <p:cNvSpPr txBox="1"/>
          <p:nvPr/>
        </p:nvSpPr>
        <p:spPr>
          <a:xfrm>
            <a:off x="5032248" y="1097280"/>
            <a:ext cx="332232" cy="228600"/>
          </a:xfrm>
          <a:prstGeom prst="rect">
            <a:avLst/>
          </a:prstGeom>
          <a:noFill/>
        </p:spPr>
        <p:txBody>
          <a:bodyPr wrap="square" anchor="ctr" lIns="0" rIns="0" tIns="0" bIns="0">
            <a:spAutoFit/>
          </a:bodyPr>
          <a:lstStyle/>
          <a:p>
            <a:pPr algn="ctr" marL="0" indent="0">
              <a:lnSpc>
                <a:spcPct val="110000"/>
              </a:lnSpc>
              <a:buNone/>
            </a:pPr>
            <a:r>
              <a:rPr sz="1050" b="1" i="0">
                <a:solidFill>
                  <a:srgbClr val="000F65"/>
                </a:solidFill>
                <a:latin typeface="Arial"/>
                <a:ea typeface="MS PGothic"/>
              </a:rPr>
              <a:t>5</a:t>
            </a:r>
          </a:p>
        </p:txBody>
      </p:sp>
      <p:sp>
        <p:nvSpPr>
          <p:cNvPr id="8" name="TextBox 7"/>
          <p:cNvSpPr txBox="1"/>
          <p:nvPr/>
        </p:nvSpPr>
        <p:spPr>
          <a:xfrm>
            <a:off x="5364480" y="1097280"/>
            <a:ext cx="332232" cy="228600"/>
          </a:xfrm>
          <a:prstGeom prst="rect">
            <a:avLst/>
          </a:prstGeom>
          <a:noFill/>
        </p:spPr>
        <p:txBody>
          <a:bodyPr wrap="square" anchor="ctr" lIns="0" rIns="0" tIns="0" bIns="0">
            <a:spAutoFit/>
          </a:bodyPr>
          <a:lstStyle/>
          <a:p>
            <a:pPr algn="ctr" marL="0" indent="0">
              <a:lnSpc>
                <a:spcPct val="110000"/>
              </a:lnSpc>
              <a:buNone/>
            </a:pPr>
            <a:r>
              <a:rPr sz="1050" b="1" i="0">
                <a:solidFill>
                  <a:srgbClr val="000F65"/>
                </a:solidFill>
                <a:latin typeface="Arial"/>
                <a:ea typeface="MS PGothic"/>
              </a:rPr>
              <a:t>6</a:t>
            </a:r>
          </a:p>
        </p:txBody>
      </p:sp>
      <p:sp>
        <p:nvSpPr>
          <p:cNvPr id="9" name="TextBox 8"/>
          <p:cNvSpPr txBox="1"/>
          <p:nvPr/>
        </p:nvSpPr>
        <p:spPr>
          <a:xfrm>
            <a:off x="5696712" y="1097280"/>
            <a:ext cx="332232" cy="228600"/>
          </a:xfrm>
          <a:prstGeom prst="rect">
            <a:avLst/>
          </a:prstGeom>
          <a:noFill/>
        </p:spPr>
        <p:txBody>
          <a:bodyPr wrap="square" anchor="ctr" lIns="0" rIns="0" tIns="0" bIns="0">
            <a:spAutoFit/>
          </a:bodyPr>
          <a:lstStyle/>
          <a:p>
            <a:pPr algn="ctr" marL="0" indent="0">
              <a:lnSpc>
                <a:spcPct val="110000"/>
              </a:lnSpc>
              <a:buNone/>
            </a:pPr>
            <a:r>
              <a:rPr sz="1050" b="1" i="0">
                <a:solidFill>
                  <a:srgbClr val="000F65"/>
                </a:solidFill>
                <a:latin typeface="Arial"/>
                <a:ea typeface="MS PGothic"/>
              </a:rPr>
              <a:t>7</a:t>
            </a:r>
          </a:p>
        </p:txBody>
      </p:sp>
      <p:sp>
        <p:nvSpPr>
          <p:cNvPr id="10" name="TextBox 9"/>
          <p:cNvSpPr txBox="1"/>
          <p:nvPr/>
        </p:nvSpPr>
        <p:spPr>
          <a:xfrm>
            <a:off x="6028944" y="1097280"/>
            <a:ext cx="332232" cy="228600"/>
          </a:xfrm>
          <a:prstGeom prst="rect">
            <a:avLst/>
          </a:prstGeom>
          <a:noFill/>
        </p:spPr>
        <p:txBody>
          <a:bodyPr wrap="square" anchor="ctr" lIns="0" rIns="0" tIns="0" bIns="0">
            <a:spAutoFit/>
          </a:bodyPr>
          <a:lstStyle/>
          <a:p>
            <a:pPr algn="ctr" marL="0" indent="0">
              <a:lnSpc>
                <a:spcPct val="110000"/>
              </a:lnSpc>
              <a:buNone/>
            </a:pPr>
            <a:r>
              <a:rPr sz="1050" b="1" i="0">
                <a:solidFill>
                  <a:srgbClr val="000F65"/>
                </a:solidFill>
                <a:latin typeface="Arial"/>
                <a:ea typeface="MS PGothic"/>
              </a:rPr>
              <a:t>8</a:t>
            </a:r>
          </a:p>
        </p:txBody>
      </p:sp>
      <p:sp>
        <p:nvSpPr>
          <p:cNvPr id="11" name="TextBox 10"/>
          <p:cNvSpPr txBox="1"/>
          <p:nvPr/>
        </p:nvSpPr>
        <p:spPr>
          <a:xfrm>
            <a:off x="6361176" y="1097280"/>
            <a:ext cx="332232" cy="228600"/>
          </a:xfrm>
          <a:prstGeom prst="rect">
            <a:avLst/>
          </a:prstGeom>
          <a:noFill/>
        </p:spPr>
        <p:txBody>
          <a:bodyPr wrap="square" anchor="ctr" lIns="0" rIns="0" tIns="0" bIns="0">
            <a:spAutoFit/>
          </a:bodyPr>
          <a:lstStyle/>
          <a:p>
            <a:pPr algn="ctr" marL="0" indent="0">
              <a:lnSpc>
                <a:spcPct val="110000"/>
              </a:lnSpc>
              <a:buNone/>
            </a:pPr>
            <a:r>
              <a:rPr sz="1050" b="1" i="0">
                <a:solidFill>
                  <a:srgbClr val="000F65"/>
                </a:solidFill>
                <a:latin typeface="Arial"/>
                <a:ea typeface="MS PGothic"/>
              </a:rPr>
              <a:t>9</a:t>
            </a:r>
          </a:p>
        </p:txBody>
      </p:sp>
      <p:sp>
        <p:nvSpPr>
          <p:cNvPr id="12" name="TextBox 11"/>
          <p:cNvSpPr txBox="1"/>
          <p:nvPr/>
        </p:nvSpPr>
        <p:spPr>
          <a:xfrm>
            <a:off x="6693408" y="1097280"/>
            <a:ext cx="332232" cy="228600"/>
          </a:xfrm>
          <a:prstGeom prst="rect">
            <a:avLst/>
          </a:prstGeom>
          <a:noFill/>
        </p:spPr>
        <p:txBody>
          <a:bodyPr wrap="square" anchor="ctr" lIns="0" rIns="0" tIns="0" bIns="0">
            <a:spAutoFit/>
          </a:bodyPr>
          <a:lstStyle/>
          <a:p>
            <a:pPr algn="ctr" marL="0" indent="0">
              <a:lnSpc>
                <a:spcPct val="110000"/>
              </a:lnSpc>
              <a:buNone/>
            </a:pPr>
            <a:r>
              <a:rPr sz="1050" b="1" i="0">
                <a:solidFill>
                  <a:srgbClr val="000F65"/>
                </a:solidFill>
                <a:latin typeface="Arial"/>
                <a:ea typeface="MS PGothic"/>
              </a:rPr>
              <a:t>10</a:t>
            </a:r>
          </a:p>
        </p:txBody>
      </p:sp>
      <p:sp>
        <p:nvSpPr>
          <p:cNvPr id="13" name="TextBox 12"/>
          <p:cNvSpPr txBox="1"/>
          <p:nvPr/>
        </p:nvSpPr>
        <p:spPr>
          <a:xfrm>
            <a:off x="7025640" y="1097280"/>
            <a:ext cx="332232" cy="228600"/>
          </a:xfrm>
          <a:prstGeom prst="rect">
            <a:avLst/>
          </a:prstGeom>
          <a:noFill/>
        </p:spPr>
        <p:txBody>
          <a:bodyPr wrap="square" anchor="ctr" lIns="0" rIns="0" tIns="0" bIns="0">
            <a:spAutoFit/>
          </a:bodyPr>
          <a:lstStyle/>
          <a:p>
            <a:pPr algn="ctr" marL="0" indent="0">
              <a:lnSpc>
                <a:spcPct val="110000"/>
              </a:lnSpc>
              <a:buNone/>
            </a:pPr>
            <a:r>
              <a:rPr sz="1050" b="1" i="0">
                <a:solidFill>
                  <a:srgbClr val="000F65"/>
                </a:solidFill>
                <a:latin typeface="Arial"/>
                <a:ea typeface="MS PGothic"/>
              </a:rPr>
              <a:t>11</a:t>
            </a:r>
          </a:p>
        </p:txBody>
      </p:sp>
      <p:sp>
        <p:nvSpPr>
          <p:cNvPr id="14" name="TextBox 13"/>
          <p:cNvSpPr txBox="1"/>
          <p:nvPr/>
        </p:nvSpPr>
        <p:spPr>
          <a:xfrm>
            <a:off x="7357872" y="1097280"/>
            <a:ext cx="332232" cy="228600"/>
          </a:xfrm>
          <a:prstGeom prst="rect">
            <a:avLst/>
          </a:prstGeom>
          <a:noFill/>
        </p:spPr>
        <p:txBody>
          <a:bodyPr wrap="square" anchor="ctr" lIns="0" rIns="0" tIns="0" bIns="0">
            <a:spAutoFit/>
          </a:bodyPr>
          <a:lstStyle/>
          <a:p>
            <a:pPr algn="ctr" marL="0" indent="0">
              <a:lnSpc>
                <a:spcPct val="110000"/>
              </a:lnSpc>
              <a:buNone/>
            </a:pPr>
            <a:r>
              <a:rPr sz="1050" b="1" i="0">
                <a:solidFill>
                  <a:srgbClr val="000F65"/>
                </a:solidFill>
                <a:latin typeface="Arial"/>
                <a:ea typeface="MS PGothic"/>
              </a:rPr>
              <a:t>12</a:t>
            </a:r>
          </a:p>
        </p:txBody>
      </p:sp>
      <p:sp>
        <p:nvSpPr>
          <p:cNvPr id="15" name="TextBox 14"/>
          <p:cNvSpPr txBox="1"/>
          <p:nvPr/>
        </p:nvSpPr>
        <p:spPr>
          <a:xfrm>
            <a:off x="7690104" y="1097280"/>
            <a:ext cx="332232" cy="228600"/>
          </a:xfrm>
          <a:prstGeom prst="rect">
            <a:avLst/>
          </a:prstGeom>
          <a:noFill/>
        </p:spPr>
        <p:txBody>
          <a:bodyPr wrap="square" anchor="ctr" lIns="0" rIns="0" tIns="0" bIns="0">
            <a:spAutoFit/>
          </a:bodyPr>
          <a:lstStyle/>
          <a:p>
            <a:pPr algn="ctr" marL="0" indent="0">
              <a:lnSpc>
                <a:spcPct val="110000"/>
              </a:lnSpc>
              <a:buNone/>
            </a:pPr>
            <a:r>
              <a:rPr sz="1050" b="1" i="0">
                <a:solidFill>
                  <a:srgbClr val="000F65"/>
                </a:solidFill>
                <a:latin typeface="Arial"/>
                <a:ea typeface="MS PGothic"/>
              </a:rPr>
              <a:t>13</a:t>
            </a:r>
          </a:p>
        </p:txBody>
      </p:sp>
      <p:sp>
        <p:nvSpPr>
          <p:cNvPr id="16" name="TextBox 15"/>
          <p:cNvSpPr txBox="1"/>
          <p:nvPr/>
        </p:nvSpPr>
        <p:spPr>
          <a:xfrm>
            <a:off x="8022336" y="1097280"/>
            <a:ext cx="332232" cy="228600"/>
          </a:xfrm>
          <a:prstGeom prst="rect">
            <a:avLst/>
          </a:prstGeom>
          <a:noFill/>
        </p:spPr>
        <p:txBody>
          <a:bodyPr wrap="square" anchor="ctr" lIns="0" rIns="0" tIns="0" bIns="0">
            <a:spAutoFit/>
          </a:bodyPr>
          <a:lstStyle/>
          <a:p>
            <a:pPr algn="ctr" marL="0" indent="0">
              <a:lnSpc>
                <a:spcPct val="110000"/>
              </a:lnSpc>
              <a:buNone/>
            </a:pPr>
            <a:r>
              <a:rPr sz="1050" b="1" i="0">
                <a:solidFill>
                  <a:srgbClr val="000F65"/>
                </a:solidFill>
                <a:latin typeface="Arial"/>
                <a:ea typeface="MS PGothic"/>
              </a:rPr>
              <a:t>14</a:t>
            </a:r>
          </a:p>
        </p:txBody>
      </p:sp>
      <p:sp>
        <p:nvSpPr>
          <p:cNvPr id="17" name="TextBox 16"/>
          <p:cNvSpPr txBox="1"/>
          <p:nvPr/>
        </p:nvSpPr>
        <p:spPr>
          <a:xfrm>
            <a:off x="8354568" y="1097280"/>
            <a:ext cx="332232" cy="228600"/>
          </a:xfrm>
          <a:prstGeom prst="rect">
            <a:avLst/>
          </a:prstGeom>
          <a:noFill/>
        </p:spPr>
        <p:txBody>
          <a:bodyPr wrap="square" anchor="ctr" lIns="0" rIns="0" tIns="0" bIns="0">
            <a:spAutoFit/>
          </a:bodyPr>
          <a:lstStyle/>
          <a:p>
            <a:pPr algn="ctr" marL="0" indent="0">
              <a:lnSpc>
                <a:spcPct val="110000"/>
              </a:lnSpc>
              <a:buNone/>
            </a:pPr>
            <a:r>
              <a:rPr sz="1050" b="1" i="0">
                <a:solidFill>
                  <a:srgbClr val="000F65"/>
                </a:solidFill>
                <a:latin typeface="Arial"/>
                <a:ea typeface="MS PGothic"/>
              </a:rPr>
              <a:t>15</a:t>
            </a:r>
          </a:p>
        </p:txBody>
      </p:sp>
      <p:sp>
        <p:nvSpPr>
          <p:cNvPr id="18" name="TextBox 17"/>
          <p:cNvSpPr txBox="1"/>
          <p:nvPr/>
        </p:nvSpPr>
        <p:spPr>
          <a:xfrm>
            <a:off x="3154679" y="1097280"/>
            <a:ext cx="502920" cy="228600"/>
          </a:xfrm>
          <a:prstGeom prst="rect">
            <a:avLst/>
          </a:prstGeom>
          <a:noFill/>
        </p:spPr>
        <p:txBody>
          <a:bodyPr wrap="square" anchor="ctr" lIns="0" rIns="0" tIns="0" bIns="0">
            <a:spAutoFit/>
          </a:bodyPr>
          <a:lstStyle/>
          <a:p>
            <a:pPr algn="r" marL="0" indent="0">
              <a:lnSpc>
                <a:spcPct val="110000"/>
              </a:lnSpc>
              <a:buNone/>
            </a:pPr>
            <a:r>
              <a:rPr sz="1050" b="0" i="0">
                <a:solidFill>
                  <a:srgbClr val="666666"/>
                </a:solidFill>
                <a:latin typeface="Arial"/>
                <a:ea typeface="MS PGothic"/>
              </a:rPr>
              <a:t>주</a:t>
            </a:r>
          </a:p>
        </p:txBody>
      </p:sp>
      <p:sp>
        <p:nvSpPr>
          <p:cNvPr id="19" name="Rectangle 18"/>
          <p:cNvSpPr/>
          <p:nvPr/>
        </p:nvSpPr>
        <p:spPr>
          <a:xfrm>
            <a:off x="457200" y="1371600"/>
            <a:ext cx="8229600" cy="658368"/>
          </a:xfrm>
          <a:prstGeom prst="rect">
            <a:avLst/>
          </a:prstGeom>
          <a:solidFill>
            <a:srgbClr val="DAEDEF"/>
          </a:solidFill>
          <a:ln>
            <a:noFill/>
          </a:ln>
        </p:spPr>
        <p:txBody>
          <a:bodyPr rtlCol="0" anchor="ctr"/>
          <a:lstStyle/>
          <a:p>
            <a:pPr algn="ctr"/>
          </a:p>
        </p:txBody>
      </p:sp>
      <p:sp>
        <p:nvSpPr>
          <p:cNvPr id="20" name="TextBox 19"/>
          <p:cNvSpPr txBox="1"/>
          <p:nvPr/>
        </p:nvSpPr>
        <p:spPr>
          <a:xfrm>
            <a:off x="548640" y="1371600"/>
            <a:ext cx="3108960" cy="658368"/>
          </a:xfrm>
          <a:prstGeom prst="rect">
            <a:avLst/>
          </a:prstGeom>
          <a:noFill/>
        </p:spPr>
        <p:txBody>
          <a:bodyPr wrap="square" anchor="ctr" lIns="0" rIns="0" tIns="0" bIns="0">
            <a:spAutoFit/>
          </a:bodyPr>
          <a:lstStyle/>
          <a:p>
            <a:pPr algn="l" marL="0" indent="0">
              <a:lnSpc>
                <a:spcPct val="110000"/>
              </a:lnSpc>
              <a:buNone/>
            </a:pPr>
            <a:r>
              <a:rPr sz="1400" b="1" i="0">
                <a:solidFill>
                  <a:srgbClr val="000F65"/>
                </a:solidFill>
                <a:latin typeface="Arial"/>
                <a:ea typeface="MS PGothic"/>
              </a:rPr>
              <a:t>선행연구 분석·데이터 확보</a:t>
            </a:r>
          </a:p>
          <a:p>
            <a:pPr algn="l" marL="0" indent="0">
              <a:lnSpc>
                <a:spcPct val="110000"/>
              </a:lnSpc>
              <a:buNone/>
            </a:pPr>
            <a:r>
              <a:rPr sz="1050" b="0" i="0">
                <a:solidFill>
                  <a:srgbClr val="333333"/>
                </a:solidFill>
                <a:latin typeface="Arial"/>
                <a:ea typeface="MS PGothic"/>
              </a:rPr>
              <a:t>1~3주</a:t>
            </a:r>
          </a:p>
        </p:txBody>
      </p:sp>
      <p:sp>
        <p:nvSpPr>
          <p:cNvPr id="21" name="Rounded Rectangle 20"/>
          <p:cNvSpPr/>
          <p:nvPr/>
        </p:nvSpPr>
        <p:spPr>
          <a:xfrm>
            <a:off x="3730752" y="1581912"/>
            <a:ext cx="941832" cy="237744"/>
          </a:xfrm>
          <a:prstGeom prst="roundRect">
            <a:avLst/>
          </a:prstGeom>
          <a:solidFill>
            <a:srgbClr val="8C96C9"/>
          </a:solidFill>
          <a:ln>
            <a:noFill/>
          </a:ln>
        </p:spPr>
        <p:txBody>
          <a:bodyPr rtlCol="0" anchor="ctr"/>
          <a:lstStyle/>
          <a:p>
            <a:pPr algn="ctr"/>
          </a:p>
        </p:txBody>
      </p:sp>
      <p:sp>
        <p:nvSpPr>
          <p:cNvPr id="22" name="TextBox 21"/>
          <p:cNvSpPr txBox="1"/>
          <p:nvPr/>
        </p:nvSpPr>
        <p:spPr>
          <a:xfrm>
            <a:off x="548640" y="2029967"/>
            <a:ext cx="3108960" cy="658368"/>
          </a:xfrm>
          <a:prstGeom prst="rect">
            <a:avLst/>
          </a:prstGeom>
          <a:noFill/>
        </p:spPr>
        <p:txBody>
          <a:bodyPr wrap="square" anchor="ctr" lIns="0" rIns="0" tIns="0" bIns="0">
            <a:spAutoFit/>
          </a:bodyPr>
          <a:lstStyle/>
          <a:p>
            <a:pPr algn="l" marL="0" indent="0">
              <a:lnSpc>
                <a:spcPct val="110000"/>
              </a:lnSpc>
              <a:buNone/>
            </a:pPr>
            <a:r>
              <a:rPr sz="1400" b="1" i="0">
                <a:solidFill>
                  <a:srgbClr val="000F65"/>
                </a:solidFill>
                <a:latin typeface="Arial"/>
                <a:ea typeface="MS PGothic"/>
              </a:rPr>
              <a:t>데이터 전처리</a:t>
            </a:r>
          </a:p>
          <a:p>
            <a:pPr algn="l" marL="0" indent="0">
              <a:lnSpc>
                <a:spcPct val="110000"/>
              </a:lnSpc>
              <a:buNone/>
            </a:pPr>
            <a:r>
              <a:rPr sz="1050" b="0" i="0">
                <a:solidFill>
                  <a:srgbClr val="333333"/>
                </a:solidFill>
                <a:latin typeface="Arial"/>
                <a:ea typeface="MS PGothic"/>
              </a:rPr>
              <a:t>3~5주 · 동기화·좌표계·보정</a:t>
            </a:r>
          </a:p>
        </p:txBody>
      </p:sp>
      <p:sp>
        <p:nvSpPr>
          <p:cNvPr id="23" name="Rounded Rectangle 22"/>
          <p:cNvSpPr/>
          <p:nvPr/>
        </p:nvSpPr>
        <p:spPr>
          <a:xfrm>
            <a:off x="4395216" y="2240279"/>
            <a:ext cx="941832" cy="237744"/>
          </a:xfrm>
          <a:prstGeom prst="roundRect">
            <a:avLst/>
          </a:prstGeom>
          <a:solidFill>
            <a:srgbClr val="8C96C9"/>
          </a:solidFill>
          <a:ln>
            <a:noFill/>
          </a:ln>
        </p:spPr>
        <p:txBody>
          <a:bodyPr rtlCol="0" anchor="ctr"/>
          <a:lstStyle/>
          <a:p>
            <a:pPr algn="ctr"/>
          </a:p>
        </p:txBody>
      </p:sp>
      <p:sp>
        <p:nvSpPr>
          <p:cNvPr id="24" name="Rectangle 23"/>
          <p:cNvSpPr/>
          <p:nvPr/>
        </p:nvSpPr>
        <p:spPr>
          <a:xfrm>
            <a:off x="457200" y="2688336"/>
            <a:ext cx="8229600" cy="658368"/>
          </a:xfrm>
          <a:prstGeom prst="rect">
            <a:avLst/>
          </a:prstGeom>
          <a:solidFill>
            <a:srgbClr val="DAEDEF"/>
          </a:solidFill>
          <a:ln>
            <a:noFill/>
          </a:ln>
        </p:spPr>
        <p:txBody>
          <a:bodyPr rtlCol="0" anchor="ctr"/>
          <a:lstStyle/>
          <a:p>
            <a:pPr algn="ctr"/>
          </a:p>
        </p:txBody>
      </p:sp>
      <p:sp>
        <p:nvSpPr>
          <p:cNvPr id="25" name="TextBox 24"/>
          <p:cNvSpPr txBox="1"/>
          <p:nvPr/>
        </p:nvSpPr>
        <p:spPr>
          <a:xfrm>
            <a:off x="548640" y="2688336"/>
            <a:ext cx="3108960" cy="658368"/>
          </a:xfrm>
          <a:prstGeom prst="rect">
            <a:avLst/>
          </a:prstGeom>
          <a:noFill/>
        </p:spPr>
        <p:txBody>
          <a:bodyPr wrap="square" anchor="ctr" lIns="0" rIns="0" tIns="0" bIns="0">
            <a:spAutoFit/>
          </a:bodyPr>
          <a:lstStyle/>
          <a:p>
            <a:pPr algn="l" marL="0" indent="0">
              <a:lnSpc>
                <a:spcPct val="110000"/>
              </a:lnSpc>
              <a:buNone/>
            </a:pPr>
            <a:r>
              <a:rPr sz="1400" b="1" i="0">
                <a:solidFill>
                  <a:srgbClr val="000F65"/>
                </a:solidFill>
                <a:latin typeface="Arial"/>
                <a:ea typeface="MS PGothic"/>
              </a:rPr>
              <a:t>기준 추정기 구성</a:t>
            </a:r>
          </a:p>
          <a:p>
            <a:pPr algn="l" marL="0" indent="0">
              <a:lnSpc>
                <a:spcPct val="110000"/>
              </a:lnSpc>
              <a:buNone/>
            </a:pPr>
            <a:r>
              <a:rPr sz="1050" b="0" i="0">
                <a:solidFill>
                  <a:srgbClr val="333333"/>
                </a:solidFill>
                <a:latin typeface="Arial"/>
                <a:ea typeface="MS PGothic"/>
              </a:rPr>
              <a:t>5~8주 · IMU 예측 + 플로우 보정</a:t>
            </a:r>
          </a:p>
        </p:txBody>
      </p:sp>
      <p:sp>
        <p:nvSpPr>
          <p:cNvPr id="26" name="Rounded Rectangle 25"/>
          <p:cNvSpPr/>
          <p:nvPr/>
        </p:nvSpPr>
        <p:spPr>
          <a:xfrm>
            <a:off x="5059680" y="2898648"/>
            <a:ext cx="1274064" cy="237744"/>
          </a:xfrm>
          <a:prstGeom prst="roundRect">
            <a:avLst/>
          </a:prstGeom>
          <a:solidFill>
            <a:srgbClr val="8C96C9"/>
          </a:solidFill>
          <a:ln>
            <a:noFill/>
          </a:ln>
        </p:spPr>
        <p:txBody>
          <a:bodyPr rtlCol="0" anchor="ctr"/>
          <a:lstStyle/>
          <a:p>
            <a:pPr algn="ctr"/>
          </a:p>
        </p:txBody>
      </p:sp>
      <p:sp>
        <p:nvSpPr>
          <p:cNvPr id="27" name="TextBox 26"/>
          <p:cNvSpPr txBox="1"/>
          <p:nvPr/>
        </p:nvSpPr>
        <p:spPr>
          <a:xfrm>
            <a:off x="548640" y="3346704"/>
            <a:ext cx="3108960" cy="658368"/>
          </a:xfrm>
          <a:prstGeom prst="rect">
            <a:avLst/>
          </a:prstGeom>
          <a:noFill/>
        </p:spPr>
        <p:txBody>
          <a:bodyPr wrap="square" anchor="ctr" lIns="0" rIns="0" tIns="0" bIns="0">
            <a:spAutoFit/>
          </a:bodyPr>
          <a:lstStyle/>
          <a:p>
            <a:pPr algn="l" marL="0" indent="0">
              <a:lnSpc>
                <a:spcPct val="110000"/>
              </a:lnSpc>
              <a:buNone/>
            </a:pPr>
            <a:r>
              <a:rPr sz="1400" b="1" i="0">
                <a:solidFill>
                  <a:srgbClr val="000F65"/>
                </a:solidFill>
                <a:latin typeface="Arial"/>
                <a:ea typeface="MS PGothic"/>
              </a:rPr>
              <a:t>영상 품질 반영 융합</a:t>
            </a:r>
          </a:p>
          <a:p>
            <a:pPr algn="l" marL="0" indent="0">
              <a:lnSpc>
                <a:spcPct val="110000"/>
              </a:lnSpc>
              <a:buNone/>
            </a:pPr>
            <a:r>
              <a:rPr sz="1050" b="0" i="0">
                <a:solidFill>
                  <a:srgbClr val="333333"/>
                </a:solidFill>
                <a:latin typeface="Arial"/>
                <a:ea typeface="MS PGothic"/>
              </a:rPr>
              <a:t>9~11주 · 품질 지표·보정 규칙</a:t>
            </a:r>
          </a:p>
        </p:txBody>
      </p:sp>
      <p:sp>
        <p:nvSpPr>
          <p:cNvPr id="28" name="Rounded Rectangle 27"/>
          <p:cNvSpPr/>
          <p:nvPr/>
        </p:nvSpPr>
        <p:spPr>
          <a:xfrm>
            <a:off x="6388608" y="3557016"/>
            <a:ext cx="941832" cy="237744"/>
          </a:xfrm>
          <a:prstGeom prst="roundRect">
            <a:avLst/>
          </a:prstGeom>
          <a:solidFill>
            <a:srgbClr val="000F65"/>
          </a:solidFill>
          <a:ln>
            <a:noFill/>
          </a:ln>
        </p:spPr>
        <p:txBody>
          <a:bodyPr rtlCol="0" anchor="ctr"/>
          <a:lstStyle/>
          <a:p>
            <a:pPr algn="ctr"/>
          </a:p>
        </p:txBody>
      </p:sp>
      <p:sp>
        <p:nvSpPr>
          <p:cNvPr id="29" name="Rectangle 28"/>
          <p:cNvSpPr/>
          <p:nvPr/>
        </p:nvSpPr>
        <p:spPr>
          <a:xfrm>
            <a:off x="457200" y="4005072"/>
            <a:ext cx="8229600" cy="658368"/>
          </a:xfrm>
          <a:prstGeom prst="rect">
            <a:avLst/>
          </a:prstGeom>
          <a:solidFill>
            <a:srgbClr val="DAEDEF"/>
          </a:solidFill>
          <a:ln>
            <a:noFill/>
          </a:ln>
        </p:spPr>
        <p:txBody>
          <a:bodyPr rtlCol="0" anchor="ctr"/>
          <a:lstStyle/>
          <a:p>
            <a:pPr algn="ctr"/>
          </a:p>
        </p:txBody>
      </p:sp>
      <p:sp>
        <p:nvSpPr>
          <p:cNvPr id="30" name="TextBox 29"/>
          <p:cNvSpPr txBox="1"/>
          <p:nvPr/>
        </p:nvSpPr>
        <p:spPr>
          <a:xfrm>
            <a:off x="548640" y="4005072"/>
            <a:ext cx="3108960" cy="658368"/>
          </a:xfrm>
          <a:prstGeom prst="rect">
            <a:avLst/>
          </a:prstGeom>
          <a:noFill/>
        </p:spPr>
        <p:txBody>
          <a:bodyPr wrap="square" anchor="ctr" lIns="0" rIns="0" tIns="0" bIns="0">
            <a:spAutoFit/>
          </a:bodyPr>
          <a:lstStyle/>
          <a:p>
            <a:pPr algn="l" marL="0" indent="0">
              <a:lnSpc>
                <a:spcPct val="110000"/>
              </a:lnSpc>
              <a:buNone/>
            </a:pPr>
            <a:r>
              <a:rPr sz="1400" b="1" i="0">
                <a:solidFill>
                  <a:srgbClr val="000F65"/>
                </a:solidFill>
                <a:latin typeface="Arial"/>
                <a:ea typeface="MS PGothic"/>
              </a:rPr>
              <a:t>비교 실험·성능 평가</a:t>
            </a:r>
          </a:p>
          <a:p>
            <a:pPr algn="l" marL="0" indent="0">
              <a:lnSpc>
                <a:spcPct val="110000"/>
              </a:lnSpc>
              <a:buNone/>
            </a:pPr>
            <a:r>
              <a:rPr sz="1050" b="0" i="0">
                <a:solidFill>
                  <a:srgbClr val="333333"/>
                </a:solidFill>
                <a:latin typeface="Arial"/>
                <a:ea typeface="MS PGothic"/>
              </a:rPr>
              <a:t>12~13주 · 조건별 비교</a:t>
            </a:r>
          </a:p>
        </p:txBody>
      </p:sp>
      <p:sp>
        <p:nvSpPr>
          <p:cNvPr id="31" name="Rounded Rectangle 30"/>
          <p:cNvSpPr/>
          <p:nvPr/>
        </p:nvSpPr>
        <p:spPr>
          <a:xfrm>
            <a:off x="7385304" y="4215384"/>
            <a:ext cx="609600" cy="237744"/>
          </a:xfrm>
          <a:prstGeom prst="roundRect">
            <a:avLst/>
          </a:prstGeom>
          <a:solidFill>
            <a:srgbClr val="8C96C9"/>
          </a:solidFill>
          <a:ln>
            <a:noFill/>
          </a:ln>
        </p:spPr>
        <p:txBody>
          <a:bodyPr rtlCol="0" anchor="ctr"/>
          <a:lstStyle/>
          <a:p>
            <a:pPr algn="ctr"/>
          </a:p>
        </p:txBody>
      </p:sp>
      <p:sp>
        <p:nvSpPr>
          <p:cNvPr id="32" name="TextBox 31"/>
          <p:cNvSpPr txBox="1"/>
          <p:nvPr/>
        </p:nvSpPr>
        <p:spPr>
          <a:xfrm>
            <a:off x="548640" y="4663440"/>
            <a:ext cx="3108960" cy="658368"/>
          </a:xfrm>
          <a:prstGeom prst="rect">
            <a:avLst/>
          </a:prstGeom>
          <a:noFill/>
        </p:spPr>
        <p:txBody>
          <a:bodyPr wrap="square" anchor="ctr" lIns="0" rIns="0" tIns="0" bIns="0">
            <a:spAutoFit/>
          </a:bodyPr>
          <a:lstStyle/>
          <a:p>
            <a:pPr algn="l" marL="0" indent="0">
              <a:lnSpc>
                <a:spcPct val="110000"/>
              </a:lnSpc>
              <a:buNone/>
            </a:pPr>
            <a:r>
              <a:rPr sz="1400" b="1" i="0">
                <a:solidFill>
                  <a:srgbClr val="000F65"/>
                </a:solidFill>
                <a:latin typeface="Arial"/>
                <a:ea typeface="MS PGothic"/>
              </a:rPr>
              <a:t>결과 분석·최종 보고</a:t>
            </a:r>
          </a:p>
          <a:p>
            <a:pPr algn="l" marL="0" indent="0">
              <a:lnSpc>
                <a:spcPct val="110000"/>
              </a:lnSpc>
              <a:buNone/>
            </a:pPr>
            <a:r>
              <a:rPr sz="1050" b="0" i="0">
                <a:solidFill>
                  <a:srgbClr val="333333"/>
                </a:solidFill>
                <a:latin typeface="Arial"/>
                <a:ea typeface="MS PGothic"/>
              </a:rPr>
              <a:t>14~15주 · 보고서·발표</a:t>
            </a:r>
          </a:p>
        </p:txBody>
      </p:sp>
      <p:sp>
        <p:nvSpPr>
          <p:cNvPr id="33" name="Rounded Rectangle 32"/>
          <p:cNvSpPr/>
          <p:nvPr/>
        </p:nvSpPr>
        <p:spPr>
          <a:xfrm>
            <a:off x="8049767" y="4873752"/>
            <a:ext cx="609600" cy="237744"/>
          </a:xfrm>
          <a:prstGeom prst="roundRect">
            <a:avLst/>
          </a:prstGeom>
          <a:solidFill>
            <a:srgbClr val="8C96C9"/>
          </a:solidFill>
          <a:ln>
            <a:noFill/>
          </a:ln>
        </p:spPr>
        <p:txBody>
          <a:bodyPr rtlCol="0" anchor="ctr"/>
          <a:lstStyle/>
          <a:p>
            <a:pPr algn="ctr"/>
          </a:p>
        </p:txBody>
      </p:sp>
      <p:cxnSp>
        <p:nvCxnSpPr>
          <p:cNvPr id="34" name="Connector 33"/>
          <p:cNvCxnSpPr/>
          <p:nvPr/>
        </p:nvCxnSpPr>
        <p:spPr>
          <a:xfrm>
            <a:off x="3703320" y="1325880"/>
            <a:ext cx="0" cy="3995928"/>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1325880"/>
            <a:ext cx="0" cy="3995928"/>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367784" y="1325880"/>
            <a:ext cx="0" cy="3995928"/>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00016" y="1325880"/>
            <a:ext cx="0" cy="3995928"/>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032248" y="1325880"/>
            <a:ext cx="0" cy="3995928"/>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364480" y="1325880"/>
            <a:ext cx="0" cy="3995928"/>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696712" y="1325880"/>
            <a:ext cx="0" cy="3995928"/>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028944" y="1325880"/>
            <a:ext cx="0" cy="3995928"/>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361176" y="1325880"/>
            <a:ext cx="0" cy="3995928"/>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693408" y="1325880"/>
            <a:ext cx="0" cy="3995928"/>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025640" y="1325880"/>
            <a:ext cx="0" cy="3995928"/>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357872" y="1325880"/>
            <a:ext cx="0" cy="3995928"/>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690104" y="1325880"/>
            <a:ext cx="0" cy="3995928"/>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022336" y="1325880"/>
            <a:ext cx="0" cy="3995928"/>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354568" y="1325880"/>
            <a:ext cx="0" cy="3995928"/>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686800" y="1325880"/>
            <a:ext cx="0" cy="3995928"/>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361176" y="1325880"/>
            <a:ext cx="0" cy="3995928"/>
          </a:xfrm>
          <a:prstGeom prst="line">
            <a:avLst/>
          </a:prstGeom>
          <a:ln w="158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446776" y="5349240"/>
            <a:ext cx="1828800" cy="237744"/>
          </a:xfrm>
          <a:prstGeom prst="rect">
            <a:avLst/>
          </a:prstGeom>
          <a:noFill/>
        </p:spPr>
        <p:txBody>
          <a:bodyPr wrap="square" anchor="ctr" lIns="0" rIns="0" tIns="0" bIns="0">
            <a:spAutoFit/>
          </a:bodyPr>
          <a:lstStyle/>
          <a:p>
            <a:pPr algn="ctr" marL="0" indent="0">
              <a:lnSpc>
                <a:spcPct val="110000"/>
              </a:lnSpc>
              <a:buNone/>
            </a:pPr>
            <a:r>
              <a:rPr sz="1050" b="1" i="0">
                <a:solidFill>
                  <a:srgbClr val="C00000"/>
                </a:solidFill>
                <a:latin typeface="Arial"/>
                <a:ea typeface="MS PGothic"/>
              </a:rPr>
              <a:t>8주 말: 중간 점검 (기준 결과)</a:t>
            </a:r>
          </a:p>
        </p:txBody>
      </p:sp>
      <p:sp>
        <p:nvSpPr>
          <p:cNvPr id="52" name="Rectangle 51"/>
          <p:cNvSpPr/>
          <p:nvPr/>
        </p:nvSpPr>
        <p:spPr>
          <a:xfrm>
            <a:off x="420624" y="3319272"/>
            <a:ext cx="8302752" cy="713232"/>
          </a:xfrm>
          <a:prstGeom prst="rect">
            <a:avLst/>
          </a:prstGeom>
          <a:noFill/>
          <a:ln w="19050">
            <a:solidFill>
              <a:srgbClr val="C00000"/>
            </a:solidFill>
          </a:ln>
        </p:spPr>
        <p:txBody>
          <a:bodyPr rtlCol="0" anchor="ctr"/>
          <a:lstStyle/>
          <a:p>
            <a:pPr algn="ctr"/>
          </a:p>
        </p:txBody>
      </p:sp>
      <p:sp>
        <p:nvSpPr>
          <p:cNvPr id="53" name="Rounded Rectangle 52"/>
          <p:cNvSpPr/>
          <p:nvPr/>
        </p:nvSpPr>
        <p:spPr>
          <a:xfrm>
            <a:off x="457200" y="5623560"/>
            <a:ext cx="8229600" cy="384048"/>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200" b="1" i="0">
                <a:solidFill>
                  <a:srgbClr val="FFFFFF"/>
                </a:solidFill>
                <a:latin typeface="Arial"/>
                <a:ea typeface="MS PGothic"/>
              </a:rPr>
              <a:t>결과물: 알고리즘 코드 · 비교 그래프 · 성능 평가표 · 최종 연구보고서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S PGothic"/>
              </a:rPr>
              <a:t>참고문헌</a:t>
            </a:r>
          </a:p>
        </p:txBody>
      </p:sp>
      <p:sp>
        <p:nvSpPr>
          <p:cNvPr id="3" name="Rounded Rectangle 2"/>
          <p:cNvSpPr/>
          <p:nvPr/>
        </p:nvSpPr>
        <p:spPr>
          <a:xfrm>
            <a:off x="457200" y="1188720"/>
            <a:ext cx="502920" cy="603504"/>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1</a:t>
            </a:r>
          </a:p>
        </p:txBody>
      </p:sp>
      <p:sp>
        <p:nvSpPr>
          <p:cNvPr id="4" name="Rounded Rectangle 3"/>
          <p:cNvSpPr/>
          <p:nvPr/>
        </p:nvSpPr>
        <p:spPr>
          <a:xfrm>
            <a:off x="1051560" y="1188720"/>
            <a:ext cx="7635240" cy="603504"/>
          </a:xfrm>
          <a:prstGeom prst="roundRect">
            <a:avLst>
              <a:gd name="adj" fmla="val 8000"/>
            </a:avLst>
          </a:prstGeom>
          <a:solidFill>
            <a:srgbClr val="DAEDEF"/>
          </a:solidFill>
          <a:ln>
            <a:noFill/>
          </a:ln>
        </p:spPr>
        <p:txBody>
          <a:bodyPr rtlCol="0" anchor="ctr" wrap="square" lIns="109728" rIns="109728" tIns="27432" bIns="27432"/>
          <a:lstStyle/>
          <a:p>
            <a:pPr algn="l" marL="0" indent="0">
              <a:lnSpc>
                <a:spcPct val="110000"/>
              </a:lnSpc>
              <a:buNone/>
            </a:pPr>
            <a:r>
              <a:rPr sz="1050" b="0" i="0">
                <a:solidFill>
                  <a:srgbClr val="333333"/>
                </a:solidFill>
                <a:latin typeface="Arial"/>
                <a:ea typeface="MS PGothic"/>
              </a:rPr>
              <a:t>P. D. Groves, Principles of GNSS, Inertial, and Multisensor Integrated Navigation Systems, 2nd ed., Artech House, 2013.</a:t>
            </a:r>
          </a:p>
        </p:txBody>
      </p:sp>
      <p:sp>
        <p:nvSpPr>
          <p:cNvPr id="5" name="Rounded Rectangle 4"/>
          <p:cNvSpPr/>
          <p:nvPr/>
        </p:nvSpPr>
        <p:spPr>
          <a:xfrm>
            <a:off x="457200" y="1883664"/>
            <a:ext cx="502920" cy="603504"/>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2</a:t>
            </a:r>
          </a:p>
        </p:txBody>
      </p:sp>
      <p:sp>
        <p:nvSpPr>
          <p:cNvPr id="6" name="Rounded Rectangle 5"/>
          <p:cNvSpPr/>
          <p:nvPr/>
        </p:nvSpPr>
        <p:spPr>
          <a:xfrm>
            <a:off x="1051560" y="1883664"/>
            <a:ext cx="7635240" cy="603504"/>
          </a:xfrm>
          <a:prstGeom prst="roundRect">
            <a:avLst>
              <a:gd name="adj" fmla="val 8000"/>
            </a:avLst>
          </a:prstGeom>
          <a:solidFill>
            <a:srgbClr val="DAEDEF"/>
          </a:solidFill>
          <a:ln>
            <a:noFill/>
          </a:ln>
        </p:spPr>
        <p:txBody>
          <a:bodyPr rtlCol="0" anchor="ctr" wrap="square" lIns="109728" rIns="109728" tIns="27432" bIns="27432"/>
          <a:lstStyle/>
          <a:p>
            <a:pPr algn="l" marL="0" indent="0">
              <a:lnSpc>
                <a:spcPct val="110000"/>
              </a:lnSpc>
              <a:buNone/>
            </a:pPr>
            <a:r>
              <a:rPr sz="1050" b="0" i="0">
                <a:solidFill>
                  <a:srgbClr val="333333"/>
                </a:solidFill>
                <a:latin typeface="Arial"/>
                <a:ea typeface="MS PGothic"/>
              </a:rPr>
              <a:t>A. I. Mourikis and S. I. Roumeliotis, “A Multi-State Constraint Kalman Filter for Vision-aided Inertial Navigation,” IEEE ICRA, pp. 3565–3572, 2007.</a:t>
            </a:r>
          </a:p>
        </p:txBody>
      </p:sp>
      <p:sp>
        <p:nvSpPr>
          <p:cNvPr id="7" name="Rounded Rectangle 6"/>
          <p:cNvSpPr/>
          <p:nvPr/>
        </p:nvSpPr>
        <p:spPr>
          <a:xfrm>
            <a:off x="457200" y="2578608"/>
            <a:ext cx="502920" cy="603504"/>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3</a:t>
            </a:r>
          </a:p>
        </p:txBody>
      </p:sp>
      <p:sp>
        <p:nvSpPr>
          <p:cNvPr id="8" name="Rounded Rectangle 7"/>
          <p:cNvSpPr/>
          <p:nvPr/>
        </p:nvSpPr>
        <p:spPr>
          <a:xfrm>
            <a:off x="1051560" y="2578608"/>
            <a:ext cx="7635240" cy="603504"/>
          </a:xfrm>
          <a:prstGeom prst="roundRect">
            <a:avLst>
              <a:gd name="adj" fmla="val 8000"/>
            </a:avLst>
          </a:prstGeom>
          <a:solidFill>
            <a:srgbClr val="DAEDEF"/>
          </a:solidFill>
          <a:ln>
            <a:noFill/>
          </a:ln>
        </p:spPr>
        <p:txBody>
          <a:bodyPr rtlCol="0" anchor="ctr" wrap="square" lIns="109728" rIns="109728" tIns="27432" bIns="27432"/>
          <a:lstStyle/>
          <a:p>
            <a:pPr algn="l" marL="0" indent="0">
              <a:lnSpc>
                <a:spcPct val="110000"/>
              </a:lnSpc>
              <a:buNone/>
            </a:pPr>
            <a:r>
              <a:rPr sz="1050" b="0" i="0">
                <a:solidFill>
                  <a:srgbClr val="333333"/>
                </a:solidFill>
                <a:latin typeface="Arial"/>
                <a:ea typeface="MS PGothic"/>
              </a:rPr>
              <a:t>D. S. Bayard et al., “Vision-Based Navigation for the NASA Mars Helicopter,” AIAA SciTech Forum, 2019.</a:t>
            </a:r>
          </a:p>
        </p:txBody>
      </p:sp>
      <p:sp>
        <p:nvSpPr>
          <p:cNvPr id="9" name="Rounded Rectangle 8"/>
          <p:cNvSpPr/>
          <p:nvPr/>
        </p:nvSpPr>
        <p:spPr>
          <a:xfrm>
            <a:off x="457200" y="3273552"/>
            <a:ext cx="502920" cy="603504"/>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4</a:t>
            </a:r>
          </a:p>
        </p:txBody>
      </p:sp>
      <p:sp>
        <p:nvSpPr>
          <p:cNvPr id="10" name="Rounded Rectangle 9"/>
          <p:cNvSpPr/>
          <p:nvPr/>
        </p:nvSpPr>
        <p:spPr>
          <a:xfrm>
            <a:off x="1051560" y="3273552"/>
            <a:ext cx="7635240" cy="603504"/>
          </a:xfrm>
          <a:prstGeom prst="roundRect">
            <a:avLst>
              <a:gd name="adj" fmla="val 8000"/>
            </a:avLst>
          </a:prstGeom>
          <a:solidFill>
            <a:srgbClr val="DAEDEF"/>
          </a:solidFill>
          <a:ln>
            <a:noFill/>
          </a:ln>
        </p:spPr>
        <p:txBody>
          <a:bodyPr rtlCol="0" anchor="ctr" wrap="square" lIns="109728" rIns="109728" tIns="27432" bIns="27432"/>
          <a:lstStyle/>
          <a:p>
            <a:pPr algn="l" marL="0" indent="0">
              <a:lnSpc>
                <a:spcPct val="110000"/>
              </a:lnSpc>
              <a:buNone/>
            </a:pPr>
            <a:r>
              <a:rPr sz="1050" b="0" i="0">
                <a:solidFill>
                  <a:srgbClr val="333333"/>
                </a:solidFill>
                <a:latin typeface="Arial"/>
                <a:ea typeface="MS PGothic"/>
              </a:rPr>
              <a:t>B. D. Lucas and T. Kanade, “An Iterative Image Registration Technique with an Application to Stereo Vision,” IJCAI, pp. 674–679, 1981.</a:t>
            </a:r>
          </a:p>
        </p:txBody>
      </p:sp>
      <p:sp>
        <p:nvSpPr>
          <p:cNvPr id="11" name="Rounded Rectangle 10"/>
          <p:cNvSpPr/>
          <p:nvPr/>
        </p:nvSpPr>
        <p:spPr>
          <a:xfrm>
            <a:off x="457200" y="3968496"/>
            <a:ext cx="502920" cy="603504"/>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5</a:t>
            </a:r>
          </a:p>
        </p:txBody>
      </p:sp>
      <p:sp>
        <p:nvSpPr>
          <p:cNvPr id="12" name="Rounded Rectangle 11"/>
          <p:cNvSpPr/>
          <p:nvPr/>
        </p:nvSpPr>
        <p:spPr>
          <a:xfrm>
            <a:off x="1051560" y="3968496"/>
            <a:ext cx="7635240" cy="603504"/>
          </a:xfrm>
          <a:prstGeom prst="roundRect">
            <a:avLst>
              <a:gd name="adj" fmla="val 8000"/>
            </a:avLst>
          </a:prstGeom>
          <a:solidFill>
            <a:srgbClr val="DAEDEF"/>
          </a:solidFill>
          <a:ln>
            <a:noFill/>
          </a:ln>
        </p:spPr>
        <p:txBody>
          <a:bodyPr rtlCol="0" anchor="ctr" wrap="square" lIns="109728" rIns="109728" tIns="27432" bIns="27432"/>
          <a:lstStyle/>
          <a:p>
            <a:pPr algn="l" marL="0" indent="0">
              <a:lnSpc>
                <a:spcPct val="110000"/>
              </a:lnSpc>
              <a:buNone/>
            </a:pPr>
            <a:r>
              <a:rPr sz="1050" b="0" i="0">
                <a:solidFill>
                  <a:srgbClr val="333333"/>
                </a:solidFill>
                <a:latin typeface="Arial"/>
                <a:ea typeface="MS PGothic"/>
              </a:rPr>
              <a:t>M. Kim, W. Kang, and C. Ahn, “Delay-Compensated Lane-Coordinate Vehicle State Estimation Using Low-Cost Sensors,” Sensors, vol. 25, no. 19, 6251, 2025.</a:t>
            </a:r>
          </a:p>
        </p:txBody>
      </p:sp>
      <p:sp>
        <p:nvSpPr>
          <p:cNvPr id="13" name="Rounded Rectangle 12"/>
          <p:cNvSpPr/>
          <p:nvPr/>
        </p:nvSpPr>
        <p:spPr>
          <a:xfrm>
            <a:off x="457200" y="4663440"/>
            <a:ext cx="502920" cy="603504"/>
          </a:xfrm>
          <a:prstGeom prst="roundRect">
            <a:avLst>
              <a:gd name="adj" fmla="val 8000"/>
            </a:avLst>
          </a:prstGeom>
          <a:solidFill>
            <a:srgbClr val="000F65"/>
          </a:solidFill>
          <a:ln>
            <a:noFill/>
          </a:ln>
        </p:spPr>
        <p:txBody>
          <a:bodyPr rtlCol="0" anchor="ctr" wrap="square"/>
          <a:lstStyle/>
          <a:p>
            <a:pPr algn="ctr" marL="0" indent="0">
              <a:lnSpc>
                <a:spcPct val="110000"/>
              </a:lnSpc>
              <a:buNone/>
            </a:pPr>
            <a:r>
              <a:rPr sz="1400" b="1" i="0">
                <a:solidFill>
                  <a:srgbClr val="FFFFFF"/>
                </a:solidFill>
                <a:latin typeface="Arial"/>
                <a:ea typeface="MS PGothic"/>
              </a:rPr>
              <a:t>6</a:t>
            </a:r>
          </a:p>
        </p:txBody>
      </p:sp>
      <p:sp>
        <p:nvSpPr>
          <p:cNvPr id="14" name="Rounded Rectangle 13"/>
          <p:cNvSpPr/>
          <p:nvPr/>
        </p:nvSpPr>
        <p:spPr>
          <a:xfrm>
            <a:off x="1051560" y="4663440"/>
            <a:ext cx="7635240" cy="603504"/>
          </a:xfrm>
          <a:prstGeom prst="roundRect">
            <a:avLst>
              <a:gd name="adj" fmla="val 8000"/>
            </a:avLst>
          </a:prstGeom>
          <a:solidFill>
            <a:srgbClr val="DAEDEF"/>
          </a:solidFill>
          <a:ln>
            <a:noFill/>
          </a:ln>
        </p:spPr>
        <p:txBody>
          <a:bodyPr rtlCol="0" anchor="ctr" wrap="square" lIns="109728" rIns="109728" tIns="27432" bIns="27432"/>
          <a:lstStyle/>
          <a:p>
            <a:pPr algn="l" marL="0" indent="0">
              <a:lnSpc>
                <a:spcPct val="110000"/>
              </a:lnSpc>
              <a:buNone/>
            </a:pPr>
            <a:r>
              <a:rPr sz="1050" b="0" i="0">
                <a:solidFill>
                  <a:srgbClr val="333333"/>
                </a:solidFill>
                <a:latin typeface="Arial"/>
                <a:ea typeface="MS PGothic"/>
              </a:rPr>
              <a:t>M. Kim and C. Ahn, “State Estimation of Preceding Target Vehicle Using Radar and V2X,” IEEE Access, vol. 13, 2025.</a:t>
            </a:r>
          </a:p>
        </p:txBody>
      </p:sp>
      <p:sp>
        <p:nvSpPr>
          <p:cNvPr id="15" name="TextBox 14"/>
          <p:cNvSpPr txBox="1"/>
          <p:nvPr/>
        </p:nvSpPr>
        <p:spPr>
          <a:xfrm>
            <a:off x="457200" y="5440680"/>
            <a:ext cx="8229600" cy="457200"/>
          </a:xfrm>
          <a:prstGeom prst="rect">
            <a:avLst/>
          </a:prstGeom>
          <a:noFill/>
        </p:spPr>
        <p:txBody>
          <a:bodyPr wrap="square" anchor="ctr" lIns="0" rIns="0" tIns="0" bIns="0">
            <a:spAutoFit/>
          </a:bodyPr>
          <a:lstStyle/>
          <a:p>
            <a:pPr algn="ctr" marL="0" indent="0">
              <a:lnSpc>
                <a:spcPct val="110000"/>
              </a:lnSpc>
              <a:buNone/>
            </a:pPr>
            <a:r>
              <a:rPr sz="1700" b="1" i="0">
                <a:solidFill>
                  <a:srgbClr val="000F65"/>
                </a:solidFill>
                <a:latin typeface="Arial"/>
                <a:ea typeface="MS PGothic"/>
              </a:rPr>
              <a:t>감사합니다</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27475</TotalTime>
  <Words>1597</Words>
  <Application>Microsoft Office PowerPoint</Application>
  <PresentationFormat>On-screen Show (4:3)</PresentationFormat>
  <Paragraphs>393</Paragraphs>
  <Slides>7</Slides>
  <Notes>23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0" baseType="lpstr">
      <vt:lpstr>ＭＳ Ｐゴシック</vt:lpstr>
      <vt:lpstr>Arial</vt:lpstr>
      <vt:lpstr>Courier New</vt:lpstr>
      <vt:lpstr>Times New Roman</vt:lpstr>
      <vt:lpstr>Wingdings</vt:lpstr>
      <vt:lpstr>Wingdings 2</vt:lpstr>
      <vt:lpstr>Blank Presentation</vt:lpstr>
      <vt:lpstr>Equation</vt:lpstr>
      <vt:lpstr>Lecture 3 Control and Estimation</vt:lpstr>
      <vt:lpstr>Outline</vt:lpstr>
      <vt:lpstr>PowerPoint Presentation</vt:lpstr>
      <vt:lpstr>PID Controller</vt:lpstr>
      <vt:lpstr>Proportional Feedback  (P-Control, 비례제어)</vt:lpstr>
      <vt:lpstr>Proportional Differential Feedback  (PD-Control, 비례미분제어)</vt:lpstr>
      <vt:lpstr>Proportional Integral Feedback  (PI-Control, 비례적분 제어)</vt:lpstr>
      <vt:lpstr>Proportional Integral Differential Feedback  (PID-Control, 비례적분미분 제어)</vt:lpstr>
      <vt:lpstr>PowerPoint Presentation</vt:lpstr>
      <vt:lpstr>State Feedback Controller</vt:lpstr>
      <vt:lpstr>Linear Quadratic Regulator</vt:lpstr>
      <vt:lpstr>Linear Quadratic Regulator</vt:lpstr>
      <vt:lpstr>PowerPoint Presentation</vt:lpstr>
      <vt:lpstr>MPC (Model Predictive Control) 작동 개념</vt:lpstr>
      <vt:lpstr>MPC Formulation</vt:lpstr>
      <vt:lpstr>MPC 제어시스템 구조</vt:lpstr>
      <vt:lpstr>MPC 특성</vt:lpstr>
      <vt:lpstr>Model Predictive Control</vt:lpstr>
      <vt:lpstr>PowerPoint Presentation</vt:lpstr>
      <vt:lpstr>PowerPoint Presentation</vt:lpstr>
      <vt:lpstr>Dynamic System</vt:lpstr>
      <vt:lpstr>Representation of Dynamic System</vt:lpstr>
      <vt:lpstr>State Estimation</vt:lpstr>
      <vt:lpstr>State Estimation</vt:lpstr>
      <vt:lpstr>State Estimation</vt:lpstr>
      <vt:lpstr>State Estimation</vt:lpstr>
      <vt:lpstr>Luenberger Observer</vt:lpstr>
      <vt:lpstr>Noise!</vt:lpstr>
      <vt:lpstr>PowerPoint Presentation</vt:lpstr>
      <vt:lpstr>Noise as a Random Variable</vt:lpstr>
      <vt:lpstr>Noise as a Random Variable</vt:lpstr>
      <vt:lpstr>Optimal State Estimation</vt:lpstr>
      <vt:lpstr>Optimal State Estimation</vt:lpstr>
      <vt:lpstr>Kalman Filter</vt:lpstr>
      <vt:lpstr>Luenberger Observer and Kalman Filter</vt:lpstr>
      <vt:lpstr>Kalman Filter and Nonlinearity</vt:lpstr>
      <vt:lpstr>Kalman Filter Family</vt:lpstr>
      <vt:lpstr>Extended Kalman Filter</vt:lpstr>
      <vt:lpstr>Unscented Kalman Filter</vt:lpstr>
      <vt:lpstr>Unscented Kalman Filter</vt:lpstr>
      <vt:lpstr>Particle Filter</vt:lpstr>
      <vt:lpstr>Kalman Filter Summary</vt:lpstr>
    </vt:vector>
  </TitlesOfParts>
  <Company>soe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Changsun Ahn</dc:creator>
  <cp:lastModifiedBy>Changsun Ahn</cp:lastModifiedBy>
  <cp:revision>984</cp:revision>
  <cp:lastPrinted>2007-07-10T13:49:16Z</cp:lastPrinted>
  <dcterms:created xsi:type="dcterms:W3CDTF">2007-07-10T12:52:37Z</dcterms:created>
  <dcterms:modified xsi:type="dcterms:W3CDTF">2026-07-30T01:16:46Z</dcterms:modified>
</cp:coreProperties>
</file>