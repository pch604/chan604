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자동차 내비게이션은 터널에 들어가 GPS가 끊겨도 화면 속 차량이 계속 움직입니다. 마지막 위치에서 속도와 회전 정보로 위치를 이어서 계산하기 때문입니다. 이처럼 항법은 관성 정보로 움직임을 예측하고, 다른 센서로 그 예측을 보정하는 구조입니다.</a:t>
            </a:r>
          </a:p>
          <a:p>
            <a:r>
              <a:t>보정에 많이 쓰이는 센서가 카메라입니다. 옵티컬 플로우는 연속된 영상에서 점이 얼마나 움직였는지 추적하는 기법으로, 광마우스가 움직임을 읽는 것과 같은 원리입니다. VIO는 이 영상 정보를 IMU와 결합해 위치와 자세를 추정합니다. 옵티컬 플로우가 측정이라면, VIO는 그 측정을 쓰는 추정입니다.</a:t>
            </a:r>
          </a:p>
          <a:p>
            <a:r>
              <a:t>이 원리는 드론과 항공기에도 그대로 쓰입니다. 실내 드론은 하향 카메라와 IMU, 거리센서로 위치를 유지하고, NASA의 화성 헬리콥터 인저뉴어티도 같은 조합으로 비행했습니다. 플랫폼은 달라도 IMU로 예측하고, 카메라와 거리센서로 보정한다는 구조는 같습니다.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그런데 이 구조를 실제 센서에 적용하면 두 가지 문제가 생깁니다.</a:t>
            </a:r>
          </a:p>
          <a:p>
            <a:r>
              <a:t>첫째는 개별 센서의 한계입니다. IMU만 쓰면 작은 오차가 적분되면서 계속 쌓입니다. 카메라는 영상 속 이동만 알려 주기 때문에, 실제 이동 거리로 바꾸려면 거리센서 정보가 필요합니다. 그래서 세 센서를 함께 써야 합니다.</a:t>
            </a:r>
          </a:p>
          <a:p>
            <a:r>
              <a:t>둘째는 측정 시점의 차이입니다. IMU는 매우 빠른 주기로 들어오지만 카메라는 그보다 느리고, 영상 처리에도 시간이 걸립니다. 그래서 지금 필터에 들어온 영상 측정은 사실 조금 전의 움직임입니다. 예를 들어 초속 5 m로 움직일 때 50 ms 늦은 측정을 현재 값처럼 쓰면 25 cm의 차이가 생깁니다.</a:t>
            </a:r>
          </a:p>
          <a:p>
            <a:r>
              <a:t>그래서 제 연구의 목적은 측정 주기와 지연 차이를 고려해 카메라, IMU, 거리센서를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이 시간 문제는 차량 분야에서도 중요하게 다뤄졌습니다. 지도교수님 연구실의 Kim과 Ahn의 논문은 레이더와 V2X 통신처럼 도착 시점이 서로 다른 정보를 융합해 앞 차량의 상태를 추정했습니다. 저는 이 논문에서 세 가지 처리 방법을 참고하겠습니다.</a:t>
            </a:r>
          </a:p>
          <a:p>
            <a:r>
              <a:t>첫째, 지연 보상입니다. 데이터를 받은 시점과 실제로 측정한 시점을 구분합니다. 둘째, 시간 정렬입니다. 함께 쓰는 신호의 시점을 맞추고, 필요하면 앞뒤 데이터로 그 사이 값을 보간합니다. 셋째, 과거 상태 재추정입니다. 늦게 들어온 측정으로 그 시점의 추정값을 고치고, 거기서부터 현재까지 다시 계산합니다.</a:t>
            </a:r>
          </a:p>
          <a:p>
            <a:r>
              <a:t>비전 항법 쪽에서는 과거 카메라 자세를 함께 유지하며 추정하는 MSCKF와 OpenVINS의 구조를 참고하겠습니다. 차량 모델을 그대로 가져오는 것이 아니라, 시간 처리 방법을 제 센서 구성에 맞게 옮기는 것이 핵심입니다.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[65초]</a:t>
            </a:r>
          </a:p>
          <a:p>
            <a:r>
              <a:t>구체적인 방법입니다. 영상의 이동은 KLT 옵티컬 플로우로 추적하고, 융합은 확장 칼만필터, 즉 EKF를 기본 구조로 사용합니다.</a:t>
            </a:r>
          </a:p>
          <a:p>
            <a:r>
              <a:t>예측 단계에서는 IMU의 가속도와 각속도로 다음 순간의 위치와 자세를 계산합니다. 보정 단계에서는 영상 이동과 거리 정보를 측정 모델로 넣어 예측을 바로잡습니다. 이때 영상 이동에는 회전 성분이 섞여 있어서, 자이로로 회전을 빼고 거리로 실제 크기를 정합니다.</a:t>
            </a:r>
          </a:p>
          <a:p>
            <a:r>
              <a:t>시간 처리는 이렇게 합니다. 먼저 센서별 주기와 타임스탬프, 지연을 확인합니다. 필터는 과거 일정 구간의 상태와 입력을 저장해 두고, 새 측정이 없을 때는 예측만 합니다. 늦게 도착한 측정이 오면 그 측정 시점으로 돌아가 보정하고, 저장해 둔 IMU 입력으로 현재까지 다시 계산합니다.</a:t>
            </a:r>
          </a:p>
          <a:p>
            <a:r>
              <a:t>검증은 같은 데이터와 초기 조건에서 시간 처리를 넣기 전과 후를 비교합니다. 기준값 대비 위치 오차와 재추정에 드는 처리시간을 함께 보고, 효과와 한계를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선행논문을 분석하고 센서의 주기와 타임스탬프, 지연을 정리합니다. 10월 후반에는 옵티컬 플로우와 IMU 예측으로 기본 융합 구조를 만듭니다.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990600" y="1295400"/>
            <a:ext cx="7160220" cy="1727200"/>
          </a:xfrm>
        </p:spPr>
        <p:txBody>
          <a:bodyPr>
            <a:normAutofit/>
          </a:bodyPr>
          <a:lstStyle/>
          <a:p>
            <a:pPr eaLnBrk="1" hangingPunct="1">
              <a:defRPr>
                <a:latin typeface="Arial"/>
                <a:ea typeface="MS PGothic"/>
              </a:defRPr>
            </a:pPr>
            <a:r>
              <a:rPr lang="en-US" altLang="zh-TW" sz="3600" dirty="0">
                <a:effectLst>
                  <a:outerShdw blurRad="38100" dist="38100" dir="2700000" algn="tl">
                    <a:srgbClr val="000000">
                      <a:alpha val="43137"/>
                    </a:srgbClr>
                  </a:outerShdw>
                </a:effectLst>
                <a:latin typeface="Arial"/>
                <a:ea typeface="MS PGothic"/>
              </a:rPr>
              <a:t>GPS 사용 불가 환경에서</a:t>
            </a:r>
            <a:br/>
            <a:r>
              <a:rPr lang="en-US" altLang="zh-TW" sz="3600" dirty="0">
                <a:effectLst>
                  <a:outerShdw blurRad="38100" dist="38100" dir="2700000" algn="tl">
                    <a:srgbClr val="000000">
                      <a:alpha val="43137"/>
                    </a:srgbClr>
                  </a:outerShdw>
                </a:effectLst>
                <a:latin typeface="Arial"/>
                <a:ea typeface="MS PGothic"/>
              </a:rPr>
              <a:t>비전 보조 항법을 위한</a:t>
            </a:r>
            <a:br/>
            <a:r>
              <a:rPr lang="en-US" altLang="zh-TW" sz="3600" dirty="0">
                <a:effectLst>
                  <a:outerShdw blurRad="38100" dist="38100" dir="2700000" algn="tl">
                    <a:srgbClr val="000000">
                      <a:alpha val="43137"/>
                    </a:srgbClr>
                  </a:outerShdw>
                </a:effectLst>
                <a:latin typeface="Arial"/>
                <a:ea typeface="MS PGothic"/>
              </a:rPr>
              <a:t>다중센서 융합</a:t>
            </a:r>
          </a:p>
        </p:txBody>
      </p:sp>
      <p:sp>
        <p:nvSpPr>
          <p:cNvPr id="5" name="Rectangle 4"/>
          <p:cNvSpPr>
            <a:spLocks noChangeArrowheads="1"/>
          </p:cNvSpPr>
          <p:nvPr/>
        </p:nvSpPr>
        <p:spPr bwMode="auto">
          <a:xfrm>
            <a:off x="1352552" y="4419600"/>
            <a:ext cx="6343648" cy="160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43546" tIns="45048" rIns="43546" bIns="45048"/>
          <a:lstStyle/>
          <a:p>
            <a:pPr algn="ctr" defTabSz="1220788" eaLnBrk="0" hangingPunct="0">
              <a:spcBef>
                <a:spcPts val="0"/>
              </a:spcBef>
              <a:buSzPct val="80000"/>
              <a:buFont typeface="Wingdings 2" pitchFamily="18" charset="2"/>
              <a:buNone/>
            </a:pPr>
            <a:r>
              <a:rPr lang="en-US" altLang="ko-KR" sz="2000" dirty="0">
                <a:latin typeface="Arial"/>
                <a:ea typeface="MS PGothic"/>
              </a:rPr>
              <a:t>학생자율연구II 연구계획 발표</a:t>
            </a:r>
          </a:p>
          <a:p>
            <a:pPr algn="ctr" defTabSz="1220788" eaLnBrk="0" hangingPunct="0">
              <a:spcBef>
                <a:spcPts val="0"/>
              </a:spcBef>
              <a:buSzPct val="80000"/>
              <a:buFont typeface="Wingdings 2" pitchFamily="18" charset="2"/>
              <a:buNone/>
            </a:pPr>
            <a:r>
              <a:rPr lang="en-US" altLang="ko-KR" sz="2000" dirty="0">
                <a:latin typeface="Arial"/>
                <a:ea typeface="MS PGothic"/>
              </a:rPr>
              <a:t>박찬혁 (202121212)</a:t>
            </a:r>
          </a:p>
          <a:p>
            <a:pPr algn="ctr" defTabSz="1220788" eaLnBrk="0" hangingPunct="0">
              <a:spcBef>
                <a:spcPts val="0"/>
              </a:spcBef>
              <a:buSzPct val="80000"/>
              <a:buFont typeface="Wingdings 2" pitchFamily="18" charset="2"/>
              <a:buNone/>
            </a:pPr>
            <a:r>
              <a:rPr lang="en-US" altLang="ko-KR" sz="2000" dirty="0">
                <a:latin typeface="Arial"/>
                <a:ea typeface="MS PGothic"/>
              </a:rPr>
              <a:t>지도교수 안창선 교수님</a:t>
            </a:r>
          </a:p>
        </p:txBody>
      </p:sp>
      <p:sp>
        <p:nvSpPr>
          <p:cNvPr id="1027" name="TextBox 1026"/>
          <p:cNvSpPr txBox="1"/>
          <p:nvPr/>
        </p:nvSpPr>
        <p:spPr>
          <a:xfrm>
            <a:off x="822960" y="3090672"/>
            <a:ext cx="7498079" cy="457200"/>
          </a:xfrm>
          <a:prstGeom prst="rect">
            <a:avLst/>
          </a:prstGeom>
          <a:noFill/>
        </p:spPr>
        <p:txBody>
          <a:bodyPr wrap="none">
            <a:spAutoFit/>
          </a:bodyPr>
          <a:lstStyle/>
          <a:p>
            <a:pPr algn="ctr"/>
            <a:r>
              <a:rPr sz="1800" b="0">
                <a:solidFill>
                  <a:srgbClr val="000066"/>
                </a:solidFill>
                <a:latin typeface="Arial"/>
                <a:ea typeface="MS PGothic"/>
              </a:rPr>
              <a:t>- 측정 주기와 지연을 고려한 카메라·IMU·거리센서 융합 추정기 -</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1024128"/>
            <a:ext cx="8229600" cy="512064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차량과 항공기의 항법: 예측과 보정</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항법의 기본 구조</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GPS를 사용할 수 없는 터널·실내에서는 </a:t>
            </a:r>
            <a:r>
              <a:rPr sz="1500" b="1">
                <a:solidFill>
                  <a:srgbClr val="1A1A1A"/>
                </a:solidFill>
                <a:latin typeface="Arial"/>
                <a:ea typeface="MS PGothic"/>
              </a:rPr>
              <a:t>IMU로 움직임을 예측</a:t>
            </a:r>
            <a:r>
              <a:rPr sz="1500" b="0">
                <a:solidFill>
                  <a:srgbClr val="333333"/>
                </a:solidFill>
                <a:latin typeface="Arial"/>
                <a:ea typeface="MS PGothic"/>
              </a:rPr>
              <a:t>하고 </a:t>
            </a:r>
            <a:r>
              <a:rPr sz="1500" b="1">
                <a:solidFill>
                  <a:srgbClr val="1A1A1A"/>
                </a:solidFill>
                <a:latin typeface="Arial"/>
                <a:ea typeface="MS PGothic"/>
              </a:rPr>
              <a:t>외부 센서로 보정</a:t>
            </a:r>
            <a:r>
              <a:rPr sz="1500" b="0">
                <a:solidFill>
                  <a:srgbClr val="333333"/>
                </a:solidFill>
                <a:latin typeface="Arial"/>
                <a:ea typeface="MS PGothic"/>
              </a:rPr>
              <a:t>하여 위치를 추정함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차량 내비게이션은 터널에서 GPS가 끊겨도 속도·회전 정보로 위치를 이어서 계산함</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카메라를 이용한 보정: Optical Flow와 VIO</a:t>
            </a:r>
          </a:p>
          <a:p>
            <a:pPr marL="594360" indent="-228600">
              <a:lnSpc>
                <a:spcPct val="115000"/>
              </a:lnSpc>
              <a:spcBef>
                <a:spcPts val="300"/>
              </a:spcBef>
              <a:spcAft>
                <a:spcPts val="0"/>
              </a:spcAft>
              <a:buSzPct val="75000"/>
              <a:buFont typeface="MS PGothic"/>
              <a:buChar char="◆"/>
            </a:pPr>
            <a:r>
              <a:rPr sz="1500" b="1">
                <a:solidFill>
                  <a:srgbClr val="1A1A1A"/>
                </a:solidFill>
                <a:latin typeface="Arial"/>
                <a:ea typeface="MS PGothic"/>
              </a:rPr>
              <a:t>Optical Flow</a:t>
            </a:r>
            <a:r>
              <a:rPr sz="1500" b="0">
                <a:solidFill>
                  <a:srgbClr val="333333"/>
                </a:solidFill>
                <a:latin typeface="Arial"/>
                <a:ea typeface="MS PGothic"/>
              </a:rPr>
              <a:t>는 연속 영상에서 점의 이동을 추적하여 </a:t>
            </a:r>
            <a:r>
              <a:rPr sz="1500" b="1">
                <a:solidFill>
                  <a:srgbClr val="1A1A1A"/>
                </a:solidFill>
                <a:latin typeface="Arial"/>
                <a:ea typeface="MS PGothic"/>
              </a:rPr>
              <a:t>영상 속 움직임을 측정</a:t>
            </a:r>
            <a:r>
              <a:rPr sz="1500" b="0">
                <a:solidFill>
                  <a:srgbClr val="333333"/>
                </a:solidFill>
                <a:latin typeface="Arial"/>
                <a:ea typeface="MS PGothic"/>
              </a:rPr>
              <a:t>함 (Lucas and Kanade, 1981)</a:t>
            </a:r>
          </a:p>
          <a:p>
            <a:pPr marL="594360" indent="-228600">
              <a:lnSpc>
                <a:spcPct val="115000"/>
              </a:lnSpc>
              <a:spcBef>
                <a:spcPts val="300"/>
              </a:spcBef>
              <a:spcAft>
                <a:spcPts val="0"/>
              </a:spcAft>
              <a:buSzPct val="75000"/>
              <a:buFont typeface="MS PGothic"/>
              <a:buChar char="◆"/>
            </a:pPr>
            <a:r>
              <a:rPr sz="1500" b="1">
                <a:solidFill>
                  <a:srgbClr val="1A1A1A"/>
                </a:solidFill>
                <a:latin typeface="Arial"/>
                <a:ea typeface="MS PGothic"/>
              </a:rPr>
              <a:t>VIO</a:t>
            </a:r>
            <a:r>
              <a:rPr sz="1500" b="0">
                <a:solidFill>
                  <a:srgbClr val="333333"/>
                </a:solidFill>
                <a:latin typeface="Arial"/>
                <a:ea typeface="MS PGothic"/>
              </a:rPr>
              <a:t>는 영상 측정을 IMU와 결합하여 </a:t>
            </a:r>
            <a:r>
              <a:rPr sz="1500" b="1">
                <a:solidFill>
                  <a:srgbClr val="1A1A1A"/>
                </a:solidFill>
                <a:latin typeface="Arial"/>
                <a:ea typeface="MS PGothic"/>
              </a:rPr>
              <a:t>위치·자세를 추정</a:t>
            </a:r>
            <a:r>
              <a:rPr sz="1500" b="0">
                <a:solidFill>
                  <a:srgbClr val="333333"/>
                </a:solidFill>
                <a:latin typeface="Arial"/>
                <a:ea typeface="MS PGothic"/>
              </a:rPr>
              <a:t>함 (Mourikis and Roumeliotis, 2007; Geneva et al., 2020)</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차량에서 드론·항공기로</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실내 드론은 하향 카메라·IMU·거리센서로 GPS 없이 위치를 유지함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화성 헬리콥터 Ingenuity도 </a:t>
            </a:r>
            <a:r>
              <a:rPr sz="1500" b="1">
                <a:solidFill>
                  <a:srgbClr val="1A1A1A"/>
                </a:solidFill>
                <a:latin typeface="Arial"/>
                <a:ea typeface="MS PGothic"/>
              </a:rPr>
              <a:t>하향 카메라·IMU·레이저 고도계</a:t>
            </a:r>
            <a:r>
              <a:rPr sz="1500" b="0">
                <a:solidFill>
                  <a:srgbClr val="333333"/>
                </a:solidFill>
                <a:latin typeface="Arial"/>
                <a:ea typeface="MS PGothic"/>
              </a:rPr>
              <a:t>를 EKF로 융합하여 비행함 (Bayard et al., 2019)</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플랫폼은 달라도 </a:t>
            </a:r>
            <a:r>
              <a:rPr sz="1500" b="1">
                <a:solidFill>
                  <a:srgbClr val="1A1A1A"/>
                </a:solidFill>
                <a:latin typeface="Arial"/>
                <a:ea typeface="MS PGothic"/>
              </a:rPr>
              <a:t>IMU로 예측하고 카메라·거리센서로 보정하는 구조</a:t>
            </a:r>
            <a:r>
              <a:rPr sz="1500" b="0">
                <a:solidFill>
                  <a:srgbClr val="333333"/>
                </a:solidFill>
                <a:latin typeface="Arial"/>
                <a:ea typeface="MS PGothic"/>
              </a:rPr>
              <a:t>는 동일함</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24128"/>
            <a:ext cx="8229600" cy="416052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실제 센서 융합에서 생기는 두 가지 문제</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개별 센서의 한계</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IMU만 사용하면 적분 과정에서 </a:t>
            </a:r>
            <a:r>
              <a:rPr sz="1500" b="1">
                <a:solidFill>
                  <a:srgbClr val="1A1A1A"/>
                </a:solidFill>
                <a:latin typeface="Arial"/>
                <a:ea typeface="MS PGothic"/>
              </a:rPr>
              <a:t>작은 오차가 시간에 따라 누적</a:t>
            </a:r>
            <a:r>
              <a:rPr sz="1500" b="0">
                <a:solidFill>
                  <a:srgbClr val="333333"/>
                </a:solidFill>
                <a:latin typeface="Arial"/>
                <a:ea typeface="MS PGothic"/>
              </a:rPr>
              <a:t>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카메라는 영상 속 이동만 측정하므로 </a:t>
            </a:r>
            <a:r>
              <a:rPr sz="1500" b="1">
                <a:solidFill>
                  <a:srgbClr val="1A1A1A"/>
                </a:solidFill>
                <a:latin typeface="Arial"/>
                <a:ea typeface="MS PGothic"/>
              </a:rPr>
              <a:t>실제 이동 거리로 환산하려면 거리 정보가 필요</a:t>
            </a:r>
            <a:r>
              <a:rPr sz="1500" b="0">
                <a:solidFill>
                  <a:srgbClr val="333333"/>
                </a:solidFill>
                <a:latin typeface="Arial"/>
                <a:ea typeface="MS PGothic"/>
              </a:rPr>
              <a:t>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따라서 IMU로 예측하고 카메라·거리센서로 보정하는 </a:t>
            </a:r>
            <a:r>
              <a:rPr sz="1500" b="1">
                <a:solidFill>
                  <a:srgbClr val="1A1A1A"/>
                </a:solidFill>
                <a:latin typeface="Arial"/>
                <a:ea typeface="MS PGothic"/>
              </a:rPr>
              <a:t>센서 융합이 필요</a:t>
            </a:r>
            <a:r>
              <a:rPr sz="1500" b="0">
                <a:solidFill>
                  <a:srgbClr val="333333"/>
                </a:solidFill>
                <a:latin typeface="Arial"/>
                <a:ea typeface="MS PGothic"/>
              </a:rPr>
              <a:t>함</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센서별 측정 시점의 차이</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IMU는 빠른 주기, 카메라는 느린 주기로 측정되며 </a:t>
            </a:r>
            <a:r>
              <a:rPr sz="1500" b="1">
                <a:solidFill>
                  <a:srgbClr val="1A1A1A"/>
                </a:solidFill>
                <a:latin typeface="Arial"/>
                <a:ea typeface="MS PGothic"/>
              </a:rPr>
              <a:t>영상 처리에도 시간이 소요</a:t>
            </a:r>
            <a:r>
              <a:rPr sz="1500" b="0">
                <a:solidFill>
                  <a:srgbClr val="333333"/>
                </a:solidFill>
                <a:latin typeface="Arial"/>
                <a:ea typeface="MS PGothic"/>
              </a:rPr>
              <a:t>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필터에 도착한 영상 측정은 </a:t>
            </a:r>
            <a:r>
              <a:rPr sz="1500" b="1">
                <a:solidFill>
                  <a:srgbClr val="1A1A1A"/>
                </a:solidFill>
                <a:latin typeface="Arial"/>
                <a:ea typeface="MS PGothic"/>
              </a:rPr>
              <a:t>도착 시점보다 이전의 움직임</a:t>
            </a:r>
            <a:r>
              <a:rPr sz="1500" b="0">
                <a:solidFill>
                  <a:srgbClr val="333333"/>
                </a:solidFill>
                <a:latin typeface="Arial"/>
                <a:ea typeface="MS PGothic"/>
              </a:rPr>
              <a:t>을 나타냄</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e.g. 5 m/s로 이동 중 50 ms 늦은 측정을 현재 값으로 쓰면 </a:t>
            </a:r>
            <a:r>
              <a:rPr sz="1500" b="1">
                <a:solidFill>
                  <a:srgbClr val="1A1A1A"/>
                </a:solidFill>
                <a:latin typeface="Arial"/>
                <a:ea typeface="MS PGothic"/>
              </a:rPr>
              <a:t>약 25 cm 차이</a:t>
            </a:r>
            <a:r>
              <a:rPr sz="1500" b="0">
                <a:solidFill>
                  <a:srgbClr val="333333"/>
                </a:solidFill>
                <a:latin typeface="Arial"/>
                <a:ea typeface="MS PGothic"/>
              </a:rPr>
              <a:t>가 발생함 (단순 계산 예시)</a:t>
            </a:r>
          </a:p>
        </p:txBody>
      </p:sp>
      <p:sp>
        <p:nvSpPr>
          <p:cNvPr id="4" name="Rectangle 3"/>
          <p:cNvSpPr/>
          <p:nvPr/>
        </p:nvSpPr>
        <p:spPr>
          <a:xfrm>
            <a:off x="457200" y="4617720"/>
            <a:ext cx="8229600" cy="896112"/>
          </a:xfrm>
          <a:prstGeom prst="rect">
            <a:avLst/>
          </a:prstGeom>
          <a:solidFill>
            <a:srgbClr val="EEF0F6"/>
          </a:solidFill>
          <a:ln w="12700">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a:solidFill>
                  <a:srgbClr val="000066"/>
                </a:solidFill>
                <a:latin typeface="Arial"/>
                <a:ea typeface="MS PGothic"/>
              </a:rPr>
              <a:t>연구 목적  </a:t>
            </a:r>
            <a:r>
              <a:rPr sz="1500" b="0">
                <a:solidFill>
                  <a:srgbClr val="333333"/>
                </a:solidFill>
                <a:latin typeface="Arial"/>
                <a:ea typeface="MS PGothic"/>
              </a:rPr>
              <a:t>측정 주기와 지연 차이를 고려하여 카메라·IMU·거리센서를 </a:t>
            </a:r>
            <a:r>
              <a:rPr sz="1500" b="1">
                <a:solidFill>
                  <a:srgbClr val="1A1A1A"/>
                </a:solidFill>
                <a:latin typeface="Arial"/>
                <a:ea typeface="MS PGothic"/>
              </a:rPr>
              <a:t>하나의 필터로 융합하는 위치·자세 추정기</a:t>
            </a:r>
            <a:r>
              <a:rPr sz="1500" b="0">
                <a:solidFill>
                  <a:srgbClr val="333333"/>
                </a:solidFill>
                <a:latin typeface="Arial"/>
                <a:ea typeface="MS PGothic"/>
              </a:rPr>
              <a:t>를 구현함</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24128"/>
            <a:ext cx="8229600" cy="512064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차량 분야의 비동기 센서 처리 방법을 비전 항법에 적용</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레이더·V2X 기반 선행 차량 상태 추정 (Kim and Ahn, 2025)</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도착 시점이 서로 다른 레이더와 V2X 정보를 융합하여 앞 차량의 상태를 추정함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본 연구에서는 다음 세 가지 </a:t>
            </a:r>
            <a:r>
              <a:rPr sz="1500" b="1">
                <a:solidFill>
                  <a:srgbClr val="1A1A1A"/>
                </a:solidFill>
                <a:latin typeface="Arial"/>
                <a:ea typeface="MS PGothic"/>
              </a:rPr>
              <a:t>시간 처리 방법</a:t>
            </a:r>
            <a:r>
              <a:rPr sz="1500" b="0">
                <a:solidFill>
                  <a:srgbClr val="333333"/>
                </a:solidFill>
                <a:latin typeface="Arial"/>
                <a:ea typeface="MS PGothic"/>
              </a:rPr>
              <a:t>을 참고함</a:t>
            </a:r>
          </a:p>
          <a:p>
            <a:pPr marL="868680" indent="-182880">
              <a:lnSpc>
                <a:spcPct val="112000"/>
              </a:lnSpc>
              <a:spcBef>
                <a:spcPts val="100"/>
              </a:spcBef>
              <a:spcAft>
                <a:spcPts val="0"/>
              </a:spcAft>
              <a:buSzPct val="100000"/>
              <a:buFont typeface="MS PGothic"/>
              <a:buChar char="–"/>
            </a:pPr>
            <a:r>
              <a:rPr sz="1450" b="1">
                <a:solidFill>
                  <a:srgbClr val="1A1A1A"/>
                </a:solidFill>
                <a:latin typeface="Arial"/>
                <a:ea typeface="MS PGothic"/>
              </a:rPr>
              <a:t>지연 보상</a:t>
            </a:r>
            <a:r>
              <a:rPr sz="1450" b="0">
                <a:solidFill>
                  <a:srgbClr val="333333"/>
                </a:solidFill>
                <a:latin typeface="Arial"/>
                <a:ea typeface="MS PGothic"/>
              </a:rPr>
              <a:t>: 데이터의 수신 시점과 실제 측정 시점을 구분</a:t>
            </a:r>
          </a:p>
          <a:p>
            <a:pPr marL="868680" indent="-182880">
              <a:lnSpc>
                <a:spcPct val="112000"/>
              </a:lnSpc>
              <a:spcBef>
                <a:spcPts val="100"/>
              </a:spcBef>
              <a:spcAft>
                <a:spcPts val="0"/>
              </a:spcAft>
              <a:buSzPct val="100000"/>
              <a:buFont typeface="MS PGothic"/>
              <a:buChar char="–"/>
            </a:pPr>
            <a:r>
              <a:rPr sz="1450" b="1">
                <a:solidFill>
                  <a:srgbClr val="1A1A1A"/>
                </a:solidFill>
                <a:latin typeface="Arial"/>
                <a:ea typeface="MS PGothic"/>
              </a:rPr>
              <a:t>시간 정렬</a:t>
            </a:r>
            <a:r>
              <a:rPr sz="1450" b="0">
                <a:solidFill>
                  <a:srgbClr val="333333"/>
                </a:solidFill>
                <a:latin typeface="Arial"/>
                <a:ea typeface="MS PGothic"/>
              </a:rPr>
              <a:t>: 함께 사용하는 신호의 시점을 맞추고, 필요한 경우 보간</a:t>
            </a:r>
          </a:p>
          <a:p>
            <a:pPr marL="868680" indent="-182880">
              <a:lnSpc>
                <a:spcPct val="112000"/>
              </a:lnSpc>
              <a:spcBef>
                <a:spcPts val="100"/>
              </a:spcBef>
              <a:spcAft>
                <a:spcPts val="0"/>
              </a:spcAft>
              <a:buSzPct val="100000"/>
              <a:buFont typeface="MS PGothic"/>
              <a:buChar char="–"/>
            </a:pPr>
            <a:r>
              <a:rPr sz="1450" b="1">
                <a:solidFill>
                  <a:srgbClr val="1A1A1A"/>
                </a:solidFill>
                <a:latin typeface="Arial"/>
                <a:ea typeface="MS PGothic"/>
              </a:rPr>
              <a:t>과거 상태 재추정</a:t>
            </a:r>
            <a:r>
              <a:rPr sz="1450" b="0">
                <a:solidFill>
                  <a:srgbClr val="333333"/>
                </a:solidFill>
                <a:latin typeface="Arial"/>
                <a:ea typeface="MS PGothic"/>
              </a:rPr>
              <a:t>: 지연된 측정으로 과거 추정값을 보정한 후 현재까지 다시 추정</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비전 항법 분야의 참고 구조</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MSCKF와 OpenVINS는 </a:t>
            </a:r>
            <a:r>
              <a:rPr sz="1500" b="1">
                <a:solidFill>
                  <a:srgbClr val="1A1A1A"/>
                </a:solidFill>
                <a:latin typeface="Arial"/>
                <a:ea typeface="MS PGothic"/>
              </a:rPr>
              <a:t>과거 카메라 자세를 상태에 유지</a:t>
            </a:r>
            <a:r>
              <a:rPr sz="1500" b="0">
                <a:solidFill>
                  <a:srgbClr val="333333"/>
                </a:solidFill>
                <a:latin typeface="Arial"/>
                <a:ea typeface="MS PGothic"/>
              </a:rPr>
              <a:t>하며 추정함 (Mourikis and Roumeliotis, 2007; Geneva et al., 2020)</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본 연구의 적용 방향</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차량 모델을 그대로 쓰지 않고, </a:t>
            </a:r>
            <a:r>
              <a:rPr sz="1500" b="1">
                <a:solidFill>
                  <a:srgbClr val="1A1A1A"/>
                </a:solidFill>
                <a:latin typeface="Arial"/>
                <a:ea typeface="MS PGothic"/>
              </a:rPr>
              <a:t>시간 처리 방법을 카메라·IMU·거리센서 구성에 맞게 적용</a:t>
            </a:r>
            <a:r>
              <a:rPr sz="1500" b="0">
                <a:solidFill>
                  <a:srgbClr val="333333"/>
                </a:solidFill>
                <a:latin typeface="Arial"/>
                <a:ea typeface="MS PGothic"/>
              </a:rPr>
              <a:t>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자체 센서 구성의 추정기를 구현하고 </a:t>
            </a:r>
            <a:r>
              <a:rPr sz="1500" b="1">
                <a:solidFill>
                  <a:srgbClr val="1A1A1A"/>
                </a:solidFill>
                <a:latin typeface="Arial"/>
                <a:ea typeface="MS PGothic"/>
              </a:rPr>
              <a:t>시간 처리 적용 전·후의 차이</a:t>
            </a:r>
            <a:r>
              <a:rPr sz="1500" b="0">
                <a:solidFill>
                  <a:srgbClr val="333333"/>
                </a:solidFill>
                <a:latin typeface="Arial"/>
                <a:ea typeface="MS PGothic"/>
              </a:rPr>
              <a:t>를 확인함</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24128"/>
            <a:ext cx="8229600" cy="512064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EKF 기반 다중센서 융합과 지연 측정 처리</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기본 융합 구조</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영상 이동 추적은 </a:t>
            </a:r>
            <a:r>
              <a:rPr sz="1500" b="1">
                <a:solidFill>
                  <a:srgbClr val="1A1A1A"/>
                </a:solidFill>
                <a:latin typeface="Arial"/>
                <a:ea typeface="MS PGothic"/>
              </a:rPr>
              <a:t>KLT Optical Flow</a:t>
            </a:r>
            <a:r>
              <a:rPr sz="1500" b="0">
                <a:solidFill>
                  <a:srgbClr val="333333"/>
                </a:solidFill>
                <a:latin typeface="Arial"/>
                <a:ea typeface="MS PGothic"/>
              </a:rPr>
              <a:t>, 센서 융합은 </a:t>
            </a:r>
            <a:r>
              <a:rPr sz="1500" b="1">
                <a:solidFill>
                  <a:srgbClr val="1A1A1A"/>
                </a:solidFill>
                <a:latin typeface="Arial"/>
                <a:ea typeface="MS PGothic"/>
              </a:rPr>
              <a:t>EKF(확장 칼만필터)</a:t>
            </a:r>
            <a:r>
              <a:rPr sz="1500" b="0">
                <a:solidFill>
                  <a:srgbClr val="333333"/>
                </a:solidFill>
                <a:latin typeface="Arial"/>
                <a:ea typeface="MS PGothic"/>
              </a:rPr>
              <a:t>를 기본 구조로 사용함</a:t>
            </a:r>
          </a:p>
          <a:p>
            <a:pPr marL="594360" indent="-228600">
              <a:lnSpc>
                <a:spcPct val="115000"/>
              </a:lnSpc>
              <a:spcBef>
                <a:spcPts val="300"/>
              </a:spcBef>
              <a:spcAft>
                <a:spcPts val="0"/>
              </a:spcAft>
              <a:buSzPct val="75000"/>
              <a:buFont typeface="MS PGothic"/>
              <a:buChar char="◆"/>
            </a:pPr>
            <a:r>
              <a:rPr sz="1500" b="1">
                <a:solidFill>
                  <a:srgbClr val="1A1A1A"/>
                </a:solidFill>
                <a:latin typeface="Arial"/>
                <a:ea typeface="MS PGothic"/>
              </a:rPr>
              <a:t>예측</a:t>
            </a:r>
            <a:r>
              <a:rPr sz="1500" b="0">
                <a:solidFill>
                  <a:srgbClr val="333333"/>
                </a:solidFill>
                <a:latin typeface="Arial"/>
                <a:ea typeface="MS PGothic"/>
              </a:rPr>
              <a:t>: IMU의 가속도·각속도로 다음 시점의 위치·자세를 계산</a:t>
            </a:r>
          </a:p>
          <a:p>
            <a:pPr marL="594360" indent="-228600">
              <a:lnSpc>
                <a:spcPct val="115000"/>
              </a:lnSpc>
              <a:spcBef>
                <a:spcPts val="300"/>
              </a:spcBef>
              <a:spcAft>
                <a:spcPts val="0"/>
              </a:spcAft>
              <a:buSzPct val="75000"/>
              <a:buFont typeface="MS PGothic"/>
              <a:buChar char="◆"/>
            </a:pPr>
            <a:r>
              <a:rPr sz="1500" b="1">
                <a:solidFill>
                  <a:srgbClr val="1A1A1A"/>
                </a:solidFill>
                <a:latin typeface="Arial"/>
                <a:ea typeface="MS PGothic"/>
              </a:rPr>
              <a:t>보정</a:t>
            </a:r>
            <a:r>
              <a:rPr sz="1500" b="0">
                <a:solidFill>
                  <a:srgbClr val="333333"/>
                </a:solidFill>
                <a:latin typeface="Arial"/>
                <a:ea typeface="MS PGothic"/>
              </a:rPr>
              <a:t>: 영상 이동과 거리 정보를 측정 모델로 반영 (자이로로 회전 성분 제거, 거리로 실제 크기 결정)</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시간 처리</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센서별 </a:t>
            </a:r>
            <a:r>
              <a:rPr sz="1500" b="1">
                <a:solidFill>
                  <a:srgbClr val="1A1A1A"/>
                </a:solidFill>
                <a:latin typeface="Arial"/>
                <a:ea typeface="MS PGothic"/>
              </a:rPr>
              <a:t>측정 주기·타임스탬프·지연</a:t>
            </a:r>
            <a:r>
              <a:rPr sz="1500" b="0">
                <a:solidFill>
                  <a:srgbClr val="333333"/>
                </a:solidFill>
                <a:latin typeface="Arial"/>
                <a:ea typeface="MS PGothic"/>
              </a:rPr>
              <a:t>을 먼저 확인함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과거 일정 구간의 </a:t>
            </a:r>
            <a:r>
              <a:rPr sz="1500" b="1">
                <a:solidFill>
                  <a:srgbClr val="1A1A1A"/>
                </a:solidFill>
                <a:latin typeface="Arial"/>
                <a:ea typeface="MS PGothic"/>
              </a:rPr>
              <a:t>상태·IMU 입력·측정값을 저장</a:t>
            </a:r>
            <a:r>
              <a:rPr sz="1500" b="0">
                <a:solidFill>
                  <a:srgbClr val="333333"/>
                </a:solidFill>
                <a:latin typeface="Arial"/>
                <a:ea typeface="MS PGothic"/>
              </a:rPr>
              <a:t>하고, 새 측정이 없으면 예측만 진행함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늦게 도착한 측정은 </a:t>
            </a:r>
            <a:r>
              <a:rPr sz="1500" b="1">
                <a:solidFill>
                  <a:srgbClr val="1A1A1A"/>
                </a:solidFill>
                <a:latin typeface="Arial"/>
                <a:ea typeface="MS PGothic"/>
              </a:rPr>
              <a:t>측정 시점으로 돌아가 보정한 후, 저장한 IMU 입력으로 현재까지 재추정</a:t>
            </a:r>
            <a:r>
              <a:rPr sz="1500" b="0">
                <a:solidFill>
                  <a:srgbClr val="333333"/>
                </a:solidFill>
                <a:latin typeface="Arial"/>
                <a:ea typeface="MS PGothic"/>
              </a:rPr>
              <a:t>함</a:t>
            </a:r>
          </a:p>
          <a:p>
            <a:pPr marL="274320" indent="-274320">
              <a:lnSpc>
                <a:spcPct val="110000"/>
              </a:lnSpc>
              <a:spcBef>
                <a:spcPts val="900"/>
              </a:spcBef>
              <a:spcAft>
                <a:spcPts val="200"/>
              </a:spcAft>
              <a:buSzPct val="90000"/>
              <a:buFont typeface="MS PGothic"/>
              <a:buChar char="▣"/>
            </a:pPr>
            <a:r>
              <a:rPr sz="1600" b="1">
                <a:solidFill>
                  <a:srgbClr val="000066"/>
                </a:solidFill>
                <a:latin typeface="Arial"/>
                <a:ea typeface="MS PGothic"/>
              </a:rPr>
              <a:t>검증 계획</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같은 데이터·초기 조건에서 </a:t>
            </a:r>
            <a:r>
              <a:rPr sz="1500" b="1">
                <a:solidFill>
                  <a:srgbClr val="1A1A1A"/>
                </a:solidFill>
                <a:latin typeface="Arial"/>
                <a:ea typeface="MS PGothic"/>
              </a:rPr>
              <a:t>시간 처리 적용 전·후를 비교</a:t>
            </a:r>
            <a:r>
              <a:rPr sz="1500" b="0">
                <a:solidFill>
                  <a:srgbClr val="333333"/>
                </a:solidFill>
                <a:latin typeface="Arial"/>
                <a:ea typeface="MS PGothic"/>
              </a:rPr>
              <a:t>함</a:t>
            </a:r>
          </a:p>
          <a:p>
            <a:pPr marL="594360" indent="-228600">
              <a:lnSpc>
                <a:spcPct val="115000"/>
              </a:lnSpc>
              <a:spcBef>
                <a:spcPts val="300"/>
              </a:spcBef>
              <a:spcAft>
                <a:spcPts val="0"/>
              </a:spcAft>
              <a:buSzPct val="75000"/>
              <a:buFont typeface="MS PGothic"/>
              <a:buChar char="◆"/>
            </a:pPr>
            <a:r>
              <a:rPr sz="1500" b="0">
                <a:solidFill>
                  <a:srgbClr val="333333"/>
                </a:solidFill>
                <a:latin typeface="Arial"/>
                <a:ea typeface="MS PGothic"/>
              </a:rPr>
              <a:t>기준값 대비 </a:t>
            </a:r>
            <a:r>
              <a:rPr sz="1500" b="1">
                <a:solidFill>
                  <a:srgbClr val="1A1A1A"/>
                </a:solidFill>
                <a:latin typeface="Arial"/>
                <a:ea typeface="MS PGothic"/>
              </a:rPr>
              <a:t>위치·자세 오차</a:t>
            </a:r>
            <a:r>
              <a:rPr sz="1500" b="0">
                <a:solidFill>
                  <a:srgbClr val="333333"/>
                </a:solidFill>
                <a:latin typeface="Arial"/>
                <a:ea typeface="MS PGothic"/>
              </a:rPr>
              <a:t>와 재추정에 필요한 </a:t>
            </a:r>
            <a:r>
              <a:rPr sz="1500" b="1">
                <a:solidFill>
                  <a:srgbClr val="1A1A1A"/>
                </a:solidFill>
                <a:latin typeface="Arial"/>
                <a:ea typeface="MS PGothic"/>
              </a:rPr>
              <a:t>처리시간</a:t>
            </a:r>
            <a:r>
              <a:rPr sz="1500" b="0">
                <a:solidFill>
                  <a:srgbClr val="333333"/>
                </a:solidFill>
                <a:latin typeface="Arial"/>
                <a:ea typeface="MS PGothic"/>
              </a:rPr>
              <a:t>을 함께 분석함</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24128"/>
            <a:ext cx="8229600" cy="41148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10월 ~ 12월 단계별 추진 계획</a:t>
            </a:r>
          </a:p>
        </p:txBody>
      </p:sp>
      <p:graphicFrame>
        <p:nvGraphicFramePr>
          <p:cNvPr id="4" name="Table 3"/>
          <p:cNvGraphicFramePr>
            <a:graphicFrameLocks noGrp="1"/>
          </p:cNvGraphicFramePr>
          <p:nvPr/>
        </p:nvGraphicFramePr>
        <p:xfrm>
          <a:off x="457200" y="1554480"/>
          <a:ext cx="8229600" cy="3557016"/>
        </p:xfrm>
        <a:graphic>
          <a:graphicData uri="http://schemas.openxmlformats.org/drawingml/2006/table">
            <a:tbl>
              <a:tblPr firstRow="0" bandRow="0"/>
              <a:tblGrid>
                <a:gridCol w="1188720"/>
                <a:gridCol w="4023360"/>
                <a:gridCol w="3017520"/>
              </a:tblGrid>
              <a:tr h="411480">
                <a:tc>
                  <a:txBody>
                    <a:bodyPr wrap="square"/>
                    <a:lstStyle/>
                    <a:p>
                      <a:pPr>
                        <a:lnSpc>
                          <a:spcPct val="110000"/>
                        </a:lnSpc>
                      </a:pPr>
                      <a:r>
                        <a:rPr sz="1400" b="1">
                          <a:solidFill>
                            <a:srgbClr val="000066"/>
                          </a:solidFill>
                          <a:latin typeface="Arial"/>
                          <a:ea typeface="MS PGothic"/>
                        </a:rPr>
                        <a:t>시기</a:t>
                      </a:r>
                    </a:p>
                  </a:txBody>
                  <a:tcPr anchor="ctr" marL="109728" marR="73152">
                    <a:lnL w="0">
                      <a:noFill/>
                    </a:lnL>
                    <a:lnR w="0">
                      <a:noFill/>
                    </a:lnR>
                    <a:lnT w="19050">
                      <a:solidFill>
                        <a:srgbClr val="000066"/>
                      </a:solidFill>
                    </a:lnT>
                    <a:lnB w="12700">
                      <a:solidFill>
                        <a:srgbClr val="000066"/>
                      </a:solidFill>
                    </a:lnB>
                    <a:solidFill>
                      <a:srgbClr val="E8ECF5"/>
                    </a:solidFill>
                  </a:tcPr>
                </a:tc>
                <a:tc>
                  <a:txBody>
                    <a:bodyPr wrap="square"/>
                    <a:lstStyle/>
                    <a:p>
                      <a:pPr>
                        <a:lnSpc>
                          <a:spcPct val="110000"/>
                        </a:lnSpc>
                      </a:pPr>
                      <a:r>
                        <a:rPr sz="1400" b="1">
                          <a:solidFill>
                            <a:srgbClr val="000066"/>
                          </a:solidFill>
                          <a:latin typeface="Arial"/>
                          <a:ea typeface="MS PGothic"/>
                        </a:rPr>
                        <a:t>수행 내용</a:t>
                      </a:r>
                    </a:p>
                  </a:txBody>
                  <a:tcPr anchor="ctr" marL="109728" marR="73152">
                    <a:lnL w="0">
                      <a:noFill/>
                    </a:lnL>
                    <a:lnR w="0">
                      <a:noFill/>
                    </a:lnR>
                    <a:lnT w="19050">
                      <a:solidFill>
                        <a:srgbClr val="000066"/>
                      </a:solidFill>
                    </a:lnT>
                    <a:lnB w="12700">
                      <a:solidFill>
                        <a:srgbClr val="000066"/>
                      </a:solidFill>
                    </a:lnB>
                    <a:solidFill>
                      <a:srgbClr val="E8ECF5"/>
                    </a:solidFill>
                  </a:tcPr>
                </a:tc>
                <a:tc>
                  <a:txBody>
                    <a:bodyPr wrap="square"/>
                    <a:lstStyle/>
                    <a:p>
                      <a:pPr>
                        <a:lnSpc>
                          <a:spcPct val="110000"/>
                        </a:lnSpc>
                      </a:pPr>
                      <a:r>
                        <a:rPr sz="1400" b="1">
                          <a:solidFill>
                            <a:srgbClr val="000066"/>
                          </a:solidFill>
                          <a:latin typeface="Arial"/>
                          <a:ea typeface="MS PGothic"/>
                        </a:rPr>
                        <a:t>확인할 결과</a:t>
                      </a:r>
                    </a:p>
                  </a:txBody>
                  <a:tcPr anchor="ctr" marL="109728" marR="73152">
                    <a:lnL w="0">
                      <a:noFill/>
                    </a:lnL>
                    <a:lnR w="0">
                      <a:noFill/>
                    </a:lnR>
                    <a:lnT w="19050">
                      <a:solidFill>
                        <a:srgbClr val="000066"/>
                      </a:solidFill>
                    </a:lnT>
                    <a:lnB w="12700">
                      <a:solidFill>
                        <a:srgbClr val="000066"/>
                      </a:solidFill>
                    </a:lnB>
                    <a:solidFill>
                      <a:srgbClr val="E8ECF5"/>
                    </a:solidFill>
                  </a:tcPr>
                </a:tc>
              </a:tr>
              <a:tr h="786384">
                <a:tc>
                  <a:txBody>
                    <a:bodyPr wrap="square"/>
                    <a:lstStyle/>
                    <a:p>
                      <a:pPr>
                        <a:lnSpc>
                          <a:spcPct val="110000"/>
                        </a:lnSpc>
                      </a:pPr>
                      <a:r>
                        <a:rPr sz="1350" b="1">
                          <a:solidFill>
                            <a:srgbClr val="1A1A1A"/>
                          </a:solidFill>
                          <a:latin typeface="Arial"/>
                          <a:ea typeface="MS PGothic"/>
                        </a:rPr>
                        <a:t>10월 전반</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1">
                          <a:solidFill>
                            <a:srgbClr val="1A1A1A"/>
                          </a:solidFill>
                          <a:latin typeface="Arial"/>
                          <a:ea typeface="MS PGothic"/>
                        </a:rPr>
                        <a:t>선행논문 분석 및 센서 데이터 확인</a:t>
                      </a:r>
                    </a:p>
                    <a:p>
                      <a:pPr>
                        <a:lnSpc>
                          <a:spcPct val="110000"/>
                        </a:lnSpc>
                      </a:pPr>
                      <a:r>
                        <a:rPr sz="1350" b="0">
                          <a:solidFill>
                            <a:srgbClr val="333333"/>
                          </a:solidFill>
                          <a:latin typeface="Arial"/>
                          <a:ea typeface="MS PGothic"/>
                        </a:rPr>
                        <a:t>측정 주기·타임스탬프·지연 정리</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0">
                          <a:solidFill>
                            <a:srgbClr val="333333"/>
                          </a:solidFill>
                          <a:latin typeface="Arial"/>
                          <a:ea typeface="MS PGothic"/>
                        </a:rPr>
                        <a:t>시간 처리 절차 정리</a:t>
                      </a:r>
                    </a:p>
                    <a:p>
                      <a:pPr>
                        <a:lnSpc>
                          <a:spcPct val="110000"/>
                        </a:lnSpc>
                      </a:pPr>
                      <a:r>
                        <a:rPr sz="1350" b="0">
                          <a:solidFill>
                            <a:srgbClr val="333333"/>
                          </a:solidFill>
                          <a:latin typeface="Arial"/>
                          <a:ea typeface="MS PGothic"/>
                        </a:rPr>
                        <a:t>센서 데이터 특성 파악</a:t>
                      </a:r>
                    </a:p>
                  </a:txBody>
                  <a:tcPr anchor="ctr" marL="109728" marR="73152">
                    <a:lnL w="0">
                      <a:noFill/>
                    </a:lnL>
                    <a:lnR w="0">
                      <a:noFill/>
                    </a:lnR>
                    <a:lnT w="6350">
                      <a:solidFill>
                        <a:srgbClr val="BFBFBF"/>
                      </a:solidFill>
                    </a:lnT>
                    <a:lnB w="6350">
                      <a:solidFill>
                        <a:srgbClr val="BFBFBF"/>
                      </a:solidFill>
                    </a:lnB>
                    <a:noFill/>
                  </a:tcPr>
                </a:tc>
              </a:tr>
              <a:tr h="786384">
                <a:tc>
                  <a:txBody>
                    <a:bodyPr wrap="square"/>
                    <a:lstStyle/>
                    <a:p>
                      <a:pPr>
                        <a:lnSpc>
                          <a:spcPct val="110000"/>
                        </a:lnSpc>
                      </a:pPr>
                      <a:r>
                        <a:rPr sz="1350" b="1">
                          <a:solidFill>
                            <a:srgbClr val="1A1A1A"/>
                          </a:solidFill>
                          <a:latin typeface="Arial"/>
                          <a:ea typeface="MS PGothic"/>
                        </a:rPr>
                        <a:t>10월 후반</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1">
                          <a:solidFill>
                            <a:srgbClr val="1A1A1A"/>
                          </a:solidFill>
                          <a:latin typeface="Arial"/>
                          <a:ea typeface="MS PGothic"/>
                        </a:rPr>
                        <a:t>영상 이동 추적 및 IMU 예측 구현</a:t>
                      </a:r>
                    </a:p>
                    <a:p>
                      <a:pPr>
                        <a:lnSpc>
                          <a:spcPct val="110000"/>
                        </a:lnSpc>
                      </a:pPr>
                      <a:r>
                        <a:rPr sz="1350" b="0">
                          <a:solidFill>
                            <a:srgbClr val="333333"/>
                          </a:solidFill>
                          <a:latin typeface="Arial"/>
                          <a:ea typeface="MS PGothic"/>
                        </a:rPr>
                        <a:t>기본 센서 융합 구조 구성</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0">
                          <a:solidFill>
                            <a:srgbClr val="333333"/>
                          </a:solidFill>
                          <a:latin typeface="Arial"/>
                          <a:ea typeface="MS PGothic"/>
                        </a:rPr>
                        <a:t>센서별 처리 결과</a:t>
                      </a:r>
                    </a:p>
                    <a:p>
                      <a:pPr>
                        <a:lnSpc>
                          <a:spcPct val="110000"/>
                        </a:lnSpc>
                      </a:pPr>
                      <a:r>
                        <a:rPr sz="1350" b="0">
                          <a:solidFill>
                            <a:srgbClr val="333333"/>
                          </a:solidFill>
                          <a:latin typeface="Arial"/>
                          <a:ea typeface="MS PGothic"/>
                        </a:rPr>
                        <a:t>기본 추정기 동작</a:t>
                      </a:r>
                    </a:p>
                  </a:txBody>
                  <a:tcPr anchor="ctr" marL="109728" marR="73152">
                    <a:lnL w="0">
                      <a:noFill/>
                    </a:lnL>
                    <a:lnR w="0">
                      <a:noFill/>
                    </a:lnR>
                    <a:lnT w="6350">
                      <a:solidFill>
                        <a:srgbClr val="BFBFBF"/>
                      </a:solidFill>
                    </a:lnT>
                    <a:lnB w="6350">
                      <a:solidFill>
                        <a:srgbClr val="BFBFBF"/>
                      </a:solidFill>
                    </a:lnB>
                    <a:noFill/>
                  </a:tcPr>
                </a:tc>
              </a:tr>
              <a:tr h="786384">
                <a:tc>
                  <a:txBody>
                    <a:bodyPr wrap="square"/>
                    <a:lstStyle/>
                    <a:p>
                      <a:pPr>
                        <a:lnSpc>
                          <a:spcPct val="110000"/>
                        </a:lnSpc>
                      </a:pPr>
                      <a:r>
                        <a:rPr sz="1350" b="1">
                          <a:solidFill>
                            <a:srgbClr val="1A1A1A"/>
                          </a:solidFill>
                          <a:latin typeface="Arial"/>
                          <a:ea typeface="MS PGothic"/>
                        </a:rPr>
                        <a:t>11월</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1">
                          <a:solidFill>
                            <a:srgbClr val="1A1A1A"/>
                          </a:solidFill>
                          <a:latin typeface="Arial"/>
                          <a:ea typeface="MS PGothic"/>
                        </a:rPr>
                        <a:t>지연 보상·시간 정렬 구현</a:t>
                      </a:r>
                    </a:p>
                    <a:p>
                      <a:pPr>
                        <a:lnSpc>
                          <a:spcPct val="110000"/>
                        </a:lnSpc>
                      </a:pPr>
                      <a:r>
                        <a:rPr sz="1350" b="0">
                          <a:solidFill>
                            <a:srgbClr val="333333"/>
                          </a:solidFill>
                          <a:latin typeface="Arial"/>
                          <a:ea typeface="MS PGothic"/>
                        </a:rPr>
                        <a:t>과거 상태 보정 및 재추정 적용</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0">
                          <a:solidFill>
                            <a:srgbClr val="333333"/>
                          </a:solidFill>
                          <a:latin typeface="Arial"/>
                          <a:ea typeface="MS PGothic"/>
                        </a:rPr>
                        <a:t>시간 처리를 포함한</a:t>
                      </a:r>
                    </a:p>
                    <a:p>
                      <a:pPr>
                        <a:lnSpc>
                          <a:spcPct val="110000"/>
                        </a:lnSpc>
                      </a:pPr>
                      <a:r>
                        <a:rPr sz="1350" b="0">
                          <a:solidFill>
                            <a:srgbClr val="333333"/>
                          </a:solidFill>
                          <a:latin typeface="Arial"/>
                          <a:ea typeface="MS PGothic"/>
                        </a:rPr>
                        <a:t>다중센서 융합 추정기</a:t>
                      </a:r>
                    </a:p>
                  </a:txBody>
                  <a:tcPr anchor="ctr" marL="109728" marR="73152">
                    <a:lnL w="0">
                      <a:noFill/>
                    </a:lnL>
                    <a:lnR w="0">
                      <a:noFill/>
                    </a:lnR>
                    <a:lnT w="6350">
                      <a:solidFill>
                        <a:srgbClr val="BFBFBF"/>
                      </a:solidFill>
                    </a:lnT>
                    <a:lnB w="6350">
                      <a:solidFill>
                        <a:srgbClr val="BFBFBF"/>
                      </a:solidFill>
                    </a:lnB>
                    <a:noFill/>
                  </a:tcPr>
                </a:tc>
              </a:tr>
              <a:tr h="786384">
                <a:tc>
                  <a:txBody>
                    <a:bodyPr wrap="square"/>
                    <a:lstStyle/>
                    <a:p>
                      <a:pPr>
                        <a:lnSpc>
                          <a:spcPct val="110000"/>
                        </a:lnSpc>
                      </a:pPr>
                      <a:r>
                        <a:rPr sz="1350" b="1">
                          <a:solidFill>
                            <a:srgbClr val="1A1A1A"/>
                          </a:solidFill>
                          <a:latin typeface="Arial"/>
                          <a:ea typeface="MS PGothic"/>
                        </a:rPr>
                        <a:t>12월</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1">
                          <a:solidFill>
                            <a:srgbClr val="1A1A1A"/>
                          </a:solidFill>
                          <a:latin typeface="Arial"/>
                          <a:ea typeface="MS PGothic"/>
                        </a:rPr>
                        <a:t>시간 처리 적용 전·후 비교</a:t>
                      </a:r>
                    </a:p>
                    <a:p>
                      <a:pPr>
                        <a:lnSpc>
                          <a:spcPct val="110000"/>
                        </a:lnSpc>
                      </a:pPr>
                      <a:r>
                        <a:rPr sz="1350" b="0">
                          <a:solidFill>
                            <a:srgbClr val="333333"/>
                          </a:solidFill>
                          <a:latin typeface="Arial"/>
                          <a:ea typeface="MS PGothic"/>
                        </a:rPr>
                        <a:t>추정 오차·처리시간 분석</a:t>
                      </a:r>
                    </a:p>
                  </a:txBody>
                  <a:tcPr anchor="ctr" marL="109728" marR="73152">
                    <a:lnL w="0">
                      <a:noFill/>
                    </a:lnL>
                    <a:lnR w="0">
                      <a:noFill/>
                    </a:lnR>
                    <a:lnT w="6350">
                      <a:solidFill>
                        <a:srgbClr val="BFBFBF"/>
                      </a:solidFill>
                    </a:lnT>
                    <a:lnB w="6350">
                      <a:solidFill>
                        <a:srgbClr val="BFBFBF"/>
                      </a:solidFill>
                    </a:lnB>
                    <a:noFill/>
                  </a:tcPr>
                </a:tc>
                <a:tc>
                  <a:txBody>
                    <a:bodyPr wrap="square"/>
                    <a:lstStyle/>
                    <a:p>
                      <a:pPr>
                        <a:lnSpc>
                          <a:spcPct val="110000"/>
                        </a:lnSpc>
                      </a:pPr>
                      <a:r>
                        <a:rPr sz="1350" b="0">
                          <a:solidFill>
                            <a:srgbClr val="333333"/>
                          </a:solidFill>
                          <a:latin typeface="Arial"/>
                          <a:ea typeface="MS PGothic"/>
                        </a:rPr>
                        <a:t>효과와 적용 한계 정리</a:t>
                      </a:r>
                    </a:p>
                    <a:p>
                      <a:pPr>
                        <a:lnSpc>
                          <a:spcPct val="110000"/>
                        </a:lnSpc>
                      </a:pPr>
                      <a:r>
                        <a:rPr sz="1350" b="0">
                          <a:solidFill>
                            <a:srgbClr val="333333"/>
                          </a:solidFill>
                          <a:latin typeface="Arial"/>
                          <a:ea typeface="MS PGothic"/>
                        </a:rPr>
                        <a:t>최종 보고서 및 발표</a:t>
                      </a:r>
                    </a:p>
                  </a:txBody>
                  <a:tcPr anchor="ctr" marL="109728" marR="73152">
                    <a:lnL w="0">
                      <a:noFill/>
                    </a:lnL>
                    <a:lnR w="0">
                      <a:noFill/>
                    </a:lnR>
                    <a:lnT w="6350">
                      <a:solidFill>
                        <a:srgbClr val="BFBFBF"/>
                      </a:solidFill>
                    </a:lnT>
                    <a:lnB w="6350">
                      <a:solidFill>
                        <a:srgbClr val="BFBFBF"/>
                      </a:solidFill>
                    </a:lnB>
                    <a:noFill/>
                  </a:tcPr>
                </a:tc>
              </a:tr>
            </a:tbl>
          </a:graphicData>
        </a:graphic>
      </p:graphicFrame>
      <p:sp>
        <p:nvSpPr>
          <p:cNvPr id="5" name="TextBox 4"/>
          <p:cNvSpPr txBox="1"/>
          <p:nvPr/>
        </p:nvSpPr>
        <p:spPr>
          <a:xfrm>
            <a:off x="457200" y="5349240"/>
            <a:ext cx="8229600" cy="731520"/>
          </a:xfrm>
          <a:prstGeom prst="rect">
            <a:avLst/>
          </a:prstGeom>
          <a:noFill/>
        </p:spPr>
        <p:txBody>
          <a:bodyPr wrap="square" lIns="18288" rIns="18288" tIns="18288" bIns="18288">
            <a:spAutoFit/>
          </a:bodyPr>
          <a:lstStyle/>
          <a:p>
            <a:pPr marL="274320" indent="-274320">
              <a:lnSpc>
                <a:spcPct val="110000"/>
              </a:lnSpc>
              <a:spcBef>
                <a:spcPts val="0"/>
              </a:spcBef>
              <a:spcAft>
                <a:spcPts val="200"/>
              </a:spcAft>
              <a:buSzPct val="90000"/>
              <a:buFont typeface="MS PGothic"/>
              <a:buChar char="▣"/>
            </a:pPr>
            <a:r>
              <a:rPr sz="1600" b="1">
                <a:solidFill>
                  <a:srgbClr val="000066"/>
                </a:solidFill>
                <a:latin typeface="Arial"/>
                <a:ea typeface="MS PGothic"/>
              </a:rPr>
              <a:t>최종 목표</a:t>
            </a:r>
          </a:p>
          <a:p>
            <a:pPr marL="594360" indent="-228600">
              <a:lnSpc>
                <a:spcPct val="115000"/>
              </a:lnSpc>
              <a:spcBef>
                <a:spcPts val="300"/>
              </a:spcBef>
              <a:spcAft>
                <a:spcPts val="0"/>
              </a:spcAft>
              <a:buSzPct val="75000"/>
              <a:buFont typeface="MS PGothic"/>
              <a:buChar char="◆"/>
            </a:pPr>
            <a:r>
              <a:rPr sz="1500" b="1">
                <a:solidFill>
                  <a:srgbClr val="1A1A1A"/>
                </a:solidFill>
                <a:latin typeface="Arial"/>
                <a:ea typeface="MS PGothic"/>
              </a:rPr>
              <a:t>시간 처리를 포함한 다중센서 융합 추정기 구현</a:t>
            </a:r>
            <a:r>
              <a:rPr sz="1500" b="0">
                <a:solidFill>
                  <a:srgbClr val="333333"/>
                </a:solidFill>
                <a:latin typeface="Arial"/>
                <a:ea typeface="MS PGothic"/>
              </a:rPr>
              <a:t>과 시간 처리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 / 감사합니다</a:t>
            </a:r>
          </a:p>
        </p:txBody>
      </p:sp>
      <p:nvGrpSpPr>
        <p:cNvPr id="1" name=""/>
        <p:cNvGrpSpPr/>
        <p:nvPr/>
      </p:nvGrpSpPr>
      <p:sp>
        <p:nvSpPr>
          <p:cNvPr id="3" name="TextBox 2"/>
          <p:cNvSpPr txBox="1"/>
          <p:nvPr/>
        </p:nvSpPr>
        <p:spPr>
          <a:xfrm>
            <a:off x="457200" y="1051560"/>
            <a:ext cx="8229600" cy="3291840"/>
          </a:xfrm>
          <a:prstGeom prst="rect">
            <a:avLst/>
          </a:prstGeom>
          <a:noFill/>
        </p:spPr>
        <p:txBody>
          <a:bodyPr wrap="square">
            <a:spAutoFit/>
          </a:bodyPr>
          <a:lstStyle/>
          <a:p>
            <a:pPr marL="320040" indent="-320040">
              <a:lnSpc>
                <a:spcPct val="110000"/>
              </a:lnSpc>
              <a:spcBef>
                <a:spcPts val="0"/>
              </a:spcBef>
              <a:spcAft>
                <a:spcPts val="0"/>
              </a:spcAft>
              <a:buNone/>
            </a:pPr>
            <a:r>
              <a:rPr sz="1350" b="0">
                <a:solidFill>
                  <a:srgbClr val="333333"/>
                </a:solidFill>
                <a:latin typeface="Arial"/>
                <a:ea typeface="MS PGothic"/>
              </a:rPr>
              <a:t>[1] M. Kim and C. Ahn, “State Estimation of Preceding Target Vehicle Using Radar and V2X,” IEEE Access, vol. 13, pp. 198482–198495, 2025.</a:t>
            </a:r>
          </a:p>
          <a:p>
            <a:pPr marL="320040" indent="-320040">
              <a:lnSpc>
                <a:spcPct val="110000"/>
              </a:lnSpc>
              <a:spcBef>
                <a:spcPts val="600"/>
              </a:spcBef>
              <a:spcAft>
                <a:spcPts val="0"/>
              </a:spcAft>
              <a:buNone/>
            </a:pPr>
            <a:r>
              <a:rPr sz="1350" b="0">
                <a:solidFill>
                  <a:srgbClr val="333333"/>
                </a:solidFill>
                <a:latin typeface="Arial"/>
                <a:ea typeface="MS PGothic"/>
              </a:rPr>
              <a:t>[2] A. I. Mourikis and S. I. Roumeliotis, “A Multi-State Constraint Kalman Filter for Vision-aided Inertial Navigation,” IEEE ICRA, pp. 3565–3572, 2007.</a:t>
            </a:r>
          </a:p>
          <a:p>
            <a:pPr marL="320040" indent="-320040">
              <a:lnSpc>
                <a:spcPct val="110000"/>
              </a:lnSpc>
              <a:spcBef>
                <a:spcPts val="600"/>
              </a:spcBef>
              <a:spcAft>
                <a:spcPts val="0"/>
              </a:spcAft>
              <a:buNone/>
            </a:pPr>
            <a:r>
              <a:rPr sz="1350" b="0">
                <a:solidFill>
                  <a:srgbClr val="333333"/>
                </a:solidFill>
                <a:latin typeface="Arial"/>
                <a:ea typeface="MS PGothic"/>
              </a:rPr>
              <a:t>[3] P. Geneva et al., “OpenVINS: A Research Platform for Visual-Inertial Estimation,” IEEE ICRA, pp. 4666–4672, 2020.</a:t>
            </a:r>
          </a:p>
          <a:p>
            <a:pPr marL="320040" indent="-320040">
              <a:lnSpc>
                <a:spcPct val="110000"/>
              </a:lnSpc>
              <a:spcBef>
                <a:spcPts val="600"/>
              </a:spcBef>
              <a:spcAft>
                <a:spcPts val="0"/>
              </a:spcAft>
              <a:buNone/>
            </a:pPr>
            <a:r>
              <a:rPr sz="1350" b="0">
                <a:solidFill>
                  <a:srgbClr val="333333"/>
                </a:solidFill>
                <a:latin typeface="Arial"/>
                <a:ea typeface="MS PGothic"/>
              </a:rPr>
              <a:t>[4] D. S. Bayard et al., “Vision-Based Navigation for the NASA Mars Helicopter,” AIAA SciTech Forum, 2019.</a:t>
            </a:r>
          </a:p>
          <a:p>
            <a:pPr marL="320040" indent="-320040">
              <a:lnSpc>
                <a:spcPct val="110000"/>
              </a:lnSpc>
              <a:spcBef>
                <a:spcPts val="600"/>
              </a:spcBef>
              <a:spcAft>
                <a:spcPts val="0"/>
              </a:spcAft>
              <a:buNone/>
            </a:pPr>
            <a:r>
              <a:rPr sz="1350" b="0">
                <a:solidFill>
                  <a:srgbClr val="333333"/>
                </a:solidFill>
                <a:latin typeface="Arial"/>
                <a:ea typeface="MS PGothic"/>
              </a:rPr>
              <a:t>[5] B. D. Lucas and T. Kanade, “An Iterative Image Registration Technique with an Application to Stereo Vision,” IJCAI, 1981.</a:t>
            </a:r>
          </a:p>
        </p:txBody>
      </p:sp>
      <p:sp>
        <p:nvSpPr>
          <p:cNvPr id="4" name="TextBox 3"/>
          <p:cNvSpPr txBox="1"/>
          <p:nvPr/>
        </p:nvSpPr>
        <p:spPr>
          <a:xfrm>
            <a:off x="457200" y="4526280"/>
            <a:ext cx="8229600" cy="1554480"/>
          </a:xfrm>
          <a:prstGeom prst="rect">
            <a:avLst/>
          </a:prstGeom>
          <a:noFill/>
        </p:spPr>
        <p:txBody>
          <a:bodyPr wrap="square" lIns="18288" rIns="18288" tIns="18288" bIns="18288">
            <a:spAutoFit/>
          </a:bodyPr>
          <a:lstStyle/>
          <a:p>
            <a:pPr marL="0" indent="0">
              <a:lnSpc>
                <a:spcPct val="110000"/>
              </a:lnSpc>
              <a:spcBef>
                <a:spcPts val="0"/>
              </a:spcBef>
              <a:spcAft>
                <a:spcPts val="400"/>
              </a:spcAft>
              <a:buNone/>
            </a:pPr>
            <a:r>
              <a:rPr sz="1900" b="1">
                <a:solidFill>
                  <a:srgbClr val="1A1A1A"/>
                </a:solidFill>
                <a:latin typeface="Arial"/>
                <a:ea typeface="MS PGothic"/>
              </a:rPr>
              <a:t>감사합니다</a:t>
            </a:r>
          </a:p>
          <a:p>
            <a:pPr marL="0" indent="0">
              <a:lnSpc>
                <a:spcPct val="115000"/>
              </a:lnSpc>
              <a:spcBef>
                <a:spcPts val="300"/>
              </a:spcBef>
              <a:spcAft>
                <a:spcPts val="0"/>
              </a:spcAft>
              <a:buNone/>
            </a:pPr>
            <a:r>
              <a:rPr sz="1500" b="0">
                <a:solidFill>
                  <a:srgbClr val="333333"/>
                </a:solidFill>
                <a:latin typeface="Arial"/>
                <a:ea typeface="MS PGothic"/>
              </a:rPr>
              <a:t>연구계획에 대한 의견과 질문 부탁드립니다.</a:t>
            </a:r>
          </a:p>
        </p:txBody>
      </p:sp>
    </p:spTree>
    <p:extLst>
      <p:ext uri="{BB962C8B-B14F-4D97-AF65-F5344CB8AC3E}">
        <p14:creationId xmlns:p14="http://schemas.microsoft.com/office/powerpoint/2010/main" val="371350854"/>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