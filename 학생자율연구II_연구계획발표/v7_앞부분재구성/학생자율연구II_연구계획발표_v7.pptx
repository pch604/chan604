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5" r:id="rId17"/>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17" Type="http://schemas.openxmlformats.org/officeDocument/2006/relationships/slide" Target="slides/slide9.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쓰기 어려운 환경에서 카메라, IMU, 거리센서를 하나의 필터로 융합하되, 센서마다 다른 측정 시점까지 고려하는 위치·자세 추정기를 만드는 것입니다.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자동차 내비게이션은 터널에서 GPS가 끊겨도 화면 속 차량이 계속 움직입니다. 관성 정보로 위치를 이어서 계산하기 때문인데, 이 관성 항법은 가속도를 적분하기 때문에 시간이 지날수록 오차가 쌓입니다. 이 문제는 차량뿐 아니라 실내의 드론이나 항공기도 똑같이 겪습니다.</a:t>
            </a:r>
          </a:p>
          <a:p>
            <a:r>
              <a:t>(아래) 그래서 많이 쓰는 방법이 카메라로 움직임을 보는 비전 보조 항법입니다. 카메라 영상의 움직임을 IMU와 결합해 위치와 자세를 추정합니다. 실제로 드론 비행제어기 PX4는 하향 카메라와 거리센서로 옵티컬 플로우 항법을 지원하고, NASA의 화성 헬리콥터 인저뉴어티도 하향 카메라, IMU, 레이저 고도계로 비행했습니다.</a:t>
            </a:r>
          </a:p>
          <a:p/>
          <a:p>
            <a:r>
              <a:t>아이콘: Tabler Icons (MIT License)</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[50초]</a:t>
            </a:r>
          </a:p>
          <a:p>
            <a:r>
              <a:t>그런데 이 센서들은 각각 한계가 있습니다. 왼쪽부터, IMU만 쓰면 적분 오차가 계속 쌓입니다. 카메라는 영상 속 이동만 알려 주기 때문에, 실제로 얼마나 움직였는지는 거리센서가 있어야 알 수 있습니다. 그래서 세 센서를 함께 융합해야 합니다.</a:t>
            </a:r>
          </a:p>
          <a:p>
            <a:r>
              <a:t>그런데 융합할 때 남는 문제가 오른쪽, 측정 시점입니다. 센서마다 주기가 다르고 영상 처리에도 시간이 걸려서, 지금 들어온 측정은 사실 조금 전의 움직임입니다. 이런 시간 차이는 융합 성능을 크게 떨어뜨린다고 보고되어 있고, PX4 비행제어기도 센서별 지연값을 따로 보정합니다.</a:t>
            </a:r>
          </a:p>
          <a:p>
            <a:r>
              <a:t>그래서 제 연구의 목적은 측정 주기와 지연 차이를 고려해 카메라, IMU, 거리센서를 하나의 필터로 융합하는 위치·자세 추정기를 구현하는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[45초]</a:t>
            </a:r>
          </a:p>
          <a:p>
            <a:r>
              <a:t>이 시간 문제는 차량 분야에서도 중요하게 다뤄졌습니다. 지도교수님 연구실의 Kim과 Ahn의 논문은 레이더와 V2X 통신처럼 도착 시점이 서로 다른 정보를 융합해 앞 차량의 상태를 추정했습니다. 저는 이 논문에서 가운데 세 가지 처리 방법을 참고하겠습니다.</a:t>
            </a:r>
          </a:p>
          <a:p>
            <a:r>
              <a:t>첫째, 지연 보상입니다. 데이터를 받은 시점과 실제로 측정한 시점을 구분합니다. 둘째, 시간 정렬입니다. 함께 쓰는 신호의 시점을 맞추고, 필요하면 앞뒤 데이터로 그 사이 값을 보간합니다. 셋째, 과거 상태 재추정입니다. 늦게 들어온 측정으로 그 시점의 추정값을 고치고, 거기서부터 현재까지 다시 계산합니다. 차량 모델을 그대로 가져오는 것이 아니라, 시간 처리 방법을 제 센서 구성에 맞게 옮기는 것이 핵심입니다.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구체적인 방법입니다. (위쪽 그림) 영상의 이동은 KLT 옵티컬 플로우로 추적하고, 융합은 확장 칼만필터, 즉 EKF를 기본 구조로 사용합니다.</a:t>
            </a:r>
          </a:p>
          <a:p>
            <a:r>
              <a:t>예측 단계에서는 IMU의 가속도와 각속도로 다음 순간의 위치와 자세를 계산합니다. 보정 단계에서는 영상 이동과 거리 정보로 예측을 바로잡는데, 자이로로 회전 성분을 빼고 거리로 실제 크기를 정합니다.</a:t>
            </a:r>
          </a:p>
          <a:p>
            <a:r>
              <a:t>(아래 세 칸) 시간 처리는 이렇게 합니다. 필터는 과거 일정 구간의 상태와 입력을 저장해 두고, 새 측정이 없을 때는 예측만 합니다. 늦게 도착한 측정이 오면 그 측정 시점으로 돌아가 보정하고, 저장해 둔 IMU 입력으로 현재까지 다시 계산합니다. 이 방식은 드론용 다중센서 필터인 MSF-EKF와 PX4 EKF2에서도 쓰는 구조입니다.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[25초]</a:t>
            </a:r>
          </a:p>
          <a:p>
            <a:r>
              <a:t>일정입니다. 10월 전반에는 선행논문을 분석하고 센서의 주기와 타임스탬프, 지연을 정리합니다. 10월 후반에는 옵티컬 플로우와 IMU 예측으로 기본 융합 구조를 만듭니다. 이 연구의 핵심인 11월에는 지연 보상과 시간 정렬, 과거 상태 재추정을 넣고, 12월에 적용 전후를 비교해 보고서로 정리하겠습니다.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차량 분야에서 다뤄 온 시간 처리 방법을 카메라·IMU·거리센서 기반 비전 항법에 적용하고 그 효과를 확인하는 것이 이 연구입니다. 이상으로 발표를 마치겠습니다. 의견과 질문 부탁드립니다.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구현은 이렇게 하겠습니다. 데이터는 공개 드론 데이터셋인 INSANE을 사용할 계획입니다. 하향 카메라와 같은 방향의 레이저 거리계, IMU가 모두 있고, 실내 구간에는 모션캡처 정답 궤적이 있어 평가에 쓸 수 있습니다.</a:t>
            </a:r>
          </a:p>
          <a:p>
            <a:r>
              <a:t>영상 처리는 OpenCV를 쓸 수 있는 파이썬에서 KLT로 영상 이동을 구하고, 프레임마다 처리시간도 기록합니다. 필터 모델과 시간 처리, 평가는 매트랩에서 구현합니다.</a:t>
            </a:r>
          </a:p>
          <a:p>
            <a:r>
              <a:t>비교는 지연을 무시하고 도착한 값을 바로 쓰는 경우와 시간 처리를 적용한 경우입니다. 실제 처리시간에 0에서 100 ms까지 지연을 더해 가며, 위치 오차와 재추정 처리시간이 어떻게 달라지는지 보겠습니다.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109728" rIns="109728" tIns="73152" bIns="73152">
            <a:normAutofit/>
          </a:bodyPr>
          <a:lstStyle/>
          <a:p>
            <a:pPr algn="ctr" marL="0" indent="0">
              <a:lnSpc>
                <a:spcPct val="112000"/>
              </a:lnSpc>
              <a:buNone/>
            </a:pPr>
            <a:r>
              <a:rPr sz="2600" b="1" i="0">
                <a:solidFill>
                  <a:srgbClr val="000F65"/>
                </a:solidFill>
                <a:latin typeface="Arial"/>
                <a:ea typeface="MS PGothic"/>
              </a:rPr>
              <a:t>GPS 사용 불가 환경에서 비전 보조 항법을 위한</a:t>
            </a:r>
          </a:p>
          <a:p>
            <a:pPr algn="ctr" marL="0" indent="0">
              <a:lnSpc>
                <a:spcPct val="112000"/>
              </a:lnSpc>
              <a:spcBef>
                <a:spcPts val="200"/>
              </a:spcBef>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109728" rIns="109728" tIns="73152" bIns="73152">
            <a:spAutoFit/>
          </a:bodyPr>
          <a:lstStyle/>
          <a:p>
            <a:pPr algn="ctr" marL="0" indent="0">
              <a:lnSpc>
                <a:spcPct val="112000"/>
              </a:lnSpc>
              <a:buNone/>
            </a:pPr>
            <a:r>
              <a:rPr sz="1700" b="1" i="0">
                <a:solidFill>
                  <a:srgbClr val="333399"/>
                </a:solidFill>
                <a:latin typeface="Arial"/>
                <a:ea typeface="MS PGothic"/>
              </a:rPr>
              <a:t>측정 주기와 지연을 고려한 카메라·IMU·거리센서 융합 추정기</a:t>
            </a:r>
          </a:p>
        </p:txBody>
      </p:sp>
      <p:sp>
        <p:nvSpPr>
          <p:cNvPr id="1028" name="TextBox 1027"/>
          <p:cNvSpPr txBox="1"/>
          <p:nvPr/>
        </p:nvSpPr>
        <p:spPr>
          <a:xfrm>
            <a:off x="731520" y="2880360"/>
            <a:ext cx="7680960" cy="548640"/>
          </a:xfrm>
          <a:prstGeom prst="rect">
            <a:avLst/>
          </a:prstGeom>
          <a:noFill/>
        </p:spPr>
        <p:txBody>
          <a:bodyPr wrap="square" anchor="ctr" lIns="109728" rIns="109728" tIns="73152" bIns="73152">
            <a:spAutoFit/>
          </a:bodyPr>
          <a:lstStyle/>
          <a:p>
            <a:pPr algn="ctr" marL="0" indent="0">
              <a:lnSpc>
                <a:spcPct val="112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109728" rIns="109728" tIns="73152" bIns="73152">
            <a:spAutoFit/>
          </a:bodyPr>
          <a:lstStyle/>
          <a:p>
            <a:pPr algn="ctr" marL="0" indent="0">
              <a:lnSpc>
                <a:spcPct val="112000"/>
              </a:lnSpc>
              <a:buNone/>
            </a:pPr>
            <a:r>
              <a:rPr sz="1400" b="1" i="0">
                <a:solidFill>
                  <a:srgbClr val="000F65"/>
                </a:solidFill>
                <a:latin typeface="Arial"/>
                <a:ea typeface="MS PGothic"/>
              </a:rPr>
              <a:t>학생자율연구 II  연구계획 발표  |  2026학년도 2학기</a:t>
            </a:r>
          </a:p>
          <a:p>
            <a:pPr algn="ctr" marL="0" indent="0">
              <a:lnSpc>
                <a:spcPct val="112000"/>
              </a:lnSpc>
              <a:spcBef>
                <a:spcPts val="200"/>
              </a:spcBef>
              <a:buNone/>
            </a:pPr>
            <a:r>
              <a:rPr sz="1400" b="0" i="0">
                <a:solidFill>
                  <a:srgbClr val="333333"/>
                </a:solidFill>
                <a:latin typeface="Arial"/>
                <a:ea typeface="MS PGothic"/>
              </a:rPr>
              <a:t>박찬혁 (202121212)  ·  지도교수: 안창선 교수님</a:t>
            </a:r>
          </a:p>
          <a:p>
            <a:pPr algn="ctr" marL="0" indent="0">
              <a:lnSpc>
                <a:spcPct val="112000"/>
              </a:lnSpc>
              <a:spcBef>
                <a:spcPts val="200"/>
              </a:spcBef>
              <a:buNone/>
            </a:pPr>
            <a:r>
              <a:rPr sz="1300" b="0" i="0">
                <a:solidFill>
                  <a:srgbClr val="333333"/>
                </a:solidFill>
                <a:latin typeface="Arial"/>
                <a:ea typeface="MS PGothic"/>
              </a:rPr>
              <a:t>School of Mechanical Engineering</a:t>
            </a:r>
          </a:p>
          <a:p>
            <a:pPr algn="ctr" marL="0" indent="0">
              <a:lnSpc>
                <a:spcPct val="112000"/>
              </a:lnSpc>
              <a:spcBef>
                <a:spcPts val="200"/>
              </a:spcBef>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Rectangle 2"/>
          <p:cNvSpPr/>
          <p:nvPr/>
        </p:nvSpPr>
        <p:spPr>
          <a:xfrm>
            <a:off x="457200" y="1024128"/>
            <a:ext cx="8229600" cy="502920"/>
          </a:xfrm>
          <a:prstGeom prst="rect">
            <a:avLst/>
          </a:prstGeom>
          <a:solidFill>
            <a:srgbClr val="F2F2F2"/>
          </a:solidFill>
          <a:ln>
            <a:noFill/>
          </a:ln>
          <a:effectLst/>
        </p:spPr>
        <p:txBody>
          <a:bodyPr rtlCol="0" anchor="ctr" wrap="square" lIns="109728" rIns="109728" tIns="73152" bIns="73152"/>
          <a:lstStyle/>
          <a:p>
            <a:pPr algn="ctr" marL="0" indent="0">
              <a:lnSpc>
                <a:spcPct val="112000"/>
              </a:lnSpc>
              <a:buNone/>
            </a:pPr>
            <a:r>
              <a:rPr sz="1600" b="1" i="0">
                <a:solidFill>
                  <a:srgbClr val="222222"/>
                </a:solidFill>
                <a:latin typeface="Arial"/>
                <a:ea typeface="MS PGothic"/>
              </a:rPr>
              <a:t>GPS 제한 환경   ···   IMU 오차 누적   ···   비전 보조 항법의 중요성</a:t>
            </a:r>
          </a:p>
        </p:txBody>
      </p:sp>
      <p:pic>
        <p:nvPicPr>
          <p:cNvPr id="4" name="Picture 3" descr="car_k.png"/>
          <p:cNvPicPr>
            <a:picLocks noChangeAspect="1"/>
          </p:cNvPicPr>
          <p:nvPr/>
        </p:nvPicPr>
        <p:blipFill>
          <a:blip r:embed="rId3"/>
          <a:stretch>
            <a:fillRect/>
          </a:stretch>
        </p:blipFill>
        <p:spPr>
          <a:xfrm>
            <a:off x="566928" y="1828800"/>
            <a:ext cx="530352" cy="530352"/>
          </a:xfrm>
          <a:prstGeom prst="rect">
            <a:avLst/>
          </a:prstGeom>
        </p:spPr>
      </p:pic>
      <p:sp>
        <p:nvSpPr>
          <p:cNvPr id="5" name="TextBox 4"/>
          <p:cNvSpPr txBox="1"/>
          <p:nvPr/>
        </p:nvSpPr>
        <p:spPr>
          <a:xfrm>
            <a:off x="475488" y="2377440"/>
            <a:ext cx="713232" cy="228600"/>
          </a:xfrm>
          <a:prstGeom prst="rect">
            <a:avLst/>
          </a:prstGeom>
          <a:noFill/>
        </p:spPr>
        <p:txBody>
          <a:bodyPr wrap="square" anchor="t" lIns="18288" rIns="18288" tIns="18288" bIns="18288">
            <a:spAutoFit/>
          </a:bodyPr>
          <a:lstStyle/>
          <a:p>
            <a:pPr algn="ctr" marL="0" indent="0">
              <a:lnSpc>
                <a:spcPct val="115000"/>
              </a:lnSpc>
              <a:buNone/>
            </a:pPr>
            <a:r>
              <a:rPr sz="1000" b="0" i="0">
                <a:solidFill>
                  <a:srgbClr val="606060"/>
                </a:solidFill>
                <a:latin typeface="Arial"/>
                <a:ea typeface="MS PGothic"/>
              </a:rPr>
              <a:t>차량</a:t>
            </a:r>
          </a:p>
        </p:txBody>
      </p:sp>
      <p:pic>
        <p:nvPicPr>
          <p:cNvPr id="6" name="Picture 5" descr="drone_k.png"/>
          <p:cNvPicPr>
            <a:picLocks noChangeAspect="1"/>
          </p:cNvPicPr>
          <p:nvPr/>
        </p:nvPicPr>
        <p:blipFill>
          <a:blip r:embed="rId4"/>
          <a:stretch>
            <a:fillRect/>
          </a:stretch>
        </p:blipFill>
        <p:spPr>
          <a:xfrm>
            <a:off x="1280160" y="1828800"/>
            <a:ext cx="530352" cy="530352"/>
          </a:xfrm>
          <a:prstGeom prst="rect">
            <a:avLst/>
          </a:prstGeom>
        </p:spPr>
      </p:pic>
      <p:sp>
        <p:nvSpPr>
          <p:cNvPr id="7" name="TextBox 6"/>
          <p:cNvSpPr txBox="1"/>
          <p:nvPr/>
        </p:nvSpPr>
        <p:spPr>
          <a:xfrm>
            <a:off x="1188720" y="2377440"/>
            <a:ext cx="713232" cy="228600"/>
          </a:xfrm>
          <a:prstGeom prst="rect">
            <a:avLst/>
          </a:prstGeom>
          <a:noFill/>
        </p:spPr>
        <p:txBody>
          <a:bodyPr wrap="square" anchor="t" lIns="18288" rIns="18288" tIns="18288" bIns="18288">
            <a:spAutoFit/>
          </a:bodyPr>
          <a:lstStyle/>
          <a:p>
            <a:pPr algn="ctr" marL="0" indent="0">
              <a:lnSpc>
                <a:spcPct val="115000"/>
              </a:lnSpc>
              <a:buNone/>
            </a:pPr>
            <a:r>
              <a:rPr sz="1000" b="0" i="0">
                <a:solidFill>
                  <a:srgbClr val="606060"/>
                </a:solidFill>
                <a:latin typeface="Arial"/>
                <a:ea typeface="MS PGothic"/>
              </a:rPr>
              <a:t>드론</a:t>
            </a:r>
          </a:p>
        </p:txBody>
      </p:sp>
      <p:pic>
        <p:nvPicPr>
          <p:cNvPr id="8" name="Picture 7" descr="plane_k.png"/>
          <p:cNvPicPr>
            <a:picLocks noChangeAspect="1"/>
          </p:cNvPicPr>
          <p:nvPr/>
        </p:nvPicPr>
        <p:blipFill>
          <a:blip r:embed="rId5"/>
          <a:stretch>
            <a:fillRect/>
          </a:stretch>
        </p:blipFill>
        <p:spPr>
          <a:xfrm>
            <a:off x="1993392" y="1828800"/>
            <a:ext cx="530352" cy="530352"/>
          </a:xfrm>
          <a:prstGeom prst="rect">
            <a:avLst/>
          </a:prstGeom>
        </p:spPr>
      </p:pic>
      <p:sp>
        <p:nvSpPr>
          <p:cNvPr id="9" name="TextBox 8"/>
          <p:cNvSpPr txBox="1"/>
          <p:nvPr/>
        </p:nvSpPr>
        <p:spPr>
          <a:xfrm>
            <a:off x="1901952" y="2377440"/>
            <a:ext cx="713232" cy="228600"/>
          </a:xfrm>
          <a:prstGeom prst="rect">
            <a:avLst/>
          </a:prstGeom>
          <a:noFill/>
        </p:spPr>
        <p:txBody>
          <a:bodyPr wrap="square" anchor="t" lIns="18288" rIns="18288" tIns="18288" bIns="18288">
            <a:spAutoFit/>
          </a:bodyPr>
          <a:lstStyle/>
          <a:p>
            <a:pPr algn="ctr" marL="0" indent="0">
              <a:lnSpc>
                <a:spcPct val="115000"/>
              </a:lnSpc>
              <a:buNone/>
            </a:pPr>
            <a:r>
              <a:rPr sz="1000" b="0" i="0">
                <a:solidFill>
                  <a:srgbClr val="606060"/>
                </a:solidFill>
                <a:latin typeface="Arial"/>
                <a:ea typeface="MS PGothic"/>
              </a:rPr>
              <a:t>항공기</a:t>
            </a:r>
          </a:p>
        </p:txBody>
      </p:sp>
      <p:pic>
        <p:nvPicPr>
          <p:cNvPr id="10" name="Picture 9" descr="satoff_b.png"/>
          <p:cNvPicPr>
            <a:picLocks noChangeAspect="1"/>
          </p:cNvPicPr>
          <p:nvPr/>
        </p:nvPicPr>
        <p:blipFill>
          <a:blip r:embed="rId6"/>
          <a:stretch>
            <a:fillRect/>
          </a:stretch>
        </p:blipFill>
        <p:spPr>
          <a:xfrm>
            <a:off x="1051560" y="2697480"/>
            <a:ext cx="640080" cy="640080"/>
          </a:xfrm>
          <a:prstGeom prst="rect">
            <a:avLst/>
          </a:prstGeom>
        </p:spPr>
      </p:pic>
      <p:sp>
        <p:nvSpPr>
          <p:cNvPr id="11" name="TextBox 10"/>
          <p:cNvSpPr txBox="1"/>
          <p:nvPr/>
        </p:nvSpPr>
        <p:spPr>
          <a:xfrm>
            <a:off x="548640" y="3346704"/>
            <a:ext cx="1645920" cy="228600"/>
          </a:xfrm>
          <a:prstGeom prst="rect">
            <a:avLst/>
          </a:prstGeom>
          <a:noFill/>
        </p:spPr>
        <p:txBody>
          <a:bodyPr wrap="square" anchor="t" lIns="18288" rIns="18288" tIns="18288" bIns="18288">
            <a:spAutoFit/>
          </a:bodyPr>
          <a:lstStyle/>
          <a:p>
            <a:pPr algn="ctr" marL="0" indent="0">
              <a:lnSpc>
                <a:spcPct val="115000"/>
              </a:lnSpc>
              <a:buNone/>
            </a:pPr>
            <a:r>
              <a:rPr sz="1000" b="1" i="0">
                <a:solidFill>
                  <a:srgbClr val="2F4FBF"/>
                </a:solidFill>
                <a:latin typeface="Arial"/>
                <a:ea typeface="MS PGothic"/>
              </a:rPr>
              <a:t>GPS 신호 차단·약화</a:t>
            </a:r>
          </a:p>
        </p:txBody>
      </p:sp>
      <p:pic>
        <p:nvPicPr>
          <p:cNvPr id="12" name="Picture 11" descr="star_g.png"/>
          <p:cNvPicPr>
            <a:picLocks noChangeAspect="1"/>
          </p:cNvPicPr>
          <p:nvPr/>
        </p:nvPicPr>
        <p:blipFill>
          <a:blip r:embed="rId7"/>
          <a:stretch>
            <a:fillRect/>
          </a:stretch>
        </p:blipFill>
        <p:spPr>
          <a:xfrm>
            <a:off x="2697480" y="1810512"/>
            <a:ext cx="384048" cy="384048"/>
          </a:xfrm>
          <a:prstGeom prst="rect">
            <a:avLst/>
          </a:prstGeom>
        </p:spPr>
      </p:pic>
      <p:sp>
        <p:nvSpPr>
          <p:cNvPr id="13" name="TextBox 12"/>
          <p:cNvSpPr txBox="1"/>
          <p:nvPr/>
        </p:nvSpPr>
        <p:spPr>
          <a:xfrm>
            <a:off x="3154680" y="1810512"/>
            <a:ext cx="5532120" cy="1783080"/>
          </a:xfrm>
          <a:prstGeom prst="rect">
            <a:avLst/>
          </a:prstGeom>
          <a:noFill/>
        </p:spPr>
        <p:txBody>
          <a:bodyPr wrap="square" anchor="t" lIns="18288" rIns="18288" tIns="18288" bIns="18288">
            <a:spAutoFit/>
          </a:bodyPr>
          <a:lstStyle/>
          <a:p>
            <a:pPr algn="l" marL="0" indent="0">
              <a:lnSpc>
                <a:spcPct val="115000"/>
              </a:lnSpc>
              <a:buNone/>
            </a:pPr>
            <a:r>
              <a:rPr sz="1800" b="1" i="0">
                <a:solidFill>
                  <a:srgbClr val="2F4FBF"/>
                </a:solidFill>
                <a:latin typeface="Arial"/>
                <a:ea typeface="MS PGothic"/>
              </a:rPr>
              <a:t>GPS 제한 환경</a:t>
            </a:r>
            <a:r>
              <a:rPr sz="1800" b="1" i="0">
                <a:solidFill>
                  <a:srgbClr val="222222"/>
                </a:solidFill>
                <a:latin typeface="Arial"/>
                <a:ea typeface="MS PGothic"/>
              </a:rPr>
              <a:t>의 항법</a:t>
            </a:r>
          </a:p>
          <a:p>
            <a:pPr algn="l" marL="0" indent="0">
              <a:lnSpc>
                <a:spcPct val="115000"/>
              </a:lnSpc>
              <a:spcBef>
                <a:spcPts val="600"/>
              </a:spcBef>
              <a:buNone/>
            </a:pPr>
            <a:r>
              <a:rPr sz="1450" b="0" i="0">
                <a:solidFill>
                  <a:srgbClr val="606060"/>
                </a:solidFill>
                <a:latin typeface="Arial"/>
                <a:ea typeface="MS PGothic"/>
              </a:rPr>
              <a:t>실내·터널·도심에서는 위성 신호가 차단되거나 약해져, 차량·드론·항공기 모두 </a:t>
            </a:r>
            <a:r>
              <a:rPr sz="1450" b="1" i="0">
                <a:solidFill>
                  <a:srgbClr val="2F4FBF"/>
                </a:solidFill>
                <a:latin typeface="Arial"/>
                <a:ea typeface="MS PGothic"/>
              </a:rPr>
              <a:t>IMU 기반 관성 항법</a:t>
            </a:r>
            <a:r>
              <a:rPr sz="1450" b="0" i="0">
                <a:solidFill>
                  <a:srgbClr val="606060"/>
                </a:solidFill>
                <a:latin typeface="Arial"/>
                <a:ea typeface="MS PGothic"/>
              </a:rPr>
              <a:t>에 의존</a:t>
            </a:r>
          </a:p>
          <a:p>
            <a:pPr algn="l" marL="0" indent="0">
              <a:lnSpc>
                <a:spcPct val="115000"/>
              </a:lnSpc>
              <a:spcBef>
                <a:spcPts val="600"/>
              </a:spcBef>
              <a:buNone/>
            </a:pPr>
            <a:r>
              <a:rPr sz="1450" b="0" i="0">
                <a:solidFill>
                  <a:srgbClr val="606060"/>
                </a:solidFill>
                <a:latin typeface="Arial"/>
                <a:ea typeface="MS PGothic"/>
              </a:rPr>
              <a:t>관성 항법은 가속도를 적분하므로 </a:t>
            </a:r>
            <a:r>
              <a:rPr sz="1450" b="1" i="0">
                <a:solidFill>
                  <a:srgbClr val="2F4FBF"/>
                </a:solidFill>
                <a:latin typeface="Arial"/>
                <a:ea typeface="MS PGothic"/>
              </a:rPr>
              <a:t>오차가 시간에 따라 누적</a:t>
            </a:r>
            <a:r>
              <a:rPr sz="1100" b="0" i="0">
                <a:solidFill>
                  <a:srgbClr val="606060"/>
                </a:solidFill>
                <a:latin typeface="Arial"/>
                <a:ea typeface="MS PGothic"/>
              </a:rPr>
              <a:t>  (Groves, 2013)</a:t>
            </a:r>
          </a:p>
        </p:txBody>
      </p:sp>
      <p:pic>
        <p:nvPicPr>
          <p:cNvPr id="14" name="Picture 13" descr="drone_k.png"/>
          <p:cNvPicPr>
            <a:picLocks noChangeAspect="1"/>
          </p:cNvPicPr>
          <p:nvPr/>
        </p:nvPicPr>
        <p:blipFill>
          <a:blip r:embed="rId4"/>
          <a:stretch>
            <a:fillRect/>
          </a:stretch>
        </p:blipFill>
        <p:spPr>
          <a:xfrm>
            <a:off x="914400" y="3749039"/>
            <a:ext cx="777240" cy="777240"/>
          </a:xfrm>
          <a:prstGeom prst="rect">
            <a:avLst/>
          </a:prstGeom>
        </p:spPr>
      </p:pic>
      <p:pic>
        <p:nvPicPr>
          <p:cNvPr id="15" name="Picture 14" descr="camera_b.png"/>
          <p:cNvPicPr>
            <a:picLocks noChangeAspect="1"/>
          </p:cNvPicPr>
          <p:nvPr/>
        </p:nvPicPr>
        <p:blipFill>
          <a:blip r:embed="rId8"/>
          <a:stretch>
            <a:fillRect/>
          </a:stretch>
        </p:blipFill>
        <p:spPr>
          <a:xfrm>
            <a:off x="658368" y="4663440"/>
            <a:ext cx="502920" cy="502920"/>
          </a:xfrm>
          <a:prstGeom prst="rect">
            <a:avLst/>
          </a:prstGeom>
        </p:spPr>
      </p:pic>
      <p:pic>
        <p:nvPicPr>
          <p:cNvPr id="16" name="Picture 15" descr="ruler_b.png"/>
          <p:cNvPicPr>
            <a:picLocks noChangeAspect="1"/>
          </p:cNvPicPr>
          <p:nvPr/>
        </p:nvPicPr>
        <p:blipFill>
          <a:blip r:embed="rId9"/>
          <a:stretch>
            <a:fillRect/>
          </a:stretch>
        </p:blipFill>
        <p:spPr>
          <a:xfrm>
            <a:off x="1481328" y="4663440"/>
            <a:ext cx="502920" cy="502920"/>
          </a:xfrm>
          <a:prstGeom prst="rect">
            <a:avLst/>
          </a:prstGeom>
        </p:spPr>
      </p:pic>
      <p:sp>
        <p:nvSpPr>
          <p:cNvPr id="17" name="TextBox 16"/>
          <p:cNvSpPr txBox="1"/>
          <p:nvPr/>
        </p:nvSpPr>
        <p:spPr>
          <a:xfrm>
            <a:off x="457200" y="5193792"/>
            <a:ext cx="914400" cy="228600"/>
          </a:xfrm>
          <a:prstGeom prst="rect">
            <a:avLst/>
          </a:prstGeom>
          <a:noFill/>
        </p:spPr>
        <p:txBody>
          <a:bodyPr wrap="square" anchor="t" lIns="18288" rIns="18288" tIns="18288" bIns="18288">
            <a:spAutoFit/>
          </a:bodyPr>
          <a:lstStyle/>
          <a:p>
            <a:pPr algn="ctr" marL="0" indent="0">
              <a:lnSpc>
                <a:spcPct val="115000"/>
              </a:lnSpc>
              <a:buNone/>
            </a:pPr>
            <a:r>
              <a:rPr sz="1000" b="0" i="0">
                <a:solidFill>
                  <a:srgbClr val="606060"/>
                </a:solidFill>
                <a:latin typeface="Arial"/>
                <a:ea typeface="MS PGothic"/>
              </a:rPr>
              <a:t>하향 카메라</a:t>
            </a:r>
          </a:p>
        </p:txBody>
      </p:sp>
      <p:sp>
        <p:nvSpPr>
          <p:cNvPr id="18" name="TextBox 17"/>
          <p:cNvSpPr txBox="1"/>
          <p:nvPr/>
        </p:nvSpPr>
        <p:spPr>
          <a:xfrm>
            <a:off x="1280160" y="5193792"/>
            <a:ext cx="914400" cy="228600"/>
          </a:xfrm>
          <a:prstGeom prst="rect">
            <a:avLst/>
          </a:prstGeom>
          <a:noFill/>
        </p:spPr>
        <p:txBody>
          <a:bodyPr wrap="square" anchor="t" lIns="18288" rIns="18288" tIns="18288" bIns="18288">
            <a:spAutoFit/>
          </a:bodyPr>
          <a:lstStyle/>
          <a:p>
            <a:pPr algn="ctr" marL="0" indent="0">
              <a:lnSpc>
                <a:spcPct val="115000"/>
              </a:lnSpc>
              <a:buNone/>
            </a:pPr>
            <a:r>
              <a:rPr sz="1000" b="0" i="0">
                <a:solidFill>
                  <a:srgbClr val="606060"/>
                </a:solidFill>
                <a:latin typeface="Arial"/>
                <a:ea typeface="MS PGothic"/>
              </a:rPr>
              <a:t>거리센서</a:t>
            </a:r>
          </a:p>
        </p:txBody>
      </p:sp>
      <p:pic>
        <p:nvPicPr>
          <p:cNvPr id="19" name="Picture 18" descr="star_g.png"/>
          <p:cNvPicPr>
            <a:picLocks noChangeAspect="1"/>
          </p:cNvPicPr>
          <p:nvPr/>
        </p:nvPicPr>
        <p:blipFill>
          <a:blip r:embed="rId7"/>
          <a:stretch>
            <a:fillRect/>
          </a:stretch>
        </p:blipFill>
        <p:spPr>
          <a:xfrm>
            <a:off x="2697480" y="3730752"/>
            <a:ext cx="384048" cy="384048"/>
          </a:xfrm>
          <a:prstGeom prst="rect">
            <a:avLst/>
          </a:prstGeom>
        </p:spPr>
      </p:pic>
      <p:sp>
        <p:nvSpPr>
          <p:cNvPr id="20" name="TextBox 19"/>
          <p:cNvSpPr txBox="1"/>
          <p:nvPr/>
        </p:nvSpPr>
        <p:spPr>
          <a:xfrm>
            <a:off x="3154680" y="3730752"/>
            <a:ext cx="5532120" cy="2331720"/>
          </a:xfrm>
          <a:prstGeom prst="rect">
            <a:avLst/>
          </a:prstGeom>
          <a:noFill/>
        </p:spPr>
        <p:txBody>
          <a:bodyPr wrap="square" anchor="t" lIns="18288" rIns="18288" tIns="18288" bIns="18288">
            <a:spAutoFit/>
          </a:bodyPr>
          <a:lstStyle/>
          <a:p>
            <a:pPr algn="l" marL="0" indent="0">
              <a:lnSpc>
                <a:spcPct val="115000"/>
              </a:lnSpc>
              <a:buNone/>
            </a:pPr>
            <a:r>
              <a:rPr sz="1800" b="1" i="0">
                <a:solidFill>
                  <a:srgbClr val="2F4FBF"/>
                </a:solidFill>
                <a:latin typeface="Arial"/>
                <a:ea typeface="MS PGothic"/>
              </a:rPr>
              <a:t>비전 보조 항법</a:t>
            </a:r>
            <a:r>
              <a:rPr sz="1800" b="1" i="0">
                <a:solidFill>
                  <a:srgbClr val="222222"/>
                </a:solidFill>
                <a:latin typeface="Arial"/>
                <a:ea typeface="MS PGothic"/>
              </a:rPr>
              <a:t>: 영상으로 움직임을 보정</a:t>
            </a:r>
          </a:p>
          <a:p>
            <a:pPr algn="l" marL="0" indent="0">
              <a:lnSpc>
                <a:spcPct val="115000"/>
              </a:lnSpc>
              <a:spcBef>
                <a:spcPts val="600"/>
              </a:spcBef>
              <a:buNone/>
            </a:pPr>
            <a:r>
              <a:rPr sz="1450" b="0" i="0">
                <a:solidFill>
                  <a:srgbClr val="606060"/>
                </a:solidFill>
                <a:latin typeface="Arial"/>
                <a:ea typeface="MS PGothic"/>
              </a:rPr>
              <a:t>영상의 움직임을 IMU와 결합해 위치·자세를 추정</a:t>
            </a:r>
          </a:p>
          <a:p>
            <a:pPr algn="l" marL="0" indent="0">
              <a:lnSpc>
                <a:spcPct val="115000"/>
              </a:lnSpc>
              <a:spcBef>
                <a:spcPts val="0"/>
              </a:spcBef>
              <a:buNone/>
            </a:pPr>
            <a:r>
              <a:rPr sz="1050" b="0" i="0">
                <a:solidFill>
                  <a:srgbClr val="606060"/>
                </a:solidFill>
                <a:latin typeface="Arial"/>
                <a:ea typeface="MS PGothic"/>
              </a:rPr>
              <a:t>(Mourikis and Roumeliotis, 2007)</a:t>
            </a:r>
          </a:p>
          <a:p>
            <a:pPr algn="l" marL="0" indent="0">
              <a:lnSpc>
                <a:spcPct val="115000"/>
              </a:lnSpc>
              <a:spcBef>
                <a:spcPts val="600"/>
              </a:spcBef>
              <a:buNone/>
            </a:pPr>
            <a:r>
              <a:rPr sz="1450" b="1" i="0">
                <a:solidFill>
                  <a:srgbClr val="2F4FBF"/>
                </a:solidFill>
                <a:latin typeface="Arial"/>
                <a:ea typeface="MS PGothic"/>
              </a:rPr>
              <a:t>하향 카메라 + 거리센서</a:t>
            </a:r>
            <a:r>
              <a:rPr sz="1450" b="0" i="0">
                <a:solidFill>
                  <a:srgbClr val="606060"/>
                </a:solidFill>
                <a:latin typeface="Arial"/>
                <a:ea typeface="MS PGothic"/>
              </a:rPr>
              <a:t>: PX4 비행제어기의 Optical Flow 항법</a:t>
            </a:r>
          </a:p>
          <a:p>
            <a:pPr algn="l" marL="0" indent="0">
              <a:lnSpc>
                <a:spcPct val="115000"/>
              </a:lnSpc>
              <a:spcBef>
                <a:spcPts val="0"/>
              </a:spcBef>
              <a:buNone/>
            </a:pPr>
            <a:r>
              <a:rPr sz="1050" b="0" i="0">
                <a:solidFill>
                  <a:srgbClr val="606060"/>
                </a:solidFill>
                <a:latin typeface="Arial"/>
                <a:ea typeface="MS PGothic"/>
              </a:rPr>
              <a:t>(PX4 User Guide, Optical Flow)</a:t>
            </a:r>
          </a:p>
          <a:p>
            <a:pPr algn="l" marL="0" indent="0">
              <a:lnSpc>
                <a:spcPct val="115000"/>
              </a:lnSpc>
              <a:spcBef>
                <a:spcPts val="600"/>
              </a:spcBef>
              <a:buNone/>
            </a:pPr>
            <a:r>
              <a:rPr sz="1450" b="0" i="0">
                <a:solidFill>
                  <a:srgbClr val="606060"/>
                </a:solidFill>
                <a:latin typeface="Arial"/>
                <a:ea typeface="MS PGothic"/>
              </a:rPr>
              <a:t>NASA 화성 헬리콥터 Ingenuity: 하향 카메라·IMU·레이저 고도계</a:t>
            </a:r>
          </a:p>
          <a:p>
            <a:pPr algn="l" marL="0" indent="0">
              <a:lnSpc>
                <a:spcPct val="115000"/>
              </a:lnSpc>
              <a:spcBef>
                <a:spcPts val="0"/>
              </a:spcBef>
              <a:buNone/>
            </a:pPr>
            <a:r>
              <a:rPr sz="1050" b="0" i="0">
                <a:solidFill>
                  <a:srgbClr val="606060"/>
                </a:solidFill>
                <a:latin typeface="Arial"/>
                <a:ea typeface="MS PGothic"/>
              </a:rPr>
              <a:t>(Bayard et al., 2019)</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세 센서를 융합해야 하지만, 측정 시점이 서로 다르다</a:t>
            </a:r>
          </a:p>
        </p:txBody>
      </p:sp>
      <p:pic>
        <p:nvPicPr>
          <p:cNvPr id="4" name="Picture 3" descr="trend_k.png"/>
          <p:cNvPicPr>
            <a:picLocks noChangeAspect="1"/>
          </p:cNvPicPr>
          <p:nvPr/>
        </p:nvPicPr>
        <p:blipFill>
          <a:blip r:embed="rId3"/>
          <a:stretch>
            <a:fillRect/>
          </a:stretch>
        </p:blipFill>
        <p:spPr>
          <a:xfrm>
            <a:off x="1325880" y="1664208"/>
            <a:ext cx="914400" cy="914400"/>
          </a:xfrm>
          <a:prstGeom prst="rect">
            <a:avLst/>
          </a:prstGeom>
        </p:spPr>
      </p:pic>
      <p:sp>
        <p:nvSpPr>
          <p:cNvPr id="5" name="TextBox 4"/>
          <p:cNvSpPr txBox="1"/>
          <p:nvPr/>
        </p:nvSpPr>
        <p:spPr>
          <a:xfrm>
            <a:off x="457200" y="2697480"/>
            <a:ext cx="2651760" cy="731520"/>
          </a:xfrm>
          <a:prstGeom prst="rect">
            <a:avLst/>
          </a:prstGeom>
          <a:noFill/>
        </p:spPr>
        <p:txBody>
          <a:bodyPr wrap="square" anchor="t" lIns="18288" rIns="18288" tIns="18288" bIns="18288">
            <a:spAutoFit/>
          </a:bodyPr>
          <a:lstStyle/>
          <a:p>
            <a:pPr algn="ctr" marL="0" indent="0">
              <a:lnSpc>
                <a:spcPct val="115000"/>
              </a:lnSpc>
              <a:buNone/>
            </a:pPr>
            <a:r>
              <a:rPr sz="1700" b="1" i="0">
                <a:solidFill>
                  <a:srgbClr val="222222"/>
                </a:solidFill>
                <a:latin typeface="Arial"/>
                <a:ea typeface="MS PGothic"/>
              </a:rPr>
              <a:t>IMU</a:t>
            </a:r>
          </a:p>
          <a:p>
            <a:pPr algn="ctr" marL="0" indent="0">
              <a:lnSpc>
                <a:spcPct val="115000"/>
              </a:lnSpc>
              <a:spcBef>
                <a:spcPts val="0"/>
              </a:spcBef>
              <a:buNone/>
            </a:pPr>
            <a:r>
              <a:rPr sz="1700" b="1" i="0">
                <a:solidFill>
                  <a:srgbClr val="2F4FBF"/>
                </a:solidFill>
                <a:latin typeface="Arial"/>
                <a:ea typeface="MS PGothic"/>
              </a:rPr>
              <a:t>오차 누적</a:t>
            </a:r>
          </a:p>
        </p:txBody>
      </p:sp>
      <p:sp>
        <p:nvSpPr>
          <p:cNvPr id="6" name="TextBox 5"/>
          <p:cNvSpPr txBox="1"/>
          <p:nvPr/>
        </p:nvSpPr>
        <p:spPr>
          <a:xfrm>
            <a:off x="457200" y="3474720"/>
            <a:ext cx="2651760" cy="868680"/>
          </a:xfrm>
          <a:prstGeom prst="rect">
            <a:avLst/>
          </a:prstGeom>
          <a:noFill/>
        </p:spPr>
        <p:txBody>
          <a:bodyPr wrap="square" anchor="t" lIns="18288" rIns="18288" tIns="18288" bIns="18288">
            <a:spAutoFit/>
          </a:bodyPr>
          <a:lstStyle/>
          <a:p>
            <a:pPr algn="ctr" marL="0" indent="0">
              <a:lnSpc>
                <a:spcPct val="110000"/>
              </a:lnSpc>
              <a:buNone/>
            </a:pPr>
            <a:r>
              <a:rPr sz="1300" b="0" i="0">
                <a:solidFill>
                  <a:srgbClr val="606060"/>
                </a:solidFill>
                <a:latin typeface="Arial"/>
                <a:ea typeface="MS PGothic"/>
              </a:rPr>
              <a:t>가속도 적분 과정에서</a:t>
            </a:r>
          </a:p>
          <a:p>
            <a:pPr algn="ctr" marL="0" indent="0">
              <a:lnSpc>
                <a:spcPct val="110000"/>
              </a:lnSpc>
              <a:spcBef>
                <a:spcPts val="0"/>
              </a:spcBef>
              <a:buNone/>
            </a:pPr>
            <a:r>
              <a:rPr sz="1300" b="0" i="0">
                <a:solidFill>
                  <a:srgbClr val="606060"/>
                </a:solidFill>
                <a:latin typeface="Arial"/>
                <a:ea typeface="MS PGothic"/>
              </a:rPr>
              <a:t>바이어스·잡음 오차가</a:t>
            </a:r>
          </a:p>
          <a:p>
            <a:pPr algn="ctr" marL="0" indent="0">
              <a:lnSpc>
                <a:spcPct val="110000"/>
              </a:lnSpc>
              <a:spcBef>
                <a:spcPts val="0"/>
              </a:spcBef>
              <a:buNone/>
            </a:pPr>
            <a:r>
              <a:rPr sz="1300" b="0" i="0">
                <a:solidFill>
                  <a:srgbClr val="606060"/>
                </a:solidFill>
                <a:latin typeface="Arial"/>
                <a:ea typeface="MS PGothic"/>
              </a:rPr>
              <a:t>시간에 따라 증가</a:t>
            </a:r>
          </a:p>
        </p:txBody>
      </p:sp>
      <p:sp>
        <p:nvSpPr>
          <p:cNvPr id="7" name="TextBox 6"/>
          <p:cNvSpPr txBox="1"/>
          <p:nvPr/>
        </p:nvSpPr>
        <p:spPr>
          <a:xfrm>
            <a:off x="457200" y="4343400"/>
            <a:ext cx="2651760" cy="228600"/>
          </a:xfrm>
          <a:prstGeom prst="rect">
            <a:avLst/>
          </a:prstGeom>
          <a:noFill/>
        </p:spPr>
        <p:txBody>
          <a:bodyPr wrap="square" anchor="t" lIns="18288" rIns="18288" tIns="18288" bIns="18288">
            <a:spAutoFit/>
          </a:bodyPr>
          <a:lstStyle/>
          <a:p>
            <a:pPr algn="ctr" marL="0" indent="0">
              <a:lnSpc>
                <a:spcPct val="115000"/>
              </a:lnSpc>
              <a:buNone/>
            </a:pPr>
            <a:r>
              <a:rPr sz="1000" b="0" i="0">
                <a:solidFill>
                  <a:srgbClr val="606060"/>
                </a:solidFill>
                <a:latin typeface="Arial"/>
                <a:ea typeface="MS PGothic"/>
              </a:rPr>
              <a:t>(Groves, 2013)</a:t>
            </a:r>
          </a:p>
        </p:txBody>
      </p:sp>
      <p:pic>
        <p:nvPicPr>
          <p:cNvPr id="8" name="Picture 7" descr="camera_k.png"/>
          <p:cNvPicPr>
            <a:picLocks noChangeAspect="1"/>
          </p:cNvPicPr>
          <p:nvPr/>
        </p:nvPicPr>
        <p:blipFill>
          <a:blip r:embed="rId4"/>
          <a:stretch>
            <a:fillRect/>
          </a:stretch>
        </p:blipFill>
        <p:spPr>
          <a:xfrm>
            <a:off x="4114800" y="1664208"/>
            <a:ext cx="914400" cy="914400"/>
          </a:xfrm>
          <a:prstGeom prst="rect">
            <a:avLst/>
          </a:prstGeom>
        </p:spPr>
      </p:pic>
      <p:sp>
        <p:nvSpPr>
          <p:cNvPr id="9" name="TextBox 8"/>
          <p:cNvSpPr txBox="1"/>
          <p:nvPr/>
        </p:nvSpPr>
        <p:spPr>
          <a:xfrm>
            <a:off x="3246120" y="2697480"/>
            <a:ext cx="2651760" cy="731520"/>
          </a:xfrm>
          <a:prstGeom prst="rect">
            <a:avLst/>
          </a:prstGeom>
          <a:noFill/>
        </p:spPr>
        <p:txBody>
          <a:bodyPr wrap="square" anchor="t" lIns="18288" rIns="18288" tIns="18288" bIns="18288">
            <a:spAutoFit/>
          </a:bodyPr>
          <a:lstStyle/>
          <a:p>
            <a:pPr algn="ctr" marL="0" indent="0">
              <a:lnSpc>
                <a:spcPct val="115000"/>
              </a:lnSpc>
              <a:buNone/>
            </a:pPr>
            <a:r>
              <a:rPr sz="1700" b="1" i="0">
                <a:solidFill>
                  <a:srgbClr val="222222"/>
                </a:solidFill>
                <a:latin typeface="Arial"/>
                <a:ea typeface="MS PGothic"/>
              </a:rPr>
              <a:t>카메라 영상</a:t>
            </a:r>
          </a:p>
          <a:p>
            <a:pPr algn="ctr" marL="0" indent="0">
              <a:lnSpc>
                <a:spcPct val="115000"/>
              </a:lnSpc>
              <a:spcBef>
                <a:spcPts val="0"/>
              </a:spcBef>
              <a:buNone/>
            </a:pPr>
            <a:r>
              <a:rPr sz="1700" b="1" i="0">
                <a:solidFill>
                  <a:srgbClr val="2F4FBF"/>
                </a:solidFill>
                <a:latin typeface="Arial"/>
                <a:ea typeface="MS PGothic"/>
              </a:rPr>
              <a:t>실제 크기 부재</a:t>
            </a:r>
          </a:p>
        </p:txBody>
      </p:sp>
      <p:sp>
        <p:nvSpPr>
          <p:cNvPr id="10" name="TextBox 9"/>
          <p:cNvSpPr txBox="1"/>
          <p:nvPr/>
        </p:nvSpPr>
        <p:spPr>
          <a:xfrm>
            <a:off x="3246120" y="3474720"/>
            <a:ext cx="2651760" cy="868680"/>
          </a:xfrm>
          <a:prstGeom prst="rect">
            <a:avLst/>
          </a:prstGeom>
          <a:noFill/>
        </p:spPr>
        <p:txBody>
          <a:bodyPr wrap="square" anchor="t" lIns="18288" rIns="18288" tIns="18288" bIns="18288">
            <a:spAutoFit/>
          </a:bodyPr>
          <a:lstStyle/>
          <a:p>
            <a:pPr algn="ctr" marL="0" indent="0">
              <a:lnSpc>
                <a:spcPct val="110000"/>
              </a:lnSpc>
              <a:buNone/>
            </a:pPr>
            <a:r>
              <a:rPr sz="1300" b="0" i="0">
                <a:solidFill>
                  <a:srgbClr val="606060"/>
                </a:solidFill>
                <a:latin typeface="Arial"/>
                <a:ea typeface="MS PGothic"/>
              </a:rPr>
              <a:t>영상 속 이동만으로는</a:t>
            </a:r>
          </a:p>
          <a:p>
            <a:pPr algn="ctr" marL="0" indent="0">
              <a:lnSpc>
                <a:spcPct val="110000"/>
              </a:lnSpc>
              <a:spcBef>
                <a:spcPts val="0"/>
              </a:spcBef>
              <a:buNone/>
            </a:pPr>
            <a:r>
              <a:rPr sz="1300" b="0" i="0">
                <a:solidFill>
                  <a:srgbClr val="606060"/>
                </a:solidFill>
                <a:latin typeface="Arial"/>
                <a:ea typeface="MS PGothic"/>
              </a:rPr>
              <a:t>실제 이동 거리를 몰라</a:t>
            </a:r>
          </a:p>
          <a:p>
            <a:pPr algn="ctr" marL="0" indent="0">
              <a:lnSpc>
                <a:spcPct val="110000"/>
              </a:lnSpc>
              <a:spcBef>
                <a:spcPts val="0"/>
              </a:spcBef>
              <a:buNone/>
            </a:pPr>
            <a:r>
              <a:rPr sz="1300" b="0" i="0">
                <a:solidFill>
                  <a:srgbClr val="606060"/>
                </a:solidFill>
                <a:latin typeface="Arial"/>
                <a:ea typeface="MS PGothic"/>
              </a:rPr>
              <a:t>하향 거리센서가 함께 필요</a:t>
            </a:r>
          </a:p>
        </p:txBody>
      </p:sp>
      <p:sp>
        <p:nvSpPr>
          <p:cNvPr id="11" name="TextBox 10"/>
          <p:cNvSpPr txBox="1"/>
          <p:nvPr/>
        </p:nvSpPr>
        <p:spPr>
          <a:xfrm>
            <a:off x="3246120" y="4343400"/>
            <a:ext cx="2651760" cy="228600"/>
          </a:xfrm>
          <a:prstGeom prst="rect">
            <a:avLst/>
          </a:prstGeom>
          <a:noFill/>
        </p:spPr>
        <p:txBody>
          <a:bodyPr wrap="square" anchor="t" lIns="18288" rIns="18288" tIns="18288" bIns="18288">
            <a:spAutoFit/>
          </a:bodyPr>
          <a:lstStyle/>
          <a:p>
            <a:pPr algn="ctr" marL="0" indent="0">
              <a:lnSpc>
                <a:spcPct val="115000"/>
              </a:lnSpc>
              <a:buNone/>
            </a:pPr>
            <a:r>
              <a:rPr sz="1000" b="0" i="0">
                <a:solidFill>
                  <a:srgbClr val="606060"/>
                </a:solidFill>
                <a:latin typeface="Arial"/>
                <a:ea typeface="MS PGothic"/>
              </a:rPr>
              <a:t>(PX4 Optical Flow 문서)</a:t>
            </a:r>
          </a:p>
        </p:txBody>
      </p:sp>
      <p:pic>
        <p:nvPicPr>
          <p:cNvPr id="12" name="Picture 11" descr="clock_b.png"/>
          <p:cNvPicPr>
            <a:picLocks noChangeAspect="1"/>
          </p:cNvPicPr>
          <p:nvPr/>
        </p:nvPicPr>
        <p:blipFill>
          <a:blip r:embed="rId5"/>
          <a:stretch>
            <a:fillRect/>
          </a:stretch>
        </p:blipFill>
        <p:spPr>
          <a:xfrm>
            <a:off x="6903720" y="1664208"/>
            <a:ext cx="914400" cy="914400"/>
          </a:xfrm>
          <a:prstGeom prst="rect">
            <a:avLst/>
          </a:prstGeom>
        </p:spPr>
      </p:pic>
      <p:sp>
        <p:nvSpPr>
          <p:cNvPr id="13" name="TextBox 12"/>
          <p:cNvSpPr txBox="1"/>
          <p:nvPr/>
        </p:nvSpPr>
        <p:spPr>
          <a:xfrm>
            <a:off x="6035040" y="2697480"/>
            <a:ext cx="2651760" cy="731520"/>
          </a:xfrm>
          <a:prstGeom prst="rect">
            <a:avLst/>
          </a:prstGeom>
          <a:noFill/>
        </p:spPr>
        <p:txBody>
          <a:bodyPr wrap="square" anchor="t" lIns="18288" rIns="18288" tIns="18288" bIns="18288">
            <a:spAutoFit/>
          </a:bodyPr>
          <a:lstStyle/>
          <a:p>
            <a:pPr algn="ctr" marL="0" indent="0">
              <a:lnSpc>
                <a:spcPct val="115000"/>
              </a:lnSpc>
              <a:buNone/>
            </a:pPr>
            <a:r>
              <a:rPr sz="1700" b="1" i="0">
                <a:solidFill>
                  <a:srgbClr val="222222"/>
                </a:solidFill>
                <a:latin typeface="Arial"/>
                <a:ea typeface="MS PGothic"/>
              </a:rPr>
              <a:t>센서 간 시간</a:t>
            </a:r>
          </a:p>
          <a:p>
            <a:pPr algn="ctr" marL="0" indent="0">
              <a:lnSpc>
                <a:spcPct val="115000"/>
              </a:lnSpc>
              <a:spcBef>
                <a:spcPts val="0"/>
              </a:spcBef>
              <a:buNone/>
            </a:pPr>
            <a:r>
              <a:rPr sz="1700" b="1" i="0">
                <a:solidFill>
                  <a:srgbClr val="2F4FBF"/>
                </a:solidFill>
                <a:latin typeface="Arial"/>
                <a:ea typeface="MS PGothic"/>
              </a:rPr>
              <a:t>측정 시점 불일치</a:t>
            </a:r>
          </a:p>
        </p:txBody>
      </p:sp>
      <p:sp>
        <p:nvSpPr>
          <p:cNvPr id="14" name="TextBox 13"/>
          <p:cNvSpPr txBox="1"/>
          <p:nvPr/>
        </p:nvSpPr>
        <p:spPr>
          <a:xfrm>
            <a:off x="6035040" y="3474720"/>
            <a:ext cx="2651760" cy="868680"/>
          </a:xfrm>
          <a:prstGeom prst="rect">
            <a:avLst/>
          </a:prstGeom>
          <a:noFill/>
        </p:spPr>
        <p:txBody>
          <a:bodyPr wrap="square" anchor="t" lIns="18288" rIns="18288" tIns="18288" bIns="18288">
            <a:spAutoFit/>
          </a:bodyPr>
          <a:lstStyle/>
          <a:p>
            <a:pPr algn="ctr" marL="0" indent="0">
              <a:lnSpc>
                <a:spcPct val="110000"/>
              </a:lnSpc>
              <a:buNone/>
            </a:pPr>
            <a:r>
              <a:rPr sz="1300" b="0" i="0">
                <a:solidFill>
                  <a:srgbClr val="606060"/>
                </a:solidFill>
                <a:latin typeface="Arial"/>
                <a:ea typeface="MS PGothic"/>
              </a:rPr>
              <a:t>주기·처리 지연 차이로</a:t>
            </a:r>
          </a:p>
          <a:p>
            <a:pPr algn="ctr" marL="0" indent="0">
              <a:lnSpc>
                <a:spcPct val="110000"/>
              </a:lnSpc>
              <a:spcBef>
                <a:spcPts val="0"/>
              </a:spcBef>
              <a:buNone/>
            </a:pPr>
            <a:r>
              <a:rPr sz="1300" b="0" i="0">
                <a:solidFill>
                  <a:srgbClr val="606060"/>
                </a:solidFill>
                <a:latin typeface="Arial"/>
                <a:ea typeface="MS PGothic"/>
              </a:rPr>
              <a:t>타임스탬프와 실제 측정</a:t>
            </a:r>
          </a:p>
          <a:p>
            <a:pPr algn="ctr" marL="0" indent="0">
              <a:lnSpc>
                <a:spcPct val="110000"/>
              </a:lnSpc>
              <a:spcBef>
                <a:spcPts val="0"/>
              </a:spcBef>
              <a:buNone/>
            </a:pPr>
            <a:r>
              <a:rPr sz="1300" b="0" i="0">
                <a:solidFill>
                  <a:srgbClr val="606060"/>
                </a:solidFill>
                <a:latin typeface="Arial"/>
                <a:ea typeface="MS PGothic"/>
              </a:rPr>
              <a:t>시점이 어긋나 성능 저하</a:t>
            </a:r>
          </a:p>
        </p:txBody>
      </p:sp>
      <p:sp>
        <p:nvSpPr>
          <p:cNvPr id="15" name="TextBox 14"/>
          <p:cNvSpPr txBox="1"/>
          <p:nvPr/>
        </p:nvSpPr>
        <p:spPr>
          <a:xfrm>
            <a:off x="6035040" y="4343400"/>
            <a:ext cx="2651760" cy="228600"/>
          </a:xfrm>
          <a:prstGeom prst="rect">
            <a:avLst/>
          </a:prstGeom>
          <a:noFill/>
        </p:spPr>
        <p:txBody>
          <a:bodyPr wrap="square" anchor="t" lIns="18288" rIns="18288" tIns="18288" bIns="18288">
            <a:spAutoFit/>
          </a:bodyPr>
          <a:lstStyle/>
          <a:p>
            <a:pPr algn="ctr" marL="0" indent="0">
              <a:lnSpc>
                <a:spcPct val="115000"/>
              </a:lnSpc>
              <a:buNone/>
            </a:pPr>
            <a:r>
              <a:rPr sz="1000" b="0" i="0">
                <a:solidFill>
                  <a:srgbClr val="606060"/>
                </a:solidFill>
                <a:latin typeface="Arial"/>
                <a:ea typeface="MS PGothic"/>
              </a:rPr>
              <a:t>(Qin and Shen, 2018)</a:t>
            </a:r>
          </a:p>
        </p:txBody>
      </p:sp>
      <p:cxnSp>
        <p:nvCxnSpPr>
          <p:cNvPr id="16" name="Connector 15"/>
          <p:cNvCxnSpPr/>
          <p:nvPr/>
        </p:nvCxnSpPr>
        <p:spPr>
          <a:xfrm>
            <a:off x="640080" y="4681728"/>
            <a:ext cx="5074920" cy="0"/>
          </a:xfrm>
          <a:prstGeom prst="line">
            <a:avLst/>
          </a:prstGeom>
          <a:ln w="15875">
            <a:solidFill>
              <a:srgbClr val="60606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4727448"/>
            <a:ext cx="5074920" cy="274320"/>
          </a:xfrm>
          <a:prstGeom prst="rect">
            <a:avLst/>
          </a:prstGeom>
          <a:noFill/>
        </p:spPr>
        <p:txBody>
          <a:bodyPr wrap="square" anchor="t" lIns="18288" rIns="18288" tIns="18288" bIns="18288">
            <a:spAutoFit/>
          </a:bodyPr>
          <a:lstStyle/>
          <a:p>
            <a:pPr algn="ctr" marL="0" indent="0">
              <a:lnSpc>
                <a:spcPct val="115000"/>
              </a:lnSpc>
              <a:buNone/>
            </a:pPr>
            <a:r>
              <a:rPr sz="1250" b="0" i="0">
                <a:solidFill>
                  <a:srgbClr val="606060"/>
                </a:solidFill>
                <a:latin typeface="Arial"/>
                <a:ea typeface="MS PGothic"/>
              </a:rPr>
              <a:t>→ IMU · 카메라 · 거리센서를 함께 융합</a:t>
            </a:r>
          </a:p>
        </p:txBody>
      </p:sp>
      <p:cxnSp>
        <p:nvCxnSpPr>
          <p:cNvPr id="18" name="Connector 17"/>
          <p:cNvCxnSpPr/>
          <p:nvPr/>
        </p:nvCxnSpPr>
        <p:spPr>
          <a:xfrm>
            <a:off x="6217920" y="4681728"/>
            <a:ext cx="2286000" cy="0"/>
          </a:xfrm>
          <a:prstGeom prst="line">
            <a:avLst/>
          </a:prstGeom>
          <a:ln w="15875">
            <a:solidFill>
              <a:srgbClr val="2F4FB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17920" y="4727448"/>
            <a:ext cx="2286000" cy="274320"/>
          </a:xfrm>
          <a:prstGeom prst="rect">
            <a:avLst/>
          </a:prstGeom>
          <a:noFill/>
        </p:spPr>
        <p:txBody>
          <a:bodyPr wrap="square" anchor="t" lIns="18288" rIns="18288" tIns="18288" bIns="18288">
            <a:spAutoFit/>
          </a:bodyPr>
          <a:lstStyle/>
          <a:p>
            <a:pPr algn="ctr" marL="0" indent="0">
              <a:lnSpc>
                <a:spcPct val="115000"/>
              </a:lnSpc>
              <a:buNone/>
            </a:pPr>
            <a:r>
              <a:rPr sz="1250" b="1" i="0">
                <a:solidFill>
                  <a:srgbClr val="2F4FBF"/>
                </a:solidFill>
                <a:latin typeface="Arial"/>
                <a:ea typeface="MS PGothic"/>
              </a:rPr>
              <a:t>→ 본 연구가 다룰 문제</a:t>
            </a:r>
          </a:p>
        </p:txBody>
      </p:sp>
      <p:sp>
        <p:nvSpPr>
          <p:cNvPr id="20" name="Rounded Rectangle 19"/>
          <p:cNvSpPr/>
          <p:nvPr/>
        </p:nvSpPr>
        <p:spPr>
          <a:xfrm>
            <a:off x="457200" y="5166360"/>
            <a:ext cx="8229600" cy="91440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350" b="1" i="0">
                <a:solidFill>
                  <a:srgbClr val="C8CEEA"/>
                </a:solidFill>
                <a:latin typeface="Arial"/>
                <a:ea typeface="MS PGothic"/>
              </a:rPr>
              <a:t>연구 목적</a:t>
            </a:r>
          </a:p>
          <a:p>
            <a:pPr algn="ctr" marL="0" indent="0">
              <a:lnSpc>
                <a:spcPct val="112000"/>
              </a:lnSpc>
              <a:spcBef>
                <a:spcPts val="200"/>
              </a:spcBef>
              <a:buNone/>
            </a:pPr>
            <a:r>
              <a:rPr sz="1550" b="1" i="0">
                <a:solidFill>
                  <a:srgbClr val="FFFFFF"/>
                </a:solidFill>
                <a:latin typeface="Arial"/>
                <a:ea typeface="MS PGothic"/>
              </a:rPr>
              <a:t>측정 주기와 지연 차이를 고려하여 카메라·IMU·거리센서를</a:t>
            </a:r>
          </a:p>
          <a:p>
            <a:pPr algn="ctr" marL="0" indent="0">
              <a:lnSpc>
                <a:spcPct val="112000"/>
              </a:lnSpc>
              <a:spcBef>
                <a:spcPts val="200"/>
              </a:spcBef>
              <a:buNone/>
            </a:pPr>
            <a:r>
              <a:rPr sz="1550" b="1" i="0">
                <a:solidFill>
                  <a:srgbClr val="FFFFFF"/>
                </a:solidFill>
                <a:latin typeface="Arial"/>
                <a:ea typeface="MS PGothic"/>
              </a:rPr>
              <a:t>하나의 필터로 융합하는 위치·자세 추정기 구현</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선행연구와 적용 방향</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차량 분야의 시간 처리 방법을 비전 항법에 적용한다</a:t>
            </a:r>
          </a:p>
        </p:txBody>
      </p:sp>
      <p:sp>
        <p:nvSpPr>
          <p:cNvPr id="4" name="Rounded Rectangle 3"/>
          <p:cNvSpPr/>
          <p:nvPr/>
        </p:nvSpPr>
        <p:spPr>
          <a:xfrm>
            <a:off x="457200" y="1645920"/>
            <a:ext cx="3566160" cy="86868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차량 분야 (Kim and Ahn, 2025)</a:t>
            </a:r>
          </a:p>
          <a:p>
            <a:pPr algn="ctr" marL="0" indent="0">
              <a:lnSpc>
                <a:spcPct val="112000"/>
              </a:lnSpc>
              <a:spcBef>
                <a:spcPts val="200"/>
              </a:spcBef>
              <a:buNone/>
            </a:pPr>
            <a:r>
              <a:rPr sz="1300" b="0" i="0">
                <a:solidFill>
                  <a:srgbClr val="333333"/>
                </a:solidFill>
                <a:latin typeface="Arial"/>
                <a:ea typeface="MS PGothic"/>
              </a:rPr>
              <a:t>레이더·V2X 융합 · 선행 차량 상태 추정</a:t>
            </a:r>
          </a:p>
        </p:txBody>
      </p:sp>
      <p:sp>
        <p:nvSpPr>
          <p:cNvPr id="5" name="Right Arrow 4"/>
          <p:cNvSpPr/>
          <p:nvPr/>
        </p:nvSpPr>
        <p:spPr>
          <a:xfrm>
            <a:off x="4379976" y="1938528"/>
            <a:ext cx="384048" cy="292608"/>
          </a:xfrm>
          <a:prstGeom prst="rightArrow">
            <a:avLst/>
          </a:prstGeom>
          <a:solidFill>
            <a:srgbClr val="333399"/>
          </a:solidFill>
          <a:ln>
            <a:noFill/>
          </a:ln>
          <a:effectLst/>
        </p:spPr>
        <p:txBody>
          <a:bodyPr rtlCol="0" anchor="ctr"/>
          <a:lstStyle/>
          <a:p>
            <a:pPr algn="ctr"/>
          </a:p>
        </p:txBody>
      </p:sp>
      <p:sp>
        <p:nvSpPr>
          <p:cNvPr id="6" name="Rounded Rectangle 5"/>
          <p:cNvSpPr/>
          <p:nvPr/>
        </p:nvSpPr>
        <p:spPr>
          <a:xfrm>
            <a:off x="5120640" y="1645920"/>
            <a:ext cx="3566160" cy="86868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본 연구</a:t>
            </a:r>
          </a:p>
          <a:p>
            <a:pPr algn="ctr" marL="0" indent="0">
              <a:lnSpc>
                <a:spcPct val="112000"/>
              </a:lnSpc>
              <a:spcBef>
                <a:spcPts val="200"/>
              </a:spcBef>
              <a:buNone/>
            </a:pPr>
            <a:r>
              <a:rPr sz="1300" b="0" i="0">
                <a:solidFill>
                  <a:srgbClr val="FFFFFF"/>
                </a:solidFill>
                <a:latin typeface="Arial"/>
                <a:ea typeface="MS PGothic"/>
              </a:rPr>
              <a:t>카메라·IMU·거리센서 융합 · 위치·자세 추정</a:t>
            </a:r>
          </a:p>
        </p:txBody>
      </p:sp>
      <p:sp>
        <p:nvSpPr>
          <p:cNvPr id="7" name="TextBox 6"/>
          <p:cNvSpPr txBox="1"/>
          <p:nvPr/>
        </p:nvSpPr>
        <p:spPr>
          <a:xfrm>
            <a:off x="457200" y="2670048"/>
            <a:ext cx="8229600" cy="320040"/>
          </a:xfrm>
          <a:prstGeom prst="rect">
            <a:avLst/>
          </a:prstGeom>
          <a:noFill/>
        </p:spPr>
        <p:txBody>
          <a:bodyPr wrap="square" anchor="ctr" lIns="109728" rIns="109728" tIns="73152" bIns="73152">
            <a:spAutoFit/>
          </a:bodyPr>
          <a:lstStyle/>
          <a:p>
            <a:pPr algn="ctr" marL="0" indent="0">
              <a:lnSpc>
                <a:spcPct val="112000"/>
              </a:lnSpc>
              <a:buNone/>
            </a:pPr>
            <a:r>
              <a:rPr sz="1500" b="1" i="0">
                <a:solidFill>
                  <a:srgbClr val="333399"/>
                </a:solidFill>
                <a:latin typeface="Arial"/>
                <a:ea typeface="MS PGothic"/>
              </a:rPr>
              <a:t>참고할 시간 처리 방법</a:t>
            </a:r>
          </a:p>
        </p:txBody>
      </p:sp>
      <p:sp>
        <p:nvSpPr>
          <p:cNvPr id="8" name="Rounded Rectangle 7"/>
          <p:cNvSpPr/>
          <p:nvPr/>
        </p:nvSpPr>
        <p:spPr>
          <a:xfrm>
            <a:off x="45720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지연 보상</a:t>
            </a:r>
          </a:p>
          <a:p>
            <a:pPr algn="ctr" marL="0" indent="0">
              <a:lnSpc>
                <a:spcPct val="112000"/>
              </a:lnSpc>
              <a:spcBef>
                <a:spcPts val="200"/>
              </a:spcBef>
              <a:buNone/>
            </a:pPr>
            <a:r>
              <a:rPr sz="1350" b="0" i="0">
                <a:solidFill>
                  <a:srgbClr val="333333"/>
                </a:solidFill>
                <a:latin typeface="Arial"/>
                <a:ea typeface="MS PGothic"/>
              </a:rPr>
              <a:t>수신 시점과 실제</a:t>
            </a:r>
          </a:p>
          <a:p>
            <a:pPr algn="ctr" marL="0" indent="0">
              <a:lnSpc>
                <a:spcPct val="112000"/>
              </a:lnSpc>
              <a:spcBef>
                <a:spcPts val="200"/>
              </a:spcBef>
              <a:buNone/>
            </a:pPr>
            <a:r>
              <a:rPr sz="1350" b="0" i="0">
                <a:solidFill>
                  <a:srgbClr val="333333"/>
                </a:solidFill>
                <a:latin typeface="Arial"/>
                <a:ea typeface="MS PGothic"/>
              </a:rPr>
              <a:t>측정 시점을 구분</a:t>
            </a:r>
          </a:p>
        </p:txBody>
      </p:sp>
      <p:sp>
        <p:nvSpPr>
          <p:cNvPr id="9" name="Rounded Rectangle 8"/>
          <p:cNvSpPr/>
          <p:nvPr/>
        </p:nvSpPr>
        <p:spPr>
          <a:xfrm>
            <a:off x="324612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시간 정렬</a:t>
            </a:r>
          </a:p>
          <a:p>
            <a:pPr algn="ctr" marL="0" indent="0">
              <a:lnSpc>
                <a:spcPct val="112000"/>
              </a:lnSpc>
              <a:spcBef>
                <a:spcPts val="200"/>
              </a:spcBef>
              <a:buNone/>
            </a:pPr>
            <a:r>
              <a:rPr sz="1350" b="0" i="0">
                <a:solidFill>
                  <a:srgbClr val="333333"/>
                </a:solidFill>
                <a:latin typeface="Arial"/>
                <a:ea typeface="MS PGothic"/>
              </a:rPr>
              <a:t>함께 쓰는 신호의 시점을</a:t>
            </a:r>
          </a:p>
          <a:p>
            <a:pPr algn="ctr" marL="0" indent="0">
              <a:lnSpc>
                <a:spcPct val="112000"/>
              </a:lnSpc>
              <a:spcBef>
                <a:spcPts val="200"/>
              </a:spcBef>
              <a:buNone/>
            </a:pPr>
            <a:r>
              <a:rPr sz="1350" b="0" i="0">
                <a:solidFill>
                  <a:srgbClr val="333333"/>
                </a:solidFill>
                <a:latin typeface="Arial"/>
                <a:ea typeface="MS PGothic"/>
              </a:rPr>
              <a:t>맞추고 필요 시 보간</a:t>
            </a:r>
          </a:p>
        </p:txBody>
      </p:sp>
      <p:sp>
        <p:nvSpPr>
          <p:cNvPr id="10" name="Rounded Rectangle 9"/>
          <p:cNvSpPr/>
          <p:nvPr/>
        </p:nvSpPr>
        <p:spPr>
          <a:xfrm>
            <a:off x="6035040" y="3035808"/>
            <a:ext cx="2651760" cy="11887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600" b="1" i="0">
                <a:solidFill>
                  <a:srgbClr val="000F65"/>
                </a:solidFill>
                <a:latin typeface="Arial"/>
                <a:ea typeface="MS PGothic"/>
              </a:rPr>
              <a:t>과거 상태 재추정</a:t>
            </a:r>
          </a:p>
          <a:p>
            <a:pPr algn="ctr" marL="0" indent="0">
              <a:lnSpc>
                <a:spcPct val="112000"/>
              </a:lnSpc>
              <a:spcBef>
                <a:spcPts val="200"/>
              </a:spcBef>
              <a:buNone/>
            </a:pPr>
            <a:r>
              <a:rPr sz="1350" b="0" i="0">
                <a:solidFill>
                  <a:srgbClr val="333333"/>
                </a:solidFill>
                <a:latin typeface="Arial"/>
                <a:ea typeface="MS PGothic"/>
              </a:rPr>
              <a:t>지연된 측정으로 과거를</a:t>
            </a:r>
          </a:p>
          <a:p>
            <a:pPr algn="ctr" marL="0" indent="0">
              <a:lnSpc>
                <a:spcPct val="112000"/>
              </a:lnSpc>
              <a:spcBef>
                <a:spcPts val="200"/>
              </a:spcBef>
              <a:buNone/>
            </a:pPr>
            <a:r>
              <a:rPr sz="1350" b="0" i="0">
                <a:solidFill>
                  <a:srgbClr val="333333"/>
                </a:solidFill>
                <a:latin typeface="Arial"/>
                <a:ea typeface="MS PGothic"/>
              </a:rPr>
              <a:t>보정한 후 현재까지 재추정</a:t>
            </a:r>
          </a:p>
        </p:txBody>
      </p:sp>
      <p:sp>
        <p:nvSpPr>
          <p:cNvPr id="11" name="Rounded Rectangle 10"/>
          <p:cNvSpPr/>
          <p:nvPr/>
        </p:nvSpPr>
        <p:spPr>
          <a:xfrm>
            <a:off x="457200" y="4389120"/>
            <a:ext cx="8229600" cy="777240"/>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400" b="0" i="0">
                <a:solidFill>
                  <a:srgbClr val="333333"/>
                </a:solidFill>
                <a:latin typeface="Arial"/>
                <a:ea typeface="MS PGothic"/>
              </a:rPr>
              <a:t>비전 항법 참고 구조:  MSCKF·OpenVINS는 </a:t>
            </a:r>
            <a:r>
              <a:rPr sz="1400" b="1" i="0">
                <a:solidFill>
                  <a:srgbClr val="333333"/>
                </a:solidFill>
                <a:latin typeface="Arial"/>
                <a:ea typeface="MS PGothic"/>
              </a:rPr>
              <a:t>과거 카메라 자세를 상태에 유지</a:t>
            </a:r>
            <a:r>
              <a:rPr sz="1400" b="0" i="0">
                <a:solidFill>
                  <a:srgbClr val="333333"/>
                </a:solidFill>
                <a:latin typeface="Arial"/>
                <a:ea typeface="MS PGothic"/>
              </a:rPr>
              <a:t>하며 추정</a:t>
            </a:r>
          </a:p>
          <a:p>
            <a:pPr algn="ctr" marL="0" indent="0">
              <a:lnSpc>
                <a:spcPct val="112000"/>
              </a:lnSpc>
              <a:spcBef>
                <a:spcPts val="200"/>
              </a:spcBef>
              <a:buNone/>
            </a:pPr>
            <a:r>
              <a:rPr sz="1050" b="0" i="0">
                <a:solidFill>
                  <a:srgbClr val="666666"/>
                </a:solidFill>
                <a:latin typeface="Arial"/>
                <a:ea typeface="MS PGothic"/>
              </a:rPr>
              <a:t>(Mourikis and Roumeliotis, 2007; Geneva et al., 2020)</a:t>
            </a:r>
          </a:p>
        </p:txBody>
      </p:sp>
      <p:sp>
        <p:nvSpPr>
          <p:cNvPr id="12" name="Rounded Rectangle 11"/>
          <p:cNvSpPr/>
          <p:nvPr/>
        </p:nvSpPr>
        <p:spPr>
          <a:xfrm>
            <a:off x="457200" y="5321808"/>
            <a:ext cx="8229600" cy="758952"/>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차량 모델이 아닌 시간 처리 방법을 센서 구성에 맞게 적용하고, 적용 전·후 차이를 확인</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EKF로 융합하고, 늦게 도착한 측정은 측정 시점에 반영한다</a:t>
            </a:r>
          </a:p>
        </p:txBody>
      </p:sp>
      <p:sp>
        <p:nvSpPr>
          <p:cNvPr id="4" name="Rounded Rectangle 3"/>
          <p:cNvSpPr/>
          <p:nvPr/>
        </p:nvSpPr>
        <p:spPr>
          <a:xfrm>
            <a:off x="457200" y="166420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IMU</a:t>
            </a:r>
            <a:r>
              <a:rPr sz="1350" b="0" i="0">
                <a:solidFill>
                  <a:srgbClr val="333333"/>
                </a:solidFill>
                <a:latin typeface="Arial"/>
                <a:ea typeface="MS PGothic"/>
              </a:rPr>
              <a:t>   가속도·각속도 → 예측</a:t>
            </a:r>
          </a:p>
        </p:txBody>
      </p:sp>
      <p:sp>
        <p:nvSpPr>
          <p:cNvPr id="5" name="Right Arrow 4"/>
          <p:cNvSpPr/>
          <p:nvPr/>
        </p:nvSpPr>
        <p:spPr>
          <a:xfrm>
            <a:off x="3502152" y="1810512"/>
            <a:ext cx="256032" cy="256032"/>
          </a:xfrm>
          <a:prstGeom prst="rightArrow">
            <a:avLst/>
          </a:prstGeom>
          <a:solidFill>
            <a:srgbClr val="333399"/>
          </a:solidFill>
          <a:ln>
            <a:noFill/>
          </a:ln>
          <a:effectLst/>
        </p:spPr>
        <p:txBody>
          <a:bodyPr rtlCol="0" anchor="ctr"/>
          <a:lstStyle/>
          <a:p>
            <a:pPr algn="ctr"/>
          </a:p>
        </p:txBody>
      </p:sp>
      <p:sp>
        <p:nvSpPr>
          <p:cNvPr id="6" name="Rounded Rectangle 5"/>
          <p:cNvSpPr/>
          <p:nvPr/>
        </p:nvSpPr>
        <p:spPr>
          <a:xfrm>
            <a:off x="457200" y="230428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카메라</a:t>
            </a:r>
            <a:r>
              <a:rPr sz="1350" b="0" i="0">
                <a:solidFill>
                  <a:srgbClr val="333333"/>
                </a:solidFill>
                <a:latin typeface="Arial"/>
                <a:ea typeface="MS PGothic"/>
              </a:rPr>
              <a:t>   KLT로 영상 이동 추적</a:t>
            </a:r>
          </a:p>
        </p:txBody>
      </p:sp>
      <p:sp>
        <p:nvSpPr>
          <p:cNvPr id="7" name="Right Arrow 6"/>
          <p:cNvSpPr/>
          <p:nvPr/>
        </p:nvSpPr>
        <p:spPr>
          <a:xfrm>
            <a:off x="3502152" y="2450592"/>
            <a:ext cx="256032" cy="256032"/>
          </a:xfrm>
          <a:prstGeom prst="rightArrow">
            <a:avLst/>
          </a:prstGeom>
          <a:solidFill>
            <a:srgbClr val="333399"/>
          </a:solidFill>
          <a:ln>
            <a:noFill/>
          </a:ln>
          <a:effectLst/>
        </p:spPr>
        <p:txBody>
          <a:bodyPr rtlCol="0" anchor="ctr"/>
          <a:lstStyle/>
          <a:p>
            <a:pPr algn="ctr"/>
          </a:p>
        </p:txBody>
      </p:sp>
      <p:sp>
        <p:nvSpPr>
          <p:cNvPr id="8" name="Rounded Rectangle 7"/>
          <p:cNvSpPr/>
          <p:nvPr/>
        </p:nvSpPr>
        <p:spPr>
          <a:xfrm>
            <a:off x="457200" y="2944368"/>
            <a:ext cx="2971800" cy="548640"/>
          </a:xfrm>
          <a:prstGeom prst="roundRect">
            <a:avLst>
              <a:gd name="adj" fmla="val 8000"/>
            </a:avLst>
          </a:prstGeom>
          <a:solidFill>
            <a:srgbClr val="DAEDEF"/>
          </a:solidFill>
          <a:ln>
            <a:noFill/>
          </a:ln>
          <a:effectLst/>
        </p:spPr>
        <p:txBody>
          <a:bodyPr rtlCol="0" anchor="ctr" wrap="square" lIns="109728" rIns="109728" tIns="73152" bIns="73152"/>
          <a:lstStyle/>
          <a:p>
            <a:pPr algn="l" marL="0" indent="0">
              <a:lnSpc>
                <a:spcPct val="112000"/>
              </a:lnSpc>
              <a:buNone/>
            </a:pPr>
            <a:r>
              <a:rPr sz="1350" b="1" i="0">
                <a:solidFill>
                  <a:srgbClr val="333333"/>
                </a:solidFill>
                <a:latin typeface="Arial"/>
                <a:ea typeface="MS PGothic"/>
              </a:rPr>
              <a:t>거리센서</a:t>
            </a:r>
            <a:r>
              <a:rPr sz="1350" b="0" i="0">
                <a:solidFill>
                  <a:srgbClr val="333333"/>
                </a:solidFill>
                <a:latin typeface="Arial"/>
                <a:ea typeface="MS PGothic"/>
              </a:rPr>
              <a:t>   지면까지 거리 → 실제 크기</a:t>
            </a:r>
          </a:p>
        </p:txBody>
      </p:sp>
      <p:sp>
        <p:nvSpPr>
          <p:cNvPr id="9" name="Right Arrow 8"/>
          <p:cNvSpPr/>
          <p:nvPr/>
        </p:nvSpPr>
        <p:spPr>
          <a:xfrm>
            <a:off x="3502152" y="3090672"/>
            <a:ext cx="256032" cy="256032"/>
          </a:xfrm>
          <a:prstGeom prst="rightArrow">
            <a:avLst/>
          </a:prstGeom>
          <a:solidFill>
            <a:srgbClr val="333399"/>
          </a:solidFill>
          <a:ln>
            <a:noFill/>
          </a:ln>
          <a:effectLst/>
        </p:spPr>
        <p:txBody>
          <a:bodyPr rtlCol="0" anchor="ctr"/>
          <a:lstStyle/>
          <a:p>
            <a:pPr algn="ctr"/>
          </a:p>
        </p:txBody>
      </p:sp>
      <p:sp>
        <p:nvSpPr>
          <p:cNvPr id="10" name="Rounded Rectangle 9"/>
          <p:cNvSpPr/>
          <p:nvPr/>
        </p:nvSpPr>
        <p:spPr>
          <a:xfrm>
            <a:off x="3794760" y="1664208"/>
            <a:ext cx="2011680" cy="1828799"/>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2200" b="1" i="0">
                <a:solidFill>
                  <a:srgbClr val="FFFFFF"/>
                </a:solidFill>
                <a:latin typeface="Arial"/>
                <a:ea typeface="MS PGothic"/>
              </a:rPr>
              <a:t>EKF</a:t>
            </a:r>
          </a:p>
          <a:p>
            <a:pPr algn="ctr" marL="0" indent="0">
              <a:lnSpc>
                <a:spcPct val="112000"/>
              </a:lnSpc>
              <a:spcBef>
                <a:spcPts val="200"/>
              </a:spcBef>
              <a:buNone/>
            </a:pPr>
            <a:r>
              <a:rPr sz="1100" b="0" i="0">
                <a:solidFill>
                  <a:srgbClr val="C8CEEA"/>
                </a:solidFill>
                <a:latin typeface="Arial"/>
                <a:ea typeface="MS PGothic"/>
              </a:rPr>
              <a:t>확장 칼만필터</a:t>
            </a:r>
          </a:p>
          <a:p>
            <a:pPr algn="ctr" marL="0" indent="0">
              <a:lnSpc>
                <a:spcPct val="112000"/>
              </a:lnSpc>
              <a:spcBef>
                <a:spcPts val="200"/>
              </a:spcBef>
              <a:buNone/>
            </a:pPr>
            <a:r>
              <a:rPr sz="1350" b="0" i="0">
                <a:solidFill>
                  <a:srgbClr val="FFFFFF"/>
                </a:solidFill>
                <a:latin typeface="Arial"/>
                <a:ea typeface="MS PGothic"/>
              </a:rPr>
              <a:t>예측: IMU</a:t>
            </a:r>
          </a:p>
          <a:p>
            <a:pPr algn="ctr" marL="0" indent="0">
              <a:lnSpc>
                <a:spcPct val="112000"/>
              </a:lnSpc>
              <a:spcBef>
                <a:spcPts val="200"/>
              </a:spcBef>
              <a:buNone/>
            </a:pPr>
            <a:r>
              <a:rPr sz="1350" b="0" i="0">
                <a:solidFill>
                  <a:srgbClr val="FFFFFF"/>
                </a:solidFill>
                <a:latin typeface="Arial"/>
                <a:ea typeface="MS PGothic"/>
              </a:rPr>
              <a:t>보정: 영상 이동·거리</a:t>
            </a:r>
          </a:p>
          <a:p>
            <a:pPr algn="ctr" marL="0" indent="0">
              <a:lnSpc>
                <a:spcPct val="112000"/>
              </a:lnSpc>
              <a:spcBef>
                <a:spcPts val="200"/>
              </a:spcBef>
              <a:buNone/>
            </a:pPr>
            <a:r>
              <a:rPr sz="1050" b="0" i="0">
                <a:solidFill>
                  <a:srgbClr val="C8CEEA"/>
                </a:solidFill>
                <a:latin typeface="Arial"/>
                <a:ea typeface="MS PGothic"/>
              </a:rPr>
              <a:t>(자이로로 회전 성분 제거)</a:t>
            </a:r>
          </a:p>
        </p:txBody>
      </p:sp>
      <p:sp>
        <p:nvSpPr>
          <p:cNvPr id="11" name="Right Arrow 10"/>
          <p:cNvSpPr/>
          <p:nvPr/>
        </p:nvSpPr>
        <p:spPr>
          <a:xfrm>
            <a:off x="5879592" y="2441448"/>
            <a:ext cx="274320" cy="274320"/>
          </a:xfrm>
          <a:prstGeom prst="rightArrow">
            <a:avLst/>
          </a:prstGeom>
          <a:solidFill>
            <a:srgbClr val="333399"/>
          </a:solidFill>
          <a:ln>
            <a:noFill/>
          </a:ln>
          <a:effectLst/>
        </p:spPr>
        <p:txBody>
          <a:bodyPr rtlCol="0" anchor="ctr"/>
          <a:lstStyle/>
          <a:p>
            <a:pPr algn="ctr"/>
          </a:p>
        </p:txBody>
      </p:sp>
      <p:sp>
        <p:nvSpPr>
          <p:cNvPr id="12" name="Rounded Rectangle 11"/>
          <p:cNvSpPr/>
          <p:nvPr/>
        </p:nvSpPr>
        <p:spPr>
          <a:xfrm>
            <a:off x="6245352" y="1664208"/>
            <a:ext cx="2441448" cy="1828799"/>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800" b="1" i="0">
                <a:solidFill>
                  <a:srgbClr val="000F65"/>
                </a:solidFill>
                <a:latin typeface="Arial"/>
                <a:ea typeface="MS PGothic"/>
              </a:rPr>
              <a:t>위치·자세</a:t>
            </a:r>
          </a:p>
          <a:p>
            <a:pPr algn="ctr" marL="0" indent="0">
              <a:lnSpc>
                <a:spcPct val="112000"/>
              </a:lnSpc>
              <a:spcBef>
                <a:spcPts val="200"/>
              </a:spcBef>
              <a:buNone/>
            </a:pPr>
            <a:r>
              <a:rPr sz="1500" b="0" i="0">
                <a:solidFill>
                  <a:srgbClr val="333333"/>
                </a:solidFill>
                <a:latin typeface="Arial"/>
                <a:ea typeface="MS PGothic"/>
              </a:rPr>
              <a:t>추정값</a:t>
            </a:r>
          </a:p>
        </p:txBody>
      </p:sp>
      <p:sp>
        <p:nvSpPr>
          <p:cNvPr id="13" name="TextBox 12"/>
          <p:cNvSpPr txBox="1"/>
          <p:nvPr/>
        </p:nvSpPr>
        <p:spPr>
          <a:xfrm>
            <a:off x="457200" y="3675887"/>
            <a:ext cx="8229600" cy="320040"/>
          </a:xfrm>
          <a:prstGeom prst="rect">
            <a:avLst/>
          </a:prstGeom>
          <a:noFill/>
        </p:spPr>
        <p:txBody>
          <a:bodyPr wrap="square" anchor="ctr" lIns="109728" rIns="109728" tIns="73152" bIns="73152">
            <a:spAutoFit/>
          </a:bodyPr>
          <a:lstStyle/>
          <a:p>
            <a:pPr algn="ctr" marL="0" indent="0">
              <a:lnSpc>
                <a:spcPct val="112000"/>
              </a:lnSpc>
              <a:buNone/>
            </a:pPr>
            <a:r>
              <a:rPr sz="1500" b="1" i="0">
                <a:solidFill>
                  <a:srgbClr val="333399"/>
                </a:solidFill>
                <a:latin typeface="Arial"/>
                <a:ea typeface="MS PGothic"/>
              </a:rPr>
              <a:t>시간 처리</a:t>
            </a:r>
          </a:p>
        </p:txBody>
      </p:sp>
      <p:sp>
        <p:nvSpPr>
          <p:cNvPr id="14" name="Rounded Rectangle 13"/>
          <p:cNvSpPr/>
          <p:nvPr/>
        </p:nvSpPr>
        <p:spPr>
          <a:xfrm>
            <a:off x="457200" y="4023360"/>
            <a:ext cx="2423160" cy="9601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①  확인</a:t>
            </a:r>
          </a:p>
          <a:p>
            <a:pPr algn="ctr" marL="0" indent="0">
              <a:lnSpc>
                <a:spcPct val="112000"/>
              </a:lnSpc>
              <a:spcBef>
                <a:spcPts val="200"/>
              </a:spcBef>
              <a:buNone/>
            </a:pPr>
            <a:r>
              <a:rPr sz="1250" b="0" i="0">
                <a:solidFill>
                  <a:srgbClr val="333333"/>
                </a:solidFill>
                <a:latin typeface="Arial"/>
                <a:ea typeface="MS PGothic"/>
              </a:rPr>
              <a:t>센서별 주기·</a:t>
            </a:r>
          </a:p>
          <a:p>
            <a:pPr algn="ctr" marL="0" indent="0">
              <a:lnSpc>
                <a:spcPct val="112000"/>
              </a:lnSpc>
              <a:spcBef>
                <a:spcPts val="200"/>
              </a:spcBef>
              <a:buNone/>
            </a:pPr>
            <a:r>
              <a:rPr sz="1250" b="0" i="0">
                <a:solidFill>
                  <a:srgbClr val="333333"/>
                </a:solidFill>
                <a:latin typeface="Arial"/>
                <a:ea typeface="MS PGothic"/>
              </a:rPr>
              <a:t>타임스탬프·지연</a:t>
            </a:r>
          </a:p>
        </p:txBody>
      </p:sp>
      <p:sp>
        <p:nvSpPr>
          <p:cNvPr id="15" name="Right Arrow 14"/>
          <p:cNvSpPr/>
          <p:nvPr/>
        </p:nvSpPr>
        <p:spPr>
          <a:xfrm>
            <a:off x="2971800" y="4370832"/>
            <a:ext cx="292608" cy="274320"/>
          </a:xfrm>
          <a:prstGeom prst="rightArrow">
            <a:avLst/>
          </a:prstGeom>
          <a:solidFill>
            <a:srgbClr val="333399"/>
          </a:solidFill>
          <a:ln>
            <a:noFill/>
          </a:ln>
          <a:effectLst/>
        </p:spPr>
        <p:txBody>
          <a:bodyPr rtlCol="0" anchor="ctr"/>
          <a:lstStyle/>
          <a:p>
            <a:pPr algn="ctr"/>
          </a:p>
        </p:txBody>
      </p:sp>
      <p:sp>
        <p:nvSpPr>
          <p:cNvPr id="16" name="Rounded Rectangle 15"/>
          <p:cNvSpPr/>
          <p:nvPr/>
        </p:nvSpPr>
        <p:spPr>
          <a:xfrm>
            <a:off x="3355848" y="4023360"/>
            <a:ext cx="2423160" cy="96012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②  저장</a:t>
            </a:r>
          </a:p>
          <a:p>
            <a:pPr algn="ctr" marL="0" indent="0">
              <a:lnSpc>
                <a:spcPct val="112000"/>
              </a:lnSpc>
              <a:spcBef>
                <a:spcPts val="200"/>
              </a:spcBef>
              <a:buNone/>
            </a:pPr>
            <a:r>
              <a:rPr sz="1250" b="0" i="0">
                <a:solidFill>
                  <a:srgbClr val="333333"/>
                </a:solidFill>
                <a:latin typeface="Arial"/>
                <a:ea typeface="MS PGothic"/>
              </a:rPr>
              <a:t>과거 상태·IMU 입력·</a:t>
            </a:r>
          </a:p>
          <a:p>
            <a:pPr algn="ctr" marL="0" indent="0">
              <a:lnSpc>
                <a:spcPct val="112000"/>
              </a:lnSpc>
              <a:spcBef>
                <a:spcPts val="200"/>
              </a:spcBef>
              <a:buNone/>
            </a:pPr>
            <a:r>
              <a:rPr sz="1250" b="0" i="0">
                <a:solidFill>
                  <a:srgbClr val="333333"/>
                </a:solidFill>
                <a:latin typeface="Arial"/>
                <a:ea typeface="MS PGothic"/>
              </a:rPr>
              <a:t>측정값 보관</a:t>
            </a:r>
          </a:p>
        </p:txBody>
      </p:sp>
      <p:sp>
        <p:nvSpPr>
          <p:cNvPr id="17" name="Right Arrow 16"/>
          <p:cNvSpPr/>
          <p:nvPr/>
        </p:nvSpPr>
        <p:spPr>
          <a:xfrm>
            <a:off x="5870448" y="4370832"/>
            <a:ext cx="292608" cy="274320"/>
          </a:xfrm>
          <a:prstGeom prst="rightArrow">
            <a:avLst/>
          </a:prstGeom>
          <a:solidFill>
            <a:srgbClr val="333399"/>
          </a:solidFill>
          <a:ln>
            <a:noFill/>
          </a:ln>
          <a:effectLst/>
        </p:spPr>
        <p:txBody>
          <a:bodyPr rtlCol="0" anchor="ctr"/>
          <a:lstStyle/>
          <a:p>
            <a:pPr algn="ctr"/>
          </a:p>
        </p:txBody>
      </p:sp>
      <p:sp>
        <p:nvSpPr>
          <p:cNvPr id="18" name="Rounded Rectangle 17"/>
          <p:cNvSpPr/>
          <p:nvPr/>
        </p:nvSpPr>
        <p:spPr>
          <a:xfrm>
            <a:off x="6254496" y="4023360"/>
            <a:ext cx="2423160" cy="96012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③  재추정</a:t>
            </a:r>
          </a:p>
          <a:p>
            <a:pPr algn="ctr" marL="0" indent="0">
              <a:lnSpc>
                <a:spcPct val="112000"/>
              </a:lnSpc>
              <a:spcBef>
                <a:spcPts val="200"/>
              </a:spcBef>
              <a:buNone/>
            </a:pPr>
            <a:r>
              <a:rPr sz="1250" b="0" i="0">
                <a:solidFill>
                  <a:srgbClr val="FFFFFF"/>
                </a:solidFill>
                <a:latin typeface="Arial"/>
                <a:ea typeface="MS PGothic"/>
              </a:rPr>
              <a:t>늦은 측정은 측정 시점에서</a:t>
            </a:r>
          </a:p>
          <a:p>
            <a:pPr algn="ctr" marL="0" indent="0">
              <a:lnSpc>
                <a:spcPct val="112000"/>
              </a:lnSpc>
              <a:spcBef>
                <a:spcPts val="200"/>
              </a:spcBef>
              <a:buNone/>
            </a:pPr>
            <a:r>
              <a:rPr sz="1250" b="0" i="0">
                <a:solidFill>
                  <a:srgbClr val="FFFFFF"/>
                </a:solidFill>
                <a:latin typeface="Arial"/>
                <a:ea typeface="MS PGothic"/>
              </a:rPr>
              <a:t>보정 후 현재까지 재추정</a:t>
            </a:r>
          </a:p>
        </p:txBody>
      </p:sp>
      <p:sp>
        <p:nvSpPr>
          <p:cNvPr id="19" name="Rounded Rectangle 18"/>
          <p:cNvSpPr/>
          <p:nvPr/>
        </p:nvSpPr>
        <p:spPr>
          <a:xfrm>
            <a:off x="457200" y="5166360"/>
            <a:ext cx="8229600" cy="914400"/>
          </a:xfrm>
          <a:prstGeom prst="roundRect">
            <a:avLst>
              <a:gd name="adj" fmla="val 8000"/>
            </a:avLst>
          </a:prstGeom>
          <a:noFill/>
          <a:ln w="12700">
            <a:solidFill>
              <a:srgbClr val="333399"/>
            </a:solidFill>
          </a:ln>
          <a:effectLst/>
        </p:spPr>
        <p:txBody>
          <a:bodyPr rtlCol="0" anchor="ctr" wrap="square" lIns="109728" rIns="109728" tIns="73152" bIns="73152"/>
          <a:lstStyle/>
          <a:p>
            <a:pPr algn="ctr" marL="0" indent="0">
              <a:lnSpc>
                <a:spcPct val="112000"/>
              </a:lnSpc>
              <a:buNone/>
            </a:pPr>
            <a:r>
              <a:rPr sz="1350" b="1" i="0">
                <a:solidFill>
                  <a:srgbClr val="333399"/>
                </a:solidFill>
                <a:latin typeface="Arial"/>
                <a:ea typeface="MS PGothic"/>
              </a:rPr>
              <a:t>참고한 처리 구조</a:t>
            </a:r>
          </a:p>
          <a:p>
            <a:pPr algn="ctr" marL="0" indent="0">
              <a:lnSpc>
                <a:spcPct val="112000"/>
              </a:lnSpc>
              <a:spcBef>
                <a:spcPts val="200"/>
              </a:spcBef>
              <a:buNone/>
            </a:pPr>
            <a:r>
              <a:rPr sz="1300" b="0" i="0">
                <a:solidFill>
                  <a:srgbClr val="333333"/>
                </a:solidFill>
                <a:latin typeface="Arial"/>
                <a:ea typeface="MS PGothic"/>
              </a:rPr>
              <a:t>지연 측정이 오면 과거 상태에서 다시 예측해 반영 (Lynen et al., 2013)</a:t>
            </a:r>
          </a:p>
          <a:p>
            <a:pPr algn="ctr" marL="0" indent="0">
              <a:lnSpc>
                <a:spcPct val="112000"/>
              </a:lnSpc>
              <a:spcBef>
                <a:spcPts val="200"/>
              </a:spcBef>
              <a:buNone/>
            </a:pPr>
            <a:r>
              <a:rPr sz="1300" b="0" i="0">
                <a:solidFill>
                  <a:srgbClr val="333333"/>
                </a:solidFill>
                <a:latin typeface="Arial"/>
                <a:ea typeface="MS PGothic"/>
              </a:rPr>
              <a:t>센서별 버퍼에 저장하고 지연을 반영한 시점에서 융합 (PX4 EKF2)</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10월 ~ 12월, 기본 융합 → 시간 처리 → 비교 검증</a:t>
            </a:r>
          </a:p>
        </p:txBody>
      </p:sp>
      <p:sp>
        <p:nvSpPr>
          <p:cNvPr id="4" name="TextBox 3"/>
          <p:cNvSpPr txBox="1"/>
          <p:nvPr/>
        </p:nvSpPr>
        <p:spPr>
          <a:xfrm>
            <a:off x="4572000" y="1536192"/>
            <a:ext cx="1371600" cy="256032"/>
          </a:xfrm>
          <a:prstGeom prst="rect">
            <a:avLst/>
          </a:prstGeom>
          <a:noFill/>
        </p:spPr>
        <p:txBody>
          <a:bodyPr wrap="square" anchor="ctr" lIns="109728" rIns="109728" tIns="73152" bIns="73152">
            <a:spAutoFit/>
          </a:bodyPr>
          <a:lstStyle/>
          <a:p>
            <a:pPr algn="ctr" marL="0" indent="0">
              <a:lnSpc>
                <a:spcPct val="112000"/>
              </a:lnSpc>
              <a:buNone/>
            </a:pPr>
            <a:r>
              <a:rPr sz="1250" b="1" i="0">
                <a:solidFill>
                  <a:srgbClr val="000F65"/>
                </a:solidFill>
                <a:latin typeface="Arial"/>
                <a:ea typeface="MS PGothic"/>
              </a:rPr>
              <a:t>10월</a:t>
            </a:r>
          </a:p>
        </p:txBody>
      </p:sp>
      <p:sp>
        <p:nvSpPr>
          <p:cNvPr id="5" name="TextBox 4"/>
          <p:cNvSpPr txBox="1"/>
          <p:nvPr/>
        </p:nvSpPr>
        <p:spPr>
          <a:xfrm>
            <a:off x="5943600" y="1536192"/>
            <a:ext cx="1371600" cy="256032"/>
          </a:xfrm>
          <a:prstGeom prst="rect">
            <a:avLst/>
          </a:prstGeom>
          <a:noFill/>
        </p:spPr>
        <p:txBody>
          <a:bodyPr wrap="square" anchor="ctr" lIns="109728" rIns="109728" tIns="73152" bIns="73152">
            <a:spAutoFit/>
          </a:bodyPr>
          <a:lstStyle/>
          <a:p>
            <a:pPr algn="ctr" marL="0" indent="0">
              <a:lnSpc>
                <a:spcPct val="112000"/>
              </a:lnSpc>
              <a:buNone/>
            </a:pPr>
            <a:r>
              <a:rPr sz="1250" b="1" i="0">
                <a:solidFill>
                  <a:srgbClr val="000F65"/>
                </a:solidFill>
                <a:latin typeface="Arial"/>
                <a:ea typeface="MS PGothic"/>
              </a:rPr>
              <a:t>11월</a:t>
            </a:r>
          </a:p>
        </p:txBody>
      </p:sp>
      <p:sp>
        <p:nvSpPr>
          <p:cNvPr id="6" name="TextBox 5"/>
          <p:cNvSpPr txBox="1"/>
          <p:nvPr/>
        </p:nvSpPr>
        <p:spPr>
          <a:xfrm>
            <a:off x="7315200" y="1536192"/>
            <a:ext cx="1371600" cy="256032"/>
          </a:xfrm>
          <a:prstGeom prst="rect">
            <a:avLst/>
          </a:prstGeom>
          <a:noFill/>
        </p:spPr>
        <p:txBody>
          <a:bodyPr wrap="square" anchor="ctr" lIns="109728" rIns="109728" tIns="73152" bIns="73152">
            <a:spAutoFit/>
          </a:bodyPr>
          <a:lstStyle/>
          <a:p>
            <a:pPr algn="ctr" marL="0" indent="0">
              <a:lnSpc>
                <a:spcPct val="112000"/>
              </a:lnSpc>
              <a:buNone/>
            </a:pPr>
            <a:r>
              <a:rPr sz="1250" b="1" i="0">
                <a:solidFill>
                  <a:srgbClr val="000F65"/>
                </a:solidFill>
                <a:latin typeface="Arial"/>
                <a:ea typeface="MS PGothic"/>
              </a:rPr>
              <a:t>12월</a:t>
            </a:r>
          </a:p>
        </p:txBody>
      </p:sp>
      <p:sp>
        <p:nvSpPr>
          <p:cNvPr id="7" name="TextBox 6"/>
          <p:cNvSpPr txBox="1"/>
          <p:nvPr/>
        </p:nvSpPr>
        <p:spPr>
          <a:xfrm>
            <a:off x="45720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전반</a:t>
            </a:r>
          </a:p>
        </p:txBody>
      </p:sp>
      <p:sp>
        <p:nvSpPr>
          <p:cNvPr id="8" name="TextBox 7"/>
          <p:cNvSpPr txBox="1"/>
          <p:nvPr/>
        </p:nvSpPr>
        <p:spPr>
          <a:xfrm>
            <a:off x="52578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후반</a:t>
            </a:r>
          </a:p>
        </p:txBody>
      </p:sp>
      <p:sp>
        <p:nvSpPr>
          <p:cNvPr id="9" name="TextBox 8"/>
          <p:cNvSpPr txBox="1"/>
          <p:nvPr/>
        </p:nvSpPr>
        <p:spPr>
          <a:xfrm>
            <a:off x="59436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전반</a:t>
            </a:r>
          </a:p>
        </p:txBody>
      </p:sp>
      <p:sp>
        <p:nvSpPr>
          <p:cNvPr id="10" name="TextBox 9"/>
          <p:cNvSpPr txBox="1"/>
          <p:nvPr/>
        </p:nvSpPr>
        <p:spPr>
          <a:xfrm>
            <a:off x="66294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후반</a:t>
            </a:r>
          </a:p>
        </p:txBody>
      </p:sp>
      <p:sp>
        <p:nvSpPr>
          <p:cNvPr id="11" name="TextBox 10"/>
          <p:cNvSpPr txBox="1"/>
          <p:nvPr/>
        </p:nvSpPr>
        <p:spPr>
          <a:xfrm>
            <a:off x="73152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전반</a:t>
            </a:r>
          </a:p>
        </p:txBody>
      </p:sp>
      <p:sp>
        <p:nvSpPr>
          <p:cNvPr id="12" name="TextBox 11"/>
          <p:cNvSpPr txBox="1"/>
          <p:nvPr/>
        </p:nvSpPr>
        <p:spPr>
          <a:xfrm>
            <a:off x="8001000" y="1773936"/>
            <a:ext cx="685800" cy="219456"/>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후반</a:t>
            </a:r>
          </a:p>
        </p:txBody>
      </p:sp>
      <p:sp>
        <p:nvSpPr>
          <p:cNvPr id="13" name="Rectangle 12"/>
          <p:cNvSpPr/>
          <p:nvPr/>
        </p:nvSpPr>
        <p:spPr>
          <a:xfrm>
            <a:off x="457200" y="2029968"/>
            <a:ext cx="8229600" cy="786384"/>
          </a:xfrm>
          <a:prstGeom prst="rect">
            <a:avLst/>
          </a:prstGeom>
          <a:solidFill>
            <a:srgbClr val="DAEDEF"/>
          </a:solidFill>
          <a:ln>
            <a:noFill/>
          </a:ln>
          <a:effectLst/>
        </p:spPr>
        <p:txBody>
          <a:bodyPr rtlCol="0" anchor="ctr"/>
          <a:lstStyle/>
          <a:p>
            <a:pPr algn="ctr"/>
          </a:p>
        </p:txBody>
      </p:sp>
      <p:sp>
        <p:nvSpPr>
          <p:cNvPr id="14" name="TextBox 13"/>
          <p:cNvSpPr txBox="1"/>
          <p:nvPr/>
        </p:nvSpPr>
        <p:spPr>
          <a:xfrm>
            <a:off x="502920" y="2029968"/>
            <a:ext cx="4023360" cy="786384"/>
          </a:xfrm>
          <a:prstGeom prst="rect">
            <a:avLst/>
          </a:prstGeom>
          <a:noFill/>
        </p:spPr>
        <p:txBody>
          <a:bodyPr wrap="square" anchor="ctr" lIns="109728" rIns="109728" tIns="73152" bIns="73152">
            <a:spAutoFit/>
          </a:bodyPr>
          <a:lstStyle/>
          <a:p>
            <a:pPr algn="l" marL="0" indent="0">
              <a:lnSpc>
                <a:spcPct val="112000"/>
              </a:lnSpc>
              <a:buNone/>
            </a:pPr>
            <a:r>
              <a:rPr sz="1400" b="1" i="0">
                <a:solidFill>
                  <a:srgbClr val="000F65"/>
                </a:solidFill>
                <a:latin typeface="Arial"/>
                <a:ea typeface="MS PGothic"/>
              </a:rPr>
              <a:t>선행논문 분석 및 센서 데이터 확인</a:t>
            </a:r>
          </a:p>
          <a:p>
            <a:pPr algn="l" marL="0" indent="0">
              <a:lnSpc>
                <a:spcPct val="112000"/>
              </a:lnSpc>
              <a:spcBef>
                <a:spcPts val="200"/>
              </a:spcBef>
              <a:buNone/>
            </a:pPr>
            <a:r>
              <a:rPr sz="1150" b="0" i="0">
                <a:solidFill>
                  <a:srgbClr val="333333"/>
                </a:solidFill>
                <a:latin typeface="Arial"/>
                <a:ea typeface="MS PGothic"/>
              </a:rPr>
              <a:t>측정 주기·타임스탬프·지연 정리</a:t>
            </a:r>
          </a:p>
          <a:p>
            <a:pPr algn="l" marL="0" indent="0">
              <a:lnSpc>
                <a:spcPct val="112000"/>
              </a:lnSpc>
              <a:spcBef>
                <a:spcPts val="200"/>
              </a:spcBef>
              <a:buNone/>
            </a:pPr>
            <a:r>
              <a:rPr sz="1050" b="0" i="0">
                <a:solidFill>
                  <a:srgbClr val="666666"/>
                </a:solidFill>
                <a:latin typeface="Arial"/>
                <a:ea typeface="MS PGothic"/>
              </a:rPr>
              <a:t>→ 시간 처리 절차 정리 · 센서 데이터 특성 파악</a:t>
            </a:r>
          </a:p>
        </p:txBody>
      </p:sp>
      <p:sp>
        <p:nvSpPr>
          <p:cNvPr id="15" name="TextBox 14"/>
          <p:cNvSpPr txBox="1"/>
          <p:nvPr/>
        </p:nvSpPr>
        <p:spPr>
          <a:xfrm>
            <a:off x="502920" y="2816352"/>
            <a:ext cx="4023360" cy="786384"/>
          </a:xfrm>
          <a:prstGeom prst="rect">
            <a:avLst/>
          </a:prstGeom>
          <a:noFill/>
        </p:spPr>
        <p:txBody>
          <a:bodyPr wrap="square" anchor="ctr" lIns="109728" rIns="109728" tIns="73152" bIns="73152">
            <a:spAutoFit/>
          </a:bodyPr>
          <a:lstStyle/>
          <a:p>
            <a:pPr algn="l" marL="0" indent="0">
              <a:lnSpc>
                <a:spcPct val="112000"/>
              </a:lnSpc>
              <a:buNone/>
            </a:pPr>
            <a:r>
              <a:rPr sz="1400" b="1" i="0">
                <a:solidFill>
                  <a:srgbClr val="000F65"/>
                </a:solidFill>
                <a:latin typeface="Arial"/>
                <a:ea typeface="MS PGothic"/>
              </a:rPr>
              <a:t>영상 이동 추적 및 IMU 예측 구현</a:t>
            </a:r>
          </a:p>
          <a:p>
            <a:pPr algn="l" marL="0" indent="0">
              <a:lnSpc>
                <a:spcPct val="112000"/>
              </a:lnSpc>
              <a:spcBef>
                <a:spcPts val="200"/>
              </a:spcBef>
              <a:buNone/>
            </a:pPr>
            <a:r>
              <a:rPr sz="1150" b="0" i="0">
                <a:solidFill>
                  <a:srgbClr val="333333"/>
                </a:solidFill>
                <a:latin typeface="Arial"/>
                <a:ea typeface="MS PGothic"/>
              </a:rPr>
              <a:t>기본 센서 융합 구조 구성</a:t>
            </a:r>
          </a:p>
          <a:p>
            <a:pPr algn="l" marL="0" indent="0">
              <a:lnSpc>
                <a:spcPct val="112000"/>
              </a:lnSpc>
              <a:spcBef>
                <a:spcPts val="200"/>
              </a:spcBef>
              <a:buNone/>
            </a:pPr>
            <a:r>
              <a:rPr sz="1050" b="0" i="0">
                <a:solidFill>
                  <a:srgbClr val="666666"/>
                </a:solidFill>
                <a:latin typeface="Arial"/>
                <a:ea typeface="MS PGothic"/>
              </a:rPr>
              <a:t>→ 센서별 처리 결과 · 기본 추정기 동작</a:t>
            </a:r>
          </a:p>
        </p:txBody>
      </p:sp>
      <p:sp>
        <p:nvSpPr>
          <p:cNvPr id="16" name="Rectangle 15"/>
          <p:cNvSpPr/>
          <p:nvPr/>
        </p:nvSpPr>
        <p:spPr>
          <a:xfrm>
            <a:off x="457200" y="3602736"/>
            <a:ext cx="8229600" cy="786384"/>
          </a:xfrm>
          <a:prstGeom prst="rect">
            <a:avLst/>
          </a:prstGeom>
          <a:solidFill>
            <a:srgbClr val="DAEDEF"/>
          </a:solidFill>
          <a:ln>
            <a:noFill/>
          </a:ln>
          <a:effectLst/>
        </p:spPr>
        <p:txBody>
          <a:bodyPr rtlCol="0" anchor="ctr"/>
          <a:lstStyle/>
          <a:p>
            <a:pPr algn="ctr"/>
          </a:p>
        </p:txBody>
      </p:sp>
      <p:sp>
        <p:nvSpPr>
          <p:cNvPr id="17" name="TextBox 16"/>
          <p:cNvSpPr txBox="1"/>
          <p:nvPr/>
        </p:nvSpPr>
        <p:spPr>
          <a:xfrm>
            <a:off x="502920" y="3602736"/>
            <a:ext cx="4023360" cy="786384"/>
          </a:xfrm>
          <a:prstGeom prst="rect">
            <a:avLst/>
          </a:prstGeom>
          <a:noFill/>
        </p:spPr>
        <p:txBody>
          <a:bodyPr wrap="square" anchor="ctr" lIns="109728" rIns="109728" tIns="73152" bIns="73152">
            <a:spAutoFit/>
          </a:bodyPr>
          <a:lstStyle/>
          <a:p>
            <a:pPr algn="l" marL="0" indent="0">
              <a:lnSpc>
                <a:spcPct val="112000"/>
              </a:lnSpc>
              <a:buNone/>
            </a:pPr>
            <a:r>
              <a:rPr sz="1400" b="1" i="0">
                <a:solidFill>
                  <a:srgbClr val="000F65"/>
                </a:solidFill>
                <a:latin typeface="Arial"/>
                <a:ea typeface="MS PGothic"/>
              </a:rPr>
              <a:t>지연 보상·시간 정렬 구현</a:t>
            </a:r>
          </a:p>
          <a:p>
            <a:pPr algn="l" marL="0" indent="0">
              <a:lnSpc>
                <a:spcPct val="112000"/>
              </a:lnSpc>
              <a:spcBef>
                <a:spcPts val="200"/>
              </a:spcBef>
              <a:buNone/>
            </a:pPr>
            <a:r>
              <a:rPr sz="1150" b="0" i="0">
                <a:solidFill>
                  <a:srgbClr val="333333"/>
                </a:solidFill>
                <a:latin typeface="Arial"/>
                <a:ea typeface="MS PGothic"/>
              </a:rPr>
              <a:t>과거 상태 보정 및 재추정 적용</a:t>
            </a:r>
          </a:p>
          <a:p>
            <a:pPr algn="l" marL="0" indent="0">
              <a:lnSpc>
                <a:spcPct val="112000"/>
              </a:lnSpc>
              <a:spcBef>
                <a:spcPts val="200"/>
              </a:spcBef>
              <a:buNone/>
            </a:pPr>
            <a:r>
              <a:rPr sz="1050" b="0" i="0">
                <a:solidFill>
                  <a:srgbClr val="666666"/>
                </a:solidFill>
                <a:latin typeface="Arial"/>
                <a:ea typeface="MS PGothic"/>
              </a:rPr>
              <a:t>→ 시간 처리를 포함한 · 다중센서 융합 추정기</a:t>
            </a:r>
          </a:p>
        </p:txBody>
      </p:sp>
      <p:sp>
        <p:nvSpPr>
          <p:cNvPr id="18" name="TextBox 17"/>
          <p:cNvSpPr txBox="1"/>
          <p:nvPr/>
        </p:nvSpPr>
        <p:spPr>
          <a:xfrm>
            <a:off x="502920" y="4389120"/>
            <a:ext cx="4023360" cy="786384"/>
          </a:xfrm>
          <a:prstGeom prst="rect">
            <a:avLst/>
          </a:prstGeom>
          <a:noFill/>
        </p:spPr>
        <p:txBody>
          <a:bodyPr wrap="square" anchor="ctr" lIns="109728" rIns="109728" tIns="73152" bIns="73152">
            <a:spAutoFit/>
          </a:bodyPr>
          <a:lstStyle/>
          <a:p>
            <a:pPr algn="l" marL="0" indent="0">
              <a:lnSpc>
                <a:spcPct val="112000"/>
              </a:lnSpc>
              <a:buNone/>
            </a:pPr>
            <a:r>
              <a:rPr sz="1400" b="1" i="0">
                <a:solidFill>
                  <a:srgbClr val="000F65"/>
                </a:solidFill>
                <a:latin typeface="Arial"/>
                <a:ea typeface="MS PGothic"/>
              </a:rPr>
              <a:t>시간 처리 적용 전·후 비교</a:t>
            </a:r>
          </a:p>
          <a:p>
            <a:pPr algn="l" marL="0" indent="0">
              <a:lnSpc>
                <a:spcPct val="112000"/>
              </a:lnSpc>
              <a:spcBef>
                <a:spcPts val="200"/>
              </a:spcBef>
              <a:buNone/>
            </a:pPr>
            <a:r>
              <a:rPr sz="1150" b="0" i="0">
                <a:solidFill>
                  <a:srgbClr val="333333"/>
                </a:solidFill>
                <a:latin typeface="Arial"/>
                <a:ea typeface="MS PGothic"/>
              </a:rPr>
              <a:t>추정 오차·처리시간 분석</a:t>
            </a:r>
          </a:p>
          <a:p>
            <a:pPr algn="l" marL="0" indent="0">
              <a:lnSpc>
                <a:spcPct val="112000"/>
              </a:lnSpc>
              <a:spcBef>
                <a:spcPts val="200"/>
              </a:spcBef>
              <a:buNone/>
            </a:pPr>
            <a:r>
              <a:rPr sz="1050" b="0" i="0">
                <a:solidFill>
                  <a:srgbClr val="666666"/>
                </a:solidFill>
                <a:latin typeface="Arial"/>
                <a:ea typeface="MS PGothic"/>
              </a:rPr>
              <a:t>→ 효과와 적용 한계 정리 · 최종 보고서 및 발표</a:t>
            </a:r>
          </a:p>
        </p:txBody>
      </p:sp>
      <p:cxnSp>
        <p:nvCxnSpPr>
          <p:cNvPr id="19" name="Connector 18"/>
          <p:cNvCxnSpPr/>
          <p:nvPr/>
        </p:nvCxnSpPr>
        <p:spPr>
          <a:xfrm>
            <a:off x="4572000" y="1773936"/>
            <a:ext cx="0" cy="3401568"/>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257800" y="1773936"/>
            <a:ext cx="0" cy="3401568"/>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43600" y="1773936"/>
            <a:ext cx="0" cy="3401568"/>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629400" y="1773936"/>
            <a:ext cx="0" cy="3401568"/>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1773936"/>
            <a:ext cx="0" cy="3401568"/>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001000" y="1773936"/>
            <a:ext cx="0" cy="3401568"/>
          </a:xfrm>
          <a:prstGeom prst="line">
            <a:avLst/>
          </a:prstGeom>
          <a:ln w="6350">
            <a:solidFill>
              <a:srgbClr val="BFBFBF"/>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686800" y="1773936"/>
            <a:ext cx="0" cy="3401568"/>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608576" y="2286000"/>
            <a:ext cx="612648" cy="274320"/>
          </a:xfrm>
          <a:prstGeom prst="rect">
            <a:avLst/>
          </a:prstGeom>
          <a:solidFill>
            <a:srgbClr val="8C96C9"/>
          </a:solidFill>
          <a:ln>
            <a:noFill/>
          </a:ln>
          <a:effectLst/>
        </p:spPr>
        <p:txBody>
          <a:bodyPr rtlCol="0" anchor="ctr"/>
          <a:lstStyle/>
          <a:p>
            <a:pPr algn="ctr"/>
          </a:p>
        </p:txBody>
      </p:sp>
      <p:sp>
        <p:nvSpPr>
          <p:cNvPr id="27" name="Rectangle 26"/>
          <p:cNvSpPr/>
          <p:nvPr/>
        </p:nvSpPr>
        <p:spPr>
          <a:xfrm>
            <a:off x="5294376" y="3072384"/>
            <a:ext cx="612648" cy="274320"/>
          </a:xfrm>
          <a:prstGeom prst="rect">
            <a:avLst/>
          </a:prstGeom>
          <a:solidFill>
            <a:srgbClr val="8C96C9"/>
          </a:solidFill>
          <a:ln>
            <a:noFill/>
          </a:ln>
          <a:effectLst/>
        </p:spPr>
        <p:txBody>
          <a:bodyPr rtlCol="0" anchor="ctr"/>
          <a:lstStyle/>
          <a:p>
            <a:pPr algn="ctr"/>
          </a:p>
        </p:txBody>
      </p:sp>
      <p:sp>
        <p:nvSpPr>
          <p:cNvPr id="28" name="Rectangle 27"/>
          <p:cNvSpPr/>
          <p:nvPr/>
        </p:nvSpPr>
        <p:spPr>
          <a:xfrm>
            <a:off x="5980176" y="3858768"/>
            <a:ext cx="1298448" cy="274320"/>
          </a:xfrm>
          <a:prstGeom prst="rect">
            <a:avLst/>
          </a:prstGeom>
          <a:solidFill>
            <a:srgbClr val="000F65"/>
          </a:solidFill>
          <a:ln>
            <a:noFill/>
          </a:ln>
          <a:effectLst/>
        </p:spPr>
        <p:txBody>
          <a:bodyPr rtlCol="0" anchor="ctr"/>
          <a:lstStyle/>
          <a:p>
            <a:pPr algn="ctr"/>
          </a:p>
        </p:txBody>
      </p:sp>
      <p:sp>
        <p:nvSpPr>
          <p:cNvPr id="29" name="Rectangle 28"/>
          <p:cNvSpPr/>
          <p:nvPr/>
        </p:nvSpPr>
        <p:spPr>
          <a:xfrm>
            <a:off x="7351775" y="4645152"/>
            <a:ext cx="1298448" cy="274320"/>
          </a:xfrm>
          <a:prstGeom prst="rect">
            <a:avLst/>
          </a:prstGeom>
          <a:solidFill>
            <a:srgbClr val="8C96C9"/>
          </a:solidFill>
          <a:ln>
            <a:noFill/>
          </a:ln>
          <a:effectLst/>
        </p:spPr>
        <p:txBody>
          <a:bodyPr rtlCol="0" anchor="ctr"/>
          <a:lstStyle/>
          <a:p>
            <a:pPr algn="ctr"/>
          </a:p>
        </p:txBody>
      </p:sp>
      <p:sp>
        <p:nvSpPr>
          <p:cNvPr id="30" name="Rounded Rectangle 29"/>
          <p:cNvSpPr/>
          <p:nvPr/>
        </p:nvSpPr>
        <p:spPr>
          <a:xfrm>
            <a:off x="457200" y="5349240"/>
            <a:ext cx="8229600" cy="658368"/>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600" b="1" i="0">
                <a:solidFill>
                  <a:srgbClr val="FFFFFF"/>
                </a:solidFill>
                <a:latin typeface="Arial"/>
                <a:ea typeface="MS PGothic"/>
              </a:rPr>
              <a:t>최종 목표:  시간 처리를 포함한 다중센서 융합 추정기 구현과 효과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a:t>
            </a:r>
          </a:p>
        </p:txBody>
      </p:sp>
      <p:nvGrpSpPr>
        <p:cNvPr id="1" name=""/>
        <p:cNvGrpSpPr/>
        <p:nvPr/>
      </p:nvGrpSpPr>
      <p:sp>
        <p:nvSpPr>
          <p:cNvPr id="3" name="Rectangle 2"/>
          <p:cNvSpPr/>
          <p:nvPr/>
        </p:nvSpPr>
        <p:spPr>
          <a:xfrm>
            <a:off x="457200" y="1051560"/>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1</a:t>
            </a:r>
          </a:p>
        </p:txBody>
      </p:sp>
      <p:sp>
        <p:nvSpPr>
          <p:cNvPr id="4" name="Rectangle 3"/>
          <p:cNvSpPr/>
          <p:nvPr/>
        </p:nvSpPr>
        <p:spPr>
          <a:xfrm>
            <a:off x="932688" y="1051560"/>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M. Kim and C. Ahn, “State Estimation of Preceding Target Vehicle Using Radar and V2X,” IEEE Access, vol. 13, pp. 198482–198495, 2025.</a:t>
            </a:r>
          </a:p>
        </p:txBody>
      </p:sp>
      <p:sp>
        <p:nvSpPr>
          <p:cNvPr id="5" name="Rectangle 4"/>
          <p:cNvSpPr/>
          <p:nvPr/>
        </p:nvSpPr>
        <p:spPr>
          <a:xfrm>
            <a:off x="457200" y="1472184"/>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2</a:t>
            </a:r>
          </a:p>
        </p:txBody>
      </p:sp>
      <p:sp>
        <p:nvSpPr>
          <p:cNvPr id="6" name="Rectangle 5"/>
          <p:cNvSpPr/>
          <p:nvPr/>
        </p:nvSpPr>
        <p:spPr>
          <a:xfrm>
            <a:off x="932688" y="1472184"/>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A. I. Mourikis and S. I. Roumeliotis, “A Multi-State Constraint Kalman Filter for Vision-aided Inertial Navigation,” IEEE ICRA, pp. 3565–3572, 2007.</a:t>
            </a:r>
          </a:p>
        </p:txBody>
      </p:sp>
      <p:sp>
        <p:nvSpPr>
          <p:cNvPr id="7" name="Rectangle 6"/>
          <p:cNvSpPr/>
          <p:nvPr/>
        </p:nvSpPr>
        <p:spPr>
          <a:xfrm>
            <a:off x="457200" y="1892807"/>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3</a:t>
            </a:r>
          </a:p>
        </p:txBody>
      </p:sp>
      <p:sp>
        <p:nvSpPr>
          <p:cNvPr id="8" name="Rectangle 7"/>
          <p:cNvSpPr/>
          <p:nvPr/>
        </p:nvSpPr>
        <p:spPr>
          <a:xfrm>
            <a:off x="932688" y="1892807"/>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P. Geneva et al., “OpenVINS: A Research Platform for Visual-Inertial Estimation,” IEEE ICRA, pp. 4666–4672, 2020.</a:t>
            </a:r>
          </a:p>
        </p:txBody>
      </p:sp>
      <p:sp>
        <p:nvSpPr>
          <p:cNvPr id="9" name="Rectangle 8"/>
          <p:cNvSpPr/>
          <p:nvPr/>
        </p:nvSpPr>
        <p:spPr>
          <a:xfrm>
            <a:off x="457200" y="2313432"/>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4</a:t>
            </a:r>
          </a:p>
        </p:txBody>
      </p:sp>
      <p:sp>
        <p:nvSpPr>
          <p:cNvPr id="10" name="Rectangle 9"/>
          <p:cNvSpPr/>
          <p:nvPr/>
        </p:nvSpPr>
        <p:spPr>
          <a:xfrm>
            <a:off x="932688" y="2313432"/>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D. S. Bayard et al., “Vision-Based Navigation for the NASA Mars Helicopter,” AIAA SciTech Forum, 2019.</a:t>
            </a:r>
          </a:p>
        </p:txBody>
      </p:sp>
      <p:sp>
        <p:nvSpPr>
          <p:cNvPr id="11" name="Rectangle 10"/>
          <p:cNvSpPr/>
          <p:nvPr/>
        </p:nvSpPr>
        <p:spPr>
          <a:xfrm>
            <a:off x="457200" y="2734056"/>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5</a:t>
            </a:r>
          </a:p>
        </p:txBody>
      </p:sp>
      <p:sp>
        <p:nvSpPr>
          <p:cNvPr id="12" name="Rectangle 11"/>
          <p:cNvSpPr/>
          <p:nvPr/>
        </p:nvSpPr>
        <p:spPr>
          <a:xfrm>
            <a:off x="932688" y="2734056"/>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B. D. Lucas and T. Kanade, “An Iterative Image Registration Technique with an Application to Stereo Vision,” IJCAI, 1981.</a:t>
            </a:r>
          </a:p>
        </p:txBody>
      </p:sp>
      <p:sp>
        <p:nvSpPr>
          <p:cNvPr id="13" name="Rectangle 12"/>
          <p:cNvSpPr/>
          <p:nvPr/>
        </p:nvSpPr>
        <p:spPr>
          <a:xfrm>
            <a:off x="457200" y="3154679"/>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6</a:t>
            </a:r>
          </a:p>
        </p:txBody>
      </p:sp>
      <p:sp>
        <p:nvSpPr>
          <p:cNvPr id="14" name="Rectangle 13"/>
          <p:cNvSpPr/>
          <p:nvPr/>
        </p:nvSpPr>
        <p:spPr>
          <a:xfrm>
            <a:off x="932688" y="3154679"/>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T. Qin and S. Shen, “Online Temporal Calibration for Monocular Visual-Inertial Systems,” IEEE/RSJ IROS, 2018.</a:t>
            </a:r>
          </a:p>
        </p:txBody>
      </p:sp>
      <p:sp>
        <p:nvSpPr>
          <p:cNvPr id="15" name="Rectangle 14"/>
          <p:cNvSpPr/>
          <p:nvPr/>
        </p:nvSpPr>
        <p:spPr>
          <a:xfrm>
            <a:off x="457200" y="3575303"/>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7</a:t>
            </a:r>
          </a:p>
        </p:txBody>
      </p:sp>
      <p:sp>
        <p:nvSpPr>
          <p:cNvPr id="16" name="Rectangle 15"/>
          <p:cNvSpPr/>
          <p:nvPr/>
        </p:nvSpPr>
        <p:spPr>
          <a:xfrm>
            <a:off x="932688" y="3575303"/>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S. Lynen et al., “A Robust and Modular Multi-Sensor Fusion Approach Applied to MAV Navigation,” IEEE/RSJ IROS, 2013.</a:t>
            </a:r>
          </a:p>
        </p:txBody>
      </p:sp>
      <p:sp>
        <p:nvSpPr>
          <p:cNvPr id="17" name="Rectangle 16"/>
          <p:cNvSpPr/>
          <p:nvPr/>
        </p:nvSpPr>
        <p:spPr>
          <a:xfrm>
            <a:off x="457200" y="3995927"/>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8</a:t>
            </a:r>
          </a:p>
        </p:txBody>
      </p:sp>
      <p:sp>
        <p:nvSpPr>
          <p:cNvPr id="18" name="Rectangle 17"/>
          <p:cNvSpPr/>
          <p:nvPr/>
        </p:nvSpPr>
        <p:spPr>
          <a:xfrm>
            <a:off x="932688" y="3995927"/>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Z. Zhang and D. Scaramuzza, “A Tutorial on Quantitative Trajectory Evaluation for Visual(-Inertial) Odometry,” IEEE/RSJ IROS, 2018.</a:t>
            </a:r>
          </a:p>
        </p:txBody>
      </p:sp>
      <p:sp>
        <p:nvSpPr>
          <p:cNvPr id="19" name="Rectangle 18"/>
          <p:cNvSpPr/>
          <p:nvPr/>
        </p:nvSpPr>
        <p:spPr>
          <a:xfrm>
            <a:off x="457200" y="4416552"/>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9</a:t>
            </a:r>
          </a:p>
        </p:txBody>
      </p:sp>
      <p:sp>
        <p:nvSpPr>
          <p:cNvPr id="20" name="Rectangle 19"/>
          <p:cNvSpPr/>
          <p:nvPr/>
        </p:nvSpPr>
        <p:spPr>
          <a:xfrm>
            <a:off x="932688" y="4416552"/>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P. D. Groves, Principles of GNSS, Inertial, and Multisensor Integrated Navigation Systems, 2nd ed., Artech House, 2013.</a:t>
            </a:r>
          </a:p>
        </p:txBody>
      </p:sp>
      <p:sp>
        <p:nvSpPr>
          <p:cNvPr id="21" name="Rectangle 20"/>
          <p:cNvSpPr/>
          <p:nvPr/>
        </p:nvSpPr>
        <p:spPr>
          <a:xfrm>
            <a:off x="457200" y="4837175"/>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10</a:t>
            </a:r>
          </a:p>
        </p:txBody>
      </p:sp>
      <p:sp>
        <p:nvSpPr>
          <p:cNvPr id="22" name="Rectangle 21"/>
          <p:cNvSpPr/>
          <p:nvPr/>
        </p:nvSpPr>
        <p:spPr>
          <a:xfrm>
            <a:off x="932688" y="4837175"/>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PX4 Autopilot User Guide, “Optical Flow” and “Using PX4's Navigation Filter (EKF2)”, docs.px4.io (2026. 10. 확인).</a:t>
            </a:r>
          </a:p>
        </p:txBody>
      </p:sp>
      <p:sp>
        <p:nvSpPr>
          <p:cNvPr id="23" name="Rectangle 22"/>
          <p:cNvSpPr/>
          <p:nvPr/>
        </p:nvSpPr>
        <p:spPr>
          <a:xfrm>
            <a:off x="457200" y="5257800"/>
            <a:ext cx="411480" cy="384048"/>
          </a:xfrm>
          <a:prstGeom prst="rect">
            <a:avLst/>
          </a:prstGeom>
          <a:solidFill>
            <a:srgbClr val="000F65"/>
          </a:solidFill>
          <a:ln>
            <a:noFill/>
          </a:ln>
          <a:effectLst/>
        </p:spPr>
        <p:txBody>
          <a:bodyPr rtlCol="0" anchor="ctr" wrap="square" lIns="18288" rIns="18288" tIns="18288" bIns="18288"/>
          <a:lstStyle/>
          <a:p>
            <a:pPr algn="ctr" marL="0" indent="0">
              <a:lnSpc>
                <a:spcPct val="112000"/>
              </a:lnSpc>
              <a:buNone/>
            </a:pPr>
            <a:r>
              <a:rPr sz="1300" b="1" i="0">
                <a:solidFill>
                  <a:srgbClr val="FFFFFF"/>
                </a:solidFill>
                <a:latin typeface="Arial"/>
                <a:ea typeface="MS PGothic"/>
              </a:rPr>
              <a:t>11</a:t>
            </a:r>
          </a:p>
        </p:txBody>
      </p:sp>
      <p:sp>
        <p:nvSpPr>
          <p:cNvPr id="24" name="Rectangle 23"/>
          <p:cNvSpPr/>
          <p:nvPr/>
        </p:nvSpPr>
        <p:spPr>
          <a:xfrm>
            <a:off x="932688" y="5257800"/>
            <a:ext cx="7754112" cy="384048"/>
          </a:xfrm>
          <a:prstGeom prst="rect">
            <a:avLst/>
          </a:prstGeom>
          <a:solidFill>
            <a:srgbClr val="DAEDEF"/>
          </a:solidFill>
          <a:ln>
            <a:noFill/>
          </a:ln>
          <a:effectLst/>
        </p:spPr>
        <p:txBody>
          <a:bodyPr rtlCol="0" anchor="ctr" wrap="square" lIns="109728" rIns="109728"/>
          <a:lstStyle/>
          <a:p>
            <a:pPr algn="l" marL="0" indent="0">
              <a:lnSpc>
                <a:spcPct val="112000"/>
              </a:lnSpc>
              <a:buNone/>
            </a:pPr>
            <a:r>
              <a:rPr sz="950" b="0" i="0">
                <a:solidFill>
                  <a:srgbClr val="333333"/>
                </a:solidFill>
                <a:latin typeface="Arial"/>
                <a:ea typeface="MS PGothic"/>
              </a:rPr>
              <a:t>C. Brommer et al., “The INSANE Dataset: Large Number of Sensors for Challenging UAV Flights in Mars Analog, Outdoor, and Out-/Indoor Transition Scenarios,” IJRR, vol. 43, no. 8, 2024.</a:t>
            </a:r>
          </a:p>
        </p:txBody>
      </p:sp>
      <p:sp>
        <p:nvSpPr>
          <p:cNvPr id="25" name="TextBox 24"/>
          <p:cNvSpPr txBox="1"/>
          <p:nvPr/>
        </p:nvSpPr>
        <p:spPr>
          <a:xfrm>
            <a:off x="457200" y="5650992"/>
            <a:ext cx="8229600" cy="457200"/>
          </a:xfrm>
          <a:prstGeom prst="rect">
            <a:avLst/>
          </a:prstGeom>
          <a:noFill/>
        </p:spPr>
        <p:txBody>
          <a:bodyPr wrap="square" anchor="ctr" lIns="109728" rIns="109728" tIns="73152" bIns="73152">
            <a:spAutoFit/>
          </a:bodyPr>
          <a:lstStyle/>
          <a:p>
            <a:pPr algn="ctr" marL="0" indent="0">
              <a:lnSpc>
                <a:spcPct val="112000"/>
              </a:lnSpc>
              <a:buNone/>
            </a:pPr>
            <a:r>
              <a:rPr sz="2000" b="1" i="0">
                <a:solidFill>
                  <a:srgbClr val="000F65"/>
                </a:solidFill>
                <a:latin typeface="Arial"/>
                <a:ea typeface="MS PGothic"/>
              </a:rPr>
              <a:t>감사합니다  </a:t>
            </a:r>
          </a:p>
        </p:txBody>
      </p:sp>
    </p:spTree>
    <p:extLst>
      <p:ext uri="{BB962C8B-B14F-4D97-AF65-F5344CB8AC3E}">
        <p14:creationId xmlns:p14="http://schemas.microsoft.com/office/powerpoint/2010/main" val="37135085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구현 및 평가 계획</a:t>
            </a:r>
          </a:p>
        </p:txBody>
      </p:sp>
      <p:sp>
        <p:nvSpPr>
          <p:cNvPr id="3" name="TextBox 2"/>
          <p:cNvSpPr txBox="1"/>
          <p:nvPr/>
        </p:nvSpPr>
        <p:spPr>
          <a:xfrm>
            <a:off x="457200" y="1024128"/>
            <a:ext cx="8229600" cy="502920"/>
          </a:xfrm>
          <a:prstGeom prst="rect">
            <a:avLst/>
          </a:prstGeom>
          <a:noFill/>
        </p:spPr>
        <p:txBody>
          <a:bodyPr wrap="square" anchor="ctr" lIns="109728" rIns="109728" tIns="73152" bIns="73152">
            <a:spAutoFit/>
          </a:bodyPr>
          <a:lstStyle/>
          <a:p>
            <a:pPr algn="ctr" marL="0" indent="0">
              <a:lnSpc>
                <a:spcPct val="112000"/>
              </a:lnSpc>
              <a:buNone/>
            </a:pPr>
            <a:r>
              <a:rPr sz="1900" b="1" i="0">
                <a:solidFill>
                  <a:srgbClr val="000F65"/>
                </a:solidFill>
                <a:latin typeface="Arial"/>
                <a:ea typeface="MS PGothic"/>
              </a:rPr>
              <a:t>드론 공개 데이터로 영상 처리는 Python, 융합·평가는 MATLAB에서 수행</a:t>
            </a:r>
          </a:p>
        </p:txBody>
      </p:sp>
      <p:sp>
        <p:nvSpPr>
          <p:cNvPr id="4" name="Rounded Rectangle 3"/>
          <p:cNvSpPr/>
          <p:nvPr/>
        </p:nvSpPr>
        <p:spPr>
          <a:xfrm>
            <a:off x="457200" y="1627632"/>
            <a:ext cx="2560320" cy="457200"/>
          </a:xfrm>
          <a:prstGeom prst="roundRect">
            <a:avLst>
              <a:gd name="adj" fmla="val 8000"/>
            </a:avLst>
          </a:prstGeom>
          <a:solidFill>
            <a:srgbClr val="DAEDEF"/>
          </a:solidFill>
          <a:ln>
            <a:noFill/>
          </a:ln>
          <a:effectLst/>
        </p:spPr>
        <p:txBody>
          <a:bodyPr rtlCol="0" anchor="ctr" wrap="square" lIns="109728" rIns="109728" tIns="73152" bIns="73152"/>
          <a:lstStyle/>
          <a:p>
            <a:pPr algn="ctr" marL="0" indent="0">
              <a:lnSpc>
                <a:spcPct val="112000"/>
              </a:lnSpc>
              <a:buNone/>
            </a:pPr>
            <a:r>
              <a:rPr sz="1500" b="1" i="0">
                <a:solidFill>
                  <a:srgbClr val="000F65"/>
                </a:solidFill>
                <a:latin typeface="Arial"/>
                <a:ea typeface="MS PGothic"/>
              </a:rPr>
              <a:t>데이터  INSANE</a:t>
            </a:r>
          </a:p>
        </p:txBody>
      </p:sp>
      <p:sp>
        <p:nvSpPr>
          <p:cNvPr id="5" name="Rounded Rectangle 4"/>
          <p:cNvSpPr/>
          <p:nvPr/>
        </p:nvSpPr>
        <p:spPr>
          <a:xfrm>
            <a:off x="457200" y="2139696"/>
            <a:ext cx="2560320" cy="1572768"/>
          </a:xfrm>
          <a:prstGeom prst="roundRect">
            <a:avLst>
              <a:gd name="adj" fmla="val 8000"/>
            </a:avLst>
          </a:prstGeom>
          <a:noFill/>
          <a:ln w="12700">
            <a:solidFill>
              <a:srgbClr val="8C96C9"/>
            </a:solidFill>
          </a:ln>
          <a:effectLst/>
        </p:spPr>
        <p:txBody>
          <a:bodyPr rtlCol="0" anchor="t" wrap="square" lIns="73152" rIns="73152" tIns="73152" bIns="73152"/>
          <a:lstStyle/>
          <a:p>
            <a:pPr algn="l" marL="256032" indent="-219456">
              <a:lnSpc>
                <a:spcPct val="112000"/>
              </a:lnSpc>
              <a:spcBef>
                <a:spcPts val="300"/>
              </a:spcBef>
              <a:buSzPct val="70000"/>
              <a:buFont typeface="MS PGothic"/>
              <a:buChar char="◆"/>
            </a:pPr>
            <a:r>
              <a:rPr sz="1200" b="0" i="0">
                <a:solidFill>
                  <a:srgbClr val="333333"/>
                </a:solidFill>
                <a:latin typeface="Arial"/>
                <a:ea typeface="MS PGothic"/>
              </a:rPr>
              <a:t>하향 카메라 20 Hz</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레이저 거리계 30 Hz</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IMU 200 Hz 이상 (복수)</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CSV + PNG, 타임스탬프 포함</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실내 구간: OptiTrack 정답 궤적</a:t>
            </a:r>
          </a:p>
        </p:txBody>
      </p:sp>
      <p:sp>
        <p:nvSpPr>
          <p:cNvPr id="6" name="Right Arrow 5"/>
          <p:cNvSpPr/>
          <p:nvPr/>
        </p:nvSpPr>
        <p:spPr>
          <a:xfrm>
            <a:off x="3035808" y="1719072"/>
            <a:ext cx="237744" cy="274320"/>
          </a:xfrm>
          <a:prstGeom prst="rightArrow">
            <a:avLst/>
          </a:prstGeom>
          <a:solidFill>
            <a:srgbClr val="333399"/>
          </a:solidFill>
          <a:ln>
            <a:noFill/>
          </a:ln>
          <a:effectLst/>
        </p:spPr>
        <p:txBody>
          <a:bodyPr rtlCol="0" anchor="ctr"/>
          <a:lstStyle/>
          <a:p>
            <a:pPr algn="ctr"/>
          </a:p>
        </p:txBody>
      </p:sp>
      <p:sp>
        <p:nvSpPr>
          <p:cNvPr id="7" name="Rounded Rectangle 6"/>
          <p:cNvSpPr/>
          <p:nvPr/>
        </p:nvSpPr>
        <p:spPr>
          <a:xfrm>
            <a:off x="3291839" y="1627632"/>
            <a:ext cx="2560320" cy="457200"/>
          </a:xfrm>
          <a:prstGeom prst="roundRect">
            <a:avLst>
              <a:gd name="adj" fmla="val 8000"/>
            </a:avLst>
          </a:prstGeom>
          <a:solidFill>
            <a:srgbClr val="333399"/>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Python  ·  OpenCV</a:t>
            </a:r>
          </a:p>
        </p:txBody>
      </p:sp>
      <p:sp>
        <p:nvSpPr>
          <p:cNvPr id="8" name="Rounded Rectangle 7"/>
          <p:cNvSpPr/>
          <p:nvPr/>
        </p:nvSpPr>
        <p:spPr>
          <a:xfrm>
            <a:off x="3291839" y="2139696"/>
            <a:ext cx="2560320" cy="1572768"/>
          </a:xfrm>
          <a:prstGeom prst="roundRect">
            <a:avLst>
              <a:gd name="adj" fmla="val 8000"/>
            </a:avLst>
          </a:prstGeom>
          <a:noFill/>
          <a:ln w="12700">
            <a:solidFill>
              <a:srgbClr val="8C96C9"/>
            </a:solidFill>
          </a:ln>
          <a:effectLst/>
        </p:spPr>
        <p:txBody>
          <a:bodyPr rtlCol="0" anchor="t" wrap="square" lIns="73152" rIns="73152" tIns="73152" bIns="73152"/>
          <a:lstStyle/>
          <a:p>
            <a:pPr algn="l" marL="256032" indent="-219456">
              <a:lnSpc>
                <a:spcPct val="112000"/>
              </a:lnSpc>
              <a:spcBef>
                <a:spcPts val="300"/>
              </a:spcBef>
              <a:buSzPct val="70000"/>
              <a:buFont typeface="MS PGothic"/>
              <a:buChar char="◆"/>
            </a:pPr>
            <a:r>
              <a:rPr sz="1200" b="0" i="0">
                <a:solidFill>
                  <a:srgbClr val="333333"/>
                </a:solidFill>
                <a:latin typeface="Arial"/>
                <a:ea typeface="MS PGothic"/>
              </a:rPr>
              <a:t>Shi–Tomasi + KLT 추적</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프레임별 영상 이동 계산</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프레임별 처리시간 기록</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CSV 저장 (시간 단위 s)</a:t>
            </a:r>
          </a:p>
        </p:txBody>
      </p:sp>
      <p:sp>
        <p:nvSpPr>
          <p:cNvPr id="9" name="Right Arrow 8"/>
          <p:cNvSpPr/>
          <p:nvPr/>
        </p:nvSpPr>
        <p:spPr>
          <a:xfrm>
            <a:off x="5870447" y="1719072"/>
            <a:ext cx="237744" cy="274320"/>
          </a:xfrm>
          <a:prstGeom prst="rightArrow">
            <a:avLst/>
          </a:prstGeom>
          <a:solidFill>
            <a:srgbClr val="333399"/>
          </a:solidFill>
          <a:ln>
            <a:noFill/>
          </a:ln>
          <a:effectLst/>
        </p:spPr>
        <p:txBody>
          <a:bodyPr rtlCol="0" anchor="ctr"/>
          <a:lstStyle/>
          <a:p>
            <a:pPr algn="ctr"/>
          </a:p>
        </p:txBody>
      </p:sp>
      <p:sp>
        <p:nvSpPr>
          <p:cNvPr id="10" name="Rounded Rectangle 9"/>
          <p:cNvSpPr/>
          <p:nvPr/>
        </p:nvSpPr>
        <p:spPr>
          <a:xfrm>
            <a:off x="6126479" y="1627632"/>
            <a:ext cx="2560320" cy="457200"/>
          </a:xfrm>
          <a:prstGeom prst="roundRect">
            <a:avLst>
              <a:gd name="adj" fmla="val 8000"/>
            </a:avLst>
          </a:prstGeom>
          <a:solidFill>
            <a:srgbClr val="000F65"/>
          </a:solidFill>
          <a:ln>
            <a:noFill/>
          </a:ln>
          <a:effectLst/>
        </p:spPr>
        <p:txBody>
          <a:bodyPr rtlCol="0" anchor="ctr" wrap="square" lIns="109728" rIns="109728" tIns="73152" bIns="73152"/>
          <a:lstStyle/>
          <a:p>
            <a:pPr algn="ctr" marL="0" indent="0">
              <a:lnSpc>
                <a:spcPct val="112000"/>
              </a:lnSpc>
              <a:buNone/>
            </a:pPr>
            <a:r>
              <a:rPr sz="1500" b="1" i="0">
                <a:solidFill>
                  <a:srgbClr val="FFFFFF"/>
                </a:solidFill>
                <a:latin typeface="Arial"/>
                <a:ea typeface="MS PGothic"/>
              </a:rPr>
              <a:t>MATLAB</a:t>
            </a:r>
          </a:p>
        </p:txBody>
      </p:sp>
      <p:sp>
        <p:nvSpPr>
          <p:cNvPr id="11" name="Rounded Rectangle 10"/>
          <p:cNvSpPr/>
          <p:nvPr/>
        </p:nvSpPr>
        <p:spPr>
          <a:xfrm>
            <a:off x="6126479" y="2139696"/>
            <a:ext cx="2560320" cy="1572768"/>
          </a:xfrm>
          <a:prstGeom prst="roundRect">
            <a:avLst>
              <a:gd name="adj" fmla="val 8000"/>
            </a:avLst>
          </a:prstGeom>
          <a:noFill/>
          <a:ln w="12700">
            <a:solidFill>
              <a:srgbClr val="8C96C9"/>
            </a:solidFill>
          </a:ln>
          <a:effectLst/>
        </p:spPr>
        <p:txBody>
          <a:bodyPr rtlCol="0" anchor="t" wrap="square" lIns="73152" rIns="73152" tIns="73152" bIns="73152"/>
          <a:lstStyle/>
          <a:p>
            <a:pPr algn="l" marL="256032" indent="-219456">
              <a:lnSpc>
                <a:spcPct val="112000"/>
              </a:lnSpc>
              <a:spcBef>
                <a:spcPts val="300"/>
              </a:spcBef>
              <a:buSzPct val="70000"/>
              <a:buFont typeface="MS PGothic"/>
              <a:buChar char="◆"/>
            </a:pPr>
            <a:r>
              <a:rPr sz="1200" b="0" i="0">
                <a:solidFill>
                  <a:srgbClr val="333333"/>
                </a:solidFill>
                <a:latin typeface="Arial"/>
                <a:ea typeface="MS PGothic"/>
              </a:rPr>
              <a:t>EKF 상태·측정 모델</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버퍼 저장·재추정 시간 처리</a:t>
            </a:r>
          </a:p>
          <a:p>
            <a:pPr algn="l" marL="256032" indent="-219456">
              <a:lnSpc>
                <a:spcPct val="112000"/>
              </a:lnSpc>
              <a:spcBef>
                <a:spcPts val="300"/>
              </a:spcBef>
              <a:buSzPct val="70000"/>
              <a:buFont typeface="MS PGothic"/>
              <a:buChar char="◆"/>
            </a:pPr>
            <a:r>
              <a:rPr sz="1200" b="0" i="0">
                <a:solidFill>
                  <a:srgbClr val="333333"/>
                </a:solidFill>
                <a:latin typeface="Arial"/>
                <a:ea typeface="MS PGothic"/>
              </a:rPr>
              <a:t>오차 계산·결과 그래프</a:t>
            </a:r>
          </a:p>
        </p:txBody>
      </p:sp>
      <p:sp>
        <p:nvSpPr>
          <p:cNvPr id="12" name="Rounded Rectangle 11"/>
          <p:cNvSpPr/>
          <p:nvPr/>
        </p:nvSpPr>
        <p:spPr>
          <a:xfrm>
            <a:off x="457200" y="3886200"/>
            <a:ext cx="4023360" cy="1417320"/>
          </a:xfrm>
          <a:prstGeom prst="roundRect">
            <a:avLst>
              <a:gd name="adj" fmla="val 8000"/>
            </a:avLst>
          </a:prstGeom>
          <a:solidFill>
            <a:srgbClr val="DAEDEF"/>
          </a:solidFill>
          <a:ln>
            <a:noFill/>
          </a:ln>
          <a:effectLst/>
        </p:spPr>
        <p:txBody>
          <a:bodyPr rtlCol="0" anchor="ctr" wrap="square" lIns="164592" rIns="164592" tIns="73152" bIns="73152"/>
          <a:lstStyle/>
          <a:p>
            <a:pPr algn="l" marL="0" indent="0">
              <a:lnSpc>
                <a:spcPct val="112000"/>
              </a:lnSpc>
              <a:buNone/>
            </a:pPr>
            <a:r>
              <a:rPr sz="1450" b="1" i="0">
                <a:solidFill>
                  <a:srgbClr val="000F65"/>
                </a:solidFill>
                <a:latin typeface="Arial"/>
                <a:ea typeface="MS PGothic"/>
              </a:rPr>
              <a:t>비교 조건</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A. 지연 무시</a:t>
            </a:r>
            <a:r>
              <a:rPr sz="1250" b="0" i="0">
                <a:solidFill>
                  <a:srgbClr val="333333"/>
                </a:solidFill>
                <a:latin typeface="Arial"/>
                <a:ea typeface="MS PGothic"/>
              </a:rPr>
              <a:t>: 도착한 측정을 바로 보정</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B. 시간 처리</a:t>
            </a:r>
            <a:r>
              <a:rPr sz="1250" b="0" i="0">
                <a:solidFill>
                  <a:srgbClr val="333333"/>
                </a:solidFill>
                <a:latin typeface="Arial"/>
                <a:ea typeface="MS PGothic"/>
              </a:rPr>
              <a:t>: 측정 시점 보정 후 재추정</a:t>
            </a:r>
          </a:p>
          <a:p>
            <a:pPr algn="l" marL="256032" indent="-219456">
              <a:lnSpc>
                <a:spcPct val="112000"/>
              </a:lnSpc>
              <a:spcBef>
                <a:spcPts val="300"/>
              </a:spcBef>
              <a:buSzPct val="70000"/>
              <a:buFont typeface="MS PGothic"/>
              <a:buChar char="◆"/>
            </a:pPr>
            <a:r>
              <a:rPr sz="1250" b="0" i="0">
                <a:solidFill>
                  <a:srgbClr val="333333"/>
                </a:solidFill>
                <a:latin typeface="Arial"/>
                <a:ea typeface="MS PGothic"/>
              </a:rPr>
              <a:t>지연 = 실측 처리시간 + 추가 0·25·50·100 ms</a:t>
            </a:r>
          </a:p>
        </p:txBody>
      </p:sp>
      <p:sp>
        <p:nvSpPr>
          <p:cNvPr id="13" name="Rounded Rectangle 12"/>
          <p:cNvSpPr/>
          <p:nvPr/>
        </p:nvSpPr>
        <p:spPr>
          <a:xfrm>
            <a:off x="4663440" y="3886200"/>
            <a:ext cx="4023360" cy="1417320"/>
          </a:xfrm>
          <a:prstGeom prst="roundRect">
            <a:avLst>
              <a:gd name="adj" fmla="val 8000"/>
            </a:avLst>
          </a:prstGeom>
          <a:solidFill>
            <a:srgbClr val="DAEDEF"/>
          </a:solidFill>
          <a:ln>
            <a:noFill/>
          </a:ln>
          <a:effectLst/>
        </p:spPr>
        <p:txBody>
          <a:bodyPr rtlCol="0" anchor="ctr" wrap="square" lIns="164592" rIns="164592" tIns="73152" bIns="73152"/>
          <a:lstStyle/>
          <a:p>
            <a:pPr algn="l" marL="0" indent="0">
              <a:lnSpc>
                <a:spcPct val="112000"/>
              </a:lnSpc>
              <a:buNone/>
            </a:pPr>
            <a:r>
              <a:rPr sz="1450" b="1" i="0">
                <a:solidFill>
                  <a:srgbClr val="000F65"/>
                </a:solidFill>
                <a:latin typeface="Arial"/>
                <a:ea typeface="MS PGothic"/>
              </a:rPr>
              <a:t>평가 지표</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ATE</a:t>
            </a:r>
            <a:r>
              <a:rPr sz="1250" b="0" i="0">
                <a:solidFill>
                  <a:srgbClr val="333333"/>
                </a:solidFill>
                <a:latin typeface="Arial"/>
                <a:ea typeface="MS PGothic"/>
              </a:rPr>
              <a:t>: 위치 RMSE (위치+yaw 4자유도 정렬)</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RE</a:t>
            </a:r>
            <a:r>
              <a:rPr sz="1250" b="0" i="0">
                <a:solidFill>
                  <a:srgbClr val="333333"/>
                </a:solidFill>
                <a:latin typeface="Arial"/>
                <a:ea typeface="MS PGothic"/>
              </a:rPr>
              <a:t>: 이동 구간 길이별 상대 오차</a:t>
            </a:r>
          </a:p>
          <a:p>
            <a:pPr algn="l" marL="256032" indent="-219456">
              <a:lnSpc>
                <a:spcPct val="112000"/>
              </a:lnSpc>
              <a:spcBef>
                <a:spcPts val="300"/>
              </a:spcBef>
              <a:buSzPct val="70000"/>
              <a:buFont typeface="MS PGothic"/>
              <a:buChar char="◆"/>
            </a:pPr>
            <a:r>
              <a:rPr sz="1250" b="1" i="0">
                <a:solidFill>
                  <a:srgbClr val="000F65"/>
                </a:solidFill>
                <a:latin typeface="Arial"/>
                <a:ea typeface="MS PGothic"/>
              </a:rPr>
              <a:t>처리시간</a:t>
            </a:r>
            <a:r>
              <a:rPr sz="1250" b="0" i="0">
                <a:solidFill>
                  <a:srgbClr val="333333"/>
                </a:solidFill>
                <a:latin typeface="Arial"/>
                <a:ea typeface="MS PGothic"/>
              </a:rPr>
              <a:t>: 재추정에 드는 계산 비용</a:t>
            </a:r>
          </a:p>
        </p:txBody>
      </p:sp>
      <p:sp>
        <p:nvSpPr>
          <p:cNvPr id="14" name="TextBox 13"/>
          <p:cNvSpPr txBox="1"/>
          <p:nvPr/>
        </p:nvSpPr>
        <p:spPr>
          <a:xfrm>
            <a:off x="457200" y="5376672"/>
            <a:ext cx="8229600" cy="457200"/>
          </a:xfrm>
          <a:prstGeom prst="rect">
            <a:avLst/>
          </a:prstGeom>
          <a:noFill/>
        </p:spPr>
        <p:txBody>
          <a:bodyPr wrap="square" anchor="ctr" lIns="109728" rIns="109728" tIns="73152" bIns="73152">
            <a:spAutoFit/>
          </a:bodyPr>
          <a:lstStyle/>
          <a:p>
            <a:pPr algn="ctr" marL="0" indent="0">
              <a:lnSpc>
                <a:spcPct val="112000"/>
              </a:lnSpc>
              <a:buNone/>
            </a:pPr>
            <a:r>
              <a:rPr sz="1050" b="0" i="0">
                <a:solidFill>
                  <a:srgbClr val="666666"/>
                </a:solidFill>
                <a:latin typeface="Arial"/>
                <a:ea typeface="MS PGothic"/>
              </a:rPr>
              <a:t>데이터: Brommer et al. (2024) · 평가 방법: Zhang and Scaramuzza (2018) · 정답 궤적은 평가에만 사용</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