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559"/>
                </a:solidFill>
                <a:latin typeface="+mn-lt"/>
              </a:defRPr>
            </a:pPr>
            <a:r>
              <a:rPr sz="1100" b="0" i="0" u="none" strike="noStrike">
                <a:solidFill>
                  <a:srgbClr val="1B2559"/>
                </a:solidFill>
                <a:latin typeface="+mn-lt"/>
              </a:rPr>
              <a:t>측정 잡음 표준편차 σ vs 품질 Q (형태 예시)</a:t>
            </a:r>
          </a:p>
        </c:rich>
      </c:tx>
      <c:layout/>
      <c:overlay val="0"/>
    </c:title>
    <c:autoTitleDeleted val="0"/>
    <c:plotArea>
      <c:layout/>
      <c:lineChart>
        <c:varyColors val="0"/>
        <c:ser>
          <c:idx val="0"/>
          <c:order val="0"/>
          <c:tx>
            <c:strRef>
              <c:f>Sheet1!$B$1</c:f>
              <c:strCache>
                <c:ptCount val="1"/>
                <c:pt idx="0">
                  <c:v>σ (정규화)</c:v>
                </c:pt>
              </c:strCache>
            </c:strRef>
          </c:tx>
          <c:spPr>
            <a:solidFill>
              <a:srgbClr val="E07B39"/>
            </a:solidFill>
            <a:ln w="31750" cap="flat">
              <a:solidFill>
                <a:srgbClr val="E07B3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7B39"/>
              </a:solidFill>
              <a:ln w="9525" cap="flat">
                <a:solidFill>
                  <a:srgbClr val="E07B39"/>
                </a:solidFill>
                <a:prstDash val="solid"/>
                <a:round/>
              </a:ln>
              <a:effectLst/>
            </c:spPr>
          </c:marker>
          <c:cat>
            <c:multiLvlStrRef>
              <c:f>Sheet1!$A$2:$A$12</c:f>
              <c:multiLvlStrCache>
                <c:ptCount val="11"/>
                <c:lvl>
                  <c:pt idx="0">
                    <c:v>0.0</c:v>
                  </c:pt>
                  <c:pt idx="1">
                    <c:v>0.1</c:v>
                  </c:pt>
                  <c:pt idx="2">
                    <c:v>0.2</c:v>
                  </c:pt>
                  <c:pt idx="3">
                    <c:v>0.3</c:v>
                  </c:pt>
                  <c:pt idx="4">
                    <c:v>0.4</c:v>
                  </c:pt>
                  <c:pt idx="5">
                    <c:v>0.5</c:v>
                  </c:pt>
                  <c:pt idx="6">
                    <c:v>0.6</c:v>
                  </c:pt>
                  <c:pt idx="7">
                    <c:v>0.7</c:v>
                  </c:pt>
                  <c:pt idx="8">
                    <c:v>0.8</c:v>
                  </c:pt>
                  <c:pt idx="9">
                    <c:v>0.9</c:v>
                  </c:pt>
                  <c:pt idx="10">
                    <c:v>1.0</c:v>
                  </c:pt>
                </c:lvl>
              </c:multiLvlStrCache>
            </c:multiLvlStrRef>
          </c:cat>
          <c:val>
            <c:numRef>
              <c:f>Sheet1!$B$2:$B$12</c:f>
              <c:numCache>
                <c:formatCode>General</c:formatCode>
                <c:ptCount val="11"/>
                <c:pt idx="0">
                  <c:v>1</c:v>
                </c:pt>
                <c:pt idx="1">
                  <c:v>1</c:v>
                </c:pt>
                <c:pt idx="2">
                  <c:v>1</c:v>
                </c:pt>
                <c:pt idx="3">
                  <c:v>0.9</c:v>
                </c:pt>
                <c:pt idx="4">
                  <c:v>0.8</c:v>
                </c:pt>
                <c:pt idx="5">
                  <c:v>0.7</c:v>
                </c:pt>
                <c:pt idx="6">
                  <c:v>0.6</c:v>
                </c:pt>
                <c:pt idx="7">
                  <c:v>0.5</c:v>
                </c:pt>
                <c:pt idx="8">
                  <c:v>0.4</c:v>
                </c:pt>
                <c:pt idx="9">
                  <c:v>0.3</c:v>
                </c:pt>
                <c:pt idx="10">
                  <c:v>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F6878"/>
                    </a:solidFill>
                    <a:latin typeface="Arial"/>
                  </a:defRPr>
                </a:pPr>
                <a:r>
                  <a:rPr sz="1000" b="0" i="0" u="none" strike="noStrike">
                    <a:solidFill>
                      <a:srgbClr val="5F6878"/>
                    </a:solidFill>
                    <a:latin typeface="Arial"/>
                  </a:rPr>
                  <a:t>품질 Q (정규화)</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878"/>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E3E8F0"/>
              </a:solidFill>
              <a:prstDash val="solid"/>
              <a:round/>
            </a:ln>
          </c:spPr>
        </c:majorGridlines>
        <c:title>
          <c:tx>
            <c:rich>
              <a:bodyPr/>
              <a:lstStyle/>
              <a:p>
                <a:pPr>
                  <a:defRPr sz="1000" b="0" i="0" u="none" strike="noStrike">
                    <a:solidFill>
                      <a:srgbClr val="5F6878"/>
                    </a:solidFill>
                    <a:latin typeface="Arial"/>
                  </a:defRPr>
                </a:pPr>
                <a:r>
                  <a:rPr sz="1000" b="0" i="0" u="none" strike="noStrike">
                    <a:solidFill>
                      <a:srgbClr val="5F6878"/>
                    </a:solidFill>
                    <a:latin typeface="Arial"/>
                  </a:rPr>
                  <a:t>σ</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8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10초]
안녕하세요, 제어자동화시스템 전공 박찬혁입니다. GPS를 쓸 수 없는 환경에서 드론이 카메라, IMU, 거리 센서를 함께 써서 위치와 속도를 추정하는 연구의 계획을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35초]
드론은 실내나 지하, 교량 아래처럼 GPS를 받기 어려운 곳에서도 비행해야 합니다. 이때는 IMU만으로 위치를 계산하는데, 가속도를 두 번 적분하기 때문에 작은 바이어스도 시간이 지날수록 크게 쌓입니다.
왼쪽 아래처럼 0.05 m/s²의 일정한 바이어스만 있어도 1분 뒤 약 90 m가 틀어집니다. 이상적인 가정으로 계산한 값이지만, 밖에서 움직임을 관측해 줄 센서가 필요하다는 점을 보여 줍니다.
그 후보가 카메라입니다.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35초]
그렇다면 카메라는 항상 믿을 수 있을까요? 같은 자갈 바닥 영상에 흐림과 저조도를 인위적으로 만들고, 실제로 특징점 검출과 KLT 추적을 돌려 봤습니다.
흐리면 특징점이 줄고 추적 실패가 생깁니다. 더 중요한 건 오른쪽 저조도입니다. 성공률은 100%인데 특징점이 13개뿐입니다. 성공률 하나만 보면 좋은 영상으로 잘못 판단할 수 있다는 뜻입니다.
그래서 특징점 수, 성공률, 잔차를 함께 보고 카메라를 얼마나 믿을지 정하는 방법이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40초]
관련 기법의 흐름입니다. 바탕은 예측과 보정을 반복하는 칼만 필터와 EKF입니다.
여기서 카메라와 IMU를 결합하는 VIO, 그리고 하향 카메라의 옵티컬 플로우를 쓰는 방법이 나왔고, PX4Flow는 거리 센서와 자이로를 함께 써서 실제 속도 단위를 얻습니다.
측정 신뢰도에 따라 R을 바꾸는 적응형 방법도 이미 있습니다. PX4 EKF2는 flow 품질이 낮을수록 잡음을 키우고, 너무 낮으면 측정을 버립니다.
그래서 저는 새 기법을 주장하지 않고, 이 기법들을 하향 카메라, IMU, 거리 센서 구성에 적용해 영상 품질 조건별로 같은 조건에서 비교하는 데 초점을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33초]
연구 목적은 세 가지입니다. EKF 상태추정 시스템을 구성하고, 특징점 수와 성공률, 잔차로 영상 품질을 평가해 R을 조절하거나 측정을 제외하고, 세 방법을 같은 조건에서 비교하는 것입니다.
질문도 세 가지입니다. 정상 영상에서 정확도를 잃지 않는지, 흐리거나 어두울 때 오차 증가를 줄이는지, 카메라가 잠시 끊기면 어떻게 되는지입니다.
정답 데이터는 평가에만 쓰고, 규칙을 정하는 구간과 평가 구간을 나누겠습니다.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58초]
가장 중요한 시스템 구조입니다. 위쪽 IMU의 가속도와 각속도를 자세로 회전하고 중력을 보상해 적분하는 것이 EKF의 예측 단계입니다.
하향 카메라에서는 특징점을 찾고 추적해 옵티컬 플로우를 구합니다. 주의할 점은 플로우가 바로 속도가 아니라는 것입니다. 플로우는 픽셀의 움직임이고, 드론이 회전만 해도 생깁니다. 그래서 자이로로 회전 성분을 빼고, 남은 병진 성분은 거리 센서의 지면 거리 d로 스케일을 정합니다. 아래 식처럼 보정된 플로우는 대략 속도 나누기 거리입니다. 그래서 이 시스템은 순수 VIO가 아니라 거리 센서 보조 융합입니다.
주황색이 이번 연구에서 구성하고 평가할 부분입니다. 품질이 낮으면 R을 키워 칼만 이득을 줄이고, 너무 낮으면 측정을 제외합니다. 최종적으로 위치, 속도, 자세를 추정합니다.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40초]
실험은 같은 데이터, 같은 초기 조건, 같은 평가 구간에서 세 방법을 비교합니다. A는 IMU 단독, B는 R을 고정한 EKF, C는 품질에 따라 R을 조절하는 EKF입니다.
조건은 정상 영상과 인위적으로 만든 흐림, 저조도, 프레임 누락이고, 직선, 선회, 정지 구간으로 나눠 봅니다. 지표는 위치 RMSE, 최종 오차, 저하 구간의 오차 증가량, 처리시간입니다. 오른쪽 그래프는 형식 예시이고 아직 데이터는 없습니다.
데이터는 하향 카메라와 레이저 거리계가 있는 INSANE을 후보로 봅니다. 실내 정답은 RTK가 아닌 모션캡처라서, 실제 파일로 구간을 확인한 뒤 평가에만 쓰겠습니다.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34초]
예상 결과는 실험 전 가설입니다. 정상 영상에서는 B와 C가 비슷하고, 영상이 나쁘거나 끊기는 구간에서는 C의 오차 증가가 더 작을 것으로 봅니다. 효과가 없는 조건도 그대로 보고하겠습니다.
일정은 10월에 전처리와 기준 EKF, 11월 초에 핵심인 품질 지표와 규칙 설계, 11월 말 비교 실험, 12월 초 분석과 보고서입니다.
정리하면, 카메라 측정을 언제, 얼마나 믿어야 하는지 정량적인 근거를 보이는 것이 이 연구의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5초]
발표를 마치겠습니다. 감사합니다. 질문 받겠습니다.
(질의응답 시 부록 A1 참고문헌, A2 측정모델, A3 EKF와 R 규칙, A4 데이터셋 활용)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 질의응답용] 참고문헌. PX4 EKF2 동작은 공개 소스 코드(optical_flow_fusion.cpp의 calcOptFlowMeasVar, predictFlow)로 확인함.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 질의응답용]
옵티컬 플로우는 영상 속 점의 이동, 즉 시선 방향의 각속도를 측정합니다. 영상 중심 근처의 정적인 지면점에 대해 표준 핀홀 운동 모델을 쓰면, 플로우는 카메라 병진속도를 깊이로 나눈 항과 카메라 각속도 항의 합입니다. 따라서 자이로 각속도를 카메라 좌표로 변환해 회전 성분을 빼고, 거리 센서의 광축 방향 거리로 깊이를 정해야 병진속도 정보가 됩니다. 카메라 속도는 IMU 위치의 속도에 회전에 의한 레버암 속도를 더한 뒤 카메라 좌표로 회전한 값입니다. 이 형태는 PX4 EKF2의 predictFlow 구현(기체 속도 + 레버암, 거리로 나눔, 자이로 보상된 flow를 관측값으로 사용)과 같은 구조입니다. 부호는 센서 축 정의에 따라 달라집니다.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 질의응답용]
기준 EKF의 상태는 위치, 속도, 자세이고, 측정은 자이로로 회전을 보상한 2차원 flow입니다. 예측 단계에서 IMU 비력을 자세로 회전하고 중력을 더해 적분합니다. 보정 단계에서 칼만 이득은 R이 클수록 작아집니다. 품질 Q에서 R로 가는 규칙은 PX4 EKF2처럼 표준편차를 선형 보간해 제곱하는 형태를 출발점으로 하고, Q가 최소값보다 낮으면 측정을 제외합니다. Q의 구성과 파라미터는 설정 구간에서만 정하고 평가 구간에서는 바꾸지 않습니다. IMU 바이어스 상태 포함 여부는 기준 EKF 구현 단계에서 결정합니다.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 질의응답용]
INSANE 데이터셋은 하향 카메라와 같은 방향으로 장착된 레이저 거리계, 다중 IMU를 포함합니다. 실내 시퀀스의 정답은 OptiTrack 모션캡처, 실외는 dual RTK-GNSS입니다. 따라서 실내 구간에 RTK 정답이 있다고 가정하지 않고, 실제 파일로 시퀀스별 정답 종류와 구간, 센서 사양, 외부 파라미터와 시간 동기화를 10월 초에 확인합니다. 평가는 설정 구간에서 규칙을 정하고, 평가 구간에서는 규칙을 고정해 세 방법을 같은 조건으로 실행한 뒤 정답과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tmp/claude-0/-home-user-chan604/9056538b-9072-58a7-8356-020fd7f22202/scratchpad/build/assets/titlebar.png">    </p:cNvPr>
          <p:cNvPicPr>
            <a:picLocks noChangeAspect="1"/>
          </p:cNvPicPr>
          <p:nvPr/>
        </p:nvPicPr>
        <p:blipFill>
          <a:blip r:embed="rId1"/>
          <a:stretch>
            <a:fillRect/>
          </a:stretch>
        </p:blipFill>
        <p:spPr>
          <a:xfrm>
            <a:off x="0" y="0"/>
            <a:ext cx="12191695" cy="868680"/>
          </a:xfrm>
          <a:prstGeom prst="rect">
            <a:avLst/>
          </a:prstGeom>
        </p:spPr>
      </p:pic>
      <p:sp>
        <p:nvSpPr>
          <p:cNvPr id="3" name="Text 0"/>
          <p:cNvSpPr/>
          <p:nvPr>
            <p:ph idx="101" type="title" hasCustomPrompt="1"/>
          </p:nvPr>
        </p:nvSpPr>
        <p:spPr>
          <a:xfrm>
            <a:off x="1298448" y="118872"/>
            <a:ext cx="7680960" cy="64008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4" name="Text 0"/>
          <p:cNvSpPr/>
          <p:nvPr>
            <p:ph idx="102" type="body" hasCustomPrompt="1"/>
          </p:nvPr>
        </p:nvSpPr>
        <p:spPr>
          <a:xfrm>
            <a:off x="8229600" y="228600"/>
            <a:ext cx="3410712" cy="411480"/>
          </a:xfrm>
          <a:prstGeom prst="rect">
            <a:avLst/>
          </a:prstGeom>
          <a:noFill/>
          <a:ln/>
        </p:spPr>
        <p:txBody>
          <a:bodyPr wrap="square" rtlCol="0"/>
          <a:lstStyle>
            <a:lvl1pPr algn="r" indent="0" marL="0">
              <a:buNone/>
              <a:defRPr lang="en-US" sz="1300" i="1" dirty="0">
                <a:solidFill>
                  <a:srgbClr val="C3D8F2"/>
                </a:solidFill>
              </a:defRPr>
            </a:lvl1pPr>
          </a:lstStyle>
          <a:p>
            <a:pPr algn="r" indent="0" marL="0">
              <a:buNone/>
            </a:pPr>
            <a:endParaRPr lang="en-US" sz="1300" dirty="0"/>
          </a:p>
        </p:txBody>
      </p:sp>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vdec_banner_image1.png"/><Relationship Id="rId6" Type="http://schemas.openxmlformats.org/officeDocument/2006/relationships/image" Target="../media/vdec_banner_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5"/>
          <p:cNvSpPr/>
          <p:nvPr userDrawn="1"/>
        </p:nvSpPr>
        <p:spPr bwMode="auto">
          <a:xfrm>
            <a:off x="0" y="6315075"/>
            <a:ext cx="12192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ＭＳ Ｐゴシック" pitchFamily="1" charset="-128"/>
            </a:endParaRPr>
          </a:p>
        </p:txBody>
      </p:sp>
      <p:sp>
        <p:nvSpPr>
          <p:cNvPr id="126"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rPr>
              <a:t>Vehicle</a:t>
            </a:r>
            <a:r>
              <a:rPr lang="en-US" sz="1050" baseline="0" dirty="0">
                <a:solidFill>
                  <a:schemeClr val="tx1"/>
                </a:solidFill>
              </a:rPr>
              <a:t> Dynamics and Energy Control Lab.</a:t>
            </a:r>
            <a:endParaRPr lang="en-US" sz="1050" dirty="0">
              <a:solidFill>
                <a:schemeClr val="tx1"/>
              </a:solidFill>
            </a:endParaRPr>
          </a:p>
        </p:txBody>
      </p:sp>
      <p:pic>
        <p:nvPicPr>
          <p:cNvPr id="127" name="Picture 3"/>
          <p:cNvPicPr>
            <a:picLocks noChangeAspect="1" noChangeArrowheads="1"/>
          </p:cNvPicPr>
          <p:nvPr userDrawn="1"/>
        </p:nvPicPr>
        <p:blipFill>
          <a:blip r:embed="rId5"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10758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8" name="Picture 4"/>
          <p:cNvPicPr>
            <a:picLocks noChangeAspect="1" noChangeArrowheads="1"/>
          </p:cNvPicPr>
          <p:nvPr userDrawn="1"/>
        </p:nvPicPr>
        <p:blipFill rotWithShape="1">
          <a:blip r:embed="rId6"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3.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818120" y="685800"/>
            <a:ext cx="4206240" cy="4206240"/>
          </a:xfrm>
          <a:prstGeom prst="ellipse">
            <a:avLst/>
          </a:prstGeom>
          <a:solidFill>
            <a:srgbClr val="EEF5FC"/>
          </a:solidFill>
          <a:ln w="12700">
            <a:solidFill>
              <a:srgbClr val="EEF5FC"/>
            </a:solidFill>
            <a:prstDash val="solid"/>
          </a:ln>
        </p:spPr>
      </p:sp>
      <p:pic>
        <p:nvPicPr>
          <p:cNvPr id="3" name="Image 0" descr="드론 센서 구성 선형 일러스트">    </p:cNvPr>
          <p:cNvPicPr>
            <a:picLocks noChangeAspect="1"/>
          </p:cNvPicPr>
          <p:nvPr/>
        </p:nvPicPr>
        <p:blipFill>
          <a:blip r:embed="rId1"/>
          <a:stretch>
            <a:fillRect/>
          </a:stretch>
        </p:blipFill>
        <p:spPr>
          <a:xfrm>
            <a:off x="7955280" y="1051560"/>
            <a:ext cx="3931920" cy="3513687"/>
          </a:xfrm>
          <a:prstGeom prst="rect">
            <a:avLst/>
          </a:prstGeom>
        </p:spPr>
      </p:pic>
      <p:sp>
        <p:nvSpPr>
          <p:cNvPr id="4" name="Text 1"/>
          <p:cNvSpPr txBox="1"/>
          <p:nvPr/>
        </p:nvSpPr>
        <p:spPr>
          <a:xfrm>
            <a:off x="9654850" y="1133075"/>
            <a:ext cx="532780" cy="237744"/>
          </a:xfrm>
          <a:prstGeom prst="rect">
            <a:avLst/>
          </a:prstGeom>
          <a:noFill/>
          <a:ln/>
        </p:spPr>
        <p:txBody>
          <a:bodyPr wrap="square" lIns="0" tIns="0" rIns="0" bIns="0" rtlCol="0" anchor="t"/>
          <a:lstStyle/>
          <a:p>
            <a:pPr algn="ctr" indent="0" marL="0">
              <a:buNone/>
            </a:pPr>
            <a:r>
              <a:rPr lang="ko-KR" altLang="en-US" sz="1200" b="1" dirty="0">
                <a:solidFill>
                  <a:srgbClr val="26357A"/>
                </a:solidFill>
              </a:rPr>
              <a:t>IMU</a:t>
            </a:r>
            <a:endParaRPr lang="ko-KR" sz="1200" dirty="0"/>
          </a:p>
        </p:txBody>
      </p:sp>
      <p:sp>
        <p:nvSpPr>
          <p:cNvPr id="5" name="Text 2"/>
          <p:cNvSpPr txBox="1"/>
          <p:nvPr/>
        </p:nvSpPr>
        <p:spPr>
          <a:xfrm>
            <a:off x="8349538" y="2326504"/>
            <a:ext cx="1097280" cy="256032"/>
          </a:xfrm>
          <a:prstGeom prst="rect">
            <a:avLst/>
          </a:prstGeom>
          <a:noFill/>
          <a:ln/>
        </p:spPr>
        <p:txBody>
          <a:bodyPr wrap="square" lIns="0" tIns="0" rIns="0" bIns="0" rtlCol="0" anchor="t"/>
          <a:lstStyle/>
          <a:p>
            <a:pPr algn="r" indent="0" marL="0">
              <a:buNone/>
            </a:pPr>
            <a:r>
              <a:rPr lang="ko-KR" altLang="en-US" sz="1200" b="1" dirty="0">
                <a:solidFill>
                  <a:srgbClr val="3B5BA9"/>
                </a:solidFill>
              </a:rPr>
              <a:t>하향 카메라</a:t>
            </a:r>
            <a:endParaRPr lang="ko-KR" sz="1200" dirty="0"/>
          </a:p>
        </p:txBody>
      </p:sp>
      <p:sp>
        <p:nvSpPr>
          <p:cNvPr id="6" name="Text 3"/>
          <p:cNvSpPr txBox="1"/>
          <p:nvPr/>
        </p:nvSpPr>
        <p:spPr>
          <a:xfrm>
            <a:off x="10272875" y="2859284"/>
            <a:ext cx="1005840" cy="256032"/>
          </a:xfrm>
          <a:prstGeom prst="rect">
            <a:avLst/>
          </a:prstGeom>
          <a:noFill/>
          <a:ln/>
        </p:spPr>
        <p:txBody>
          <a:bodyPr wrap="square" lIns="0" tIns="0" rIns="0" bIns="0" rtlCol="0" anchor="t"/>
          <a:lstStyle/>
          <a:p>
            <a:pPr indent="0" marL="0">
              <a:buNone/>
            </a:pPr>
            <a:r>
              <a:rPr lang="ko-KR" altLang="en-US" sz="1200" b="1" dirty="0">
                <a:solidFill>
                  <a:srgbClr val="E07B39"/>
                </a:solidFill>
              </a:rPr>
              <a:t>거리 센서</a:t>
            </a:r>
            <a:endParaRPr lang="ko-KR" sz="1200" dirty="0"/>
          </a:p>
        </p:txBody>
      </p:sp>
      <p:sp>
        <p:nvSpPr>
          <p:cNvPr id="7" name="Text 4"/>
          <p:cNvSpPr txBox="1"/>
          <p:nvPr/>
        </p:nvSpPr>
        <p:spPr>
          <a:xfrm>
            <a:off x="9281903" y="4610967"/>
            <a:ext cx="1463040" cy="256032"/>
          </a:xfrm>
          <a:prstGeom prst="rect">
            <a:avLst/>
          </a:prstGeom>
          <a:noFill/>
          <a:ln/>
        </p:spPr>
        <p:txBody>
          <a:bodyPr wrap="square" lIns="0" tIns="0" rIns="0" bIns="0" rtlCol="0" anchor="t"/>
          <a:lstStyle/>
          <a:p>
            <a:pPr algn="ctr" indent="0" marL="0">
              <a:buNone/>
            </a:pPr>
            <a:r>
              <a:rPr lang="ko-KR" altLang="en-US" sz="1200" b="1" dirty="0">
                <a:solidFill>
                  <a:srgbClr val="26357A"/>
                </a:solidFill>
              </a:rPr>
              <a:t>Optical Flow</a:t>
            </a:r>
            <a:endParaRPr lang="ko-KR" sz="1200" dirty="0"/>
          </a:p>
        </p:txBody>
      </p:sp>
      <p:sp>
        <p:nvSpPr>
          <p:cNvPr id="8" name="Text 5"/>
          <p:cNvSpPr/>
          <p:nvPr/>
        </p:nvSpPr>
        <p:spPr>
          <a:xfrm>
            <a:off x="548640" y="1280160"/>
            <a:ext cx="3246120" cy="420624"/>
          </a:xfrm>
          <a:prstGeom prst="roundRect">
            <a:avLst>
              <a:gd name="adj" fmla="val 50000"/>
            </a:avLst>
          </a:prstGeom>
          <a:solidFill>
            <a:srgbClr val="DCEBF8"/>
          </a:solidFill>
          <a:ln/>
        </p:spPr>
        <p:txBody>
          <a:bodyPr wrap="square" lIns="0" tIns="0" rIns="0" bIns="0" rtlCol="0" anchor="ctr"/>
          <a:lstStyle/>
          <a:p>
            <a:pPr algn="ctr" indent="0" marL="0">
              <a:buNone/>
            </a:pPr>
            <a:r>
              <a:rPr lang="ko-KR" altLang="en-US" sz="1500" b="1" dirty="0">
                <a:solidFill>
                  <a:srgbClr val="26357A"/>
                </a:solidFill>
              </a:rPr>
              <a:t>학생자율연구II  연구계획 발표</a:t>
            </a:r>
            <a:endParaRPr lang="ko-KR" sz="1500" dirty="0"/>
          </a:p>
        </p:txBody>
      </p:sp>
      <p:sp>
        <p:nvSpPr>
          <p:cNvPr id="9" name="Text 6"/>
          <p:cNvSpPr txBox="1"/>
          <p:nvPr/>
        </p:nvSpPr>
        <p:spPr>
          <a:xfrm>
            <a:off x="548640" y="1874520"/>
            <a:ext cx="7040880" cy="1280160"/>
          </a:xfrm>
          <a:prstGeom prst="rect">
            <a:avLst/>
          </a:prstGeom>
          <a:noFill/>
          <a:ln/>
        </p:spPr>
        <p:txBody>
          <a:bodyPr wrap="square" lIns="0" tIns="0" rIns="0" bIns="0" rtlCol="0" anchor="ctr"/>
          <a:lstStyle/>
          <a:p>
            <a:pPr indent="0" marL="0">
              <a:lnSpc>
                <a:spcPct val="105000"/>
              </a:lnSpc>
              <a:buNone/>
            </a:pPr>
            <a:r>
              <a:rPr lang="ko-KR" altLang="en-US" sz="3400" b="1" dirty="0">
                <a:solidFill>
                  <a:srgbClr val="1B2559"/>
                </a:solidFill>
              </a:rPr>
              <a:t>GPS 사용 불가 환경에서</a:t>
            </a:r>
            <a:endParaRPr lang="ko-KR" sz="3400" dirty="0"/>
          </a:p>
          <a:p>
            <a:pPr indent="0" marL="0">
              <a:lnSpc>
                <a:spcPct val="105000"/>
              </a:lnSpc>
              <a:buNone/>
            </a:pPr>
            <a:r>
              <a:rPr lang="ko-KR" altLang="en-US" sz="3400" b="1" dirty="0">
                <a:solidFill>
                  <a:srgbClr val="1B2559"/>
                </a:solidFill>
              </a:rPr>
              <a:t>비전 보조 항법을 위한 다중센서 융합</a:t>
            </a:r>
            <a:endParaRPr lang="ko-KR" sz="3400" dirty="0"/>
          </a:p>
        </p:txBody>
      </p:sp>
      <p:sp>
        <p:nvSpPr>
          <p:cNvPr id="10" name="Text 7"/>
          <p:cNvSpPr txBox="1"/>
          <p:nvPr/>
        </p:nvSpPr>
        <p:spPr>
          <a:xfrm>
            <a:off x="548640" y="3246120"/>
            <a:ext cx="7132320" cy="365760"/>
          </a:xfrm>
          <a:prstGeom prst="rect">
            <a:avLst/>
          </a:prstGeom>
          <a:noFill/>
          <a:ln/>
        </p:spPr>
        <p:txBody>
          <a:bodyPr wrap="square" lIns="0" tIns="0" rIns="0" bIns="0" rtlCol="0" anchor="t"/>
          <a:lstStyle/>
          <a:p>
            <a:pPr indent="0" marL="0">
              <a:buNone/>
            </a:pPr>
            <a:r>
              <a:rPr lang="ko-KR" altLang="en-US" sz="1500" i="1" dirty="0">
                <a:solidFill>
                  <a:srgbClr val="3B5BA9"/>
                </a:solidFill>
              </a:rPr>
              <a:t>Multi-Sensor Fusion for Vision-Aided Navigation in GPS-Denied Environments</a:t>
            </a:r>
            <a:endParaRPr lang="ko-KR" sz="1500" dirty="0"/>
          </a:p>
        </p:txBody>
      </p:sp>
      <p:sp>
        <p:nvSpPr>
          <p:cNvPr id="11" name="Shape 8"/>
          <p:cNvSpPr/>
          <p:nvPr/>
        </p:nvSpPr>
        <p:spPr>
          <a:xfrm>
            <a:off x="548640" y="4069080"/>
            <a:ext cx="54864" cy="1417320"/>
          </a:xfrm>
          <a:prstGeom prst="rect">
            <a:avLst/>
          </a:prstGeom>
          <a:solidFill>
            <a:srgbClr val="7DB3E0"/>
          </a:solidFill>
          <a:ln w="12700">
            <a:solidFill>
              <a:srgbClr val="7DB3E0"/>
            </a:solidFill>
            <a:prstDash val="solid"/>
          </a:ln>
        </p:spPr>
      </p:sp>
      <p:sp>
        <p:nvSpPr>
          <p:cNvPr id="12" name="Text 9"/>
          <p:cNvSpPr txBox="1"/>
          <p:nvPr/>
        </p:nvSpPr>
        <p:spPr>
          <a:xfrm>
            <a:off x="804672" y="4041648"/>
            <a:ext cx="5943600" cy="1481328"/>
          </a:xfrm>
          <a:prstGeom prst="rect">
            <a:avLst/>
          </a:prstGeom>
          <a:noFill/>
          <a:ln/>
        </p:spPr>
        <p:txBody>
          <a:bodyPr wrap="square" lIns="0" tIns="0" rIns="0" bIns="0" rtlCol="0" anchor="ctr"/>
          <a:lstStyle/>
          <a:p>
            <a:pPr indent="0" marL="0">
              <a:lnSpc>
                <a:spcPct val="120000"/>
              </a:lnSpc>
              <a:buNone/>
            </a:pPr>
            <a:r>
              <a:rPr lang="ko-KR" altLang="en-US" sz="2000" b="1" dirty="0">
                <a:solidFill>
                  <a:srgbClr val="1B2559"/>
                </a:solidFill>
              </a:rPr>
              <a:t>박찬혁 (202121212)</a:t>
            </a:r>
            <a:endParaRPr lang="ko-KR" sz="1600" dirty="0"/>
          </a:p>
          <a:p>
            <a:pPr indent="0" marL="0">
              <a:lnSpc>
                <a:spcPct val="120000"/>
              </a:lnSpc>
              <a:buNone/>
            </a:pPr>
            <a:r>
              <a:rPr lang="ko-KR" altLang="en-US" sz="1600" dirty="0">
                <a:solidFill>
                  <a:srgbClr val="2B2F36"/>
                </a:solidFill>
              </a:rPr>
              <a:t>부산대학교 기계공학부 제어자동화시스템</a:t>
            </a:r>
            <a:endParaRPr lang="ko-KR" sz="1600" dirty="0"/>
          </a:p>
          <a:p>
            <a:pPr indent="0" marL="0">
              <a:lnSpc>
                <a:spcPct val="120000"/>
              </a:lnSpc>
              <a:buNone/>
            </a:pPr>
            <a:r>
              <a:rPr lang="ko-KR" altLang="en-US" sz="1600" dirty="0">
                <a:solidFill>
                  <a:srgbClr val="2B2F36"/>
                </a:solidFill>
              </a:rPr>
              <a:t>지도교수: 안창선 교수님</a:t>
            </a:r>
            <a:endParaRPr lang="ko-KR" sz="1600" dirty="0"/>
          </a:p>
          <a:p>
            <a:pPr indent="0" marL="0">
              <a:lnSpc>
                <a:spcPct val="120000"/>
              </a:lnSpc>
              <a:buNone/>
            </a:pPr>
            <a:r>
              <a:rPr lang="ko-KR" altLang="en-US" sz="1600" dirty="0">
                <a:solidFill>
                  <a:srgbClr val="5F6878"/>
                </a:solidFill>
              </a:rPr>
              <a:t>2026. 10.</a:t>
            </a:r>
            <a:endParaRPr lang="ko-KR"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298448" y="118872"/>
            <a:ext cx="7680960" cy="640080"/>
          </a:xfrm>
          <a:prstGeom prst="rect">
            <a:avLst/>
          </a:prstGeom>
          <a:noFill/>
          <a:ln/>
        </p:spPr>
        <p:txBody>
          <a:bodyPr wrap="square" lIns="0" tIns="0" rIns="0" bIns="0" rtlCol="0" anchor="ctr"/>
          <a:lstStyle/>
          <a:p>
            <a:pPr algn="l" indent="0" marL="0">
              <a:buNone/>
            </a:pPr>
            <a:r>
              <a:rPr lang="en-US" sz="2800" b="1" dirty="0">
                <a:solidFill>
                  <a:srgbClr val="FFFFFF"/>
                </a:solidFill>
              </a:rPr>
              <a:t>연구 배경</a:t>
            </a:r>
            <a:endParaRPr lang="en-US" sz="2800" dirty="0"/>
          </a:p>
        </p:txBody>
      </p:sp>
      <p:sp>
        <p:nvSpPr>
          <p:cNvPr id="3" name="Text 0"/>
          <p:cNvSpPr/>
          <p:nvPr>
            <p:ph idx="102" type="body" hasCustomPrompt="1"/>
          </p:nvPr>
        </p:nvSpPr>
        <p:spPr>
          <a:xfrm>
            <a:off x="8229600" y="228600"/>
            <a:ext cx="3410712" cy="411480"/>
          </a:xfrm>
          <a:prstGeom prst="rect">
            <a:avLst/>
          </a:prstGeom>
          <a:noFill/>
          <a:ln/>
        </p:spPr>
        <p:txBody>
          <a:bodyPr wrap="square" lIns="0" tIns="0" rIns="0" bIns="0" rtlCol="0" anchor="ctr"/>
          <a:lstStyle/>
          <a:p>
            <a:pPr algn="r" indent="0" marL="0">
              <a:buNone/>
            </a:pPr>
            <a:r>
              <a:rPr lang="en-US" sz="1300" i="1" dirty="0">
                <a:solidFill>
                  <a:srgbClr val="C3D8F2"/>
                </a:solidFill>
              </a:rPr>
              <a:t>Background</a:t>
            </a:r>
            <a:endParaRPr lang="en-US" sz="1300" dirty="0"/>
          </a:p>
        </p:txBody>
      </p:sp>
      <p:sp>
        <p:nvSpPr>
          <p:cNvPr id="4" name="Text 2"/>
          <p:cNvSpPr/>
          <p:nvPr/>
        </p:nvSpPr>
        <p:spPr>
          <a:xfrm>
            <a:off x="548640" y="182880"/>
            <a:ext cx="603504" cy="502920"/>
          </a:xfrm>
          <a:prstGeom prst="roundRect">
            <a:avLst>
              <a:gd name="adj" fmla="val 14545"/>
            </a:avLst>
          </a:prstGeom>
          <a:solidFill>
            <a:srgbClr val="7DB3E0"/>
          </a:solidFill>
          <a:ln/>
        </p:spPr>
        <p:txBody>
          <a:bodyPr wrap="square" lIns="0" tIns="0" rIns="0" bIns="0" rtlCol="0" anchor="ctr"/>
          <a:lstStyle/>
          <a:p>
            <a:pPr algn="ctr" indent="0" marL="0">
              <a:buNone/>
            </a:pPr>
            <a:r>
              <a:rPr lang="en-US" sz="1800" b="1" dirty="0">
                <a:solidFill>
                  <a:srgbClr val="1B2559"/>
                </a:solidFill>
              </a:rPr>
              <a:t>01</a:t>
            </a:r>
            <a:endParaRPr lang="en-US" sz="1800" dirty="0"/>
          </a:p>
        </p:txBody>
      </p:sp>
      <p:sp>
        <p:nvSpPr>
          <p:cNvPr id="5" name="Text 3"/>
          <p:cNvSpPr txBox="1"/>
          <p:nvPr/>
        </p:nvSpPr>
        <p:spPr>
          <a:xfrm>
            <a:off x="548640" y="1005840"/>
            <a:ext cx="11094415" cy="457200"/>
          </a:xfrm>
          <a:prstGeom prst="rect">
            <a:avLst/>
          </a:prstGeom>
          <a:noFill/>
          <a:ln/>
        </p:spPr>
        <p:txBody>
          <a:bodyPr wrap="square" lIns="0" tIns="0" rIns="0" bIns="0" rtlCol="0" anchor="ctr"/>
          <a:lstStyle/>
          <a:p>
            <a:pPr indent="0" marL="0">
              <a:buNone/>
            </a:pPr>
            <a:r>
              <a:rPr lang="ko-KR" altLang="en-US" sz="2000" b="1" dirty="0">
                <a:solidFill>
                  <a:srgbClr val="1B2559"/>
                </a:solidFill>
              </a:rPr>
              <a:t>GPS 없이 드론의 위치를 어떻게 추정할 것인가?</a:t>
            </a:r>
            <a:endParaRPr lang="ko-KR" sz="2000" dirty="0"/>
          </a:p>
        </p:txBody>
      </p:sp>
      <p:pic>
        <p:nvPicPr>
          <p:cNvPr id="6" name="Image 0" descr="실내에서 비행 중인 상용 드론 (예시 사진)">    </p:cNvPr>
          <p:cNvPicPr>
            <a:picLocks noChangeAspect="1"/>
          </p:cNvPicPr>
          <p:nvPr/>
        </p:nvPicPr>
        <p:blipFill>
          <a:blip r:embed="rId1"/>
          <a:srcRect l="0" r="0" t="0" b="0"/>
          <a:stretch/>
        </p:blipFill>
        <p:spPr>
          <a:xfrm>
            <a:off x="548640" y="1627632"/>
            <a:ext cx="4846320" cy="2514600"/>
          </a:xfrm>
          <a:prstGeom prst="rect">
            <a:avLst/>
          </a:prstGeom>
        </p:spPr>
      </p:pic>
      <p:sp>
        <p:nvSpPr>
          <p:cNvPr id="7" name="Text 4"/>
          <p:cNvSpPr txBox="1"/>
          <p:nvPr/>
        </p:nvSpPr>
        <p:spPr>
          <a:xfrm>
            <a:off x="548640" y="4178808"/>
            <a:ext cx="4846320" cy="228600"/>
          </a:xfrm>
          <a:prstGeom prst="rect">
            <a:avLst/>
          </a:prstGeom>
          <a:noFill/>
          <a:ln/>
        </p:spPr>
        <p:txBody>
          <a:bodyPr wrap="square" lIns="0" tIns="0" rIns="0" bIns="0" rtlCol="0" anchor="t"/>
          <a:lstStyle/>
          <a:p>
            <a:pPr indent="0" marL="0">
              <a:buNone/>
            </a:pPr>
            <a:r>
              <a:rPr lang="ko-KR" altLang="en-US" sz="1000" dirty="0">
                <a:solidFill>
                  <a:srgbClr val="5F6878"/>
                </a:solidFill>
              </a:rPr>
              <a:t>예시 사진(본 연구 장비 아님) · -stk, Wikimedia Commons, CC BY-SA 4.0</a:t>
            </a:r>
            <a:endParaRPr lang="ko-KR" sz="1000" dirty="0"/>
          </a:p>
        </p:txBody>
      </p:sp>
      <p:sp>
        <p:nvSpPr>
          <p:cNvPr id="8" name="Shape 5"/>
          <p:cNvSpPr/>
          <p:nvPr/>
        </p:nvSpPr>
        <p:spPr>
          <a:xfrm>
            <a:off x="548640" y="4498848"/>
            <a:ext cx="4846320" cy="786384"/>
          </a:xfrm>
          <a:prstGeom prst="roundRect">
            <a:avLst>
              <a:gd name="adj" fmla="val 9302"/>
            </a:avLst>
          </a:prstGeom>
          <a:solidFill>
            <a:srgbClr val="F3F6FB"/>
          </a:solidFill>
          <a:ln w="9525">
            <a:solidFill>
              <a:srgbClr val="C9D3E3"/>
            </a:solidFill>
            <a:prstDash val="solid"/>
          </a:ln>
        </p:spPr>
      </p:sp>
      <p:sp>
        <p:nvSpPr>
          <p:cNvPr id="9" name="Text 6"/>
          <p:cNvSpPr txBox="1"/>
          <p:nvPr/>
        </p:nvSpPr>
        <p:spPr>
          <a:xfrm>
            <a:off x="685800" y="4553712"/>
            <a:ext cx="1417320" cy="676656"/>
          </a:xfrm>
          <a:prstGeom prst="rect">
            <a:avLst/>
          </a:prstGeom>
          <a:noFill/>
          <a:ln/>
        </p:spPr>
        <p:txBody>
          <a:bodyPr wrap="square" lIns="0" tIns="0" rIns="0" bIns="0" rtlCol="0" anchor="ctr"/>
          <a:lstStyle/>
          <a:p>
            <a:pPr indent="0" marL="0">
              <a:buNone/>
            </a:pPr>
            <a:r>
              <a:rPr lang="ko-KR" altLang="en-US" sz="3000" b="1" dirty="0">
                <a:solidFill>
                  <a:srgbClr val="26357A"/>
                </a:solidFill>
              </a:rPr>
              <a:t>≈ 90</a:t>
            </a:r>
            <a:pPr indent="0" marL="0">
              <a:buNone/>
            </a:pPr>
            <a:r>
              <a:rPr lang="ko-KR" altLang="en-US" sz="1800" b="1" dirty="0">
                <a:solidFill>
                  <a:srgbClr val="26357A"/>
                </a:solidFill>
              </a:rPr>
              <a:t> m</a:t>
            </a:r>
            <a:endParaRPr lang="ko-KR" sz="1700" dirty="0"/>
          </a:p>
        </p:txBody>
      </p:sp>
      <p:sp>
        <p:nvSpPr>
          <p:cNvPr id="10" name="Text 7"/>
          <p:cNvSpPr txBox="1"/>
          <p:nvPr/>
        </p:nvSpPr>
        <p:spPr>
          <a:xfrm>
            <a:off x="2148840" y="4572000"/>
            <a:ext cx="3154680" cy="658368"/>
          </a:xfrm>
          <a:prstGeom prst="rect">
            <a:avLst/>
          </a:prstGeom>
          <a:noFill/>
          <a:ln/>
        </p:spPr>
        <p:txBody>
          <a:bodyPr wrap="square" lIns="0" tIns="0" rIns="0" bIns="0" rtlCol="0" anchor="ctr"/>
          <a:lstStyle/>
          <a:p>
            <a:pPr indent="0" marL="0">
              <a:buNone/>
            </a:pPr>
            <a:r>
              <a:rPr lang="ko-KR" altLang="en-US" sz="1400" b="1" dirty="0">
                <a:solidFill>
                  <a:srgbClr val="2B2F36"/>
                </a:solidFill>
              </a:rPr>
              <a:t>바이어스 0.05 m/s² → 60 s 후 위치 오차</a:t>
            </a:r>
            <a:endParaRPr lang="ko-KR" sz="1700" dirty="0"/>
          </a:p>
          <a:p>
            <a:pPr indent="0" marL="0">
              <a:buNone/>
            </a:pPr>
            <a:r>
              <a:rPr lang="ko-KR" altLang="en-US" sz="1100" dirty="0">
                <a:solidFill>
                  <a:srgbClr val="5F6878"/>
                </a:solidFill>
              </a:rPr>
              <a:t>δp = ½ b t² · 이상적 가정의 이론값 (실험 결과 아님)</a:t>
            </a:r>
            <a:endParaRPr lang="ko-KR" sz="1700" dirty="0"/>
          </a:p>
        </p:txBody>
      </p:sp>
      <p:sp>
        <p:nvSpPr>
          <p:cNvPr id="11" name="Shape 8"/>
          <p:cNvSpPr/>
          <p:nvPr/>
        </p:nvSpPr>
        <p:spPr>
          <a:xfrm>
            <a:off x="5760720" y="1627632"/>
            <a:ext cx="5882335" cy="1115568"/>
          </a:xfrm>
          <a:prstGeom prst="roundRect">
            <a:avLst>
              <a:gd name="adj" fmla="val 6557"/>
            </a:avLst>
          </a:prstGeom>
          <a:solidFill>
            <a:srgbClr val="F3F6FB"/>
          </a:solidFill>
          <a:ln w="9525">
            <a:solidFill>
              <a:srgbClr val="C9D3E3"/>
            </a:solidFill>
            <a:prstDash val="solid"/>
          </a:ln>
        </p:spPr>
      </p:sp>
      <p:sp>
        <p:nvSpPr>
          <p:cNvPr id="12" name="Shape 9"/>
          <p:cNvSpPr/>
          <p:nvPr/>
        </p:nvSpPr>
        <p:spPr>
          <a:xfrm>
            <a:off x="5989320" y="1901952"/>
            <a:ext cx="566928" cy="566928"/>
          </a:xfrm>
          <a:prstGeom prst="ellipse">
            <a:avLst/>
          </a:prstGeom>
          <a:solidFill>
            <a:srgbClr val="26357A"/>
          </a:solidFill>
          <a:ln w="12700">
            <a:solidFill>
              <a:srgbClr val="26357A"/>
            </a:solidFill>
            <a:prstDash val="solid"/>
          </a:ln>
        </p:spPr>
      </p:sp>
      <p:pic>
        <p:nvPicPr>
          <p:cNvPr id="13" name="Image 1" descr="preencoded.png">    </p:cNvPr>
          <p:cNvPicPr>
            <a:picLocks noChangeAspect="1"/>
          </p:cNvPicPr>
          <p:nvPr/>
        </p:nvPicPr>
        <p:blipFill>
          <a:blip r:embed="rId2"/>
          <a:stretch>
            <a:fillRect/>
          </a:stretch>
        </p:blipFill>
        <p:spPr>
          <a:xfrm>
            <a:off x="6114044" y="2026676"/>
            <a:ext cx="317480" cy="317480"/>
          </a:xfrm>
          <a:prstGeom prst="rect">
            <a:avLst/>
          </a:prstGeom>
        </p:spPr>
      </p:pic>
      <p:sp>
        <p:nvSpPr>
          <p:cNvPr id="14" name="Text 10"/>
          <p:cNvSpPr txBox="1"/>
          <p:nvPr/>
        </p:nvSpPr>
        <p:spPr>
          <a:xfrm>
            <a:off x="6766560" y="1755648"/>
            <a:ext cx="4739335" cy="365760"/>
          </a:xfrm>
          <a:prstGeom prst="rect">
            <a:avLst/>
          </a:prstGeom>
          <a:noFill/>
          <a:ln/>
        </p:spPr>
        <p:txBody>
          <a:bodyPr wrap="square" lIns="0" tIns="0" rIns="0" bIns="0" rtlCol="0" anchor="ctr"/>
          <a:lstStyle/>
          <a:p>
            <a:pPr indent="0" marL="0">
              <a:buNone/>
            </a:pPr>
            <a:r>
              <a:rPr lang="ko-KR" altLang="en-US" sz="2000" b="1" dirty="0">
                <a:solidFill>
                  <a:srgbClr val="7DB3E0"/>
                </a:solidFill>
              </a:rPr>
              <a:t>01  </a:t>
            </a:r>
            <a:pPr indent="0" marL="0">
              <a:buNone/>
            </a:pPr>
            <a:r>
              <a:rPr lang="ko-KR" altLang="en-US" sz="2000" b="1" dirty="0">
                <a:solidFill>
                  <a:srgbClr val="1B2559"/>
                </a:solidFill>
              </a:rPr>
              <a:t>GPS 사용이 어려운 환경</a:t>
            </a:r>
            <a:endParaRPr lang="ko-KR" sz="2000" dirty="0"/>
          </a:p>
        </p:txBody>
      </p:sp>
      <p:sp>
        <p:nvSpPr>
          <p:cNvPr id="15" name="Text 11"/>
          <p:cNvSpPr txBox="1"/>
          <p:nvPr/>
        </p:nvSpPr>
        <p:spPr>
          <a:xfrm>
            <a:off x="6766560" y="2139696"/>
            <a:ext cx="4739335" cy="548640"/>
          </a:xfrm>
          <a:prstGeom prst="rect">
            <a:avLst/>
          </a:prstGeom>
          <a:noFill/>
          <a:ln/>
        </p:spPr>
        <p:txBody>
          <a:bodyPr wrap="square" lIns="0" tIns="0" rIns="0" bIns="0" rtlCol="0" anchor="t"/>
          <a:lstStyle/>
          <a:p>
            <a:pPr indent="0" marL="0">
              <a:buNone/>
            </a:pPr>
            <a:r>
              <a:rPr lang="ko-KR" altLang="en-US" sz="1700" dirty="0">
                <a:solidFill>
                  <a:srgbClr val="2B2F36"/>
                </a:solidFill>
              </a:rPr>
              <a:t>실내 · 지하 · 교량 하부에서는 위성 신호가 약하거나 끊긴다</a:t>
            </a:r>
            <a:endParaRPr lang="ko-KR" sz="1700" dirty="0"/>
          </a:p>
        </p:txBody>
      </p:sp>
      <p:sp>
        <p:nvSpPr>
          <p:cNvPr id="16" name="Shape 12"/>
          <p:cNvSpPr/>
          <p:nvPr/>
        </p:nvSpPr>
        <p:spPr>
          <a:xfrm>
            <a:off x="5760720" y="2898648"/>
            <a:ext cx="5882335" cy="1115568"/>
          </a:xfrm>
          <a:prstGeom prst="roundRect">
            <a:avLst>
              <a:gd name="adj" fmla="val 6557"/>
            </a:avLst>
          </a:prstGeom>
          <a:solidFill>
            <a:srgbClr val="F3F6FB"/>
          </a:solidFill>
          <a:ln w="9525">
            <a:solidFill>
              <a:srgbClr val="C9D3E3"/>
            </a:solidFill>
            <a:prstDash val="solid"/>
          </a:ln>
        </p:spPr>
      </p:sp>
      <p:sp>
        <p:nvSpPr>
          <p:cNvPr id="17" name="Shape 13"/>
          <p:cNvSpPr/>
          <p:nvPr/>
        </p:nvSpPr>
        <p:spPr>
          <a:xfrm>
            <a:off x="5989320" y="3172968"/>
            <a:ext cx="566928" cy="566928"/>
          </a:xfrm>
          <a:prstGeom prst="ellipse">
            <a:avLst/>
          </a:prstGeom>
          <a:solidFill>
            <a:srgbClr val="26357A"/>
          </a:solidFill>
          <a:ln w="12700">
            <a:solidFill>
              <a:srgbClr val="26357A"/>
            </a:solidFill>
            <a:prstDash val="solid"/>
          </a:ln>
        </p:spPr>
      </p:sp>
      <p:pic>
        <p:nvPicPr>
          <p:cNvPr id="18" name="Image 2" descr="preencoded.png">    </p:cNvPr>
          <p:cNvPicPr>
            <a:picLocks noChangeAspect="1"/>
          </p:cNvPicPr>
          <p:nvPr/>
        </p:nvPicPr>
        <p:blipFill>
          <a:blip r:embed="rId3"/>
          <a:stretch>
            <a:fillRect/>
          </a:stretch>
        </p:blipFill>
        <p:spPr>
          <a:xfrm>
            <a:off x="6114044" y="3297692"/>
            <a:ext cx="317480" cy="317480"/>
          </a:xfrm>
          <a:prstGeom prst="rect">
            <a:avLst/>
          </a:prstGeom>
        </p:spPr>
      </p:pic>
      <p:sp>
        <p:nvSpPr>
          <p:cNvPr id="19" name="Text 14"/>
          <p:cNvSpPr txBox="1"/>
          <p:nvPr/>
        </p:nvSpPr>
        <p:spPr>
          <a:xfrm>
            <a:off x="6766560" y="3026664"/>
            <a:ext cx="4739335" cy="365760"/>
          </a:xfrm>
          <a:prstGeom prst="rect">
            <a:avLst/>
          </a:prstGeom>
          <a:noFill/>
          <a:ln/>
        </p:spPr>
        <p:txBody>
          <a:bodyPr wrap="square" lIns="0" tIns="0" rIns="0" bIns="0" rtlCol="0" anchor="ctr"/>
          <a:lstStyle/>
          <a:p>
            <a:pPr indent="0" marL="0">
              <a:buNone/>
            </a:pPr>
            <a:r>
              <a:rPr lang="ko-KR" altLang="en-US" sz="2000" b="1" dirty="0">
                <a:solidFill>
                  <a:srgbClr val="7DB3E0"/>
                </a:solidFill>
              </a:rPr>
              <a:t>02  </a:t>
            </a:r>
            <a:pPr indent="0" marL="0">
              <a:buNone/>
            </a:pPr>
            <a:r>
              <a:rPr lang="ko-KR" altLang="en-US" sz="2000" b="1" dirty="0">
                <a:solidFill>
                  <a:srgbClr val="1B2559"/>
                </a:solidFill>
              </a:rPr>
              <a:t>IMU 단독 항법의 오차 누적</a:t>
            </a:r>
            <a:endParaRPr lang="ko-KR" sz="2000" dirty="0"/>
          </a:p>
        </p:txBody>
      </p:sp>
      <p:sp>
        <p:nvSpPr>
          <p:cNvPr id="20" name="Text 15"/>
          <p:cNvSpPr txBox="1"/>
          <p:nvPr/>
        </p:nvSpPr>
        <p:spPr>
          <a:xfrm>
            <a:off x="6766560" y="3410712"/>
            <a:ext cx="4739335" cy="548640"/>
          </a:xfrm>
          <a:prstGeom prst="rect">
            <a:avLst/>
          </a:prstGeom>
          <a:noFill/>
          <a:ln/>
        </p:spPr>
        <p:txBody>
          <a:bodyPr wrap="square" lIns="0" tIns="0" rIns="0" bIns="0" rtlCol="0" anchor="t"/>
          <a:lstStyle/>
          <a:p>
            <a:pPr indent="0" marL="0">
              <a:buNone/>
            </a:pPr>
            <a:r>
              <a:rPr lang="ko-KR" altLang="en-US" sz="1700" dirty="0">
                <a:solidFill>
                  <a:srgbClr val="2B2F36"/>
                </a:solidFill>
              </a:rPr>
              <a:t>가속도를 두 번 적분하므로 바이어스와 잡음에 의한 오차가 시간에 따라 커진다</a:t>
            </a:r>
            <a:endParaRPr lang="ko-KR" sz="1700" dirty="0"/>
          </a:p>
        </p:txBody>
      </p:sp>
      <p:sp>
        <p:nvSpPr>
          <p:cNvPr id="21" name="Shape 16"/>
          <p:cNvSpPr/>
          <p:nvPr/>
        </p:nvSpPr>
        <p:spPr>
          <a:xfrm>
            <a:off x="5760720" y="4169664"/>
            <a:ext cx="5882335" cy="1115568"/>
          </a:xfrm>
          <a:prstGeom prst="roundRect">
            <a:avLst>
              <a:gd name="adj" fmla="val 6557"/>
            </a:avLst>
          </a:prstGeom>
          <a:solidFill>
            <a:srgbClr val="EEF5FC"/>
          </a:solidFill>
          <a:ln w="9525">
            <a:solidFill>
              <a:srgbClr val="7DB3E0"/>
            </a:solidFill>
            <a:prstDash val="solid"/>
          </a:ln>
        </p:spPr>
      </p:sp>
      <p:sp>
        <p:nvSpPr>
          <p:cNvPr id="22" name="Shape 17"/>
          <p:cNvSpPr/>
          <p:nvPr/>
        </p:nvSpPr>
        <p:spPr>
          <a:xfrm>
            <a:off x="5989320" y="4443984"/>
            <a:ext cx="566928" cy="566928"/>
          </a:xfrm>
          <a:prstGeom prst="ellipse">
            <a:avLst/>
          </a:prstGeom>
          <a:solidFill>
            <a:srgbClr val="3B5BA9"/>
          </a:solidFill>
          <a:ln w="12700">
            <a:solidFill>
              <a:srgbClr val="3B5BA9"/>
            </a:solidFill>
            <a:prstDash val="solid"/>
          </a:ln>
        </p:spPr>
      </p:sp>
      <p:pic>
        <p:nvPicPr>
          <p:cNvPr id="23" name="Image 3" descr="preencoded.png">    </p:cNvPr>
          <p:cNvPicPr>
            <a:picLocks noChangeAspect="1"/>
          </p:cNvPicPr>
          <p:nvPr/>
        </p:nvPicPr>
        <p:blipFill>
          <a:blip r:embed="rId4"/>
          <a:stretch>
            <a:fillRect/>
          </a:stretch>
        </p:blipFill>
        <p:spPr>
          <a:xfrm>
            <a:off x="6114044" y="4568708"/>
            <a:ext cx="317480" cy="317480"/>
          </a:xfrm>
          <a:prstGeom prst="rect">
            <a:avLst/>
          </a:prstGeom>
        </p:spPr>
      </p:pic>
      <p:sp>
        <p:nvSpPr>
          <p:cNvPr id="24" name="Text 18"/>
          <p:cNvSpPr txBox="1"/>
          <p:nvPr/>
        </p:nvSpPr>
        <p:spPr>
          <a:xfrm>
            <a:off x="6766560" y="4297680"/>
            <a:ext cx="4739335" cy="365760"/>
          </a:xfrm>
          <a:prstGeom prst="rect">
            <a:avLst/>
          </a:prstGeom>
          <a:noFill/>
          <a:ln/>
        </p:spPr>
        <p:txBody>
          <a:bodyPr wrap="square" lIns="0" tIns="0" rIns="0" bIns="0" rtlCol="0" anchor="ctr"/>
          <a:lstStyle/>
          <a:p>
            <a:pPr indent="0" marL="0">
              <a:buNone/>
            </a:pPr>
            <a:r>
              <a:rPr lang="ko-KR" altLang="en-US" sz="2000" b="1" dirty="0">
                <a:solidFill>
                  <a:srgbClr val="7DB3E0"/>
                </a:solidFill>
              </a:rPr>
              <a:t>03  </a:t>
            </a:r>
            <a:pPr indent="0" marL="0">
              <a:buNone/>
            </a:pPr>
            <a:r>
              <a:rPr lang="ko-KR" altLang="en-US" sz="2000" b="1" dirty="0">
                <a:solidFill>
                  <a:srgbClr val="1B2559"/>
                </a:solidFill>
              </a:rPr>
              <a:t>카메라로 외부 운동 정보 확보</a:t>
            </a:r>
            <a:endParaRPr lang="ko-KR" sz="2000" dirty="0"/>
          </a:p>
        </p:txBody>
      </p:sp>
      <p:sp>
        <p:nvSpPr>
          <p:cNvPr id="25" name="Text 19"/>
          <p:cNvSpPr txBox="1"/>
          <p:nvPr/>
        </p:nvSpPr>
        <p:spPr>
          <a:xfrm>
            <a:off x="6766560" y="4681728"/>
            <a:ext cx="4739335" cy="548640"/>
          </a:xfrm>
          <a:prstGeom prst="rect">
            <a:avLst/>
          </a:prstGeom>
          <a:noFill/>
          <a:ln/>
        </p:spPr>
        <p:txBody>
          <a:bodyPr wrap="square" lIns="0" tIns="0" rIns="0" bIns="0" rtlCol="0" anchor="t"/>
          <a:lstStyle/>
          <a:p>
            <a:pPr indent="0" marL="0">
              <a:buNone/>
            </a:pPr>
            <a:r>
              <a:rPr lang="ko-KR" altLang="en-US" sz="1700" dirty="0">
                <a:solidFill>
                  <a:srgbClr val="2B2F36"/>
                </a:solidFill>
              </a:rPr>
              <a:t>영상에서 드론의 움직임을 관측하면 IMU의 누적 오차를 보정할 수 있다</a:t>
            </a:r>
            <a:endParaRPr lang="ko-KR" sz="1700" dirty="0"/>
          </a:p>
        </p:txBody>
      </p:sp>
      <p:sp>
        <p:nvSpPr>
          <p:cNvPr id="26" name="Shape 20"/>
          <p:cNvSpPr/>
          <p:nvPr/>
        </p:nvSpPr>
        <p:spPr>
          <a:xfrm>
            <a:off x="548640" y="5440680"/>
            <a:ext cx="11094415" cy="731520"/>
          </a:xfrm>
          <a:prstGeom prst="roundRect">
            <a:avLst>
              <a:gd name="adj" fmla="val 10000"/>
            </a:avLst>
          </a:prstGeom>
          <a:solidFill>
            <a:srgbClr val="DCEBF8"/>
          </a:solidFill>
          <a:ln w="12700">
            <a:solidFill>
              <a:srgbClr val="DCEBF8"/>
            </a:solidFill>
            <a:prstDash val="solid"/>
          </a:ln>
        </p:spPr>
      </p:sp>
      <p:sp>
        <p:nvSpPr>
          <p:cNvPr id="27" name="Shape 21"/>
          <p:cNvSpPr/>
          <p:nvPr/>
        </p:nvSpPr>
        <p:spPr>
          <a:xfrm>
            <a:off x="731520" y="5541264"/>
            <a:ext cx="530352" cy="530352"/>
          </a:xfrm>
          <a:prstGeom prst="ellipse">
            <a:avLst/>
          </a:prstGeom>
          <a:solidFill>
            <a:srgbClr val="26357A"/>
          </a:solidFill>
          <a:ln w="12700">
            <a:solidFill>
              <a:srgbClr val="26357A"/>
            </a:solidFill>
            <a:prstDash val="solid"/>
          </a:ln>
        </p:spPr>
      </p:sp>
      <p:pic>
        <p:nvPicPr>
          <p:cNvPr id="28" name="Image 4" descr="preencoded.png">    </p:cNvPr>
          <p:cNvPicPr>
            <a:picLocks noChangeAspect="1"/>
          </p:cNvPicPr>
          <p:nvPr/>
        </p:nvPicPr>
        <p:blipFill>
          <a:blip r:embed="rId5"/>
          <a:stretch>
            <a:fillRect/>
          </a:stretch>
        </p:blipFill>
        <p:spPr>
          <a:xfrm>
            <a:off x="848197" y="5657941"/>
            <a:ext cx="296997" cy="296997"/>
          </a:xfrm>
          <a:prstGeom prst="rect">
            <a:avLst/>
          </a:prstGeom>
        </p:spPr>
      </p:pic>
      <p:sp>
        <p:nvSpPr>
          <p:cNvPr id="29" name="Text 22"/>
          <p:cNvSpPr txBox="1"/>
          <p:nvPr/>
        </p:nvSpPr>
        <p:spPr>
          <a:xfrm>
            <a:off x="1417320" y="5440680"/>
            <a:ext cx="10088575" cy="731520"/>
          </a:xfrm>
          <a:prstGeom prst="rect">
            <a:avLst/>
          </a:prstGeom>
          <a:noFill/>
          <a:ln/>
        </p:spPr>
        <p:txBody>
          <a:bodyPr wrap="square" lIns="0" tIns="0" rIns="0" bIns="0" rtlCol="0" anchor="ctr"/>
          <a:lstStyle/>
          <a:p>
            <a:pPr indent="0" marL="0">
              <a:buNone/>
            </a:pPr>
            <a:r>
              <a:rPr lang="ko-KR" altLang="en-US" sz="1900" b="1" dirty="0">
                <a:solidFill>
                  <a:srgbClr val="1B2559"/>
                </a:solidFill>
              </a:rPr>
              <a:t>GPS를 사용할 수 없는 환경에서는 IMU의 누적 오차를 보정할 추가적인 운동 관측이 필요하다.</a:t>
            </a:r>
            <a:endParaRPr lang="ko-KR" sz="1900" dirty="0"/>
          </a:p>
        </p:txBody>
      </p:sp>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298448" y="118872"/>
            <a:ext cx="7680960" cy="640080"/>
          </a:xfrm>
          <a:prstGeom prst="rect">
            <a:avLst/>
          </a:prstGeom>
          <a:noFill/>
          <a:ln/>
        </p:spPr>
        <p:txBody>
          <a:bodyPr wrap="square" lIns="0" tIns="0" rIns="0" bIns="0" rtlCol="0" anchor="ctr"/>
          <a:lstStyle/>
          <a:p>
            <a:pPr algn="l" indent="0" marL="0">
              <a:buNone/>
            </a:pPr>
            <a:r>
              <a:rPr lang="en-US" sz="2800" b="1" dirty="0">
                <a:solidFill>
                  <a:srgbClr val="FFFFFF"/>
                </a:solidFill>
              </a:rPr>
              <a:t>연구 필요성: 카메라 측정은 항상 신뢰할 수 있는가?</a:t>
            </a:r>
            <a:endParaRPr lang="en-US" sz="2800" dirty="0"/>
          </a:p>
        </p:txBody>
      </p:sp>
      <p:sp>
        <p:nvSpPr>
          <p:cNvPr id="3" name="Text 0"/>
          <p:cNvSpPr/>
          <p:nvPr>
            <p:ph idx="102" type="body" hasCustomPrompt="1"/>
          </p:nvPr>
        </p:nvSpPr>
        <p:spPr>
          <a:xfrm>
            <a:off x="8229600" y="228600"/>
            <a:ext cx="3410712" cy="411480"/>
          </a:xfrm>
          <a:prstGeom prst="rect">
            <a:avLst/>
          </a:prstGeom>
          <a:noFill/>
          <a:ln/>
        </p:spPr>
        <p:txBody>
          <a:bodyPr wrap="square" lIns="0" tIns="0" rIns="0" bIns="0" rtlCol="0" anchor="ctr"/>
          <a:lstStyle/>
          <a:p>
            <a:pPr algn="r" indent="0" marL="0">
              <a:buNone/>
            </a:pPr>
            <a:r>
              <a:rPr lang="en-US" sz="1300" i="1" dirty="0">
                <a:solidFill>
                  <a:srgbClr val="C3D8F2"/>
                </a:solidFill>
              </a:rPr>
              <a:t>Motivation</a:t>
            </a:r>
            <a:endParaRPr lang="en-US" sz="1300" dirty="0"/>
          </a:p>
        </p:txBody>
      </p:sp>
      <p:sp>
        <p:nvSpPr>
          <p:cNvPr id="4" name="Text 2"/>
          <p:cNvSpPr/>
          <p:nvPr/>
        </p:nvSpPr>
        <p:spPr>
          <a:xfrm>
            <a:off x="548640" y="182880"/>
            <a:ext cx="603504" cy="502920"/>
          </a:xfrm>
          <a:prstGeom prst="roundRect">
            <a:avLst>
              <a:gd name="adj" fmla="val 14545"/>
            </a:avLst>
          </a:prstGeom>
          <a:solidFill>
            <a:srgbClr val="7DB3E0"/>
          </a:solidFill>
          <a:ln/>
        </p:spPr>
        <p:txBody>
          <a:bodyPr wrap="square" lIns="0" tIns="0" rIns="0" bIns="0" rtlCol="0" anchor="ctr"/>
          <a:lstStyle/>
          <a:p>
            <a:pPr algn="ctr" indent="0" marL="0">
              <a:buNone/>
            </a:pPr>
            <a:r>
              <a:rPr lang="en-US" sz="1800" b="1" dirty="0">
                <a:solidFill>
                  <a:srgbClr val="1B2559"/>
                </a:solidFill>
              </a:rPr>
              <a:t>01</a:t>
            </a:r>
            <a:endParaRPr lang="en-US" sz="1800" dirty="0"/>
          </a:p>
        </p:txBody>
      </p:sp>
      <p:sp>
        <p:nvSpPr>
          <p:cNvPr id="5" name="Text 3"/>
          <p:cNvSpPr txBox="1"/>
          <p:nvPr/>
        </p:nvSpPr>
        <p:spPr>
          <a:xfrm>
            <a:off x="548640" y="1005840"/>
            <a:ext cx="11094415" cy="457200"/>
          </a:xfrm>
          <a:prstGeom prst="rect">
            <a:avLst/>
          </a:prstGeom>
          <a:noFill/>
          <a:ln/>
        </p:spPr>
        <p:txBody>
          <a:bodyPr wrap="square" lIns="0" tIns="0" rIns="0" bIns="0" rtlCol="0" anchor="ctr"/>
          <a:lstStyle/>
          <a:p>
            <a:pPr indent="0" marL="0">
              <a:buNone/>
            </a:pPr>
            <a:r>
              <a:rPr lang="ko-KR" altLang="en-US" sz="2000" b="1" dirty="0">
                <a:solidFill>
                  <a:srgbClr val="1B2559"/>
                </a:solidFill>
              </a:rPr>
              <a:t>같은 장면이라도 영상 상태에 따라 카메라 측정의 질이 달라진다</a:t>
            </a:r>
            <a:endParaRPr lang="ko-KR" sz="2000" dirty="0"/>
          </a:p>
        </p:txBody>
      </p:sp>
      <p:pic>
        <p:nvPicPr>
          <p:cNvPr id="6" name="Image 0" descr="① 정상 영상 특징점 추적 결과">    </p:cNvPr>
          <p:cNvPicPr>
            <a:picLocks noChangeAspect="1"/>
          </p:cNvPicPr>
          <p:nvPr/>
        </p:nvPicPr>
        <p:blipFill>
          <a:blip r:embed="rId1"/>
          <a:stretch>
            <a:fillRect/>
          </a:stretch>
        </p:blipFill>
        <p:spPr>
          <a:xfrm>
            <a:off x="563728" y="1536192"/>
            <a:ext cx="3566160" cy="2674620"/>
          </a:xfrm>
          <a:prstGeom prst="rect">
            <a:avLst/>
          </a:prstGeom>
        </p:spPr>
      </p:pic>
      <p:sp>
        <p:nvSpPr>
          <p:cNvPr id="7" name="Text 4"/>
          <p:cNvSpPr/>
          <p:nvPr/>
        </p:nvSpPr>
        <p:spPr>
          <a:xfrm>
            <a:off x="673456" y="1645920"/>
            <a:ext cx="2148840" cy="365760"/>
          </a:xfrm>
          <a:prstGeom prst="roundRect">
            <a:avLst>
              <a:gd name="adj" fmla="val 15000"/>
            </a:avLst>
          </a:prstGeom>
          <a:solidFill>
            <a:srgbClr val="26357A">
              <a:alpha val="92000"/>
            </a:srgbClr>
          </a:solidFill>
          <a:ln/>
        </p:spPr>
        <p:txBody>
          <a:bodyPr wrap="square" lIns="0" tIns="0" rIns="0" bIns="0" rtlCol="0" anchor="ctr"/>
          <a:lstStyle/>
          <a:p>
            <a:pPr algn="ctr" indent="0" marL="0">
              <a:buNone/>
            </a:pPr>
            <a:r>
              <a:rPr lang="ko-KR" altLang="en-US" sz="1400" b="1" dirty="0">
                <a:solidFill>
                  <a:srgbClr val="FFFFFF"/>
                </a:solidFill>
              </a:rPr>
              <a:t>① 정상 영상</a:t>
            </a:r>
            <a:endParaRPr lang="ko-KR" sz="1400" dirty="0"/>
          </a:p>
        </p:txBody>
      </p:sp>
      <p:sp>
        <p:nvSpPr>
          <p:cNvPr id="8" name="Text 5"/>
          <p:cNvSpPr txBox="1"/>
          <p:nvPr/>
        </p:nvSpPr>
        <p:spPr>
          <a:xfrm>
            <a:off x="563728" y="4274820"/>
            <a:ext cx="3566160" cy="365760"/>
          </a:xfrm>
          <a:prstGeom prst="rect">
            <a:avLst/>
          </a:prstGeom>
          <a:noFill/>
          <a:ln/>
        </p:spPr>
        <p:txBody>
          <a:bodyPr wrap="square" lIns="0" tIns="0" rIns="0" bIns="0" rtlCol="0" anchor="ctr"/>
          <a:lstStyle/>
          <a:p>
            <a:pPr algn="ctr" indent="0" marL="0">
              <a:buNone/>
            </a:pPr>
            <a:r>
              <a:rPr lang="ko-KR" altLang="en-US" sz="1700" dirty="0">
                <a:solidFill>
                  <a:srgbClr val="2B2F36"/>
                </a:solidFill>
              </a:rPr>
              <a:t>특징점 </a:t>
            </a:r>
            <a:pPr algn="ctr" indent="0" marL="0">
              <a:buNone/>
            </a:pPr>
            <a:r>
              <a:rPr lang="ko-KR" altLang="en-US" sz="1700" b="1" dirty="0">
                <a:solidFill>
                  <a:srgbClr val="2B2F36"/>
                </a:solidFill>
              </a:rPr>
              <a:t>200</a:t>
            </a:r>
            <a:pPr algn="ctr" indent="0" marL="0">
              <a:buNone/>
            </a:pPr>
            <a:r>
              <a:rPr lang="ko-KR" altLang="en-US" sz="1700" dirty="0">
                <a:solidFill>
                  <a:srgbClr val="2B2F36"/>
                </a:solidFill>
              </a:rPr>
              <a:t>개 · 추적 성공 </a:t>
            </a:r>
            <a:pPr algn="ctr" indent="0" marL="0">
              <a:buNone/>
            </a:pPr>
            <a:r>
              <a:rPr lang="ko-KR" altLang="en-US" sz="1700" b="1" dirty="0">
                <a:solidFill>
                  <a:srgbClr val="2B2F36"/>
                </a:solidFill>
              </a:rPr>
              <a:t>100%</a:t>
            </a:r>
            <a:endParaRPr lang="ko-KR" sz="1700" dirty="0"/>
          </a:p>
        </p:txBody>
      </p:sp>
      <p:pic>
        <p:nvPicPr>
          <p:cNvPr id="9" name="Image 1" descr="② 흐림 (Motion Blur) 특징점 추적 결과">    </p:cNvPr>
          <p:cNvPicPr>
            <a:picLocks noChangeAspect="1"/>
          </p:cNvPicPr>
          <p:nvPr/>
        </p:nvPicPr>
        <p:blipFill>
          <a:blip r:embed="rId2"/>
          <a:stretch>
            <a:fillRect/>
          </a:stretch>
        </p:blipFill>
        <p:spPr>
          <a:xfrm>
            <a:off x="4312768" y="1536192"/>
            <a:ext cx="3566160" cy="2674620"/>
          </a:xfrm>
          <a:prstGeom prst="rect">
            <a:avLst/>
          </a:prstGeom>
        </p:spPr>
      </p:pic>
      <p:sp>
        <p:nvSpPr>
          <p:cNvPr id="10" name="Text 6"/>
          <p:cNvSpPr/>
          <p:nvPr/>
        </p:nvSpPr>
        <p:spPr>
          <a:xfrm>
            <a:off x="4422496" y="1645920"/>
            <a:ext cx="2148840" cy="365760"/>
          </a:xfrm>
          <a:prstGeom prst="roundRect">
            <a:avLst>
              <a:gd name="adj" fmla="val 15000"/>
            </a:avLst>
          </a:prstGeom>
          <a:solidFill>
            <a:srgbClr val="26357A">
              <a:alpha val="92000"/>
            </a:srgbClr>
          </a:solidFill>
          <a:ln/>
        </p:spPr>
        <p:txBody>
          <a:bodyPr wrap="square" lIns="0" tIns="0" rIns="0" bIns="0" rtlCol="0" anchor="ctr"/>
          <a:lstStyle/>
          <a:p>
            <a:pPr algn="ctr" indent="0" marL="0">
              <a:buNone/>
            </a:pPr>
            <a:r>
              <a:rPr lang="ko-KR" altLang="en-US" sz="1400" b="1" dirty="0">
                <a:solidFill>
                  <a:srgbClr val="FFFFFF"/>
                </a:solidFill>
              </a:rPr>
              <a:t>② 흐림 (Motion Blur)</a:t>
            </a:r>
            <a:endParaRPr lang="ko-KR" sz="1400" dirty="0"/>
          </a:p>
        </p:txBody>
      </p:sp>
      <p:sp>
        <p:nvSpPr>
          <p:cNvPr id="11" name="Text 7"/>
          <p:cNvSpPr txBox="1"/>
          <p:nvPr/>
        </p:nvSpPr>
        <p:spPr>
          <a:xfrm>
            <a:off x="4312768" y="4274820"/>
            <a:ext cx="3566160" cy="365760"/>
          </a:xfrm>
          <a:prstGeom prst="rect">
            <a:avLst/>
          </a:prstGeom>
          <a:noFill/>
          <a:ln/>
        </p:spPr>
        <p:txBody>
          <a:bodyPr wrap="square" lIns="0" tIns="0" rIns="0" bIns="0" rtlCol="0" anchor="ctr"/>
          <a:lstStyle/>
          <a:p>
            <a:pPr algn="ctr" indent="0" marL="0">
              <a:buNone/>
            </a:pPr>
            <a:r>
              <a:rPr lang="ko-KR" altLang="en-US" sz="1700" dirty="0">
                <a:solidFill>
                  <a:srgbClr val="2B2F36"/>
                </a:solidFill>
              </a:rPr>
              <a:t>특징점 </a:t>
            </a:r>
            <a:pPr algn="ctr" indent="0" marL="0">
              <a:buNone/>
            </a:pPr>
            <a:r>
              <a:rPr lang="ko-KR" altLang="en-US" sz="1700" b="1" dirty="0">
                <a:solidFill>
                  <a:srgbClr val="2B2F36"/>
                </a:solidFill>
              </a:rPr>
              <a:t>170</a:t>
            </a:r>
            <a:pPr algn="ctr" indent="0" marL="0">
              <a:buNone/>
            </a:pPr>
            <a:r>
              <a:rPr lang="ko-KR" altLang="en-US" sz="1700" dirty="0">
                <a:solidFill>
                  <a:srgbClr val="2B2F36"/>
                </a:solidFill>
              </a:rPr>
              <a:t>개 · 추적 성공 </a:t>
            </a:r>
            <a:pPr algn="ctr" indent="0" marL="0">
              <a:buNone/>
            </a:pPr>
            <a:r>
              <a:rPr lang="ko-KR" altLang="en-US" sz="1700" b="1" dirty="0">
                <a:solidFill>
                  <a:srgbClr val="2B2F36"/>
                </a:solidFill>
              </a:rPr>
              <a:t>95%</a:t>
            </a:r>
            <a:endParaRPr lang="ko-KR" sz="1700" dirty="0"/>
          </a:p>
        </p:txBody>
      </p:sp>
      <p:pic>
        <p:nvPicPr>
          <p:cNvPr id="12" name="Image 2" descr="③ 저조도 (Low-light) 특징점 추적 결과">    </p:cNvPr>
          <p:cNvPicPr>
            <a:picLocks noChangeAspect="1"/>
          </p:cNvPicPr>
          <p:nvPr/>
        </p:nvPicPr>
        <p:blipFill>
          <a:blip r:embed="rId3"/>
          <a:stretch>
            <a:fillRect/>
          </a:stretch>
        </p:blipFill>
        <p:spPr>
          <a:xfrm>
            <a:off x="8061808" y="1536192"/>
            <a:ext cx="3566160" cy="2674620"/>
          </a:xfrm>
          <a:prstGeom prst="rect">
            <a:avLst/>
          </a:prstGeom>
        </p:spPr>
      </p:pic>
      <p:sp>
        <p:nvSpPr>
          <p:cNvPr id="13" name="Text 8"/>
          <p:cNvSpPr/>
          <p:nvPr/>
        </p:nvSpPr>
        <p:spPr>
          <a:xfrm>
            <a:off x="8171536" y="1645920"/>
            <a:ext cx="2148840" cy="365760"/>
          </a:xfrm>
          <a:prstGeom prst="roundRect">
            <a:avLst>
              <a:gd name="adj" fmla="val 15000"/>
            </a:avLst>
          </a:prstGeom>
          <a:solidFill>
            <a:srgbClr val="26357A">
              <a:alpha val="92000"/>
            </a:srgbClr>
          </a:solidFill>
          <a:ln/>
        </p:spPr>
        <p:txBody>
          <a:bodyPr wrap="square" lIns="0" tIns="0" rIns="0" bIns="0" rtlCol="0" anchor="ctr"/>
          <a:lstStyle/>
          <a:p>
            <a:pPr algn="ctr" indent="0" marL="0">
              <a:buNone/>
            </a:pPr>
            <a:r>
              <a:rPr lang="ko-KR" altLang="en-US" sz="1400" b="1" dirty="0">
                <a:solidFill>
                  <a:srgbClr val="FFFFFF"/>
                </a:solidFill>
              </a:rPr>
              <a:t>③ 저조도 (Low-light)</a:t>
            </a:r>
            <a:endParaRPr lang="ko-KR" sz="1400" dirty="0"/>
          </a:p>
        </p:txBody>
      </p:sp>
      <p:sp>
        <p:nvSpPr>
          <p:cNvPr id="14" name="Text 9"/>
          <p:cNvSpPr txBox="1"/>
          <p:nvPr/>
        </p:nvSpPr>
        <p:spPr>
          <a:xfrm>
            <a:off x="8061808" y="4274820"/>
            <a:ext cx="3566160" cy="365760"/>
          </a:xfrm>
          <a:prstGeom prst="rect">
            <a:avLst/>
          </a:prstGeom>
          <a:noFill/>
          <a:ln/>
        </p:spPr>
        <p:txBody>
          <a:bodyPr wrap="square" lIns="0" tIns="0" rIns="0" bIns="0" rtlCol="0" anchor="ctr"/>
          <a:lstStyle/>
          <a:p>
            <a:pPr algn="ctr" indent="0" marL="0">
              <a:buNone/>
            </a:pPr>
            <a:r>
              <a:rPr lang="ko-KR" altLang="en-US" sz="1700" dirty="0">
                <a:solidFill>
                  <a:srgbClr val="2B2F36"/>
                </a:solidFill>
              </a:rPr>
              <a:t>특징점 </a:t>
            </a:r>
            <a:pPr algn="ctr" indent="0" marL="0">
              <a:buNone/>
            </a:pPr>
            <a:r>
              <a:rPr lang="ko-KR" altLang="en-US" sz="1700" b="1" dirty="0">
                <a:solidFill>
                  <a:srgbClr val="E07B39"/>
                </a:solidFill>
              </a:rPr>
              <a:t>13</a:t>
            </a:r>
            <a:pPr algn="ctr" indent="0" marL="0">
              <a:buNone/>
            </a:pPr>
            <a:r>
              <a:rPr lang="ko-KR" altLang="en-US" sz="1700" dirty="0">
                <a:solidFill>
                  <a:srgbClr val="2B2F36"/>
                </a:solidFill>
              </a:rPr>
              <a:t>개 · 추적 성공 </a:t>
            </a:r>
            <a:pPr algn="ctr" indent="0" marL="0">
              <a:buNone/>
            </a:pPr>
            <a:r>
              <a:rPr lang="ko-KR" altLang="en-US" sz="1700" b="1" dirty="0">
                <a:solidFill>
                  <a:srgbClr val="2B2F36"/>
                </a:solidFill>
              </a:rPr>
              <a:t>100%</a:t>
            </a:r>
            <a:endParaRPr lang="ko-KR" sz="1700" dirty="0"/>
          </a:p>
        </p:txBody>
      </p:sp>
      <p:sp>
        <p:nvSpPr>
          <p:cNvPr id="15" name="Shape 10"/>
          <p:cNvSpPr/>
          <p:nvPr/>
        </p:nvSpPr>
        <p:spPr>
          <a:xfrm>
            <a:off x="8025232" y="1499616"/>
            <a:ext cx="3639312" cy="2747772"/>
          </a:xfrm>
          <a:prstGeom prst="roundRect">
            <a:avLst>
              <a:gd name="adj" fmla="val 2662"/>
            </a:avLst>
          </a:prstGeom>
          <a:ln w="28575">
            <a:solidFill>
              <a:srgbClr val="E07B39"/>
            </a:solidFill>
            <a:prstDash val="solid"/>
          </a:ln>
        </p:spPr>
      </p:sp>
      <p:sp>
        <p:nvSpPr>
          <p:cNvPr id="16" name="Shape 11"/>
          <p:cNvSpPr/>
          <p:nvPr/>
        </p:nvSpPr>
        <p:spPr>
          <a:xfrm>
            <a:off x="548640" y="4709160"/>
            <a:ext cx="5623560" cy="1069848"/>
          </a:xfrm>
          <a:prstGeom prst="roundRect">
            <a:avLst>
              <a:gd name="adj" fmla="val 6838"/>
            </a:avLst>
          </a:prstGeom>
          <a:solidFill>
            <a:srgbClr val="F3F6FB"/>
          </a:solidFill>
          <a:ln w="9525">
            <a:solidFill>
              <a:srgbClr val="C9D3E3"/>
            </a:solidFill>
            <a:prstDash val="solid"/>
          </a:ln>
        </p:spPr>
      </p:sp>
      <p:pic>
        <p:nvPicPr>
          <p:cNvPr id="17" name="Image 3" descr="preencoded.png">    </p:cNvPr>
          <p:cNvPicPr>
            <a:picLocks noChangeAspect="1"/>
          </p:cNvPicPr>
          <p:nvPr/>
        </p:nvPicPr>
        <p:blipFill>
          <a:blip r:embed="rId4"/>
          <a:stretch>
            <a:fillRect/>
          </a:stretch>
        </p:blipFill>
        <p:spPr>
          <a:xfrm>
            <a:off x="731520" y="4864608"/>
            <a:ext cx="347472" cy="347472"/>
          </a:xfrm>
          <a:prstGeom prst="rect">
            <a:avLst/>
          </a:prstGeom>
        </p:spPr>
      </p:pic>
      <p:sp>
        <p:nvSpPr>
          <p:cNvPr id="18" name="Text 12"/>
          <p:cNvSpPr txBox="1"/>
          <p:nvPr/>
        </p:nvSpPr>
        <p:spPr>
          <a:xfrm>
            <a:off x="1188720" y="4828032"/>
            <a:ext cx="4846320" cy="411480"/>
          </a:xfrm>
          <a:prstGeom prst="rect">
            <a:avLst/>
          </a:prstGeom>
          <a:noFill/>
          <a:ln/>
        </p:spPr>
        <p:txBody>
          <a:bodyPr wrap="square" lIns="0" tIns="0" rIns="0" bIns="0" rtlCol="0" anchor="ctr"/>
          <a:lstStyle/>
          <a:p>
            <a:pPr indent="0" marL="0">
              <a:buNone/>
            </a:pPr>
            <a:r>
              <a:rPr lang="ko-KR" altLang="en-US" sz="1800" b="1" dirty="0">
                <a:solidFill>
                  <a:srgbClr val="1B2559"/>
                </a:solidFill>
              </a:rPr>
              <a:t>추적 성공률 하나로는 부족하다</a:t>
            </a:r>
            <a:endParaRPr lang="ko-KR" sz="1800" dirty="0"/>
          </a:p>
        </p:txBody>
      </p:sp>
      <p:sp>
        <p:nvSpPr>
          <p:cNvPr id="19" name="Text 13"/>
          <p:cNvSpPr txBox="1"/>
          <p:nvPr/>
        </p:nvSpPr>
        <p:spPr>
          <a:xfrm>
            <a:off x="731520" y="5239512"/>
            <a:ext cx="5303520" cy="502920"/>
          </a:xfrm>
          <a:prstGeom prst="rect">
            <a:avLst/>
          </a:prstGeom>
          <a:noFill/>
          <a:ln/>
        </p:spPr>
        <p:txBody>
          <a:bodyPr wrap="square" lIns="0" tIns="0" rIns="0" bIns="0" rtlCol="0" anchor="t"/>
          <a:lstStyle/>
          <a:p>
            <a:pPr indent="0" marL="0">
              <a:buNone/>
            </a:pPr>
            <a:r>
              <a:rPr lang="ko-KR" altLang="en-US" sz="1550" dirty="0">
                <a:solidFill>
                  <a:srgbClr val="2B2F36"/>
                </a:solidFill>
              </a:rPr>
              <a:t>저조도는 성공률 100%지만 특징점이 13개뿐 → </a:t>
            </a:r>
            <a:pPr indent="0" marL="0">
              <a:buNone/>
            </a:pPr>
            <a:r>
              <a:rPr lang="ko-KR" altLang="en-US" sz="1550" b="1" dirty="0">
                <a:solidFill>
                  <a:srgbClr val="26357A"/>
                </a:solidFill>
              </a:rPr>
              <a:t>특징점 수 · 성공률 · 잔차</a:t>
            </a:r>
            <a:pPr indent="0" marL="0">
              <a:buNone/>
            </a:pPr>
            <a:r>
              <a:rPr lang="ko-KR" altLang="en-US" sz="1550" dirty="0">
                <a:solidFill>
                  <a:srgbClr val="2B2F36"/>
                </a:solidFill>
              </a:rPr>
              <a:t>를 함께 고려해야 한다</a:t>
            </a:r>
            <a:endParaRPr lang="ko-KR" sz="1550" dirty="0"/>
          </a:p>
        </p:txBody>
      </p:sp>
      <p:sp>
        <p:nvSpPr>
          <p:cNvPr id="20" name="Shape 14"/>
          <p:cNvSpPr/>
          <p:nvPr/>
        </p:nvSpPr>
        <p:spPr>
          <a:xfrm>
            <a:off x="6355080" y="4709160"/>
            <a:ext cx="5287975" cy="1069848"/>
          </a:xfrm>
          <a:prstGeom prst="roundRect">
            <a:avLst>
              <a:gd name="adj" fmla="val 6838"/>
            </a:avLst>
          </a:prstGeom>
          <a:solidFill>
            <a:srgbClr val="26357A"/>
          </a:solidFill>
          <a:ln w="12700">
            <a:solidFill>
              <a:srgbClr val="26357A"/>
            </a:solidFill>
            <a:prstDash val="solid"/>
          </a:ln>
          <a:effectLst>
            <a:outerShdw sx="100000" sy="100000" kx="0" ky="0" algn="bl" rotWithShape="0" blurRad="101600" dist="25400" dir="5400000">
              <a:srgbClr val="1B2559">
                <a:alpha val="12000"/>
              </a:srgbClr>
            </a:outerShdw>
          </a:effectLst>
        </p:spPr>
      </p:sp>
      <p:sp>
        <p:nvSpPr>
          <p:cNvPr id="21" name="Text 15"/>
          <p:cNvSpPr txBox="1"/>
          <p:nvPr/>
        </p:nvSpPr>
        <p:spPr>
          <a:xfrm>
            <a:off x="6583680" y="4709160"/>
            <a:ext cx="4830775" cy="1069848"/>
          </a:xfrm>
          <a:prstGeom prst="rect">
            <a:avLst/>
          </a:prstGeom>
          <a:noFill/>
          <a:ln/>
        </p:spPr>
        <p:txBody>
          <a:bodyPr wrap="square" lIns="0" tIns="0" rIns="0" bIns="0" rtlCol="0" anchor="ctr"/>
          <a:lstStyle/>
          <a:p>
            <a:pPr algn="ctr" indent="0" marL="0">
              <a:buNone/>
            </a:pPr>
            <a:r>
              <a:rPr lang="ko-KR" altLang="en-US" sz="2000" b="1" dirty="0">
                <a:solidFill>
                  <a:srgbClr val="FFFFFF"/>
                </a:solidFill>
              </a:rPr>
              <a:t>영상 품질에 따라 카메라 측정의</a:t>
            </a:r>
            <a:endParaRPr lang="ko-KR" sz="2000" dirty="0"/>
          </a:p>
          <a:p>
            <a:pPr algn="ctr" indent="0" marL="0">
              <a:buNone/>
            </a:pPr>
            <a:r>
              <a:rPr lang="ko-KR" altLang="en-US" sz="2000" b="1" dirty="0">
                <a:solidFill>
                  <a:srgbClr val="FFFFFF"/>
                </a:solidFill>
              </a:rPr>
              <a:t>신뢰도를 판단하는 방법이 필요하다</a:t>
            </a:r>
            <a:endParaRPr lang="ko-KR" sz="2000" dirty="0"/>
          </a:p>
        </p:txBody>
      </p:sp>
      <p:sp>
        <p:nvSpPr>
          <p:cNvPr id="22" name="Text 16"/>
          <p:cNvSpPr txBox="1"/>
          <p:nvPr/>
        </p:nvSpPr>
        <p:spPr>
          <a:xfrm>
            <a:off x="548640" y="5879592"/>
            <a:ext cx="11094415" cy="274320"/>
          </a:xfrm>
          <a:prstGeom prst="rect">
            <a:avLst/>
          </a:prstGeom>
          <a:noFill/>
          <a:ln/>
        </p:spPr>
        <p:txBody>
          <a:bodyPr wrap="square" lIns="0" tIns="0" rIns="0" bIns="0" rtlCol="0" anchor="t"/>
          <a:lstStyle/>
          <a:p>
            <a:pPr indent="0" marL="0">
              <a:buNone/>
            </a:pPr>
            <a:r>
              <a:rPr lang="ko-KR" altLang="en-US" sz="1000" dirty="0">
                <a:solidFill>
                  <a:srgbClr val="5F6878"/>
                </a:solidFill>
              </a:rPr>
              <a:t>설명용 예시(실험 데이터 아님) · Wikimedia Commons CC0 'Gravel Stones'(Saral Shots)에 흐림 · 저조도를 인위적으로 부여, Shi–Tomasi + KLT 실제 실행 · 초록 ○ 성공, 빨강 × 실패</a:t>
            </a:r>
            <a:endParaRPr lang="ko-KR" sz="1000" dirty="0"/>
          </a:p>
        </p:txBody>
      </p:sp>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298448" y="118872"/>
            <a:ext cx="7680960" cy="640080"/>
          </a:xfrm>
          <a:prstGeom prst="rect">
            <a:avLst/>
          </a:prstGeom>
          <a:noFill/>
          <a:ln/>
        </p:spPr>
        <p:txBody>
          <a:bodyPr wrap="square" lIns="0" tIns="0" rIns="0" bIns="0" rtlCol="0" anchor="ctr"/>
          <a:lstStyle/>
          <a:p>
            <a:pPr algn="l" indent="0" marL="0">
              <a:buNone/>
            </a:pPr>
            <a:r>
              <a:rPr lang="en-US" sz="2800" b="1" dirty="0">
                <a:solidFill>
                  <a:srgbClr val="FFFFFF"/>
                </a:solidFill>
              </a:rPr>
              <a:t>기존 연구와 본 연구의 위치</a:t>
            </a:r>
            <a:endParaRPr lang="en-US" sz="2800" dirty="0"/>
          </a:p>
        </p:txBody>
      </p:sp>
      <p:sp>
        <p:nvSpPr>
          <p:cNvPr id="3" name="Text 0"/>
          <p:cNvSpPr/>
          <p:nvPr>
            <p:ph idx="102" type="body" hasCustomPrompt="1"/>
          </p:nvPr>
        </p:nvSpPr>
        <p:spPr>
          <a:xfrm>
            <a:off x="8229600" y="228600"/>
            <a:ext cx="3410712" cy="411480"/>
          </a:xfrm>
          <a:prstGeom prst="rect">
            <a:avLst/>
          </a:prstGeom>
          <a:noFill/>
          <a:ln/>
        </p:spPr>
        <p:txBody>
          <a:bodyPr wrap="square" lIns="0" tIns="0" rIns="0" bIns="0" rtlCol="0" anchor="ctr"/>
          <a:lstStyle/>
          <a:p>
            <a:pPr algn="r" indent="0" marL="0">
              <a:buNone/>
            </a:pPr>
            <a:r>
              <a:rPr lang="en-US" sz="1300" i="1" dirty="0">
                <a:solidFill>
                  <a:srgbClr val="C3D8F2"/>
                </a:solidFill>
              </a:rPr>
              <a:t>Related Work</a:t>
            </a:r>
            <a:endParaRPr lang="en-US" sz="1300" dirty="0"/>
          </a:p>
        </p:txBody>
      </p:sp>
      <p:sp>
        <p:nvSpPr>
          <p:cNvPr id="4" name="Text 2"/>
          <p:cNvSpPr/>
          <p:nvPr/>
        </p:nvSpPr>
        <p:spPr>
          <a:xfrm>
            <a:off x="548640" y="182880"/>
            <a:ext cx="603504" cy="502920"/>
          </a:xfrm>
          <a:prstGeom prst="roundRect">
            <a:avLst>
              <a:gd name="adj" fmla="val 14545"/>
            </a:avLst>
          </a:prstGeom>
          <a:solidFill>
            <a:srgbClr val="7DB3E0"/>
          </a:solidFill>
          <a:ln/>
        </p:spPr>
        <p:txBody>
          <a:bodyPr wrap="square" lIns="0" tIns="0" rIns="0" bIns="0" rtlCol="0" anchor="ctr"/>
          <a:lstStyle/>
          <a:p>
            <a:pPr algn="ctr" indent="0" marL="0">
              <a:buNone/>
            </a:pPr>
            <a:r>
              <a:rPr lang="en-US" sz="1800" b="1" dirty="0">
                <a:solidFill>
                  <a:srgbClr val="1B2559"/>
                </a:solidFill>
              </a:rPr>
              <a:t>02</a:t>
            </a:r>
            <a:endParaRPr lang="en-US" sz="1800" dirty="0"/>
          </a:p>
        </p:txBody>
      </p:sp>
      <p:sp>
        <p:nvSpPr>
          <p:cNvPr id="5" name="Text 3"/>
          <p:cNvSpPr txBox="1"/>
          <p:nvPr/>
        </p:nvSpPr>
        <p:spPr>
          <a:xfrm>
            <a:off x="548640" y="1005840"/>
            <a:ext cx="11094415" cy="457200"/>
          </a:xfrm>
          <a:prstGeom prst="rect">
            <a:avLst/>
          </a:prstGeom>
          <a:noFill/>
          <a:ln/>
        </p:spPr>
        <p:txBody>
          <a:bodyPr wrap="square" lIns="0" tIns="0" rIns="0" bIns="0" rtlCol="0" anchor="ctr"/>
          <a:lstStyle/>
          <a:p>
            <a:pPr indent="0" marL="0">
              <a:buNone/>
            </a:pPr>
            <a:r>
              <a:rPr lang="ko-KR" altLang="en-US" sz="2000" b="1" dirty="0">
                <a:solidFill>
                  <a:srgbClr val="1B2559"/>
                </a:solidFill>
              </a:rPr>
              <a:t>검증된 기존 기법을 활용하고, 본 연구는 영상 품질 조건별 비교에 초점을 둔다</a:t>
            </a:r>
            <a:endParaRPr lang="ko-KR" sz="2000" dirty="0"/>
          </a:p>
        </p:txBody>
      </p:sp>
      <p:sp>
        <p:nvSpPr>
          <p:cNvPr id="6" name="Shape 4"/>
          <p:cNvSpPr/>
          <p:nvPr/>
        </p:nvSpPr>
        <p:spPr>
          <a:xfrm>
            <a:off x="1783080" y="1627632"/>
            <a:ext cx="3886200" cy="868680"/>
          </a:xfrm>
          <a:prstGeom prst="roundRect">
            <a:avLst>
              <a:gd name="adj" fmla="val 8421"/>
            </a:avLst>
          </a:prstGeom>
          <a:solidFill>
            <a:srgbClr val="26357A"/>
          </a:solidFill>
          <a:ln w="12700">
            <a:solidFill>
              <a:srgbClr val="26357A"/>
            </a:solidFill>
            <a:prstDash val="solid"/>
          </a:ln>
          <a:effectLst>
            <a:outerShdw sx="100000" sy="100000" kx="0" ky="0" algn="bl" rotWithShape="0" blurRad="101600" dist="25400" dir="5400000">
              <a:srgbClr val="1B2559">
                <a:alpha val="12000"/>
              </a:srgbClr>
            </a:outerShdw>
          </a:effectLst>
        </p:spPr>
      </p:sp>
      <p:sp>
        <p:nvSpPr>
          <p:cNvPr id="7" name="Text 5"/>
          <p:cNvSpPr txBox="1"/>
          <p:nvPr/>
        </p:nvSpPr>
        <p:spPr>
          <a:xfrm>
            <a:off x="1783080" y="1627632"/>
            <a:ext cx="3886200" cy="868680"/>
          </a:xfrm>
          <a:prstGeom prst="rect">
            <a:avLst/>
          </a:prstGeom>
          <a:noFill/>
          <a:ln/>
        </p:spPr>
        <p:txBody>
          <a:bodyPr wrap="square" lIns="0" tIns="0" rIns="0" bIns="0" rtlCol="0" anchor="ctr"/>
          <a:lstStyle/>
          <a:p>
            <a:pPr algn="ctr" indent="0" marL="0">
              <a:buNone/>
            </a:pPr>
            <a:r>
              <a:rPr lang="ko-KR" altLang="en-US" sz="1900" b="1" dirty="0">
                <a:solidFill>
                  <a:srgbClr val="FFFFFF"/>
                </a:solidFill>
              </a:rPr>
              <a:t>Kalman Filter / EKF</a:t>
            </a:r>
            <a:endParaRPr lang="ko-KR" sz="1700" dirty="0"/>
          </a:p>
          <a:p>
            <a:pPr algn="ctr" indent="0" marL="0">
              <a:buNone/>
            </a:pPr>
            <a:r>
              <a:rPr lang="ko-KR" altLang="en-US" sz="1300" dirty="0">
                <a:solidFill>
                  <a:srgbClr val="C3D8F2"/>
                </a:solidFill>
              </a:rPr>
              <a:t>상태 예측 + 측정 보정 · Kalman (1960)</a:t>
            </a:r>
            <a:endParaRPr lang="ko-KR" sz="1700" dirty="0"/>
          </a:p>
        </p:txBody>
      </p:sp>
      <p:sp>
        <p:nvSpPr>
          <p:cNvPr id="8" name="Shape 6"/>
          <p:cNvSpPr/>
          <p:nvPr/>
        </p:nvSpPr>
        <p:spPr>
          <a:xfrm>
            <a:off x="548640" y="2788920"/>
            <a:ext cx="3081528" cy="1600200"/>
          </a:xfrm>
          <a:prstGeom prst="roundRect">
            <a:avLst>
              <a:gd name="adj" fmla="val 4571"/>
            </a:avLst>
          </a:prstGeom>
          <a:solidFill>
            <a:srgbClr val="EEF5FC"/>
          </a:solidFill>
          <a:ln w="12700">
            <a:solidFill>
              <a:srgbClr val="7DB3E0"/>
            </a:solidFill>
            <a:prstDash val="solid"/>
          </a:ln>
        </p:spPr>
      </p:sp>
      <p:sp>
        <p:nvSpPr>
          <p:cNvPr id="9" name="Text 7"/>
          <p:cNvSpPr txBox="1"/>
          <p:nvPr/>
        </p:nvSpPr>
        <p:spPr>
          <a:xfrm>
            <a:off x="731520" y="2862072"/>
            <a:ext cx="2715768" cy="1453896"/>
          </a:xfrm>
          <a:prstGeom prst="rect">
            <a:avLst/>
          </a:prstGeom>
          <a:noFill/>
          <a:ln/>
        </p:spPr>
        <p:txBody>
          <a:bodyPr wrap="square" lIns="0" tIns="0" rIns="0" bIns="0" rtlCol="0" anchor="ctr"/>
          <a:lstStyle/>
          <a:p>
            <a:pPr indent="0" marL="0">
              <a:spcAft>
                <a:spcPts val="400"/>
              </a:spcAft>
              <a:buNone/>
            </a:pPr>
            <a:r>
              <a:rPr lang="ko-KR" altLang="en-US" sz="1700" b="1" dirty="0">
                <a:solidFill>
                  <a:srgbClr val="1B2559"/>
                </a:solidFill>
              </a:rPr>
              <a:t>VIO</a:t>
            </a:r>
            <a:endParaRPr lang="ko-KR" sz="1700" dirty="0"/>
          </a:p>
          <a:p>
            <a:pPr indent="0" marL="0">
              <a:spcAft>
                <a:spcPts val="400"/>
              </a:spcAft>
              <a:buNone/>
            </a:pPr>
            <a:r>
              <a:rPr lang="ko-KR" altLang="en-US" sz="1500" dirty="0">
                <a:solidFill>
                  <a:srgbClr val="2B2F36"/>
                </a:solidFill>
              </a:rPr>
              <a:t>카메라 특징점 + IMU로 자세 · 위치 추정</a:t>
            </a:r>
            <a:endParaRPr lang="ko-KR" sz="1700" dirty="0"/>
          </a:p>
          <a:p>
            <a:pPr indent="0" marL="0">
              <a:spcAft>
                <a:spcPts val="400"/>
              </a:spcAft>
              <a:buNone/>
            </a:pPr>
            <a:r>
              <a:rPr lang="ko-KR" altLang="en-US" sz="1200" dirty="0">
                <a:solidFill>
                  <a:srgbClr val="5F6878"/>
                </a:solidFill>
              </a:rPr>
              <a:t>필터: MSCKF (2007)</a:t>
            </a:r>
            <a:endParaRPr lang="ko-KR" sz="1700" dirty="0"/>
          </a:p>
          <a:p>
            <a:pPr indent="0" marL="0">
              <a:spcAft>
                <a:spcPts val="400"/>
              </a:spcAft>
              <a:buNone/>
            </a:pPr>
            <a:r>
              <a:rPr lang="ko-KR" altLang="en-US" sz="1200" dirty="0">
                <a:solidFill>
                  <a:srgbClr val="5F6878"/>
                </a:solidFill>
              </a:rPr>
              <a:t>최적화: OKVIS (2015), VINS-Mono (2018)</a:t>
            </a:r>
            <a:endParaRPr lang="ko-KR" sz="1700" dirty="0"/>
          </a:p>
        </p:txBody>
      </p:sp>
      <p:sp>
        <p:nvSpPr>
          <p:cNvPr id="10" name="Shape 8"/>
          <p:cNvSpPr/>
          <p:nvPr/>
        </p:nvSpPr>
        <p:spPr>
          <a:xfrm>
            <a:off x="3822192" y="2788920"/>
            <a:ext cx="3081528" cy="1600200"/>
          </a:xfrm>
          <a:prstGeom prst="roundRect">
            <a:avLst>
              <a:gd name="adj" fmla="val 4571"/>
            </a:avLst>
          </a:prstGeom>
          <a:solidFill>
            <a:srgbClr val="EEF5FC"/>
          </a:solidFill>
          <a:ln w="12700">
            <a:solidFill>
              <a:srgbClr val="7DB3E0"/>
            </a:solidFill>
            <a:prstDash val="solid"/>
          </a:ln>
        </p:spPr>
      </p:sp>
      <p:sp>
        <p:nvSpPr>
          <p:cNvPr id="11" name="Text 9"/>
          <p:cNvSpPr txBox="1"/>
          <p:nvPr/>
        </p:nvSpPr>
        <p:spPr>
          <a:xfrm>
            <a:off x="4005072" y="2862072"/>
            <a:ext cx="2715768" cy="1453896"/>
          </a:xfrm>
          <a:prstGeom prst="rect">
            <a:avLst/>
          </a:prstGeom>
          <a:noFill/>
          <a:ln/>
        </p:spPr>
        <p:txBody>
          <a:bodyPr wrap="square" lIns="0" tIns="0" rIns="0" bIns="0" rtlCol="0" anchor="ctr"/>
          <a:lstStyle/>
          <a:p>
            <a:pPr indent="0" marL="0">
              <a:spcAft>
                <a:spcPts val="400"/>
              </a:spcAft>
              <a:buNone/>
            </a:pPr>
            <a:r>
              <a:rPr lang="ko-KR" altLang="en-US" sz="1700" b="1" dirty="0">
                <a:solidFill>
                  <a:srgbClr val="1B2559"/>
                </a:solidFill>
              </a:rPr>
              <a:t>Optical Flow 보조 항법</a:t>
            </a:r>
            <a:endParaRPr lang="ko-KR" sz="1700" dirty="0"/>
          </a:p>
          <a:p>
            <a:pPr indent="0" marL="0">
              <a:spcAft>
                <a:spcPts val="400"/>
              </a:spcAft>
              <a:buNone/>
            </a:pPr>
            <a:r>
              <a:rPr lang="ko-KR" altLang="en-US" sz="1500" dirty="0">
                <a:solidFill>
                  <a:srgbClr val="2B2F36"/>
                </a:solidFill>
              </a:rPr>
              <a:t>프레임 간 특징점 이동 측정</a:t>
            </a:r>
            <a:endParaRPr lang="ko-KR" sz="1700" dirty="0"/>
          </a:p>
          <a:p>
            <a:pPr indent="0" marL="0">
              <a:spcAft>
                <a:spcPts val="400"/>
              </a:spcAft>
              <a:buNone/>
            </a:pPr>
            <a:r>
              <a:rPr lang="ko-KR" altLang="en-US" sz="1200" dirty="0">
                <a:solidFill>
                  <a:srgbClr val="5F6878"/>
                </a:solidFill>
              </a:rPr>
              <a:t>Lucas–Kanade (1981) · PX4Flow (2013)</a:t>
            </a:r>
            <a:endParaRPr lang="ko-KR" sz="1700" dirty="0"/>
          </a:p>
          <a:p>
            <a:pPr indent="0" marL="0">
              <a:spcAft>
                <a:spcPts val="400"/>
              </a:spcAft>
              <a:buNone/>
            </a:pPr>
            <a:r>
              <a:rPr lang="ko-KR" altLang="en-US" sz="1200" dirty="0">
                <a:solidFill>
                  <a:srgbClr val="5F6878"/>
                </a:solidFill>
              </a:rPr>
              <a:t>Grabe et al. (2015)</a:t>
            </a:r>
            <a:endParaRPr lang="ko-KR" sz="1700" dirty="0"/>
          </a:p>
        </p:txBody>
      </p:sp>
      <p:sp>
        <p:nvSpPr>
          <p:cNvPr id="12" name="Shape 10"/>
          <p:cNvSpPr/>
          <p:nvPr/>
        </p:nvSpPr>
        <p:spPr>
          <a:xfrm flipH="1">
            <a:off x="2089404" y="2496312"/>
            <a:ext cx="608076" cy="292608"/>
          </a:xfrm>
          <a:prstGeom prst="line">
            <a:avLst/>
          </a:prstGeom>
          <a:noFill/>
          <a:ln w="22225">
            <a:solidFill>
              <a:srgbClr val="3B5BA9"/>
            </a:solidFill>
            <a:prstDash val="solid"/>
            <a:tailEnd type="triangle"/>
          </a:ln>
        </p:spPr>
      </p:sp>
      <p:sp>
        <p:nvSpPr>
          <p:cNvPr id="13" name="Shape 11"/>
          <p:cNvSpPr/>
          <p:nvPr/>
        </p:nvSpPr>
        <p:spPr>
          <a:xfrm>
            <a:off x="4754880" y="2496312"/>
            <a:ext cx="608076" cy="292608"/>
          </a:xfrm>
          <a:prstGeom prst="line">
            <a:avLst/>
          </a:prstGeom>
          <a:noFill/>
          <a:ln w="22225">
            <a:solidFill>
              <a:srgbClr val="3B5BA9"/>
            </a:solidFill>
            <a:prstDash val="solid"/>
            <a:tailEnd type="triangle"/>
          </a:ln>
        </p:spPr>
      </p:sp>
      <p:sp>
        <p:nvSpPr>
          <p:cNvPr id="14" name="Shape 12"/>
          <p:cNvSpPr/>
          <p:nvPr/>
        </p:nvSpPr>
        <p:spPr>
          <a:xfrm>
            <a:off x="2089404" y="4389120"/>
            <a:ext cx="59436" cy="320040"/>
          </a:xfrm>
          <a:prstGeom prst="line">
            <a:avLst/>
          </a:prstGeom>
          <a:noFill/>
          <a:ln w="22225">
            <a:solidFill>
              <a:srgbClr val="3B5BA9"/>
            </a:solidFill>
            <a:prstDash val="solid"/>
            <a:tailEnd type="triangle"/>
          </a:ln>
        </p:spPr>
      </p:sp>
      <p:sp>
        <p:nvSpPr>
          <p:cNvPr id="15" name="Shape 13"/>
          <p:cNvSpPr/>
          <p:nvPr/>
        </p:nvSpPr>
        <p:spPr>
          <a:xfrm flipH="1">
            <a:off x="5303520" y="4389120"/>
            <a:ext cx="59436" cy="320040"/>
          </a:xfrm>
          <a:prstGeom prst="line">
            <a:avLst/>
          </a:prstGeom>
          <a:noFill/>
          <a:ln w="22225">
            <a:solidFill>
              <a:srgbClr val="3B5BA9"/>
            </a:solidFill>
            <a:prstDash val="solid"/>
            <a:tailEnd type="triangle"/>
          </a:ln>
        </p:spPr>
      </p:sp>
      <p:sp>
        <p:nvSpPr>
          <p:cNvPr id="16" name="Shape 14"/>
          <p:cNvSpPr/>
          <p:nvPr/>
        </p:nvSpPr>
        <p:spPr>
          <a:xfrm>
            <a:off x="1051560" y="4709160"/>
            <a:ext cx="5349240" cy="1188720"/>
          </a:xfrm>
          <a:prstGeom prst="roundRect">
            <a:avLst>
              <a:gd name="adj" fmla="val 6154"/>
            </a:avLst>
          </a:prstGeom>
          <a:solidFill>
            <a:srgbClr val="F3F6FB"/>
          </a:solidFill>
          <a:ln w="15875">
            <a:solidFill>
              <a:srgbClr val="26357A"/>
            </a:solidFill>
            <a:prstDash val="solid"/>
          </a:ln>
        </p:spPr>
      </p:sp>
      <p:sp>
        <p:nvSpPr>
          <p:cNvPr id="17" name="Text 15"/>
          <p:cNvSpPr txBox="1"/>
          <p:nvPr/>
        </p:nvSpPr>
        <p:spPr>
          <a:xfrm>
            <a:off x="1234440" y="4764024"/>
            <a:ext cx="4983480" cy="1078992"/>
          </a:xfrm>
          <a:prstGeom prst="rect">
            <a:avLst/>
          </a:prstGeom>
          <a:noFill/>
          <a:ln/>
        </p:spPr>
        <p:txBody>
          <a:bodyPr wrap="square" lIns="0" tIns="0" rIns="0" bIns="0" rtlCol="0" anchor="ctr"/>
          <a:lstStyle/>
          <a:p>
            <a:pPr algn="ctr" indent="0" marL="0">
              <a:spcAft>
                <a:spcPts val="300"/>
              </a:spcAft>
              <a:buNone/>
            </a:pPr>
            <a:r>
              <a:rPr lang="ko-KR" altLang="en-US" sz="1700" b="1" dirty="0">
                <a:solidFill>
                  <a:srgbClr val="1B2559"/>
                </a:solidFill>
              </a:rPr>
              <a:t>Adaptive Measurement Noise</a:t>
            </a:r>
            <a:endParaRPr lang="ko-KR" sz="1700" dirty="0"/>
          </a:p>
          <a:p>
            <a:pPr algn="ctr" indent="0" marL="0">
              <a:spcAft>
                <a:spcPts val="300"/>
              </a:spcAft>
              <a:buNone/>
            </a:pPr>
            <a:r>
              <a:rPr lang="ko-KR" altLang="en-US" sz="1500" dirty="0">
                <a:solidFill>
                  <a:srgbClr val="2B2F36"/>
                </a:solidFill>
              </a:rPr>
              <a:t>측정 신뢰도에 따라 잡음 공분산 R 조절</a:t>
            </a:r>
            <a:endParaRPr lang="ko-KR" sz="1700" dirty="0"/>
          </a:p>
          <a:p>
            <a:pPr algn="ctr" indent="0" marL="0">
              <a:spcAft>
                <a:spcPts val="300"/>
              </a:spcAft>
              <a:buNone/>
            </a:pPr>
            <a:r>
              <a:rPr lang="ko-KR" altLang="en-US" sz="1200" dirty="0">
                <a:solidFill>
                  <a:srgbClr val="5F6878"/>
                </a:solidFill>
              </a:rPr>
              <a:t>Mehra (1970) · PX4 EKF2 (flow 품질 → R) · Asil &amp; Nasibov (2025)</a:t>
            </a:r>
            <a:endParaRPr lang="ko-KR" sz="1700" dirty="0"/>
          </a:p>
        </p:txBody>
      </p:sp>
      <p:sp>
        <p:nvSpPr>
          <p:cNvPr id="18" name="Shape 16"/>
          <p:cNvSpPr/>
          <p:nvPr/>
        </p:nvSpPr>
        <p:spPr>
          <a:xfrm>
            <a:off x="6976872" y="3108960"/>
            <a:ext cx="411480" cy="457200"/>
          </a:xfrm>
          <a:prstGeom prst="rightArrow">
            <a:avLst/>
          </a:prstGeom>
          <a:solidFill>
            <a:srgbClr val="7DB3E0"/>
          </a:solidFill>
          <a:ln w="12700">
            <a:solidFill>
              <a:srgbClr val="7DB3E0"/>
            </a:solidFill>
            <a:prstDash val="solid"/>
          </a:ln>
        </p:spPr>
      </p:sp>
      <p:sp>
        <p:nvSpPr>
          <p:cNvPr id="19" name="Shape 17"/>
          <p:cNvSpPr/>
          <p:nvPr/>
        </p:nvSpPr>
        <p:spPr>
          <a:xfrm>
            <a:off x="6976872" y="3931920"/>
            <a:ext cx="411480" cy="457200"/>
          </a:xfrm>
          <a:prstGeom prst="rightArrow">
            <a:avLst/>
          </a:prstGeom>
          <a:solidFill>
            <a:srgbClr val="E07B39"/>
          </a:solidFill>
          <a:ln w="12700">
            <a:solidFill>
              <a:srgbClr val="E07B39"/>
            </a:solidFill>
            <a:prstDash val="solid"/>
          </a:ln>
        </p:spPr>
      </p:sp>
      <p:sp>
        <p:nvSpPr>
          <p:cNvPr id="20" name="Shape 18"/>
          <p:cNvSpPr/>
          <p:nvPr/>
        </p:nvSpPr>
        <p:spPr>
          <a:xfrm>
            <a:off x="7498080" y="1810512"/>
            <a:ext cx="4144975" cy="4224528"/>
          </a:xfrm>
          <a:prstGeom prst="roundRect">
            <a:avLst>
              <a:gd name="adj" fmla="val 1765"/>
            </a:avLst>
          </a:prstGeom>
          <a:solidFill>
            <a:srgbClr val="EEF5FC"/>
          </a:solidFill>
          <a:ln w="19050">
            <a:solidFill>
              <a:srgbClr val="7DB3E0"/>
            </a:solidFill>
            <a:prstDash val="solid"/>
          </a:ln>
          <a:effectLst>
            <a:outerShdw sx="100000" sy="100000" kx="0" ky="0" algn="bl" rotWithShape="0" blurRad="101600" dist="25400" dir="5400000">
              <a:srgbClr val="1B2559">
                <a:alpha val="12000"/>
              </a:srgbClr>
            </a:outerShdw>
          </a:effectLst>
        </p:spPr>
      </p:sp>
      <p:sp>
        <p:nvSpPr>
          <p:cNvPr id="21" name="Text 19"/>
          <p:cNvSpPr/>
          <p:nvPr/>
        </p:nvSpPr>
        <p:spPr>
          <a:xfrm>
            <a:off x="8473288" y="1591056"/>
            <a:ext cx="2194560" cy="457200"/>
          </a:xfrm>
          <a:prstGeom prst="roundRect">
            <a:avLst>
              <a:gd name="adj" fmla="val 50000"/>
            </a:avLst>
          </a:prstGeom>
          <a:solidFill>
            <a:srgbClr val="E07B39"/>
          </a:solidFill>
          <a:ln/>
        </p:spPr>
        <p:txBody>
          <a:bodyPr wrap="square" lIns="0" tIns="0" rIns="0" bIns="0" rtlCol="0" anchor="ctr"/>
          <a:lstStyle/>
          <a:p>
            <a:pPr algn="ctr" indent="0" marL="0">
              <a:buNone/>
            </a:pPr>
            <a:r>
              <a:rPr lang="ko-KR" altLang="en-US" sz="1800" b="1" dirty="0">
                <a:solidFill>
                  <a:srgbClr val="FFFFFF"/>
                </a:solidFill>
              </a:rPr>
              <a:t>본 연구의 초점</a:t>
            </a:r>
            <a:endParaRPr lang="ko-KR" sz="1800" dirty="0"/>
          </a:p>
        </p:txBody>
      </p:sp>
      <p:sp>
        <p:nvSpPr>
          <p:cNvPr id="22" name="Text 20"/>
          <p:cNvSpPr/>
          <p:nvPr/>
        </p:nvSpPr>
        <p:spPr>
          <a:xfrm>
            <a:off x="7772400" y="2441448"/>
            <a:ext cx="777240" cy="420624"/>
          </a:xfrm>
          <a:prstGeom prst="roundRect">
            <a:avLst>
              <a:gd name="adj" fmla="val 17391"/>
            </a:avLst>
          </a:prstGeom>
          <a:solidFill>
            <a:srgbClr val="26357A"/>
          </a:solidFill>
          <a:ln/>
        </p:spPr>
        <p:txBody>
          <a:bodyPr wrap="square" lIns="0" tIns="0" rIns="0" bIns="0" rtlCol="0" anchor="ctr"/>
          <a:lstStyle/>
          <a:p>
            <a:pPr algn="ctr" indent="0" marL="0">
              <a:buNone/>
            </a:pPr>
            <a:r>
              <a:rPr lang="ko-KR" altLang="en-US" sz="1500" b="1" dirty="0">
                <a:solidFill>
                  <a:srgbClr val="FFFFFF"/>
                </a:solidFill>
              </a:rPr>
              <a:t>활용</a:t>
            </a:r>
            <a:endParaRPr lang="ko-KR" sz="1500" dirty="0"/>
          </a:p>
        </p:txBody>
      </p:sp>
      <p:sp>
        <p:nvSpPr>
          <p:cNvPr id="23" name="Text 21"/>
          <p:cNvSpPr txBox="1"/>
          <p:nvPr/>
        </p:nvSpPr>
        <p:spPr>
          <a:xfrm>
            <a:off x="8732520" y="2286000"/>
            <a:ext cx="2727655" cy="731520"/>
          </a:xfrm>
          <a:prstGeom prst="rect">
            <a:avLst/>
          </a:prstGeom>
          <a:noFill/>
          <a:ln/>
        </p:spPr>
        <p:txBody>
          <a:bodyPr wrap="square" lIns="0" tIns="0" rIns="0" bIns="0" rtlCol="0" anchor="ctr"/>
          <a:lstStyle/>
          <a:p>
            <a:pPr indent="0" marL="0">
              <a:buNone/>
            </a:pPr>
            <a:r>
              <a:rPr lang="ko-KR" altLang="en-US" sz="1700" dirty="0">
                <a:solidFill>
                  <a:srgbClr val="2B2F36"/>
                </a:solidFill>
              </a:rPr>
              <a:t>기존 EKF · Optical Flow ·</a:t>
            </a:r>
            <a:endParaRPr lang="ko-KR" sz="1700" dirty="0"/>
          </a:p>
          <a:p>
            <a:pPr indent="0" marL="0">
              <a:buNone/>
            </a:pPr>
            <a:r>
              <a:rPr lang="ko-KR" altLang="en-US" sz="1700" dirty="0">
                <a:solidFill>
                  <a:srgbClr val="2B2F36"/>
                </a:solidFill>
              </a:rPr>
              <a:t>적응형 R 기법</a:t>
            </a:r>
            <a:endParaRPr lang="ko-KR" sz="1700" dirty="0"/>
          </a:p>
        </p:txBody>
      </p:sp>
      <p:sp>
        <p:nvSpPr>
          <p:cNvPr id="24" name="Shape 22"/>
          <p:cNvSpPr/>
          <p:nvPr/>
        </p:nvSpPr>
        <p:spPr>
          <a:xfrm>
            <a:off x="7772400" y="3127248"/>
            <a:ext cx="3596335" cy="914"/>
          </a:xfrm>
          <a:prstGeom prst="line">
            <a:avLst/>
          </a:prstGeom>
          <a:noFill/>
          <a:ln w="12700">
            <a:solidFill>
              <a:srgbClr val="DCEBF8"/>
            </a:solidFill>
            <a:prstDash val="solid"/>
          </a:ln>
        </p:spPr>
      </p:sp>
      <p:sp>
        <p:nvSpPr>
          <p:cNvPr id="25" name="Text 23"/>
          <p:cNvSpPr/>
          <p:nvPr/>
        </p:nvSpPr>
        <p:spPr>
          <a:xfrm>
            <a:off x="7772400" y="3374136"/>
            <a:ext cx="777240" cy="420624"/>
          </a:xfrm>
          <a:prstGeom prst="roundRect">
            <a:avLst>
              <a:gd name="adj" fmla="val 17391"/>
            </a:avLst>
          </a:prstGeom>
          <a:solidFill>
            <a:srgbClr val="26357A"/>
          </a:solidFill>
          <a:ln/>
        </p:spPr>
        <p:txBody>
          <a:bodyPr wrap="square" lIns="0" tIns="0" rIns="0" bIns="0" rtlCol="0" anchor="ctr"/>
          <a:lstStyle/>
          <a:p>
            <a:pPr algn="ctr" indent="0" marL="0">
              <a:buNone/>
            </a:pPr>
            <a:r>
              <a:rPr lang="ko-KR" altLang="en-US" sz="1500" b="1" dirty="0">
                <a:solidFill>
                  <a:srgbClr val="FFFFFF"/>
                </a:solidFill>
              </a:rPr>
              <a:t>구성</a:t>
            </a:r>
            <a:endParaRPr lang="ko-KR" sz="1500" dirty="0"/>
          </a:p>
        </p:txBody>
      </p:sp>
      <p:sp>
        <p:nvSpPr>
          <p:cNvPr id="26" name="Text 24"/>
          <p:cNvSpPr txBox="1"/>
          <p:nvPr/>
        </p:nvSpPr>
        <p:spPr>
          <a:xfrm>
            <a:off x="8732520" y="3218688"/>
            <a:ext cx="2727655" cy="731520"/>
          </a:xfrm>
          <a:prstGeom prst="rect">
            <a:avLst/>
          </a:prstGeom>
          <a:noFill/>
          <a:ln/>
        </p:spPr>
        <p:txBody>
          <a:bodyPr wrap="square" lIns="0" tIns="0" rIns="0" bIns="0" rtlCol="0" anchor="ctr"/>
          <a:lstStyle/>
          <a:p>
            <a:pPr indent="0" marL="0">
              <a:buNone/>
            </a:pPr>
            <a:r>
              <a:rPr lang="ko-KR" altLang="en-US" sz="1700" dirty="0">
                <a:solidFill>
                  <a:srgbClr val="2B2F36"/>
                </a:solidFill>
              </a:rPr>
              <a:t>하향 카메라 + IMU</a:t>
            </a:r>
            <a:endParaRPr lang="ko-KR" sz="1700" dirty="0"/>
          </a:p>
          <a:p>
            <a:pPr indent="0" marL="0">
              <a:buNone/>
            </a:pPr>
            <a:r>
              <a:rPr lang="ko-KR" altLang="en-US" sz="1700" dirty="0">
                <a:solidFill>
                  <a:srgbClr val="2B2F36"/>
                </a:solidFill>
              </a:rPr>
              <a:t>+ 거리 센서</a:t>
            </a:r>
            <a:endParaRPr lang="ko-KR" sz="1700" dirty="0"/>
          </a:p>
        </p:txBody>
      </p:sp>
      <p:sp>
        <p:nvSpPr>
          <p:cNvPr id="27" name="Shape 25"/>
          <p:cNvSpPr/>
          <p:nvPr/>
        </p:nvSpPr>
        <p:spPr>
          <a:xfrm>
            <a:off x="7772400" y="4059936"/>
            <a:ext cx="3596335" cy="914"/>
          </a:xfrm>
          <a:prstGeom prst="line">
            <a:avLst/>
          </a:prstGeom>
          <a:noFill/>
          <a:ln w="12700">
            <a:solidFill>
              <a:srgbClr val="DCEBF8"/>
            </a:solidFill>
            <a:prstDash val="solid"/>
          </a:ln>
        </p:spPr>
      </p:sp>
      <p:sp>
        <p:nvSpPr>
          <p:cNvPr id="28" name="Text 26"/>
          <p:cNvSpPr/>
          <p:nvPr/>
        </p:nvSpPr>
        <p:spPr>
          <a:xfrm>
            <a:off x="7772400" y="4306824"/>
            <a:ext cx="777240" cy="420624"/>
          </a:xfrm>
          <a:prstGeom prst="roundRect">
            <a:avLst>
              <a:gd name="adj" fmla="val 17391"/>
            </a:avLst>
          </a:prstGeom>
          <a:solidFill>
            <a:srgbClr val="E07B39"/>
          </a:solidFill>
          <a:ln/>
        </p:spPr>
        <p:txBody>
          <a:bodyPr wrap="square" lIns="0" tIns="0" rIns="0" bIns="0" rtlCol="0" anchor="ctr"/>
          <a:lstStyle/>
          <a:p>
            <a:pPr algn="ctr" indent="0" marL="0">
              <a:buNone/>
            </a:pPr>
            <a:r>
              <a:rPr lang="ko-KR" altLang="en-US" sz="1500" b="1" dirty="0">
                <a:solidFill>
                  <a:srgbClr val="FFFFFF"/>
                </a:solidFill>
              </a:rPr>
              <a:t>비교</a:t>
            </a:r>
            <a:endParaRPr lang="ko-KR" sz="1500" dirty="0"/>
          </a:p>
        </p:txBody>
      </p:sp>
      <p:sp>
        <p:nvSpPr>
          <p:cNvPr id="29" name="Text 27"/>
          <p:cNvSpPr txBox="1"/>
          <p:nvPr/>
        </p:nvSpPr>
        <p:spPr>
          <a:xfrm>
            <a:off x="8732520" y="4151376"/>
            <a:ext cx="2727655" cy="731520"/>
          </a:xfrm>
          <a:prstGeom prst="rect">
            <a:avLst/>
          </a:prstGeom>
          <a:noFill/>
          <a:ln/>
        </p:spPr>
        <p:txBody>
          <a:bodyPr wrap="square" lIns="0" tIns="0" rIns="0" bIns="0" rtlCol="0" anchor="ctr"/>
          <a:lstStyle/>
          <a:p>
            <a:pPr indent="0" marL="0">
              <a:buNone/>
            </a:pPr>
            <a:r>
              <a:rPr lang="ko-KR" altLang="en-US" sz="1700" b="1" dirty="0">
                <a:solidFill>
                  <a:srgbClr val="1B2559"/>
                </a:solidFill>
              </a:rPr>
              <a:t>영상 품질 조건별</a:t>
            </a:r>
            <a:endParaRPr lang="ko-KR" sz="1700" dirty="0"/>
          </a:p>
          <a:p>
            <a:pPr indent="0" marL="0">
              <a:buNone/>
            </a:pPr>
            <a:r>
              <a:rPr lang="ko-KR" altLang="en-US" sz="1700" b="1" dirty="0">
                <a:solidFill>
                  <a:srgbClr val="1B2559"/>
                </a:solidFill>
              </a:rPr>
              <a:t>융합 성능과 한계</a:t>
            </a:r>
            <a:endParaRPr lang="ko-KR" sz="1700" dirty="0"/>
          </a:p>
        </p:txBody>
      </p:sp>
      <p:sp>
        <p:nvSpPr>
          <p:cNvPr id="30" name="Shape 28"/>
          <p:cNvSpPr/>
          <p:nvPr/>
        </p:nvSpPr>
        <p:spPr>
          <a:xfrm>
            <a:off x="7772400" y="5120640"/>
            <a:ext cx="3596335" cy="713232"/>
          </a:xfrm>
          <a:prstGeom prst="roundRect">
            <a:avLst>
              <a:gd name="adj" fmla="val 10256"/>
            </a:avLst>
          </a:prstGeom>
          <a:solidFill>
            <a:srgbClr val="FFFFFF"/>
          </a:solidFill>
          <a:ln w="15875">
            <a:solidFill>
              <a:srgbClr val="E07B39"/>
            </a:solidFill>
            <a:prstDash val="solid"/>
          </a:ln>
        </p:spPr>
      </p:sp>
      <p:sp>
        <p:nvSpPr>
          <p:cNvPr id="31" name="Text 29"/>
          <p:cNvSpPr txBox="1"/>
          <p:nvPr/>
        </p:nvSpPr>
        <p:spPr>
          <a:xfrm>
            <a:off x="7772400" y="5120640"/>
            <a:ext cx="3596335" cy="713232"/>
          </a:xfrm>
          <a:prstGeom prst="rect">
            <a:avLst/>
          </a:prstGeom>
          <a:noFill/>
          <a:ln/>
        </p:spPr>
        <p:txBody>
          <a:bodyPr wrap="square" lIns="0" tIns="0" rIns="0" bIns="0" rtlCol="0" anchor="ctr"/>
          <a:lstStyle/>
          <a:p>
            <a:pPr algn="ctr" indent="0" marL="0">
              <a:buNone/>
            </a:pPr>
            <a:r>
              <a:rPr lang="ko-KR" altLang="en-US" sz="1400" b="1" dirty="0">
                <a:solidFill>
                  <a:srgbClr val="2B2F36"/>
                </a:solidFill>
              </a:rPr>
              <a:t>새 기법 제안이 아닌,</a:t>
            </a:r>
            <a:endParaRPr lang="ko-KR" sz="1700" dirty="0"/>
          </a:p>
          <a:p>
            <a:pPr algn="ctr" indent="0" marL="0">
              <a:buNone/>
            </a:pPr>
            <a:r>
              <a:rPr lang="ko-KR" altLang="en-US" sz="1700" b="1" dirty="0">
                <a:solidFill>
                  <a:srgbClr val="E07B39"/>
                </a:solidFill>
              </a:rPr>
              <a:t>같은 조건에서의 비교 검증</a:t>
            </a:r>
            <a:endParaRPr lang="ko-KR" sz="1700" dirty="0"/>
          </a:p>
        </p:txBody>
      </p:sp>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298448" y="118872"/>
            <a:ext cx="7680960" cy="640080"/>
          </a:xfrm>
          <a:prstGeom prst="rect">
            <a:avLst/>
          </a:prstGeom>
          <a:noFill/>
          <a:ln/>
        </p:spPr>
        <p:txBody>
          <a:bodyPr wrap="square" lIns="0" tIns="0" rIns="0" bIns="0" rtlCol="0" anchor="ctr"/>
          <a:lstStyle/>
          <a:p>
            <a:pPr algn="l" indent="0" marL="0">
              <a:buNone/>
            </a:pPr>
            <a:r>
              <a:rPr lang="en-US" sz="2800" b="1" dirty="0">
                <a:solidFill>
                  <a:srgbClr val="FFFFFF"/>
                </a:solidFill>
              </a:rPr>
              <a:t>연구 목적 및 연구 질문</a:t>
            </a:r>
            <a:endParaRPr lang="en-US" sz="2800" dirty="0"/>
          </a:p>
        </p:txBody>
      </p:sp>
      <p:sp>
        <p:nvSpPr>
          <p:cNvPr id="3" name="Text 0"/>
          <p:cNvSpPr/>
          <p:nvPr>
            <p:ph idx="102" type="body" hasCustomPrompt="1"/>
          </p:nvPr>
        </p:nvSpPr>
        <p:spPr>
          <a:xfrm>
            <a:off x="8229600" y="228600"/>
            <a:ext cx="3410712" cy="411480"/>
          </a:xfrm>
          <a:prstGeom prst="rect">
            <a:avLst/>
          </a:prstGeom>
          <a:noFill/>
          <a:ln/>
        </p:spPr>
        <p:txBody>
          <a:bodyPr wrap="square" lIns="0" tIns="0" rIns="0" bIns="0" rtlCol="0" anchor="ctr"/>
          <a:lstStyle/>
          <a:p>
            <a:pPr algn="r" indent="0" marL="0">
              <a:buNone/>
            </a:pPr>
            <a:r>
              <a:rPr lang="en-US" sz="1300" i="1" dirty="0">
                <a:solidFill>
                  <a:srgbClr val="C3D8F2"/>
                </a:solidFill>
              </a:rPr>
              <a:t>Objectives &amp; Questions</a:t>
            </a:r>
            <a:endParaRPr lang="en-US" sz="1300" dirty="0"/>
          </a:p>
        </p:txBody>
      </p:sp>
      <p:sp>
        <p:nvSpPr>
          <p:cNvPr id="4" name="Text 2"/>
          <p:cNvSpPr/>
          <p:nvPr/>
        </p:nvSpPr>
        <p:spPr>
          <a:xfrm>
            <a:off x="548640" y="182880"/>
            <a:ext cx="603504" cy="502920"/>
          </a:xfrm>
          <a:prstGeom prst="roundRect">
            <a:avLst>
              <a:gd name="adj" fmla="val 14545"/>
            </a:avLst>
          </a:prstGeom>
          <a:solidFill>
            <a:srgbClr val="7DB3E0"/>
          </a:solidFill>
          <a:ln/>
        </p:spPr>
        <p:txBody>
          <a:bodyPr wrap="square" lIns="0" tIns="0" rIns="0" bIns="0" rtlCol="0" anchor="ctr"/>
          <a:lstStyle/>
          <a:p>
            <a:pPr algn="ctr" indent="0" marL="0">
              <a:buNone/>
            </a:pPr>
            <a:r>
              <a:rPr lang="en-US" sz="1800" b="1" dirty="0">
                <a:solidFill>
                  <a:srgbClr val="1B2559"/>
                </a:solidFill>
              </a:rPr>
              <a:t>03</a:t>
            </a:r>
            <a:endParaRPr lang="en-US" sz="1800" dirty="0"/>
          </a:p>
        </p:txBody>
      </p:sp>
      <p:sp>
        <p:nvSpPr>
          <p:cNvPr id="5" name="Text 3"/>
          <p:cNvSpPr txBox="1"/>
          <p:nvPr/>
        </p:nvSpPr>
        <p:spPr>
          <a:xfrm>
            <a:off x="548640" y="1005840"/>
            <a:ext cx="11094415" cy="457200"/>
          </a:xfrm>
          <a:prstGeom prst="rect">
            <a:avLst/>
          </a:prstGeom>
          <a:noFill/>
          <a:ln/>
        </p:spPr>
        <p:txBody>
          <a:bodyPr wrap="square" lIns="0" tIns="0" rIns="0" bIns="0" rtlCol="0" anchor="ctr"/>
          <a:lstStyle/>
          <a:p>
            <a:pPr indent="0" marL="0">
              <a:buNone/>
            </a:pPr>
            <a:r>
              <a:rPr lang="ko-KR" altLang="en-US" sz="2000" b="1" dirty="0">
                <a:solidFill>
                  <a:srgbClr val="1B2559"/>
                </a:solidFill>
              </a:rPr>
              <a:t>영상 품질에 따른 카메라 신뢰도 조절이 언제, 얼마나 도움이 되는지 검증한다</a:t>
            </a:r>
            <a:endParaRPr lang="ko-KR" sz="2000" dirty="0"/>
          </a:p>
        </p:txBody>
      </p:sp>
      <p:sp>
        <p:nvSpPr>
          <p:cNvPr id="6" name="Shape 4"/>
          <p:cNvSpPr/>
          <p:nvPr/>
        </p:nvSpPr>
        <p:spPr>
          <a:xfrm>
            <a:off x="548640" y="1856232"/>
            <a:ext cx="5257800" cy="914"/>
          </a:xfrm>
          <a:prstGeom prst="line">
            <a:avLst/>
          </a:prstGeom>
          <a:noFill/>
          <a:ln w="76200">
            <a:solidFill>
              <a:srgbClr val="FCEBDD"/>
            </a:solidFill>
            <a:prstDash val="solid"/>
          </a:ln>
        </p:spPr>
      </p:sp>
      <p:sp>
        <p:nvSpPr>
          <p:cNvPr id="7" name="Text 5"/>
          <p:cNvSpPr/>
          <p:nvPr/>
        </p:nvSpPr>
        <p:spPr>
          <a:xfrm>
            <a:off x="2125980" y="1627632"/>
            <a:ext cx="2103120" cy="457200"/>
          </a:xfrm>
          <a:prstGeom prst="roundRect">
            <a:avLst>
              <a:gd name="adj" fmla="val 50000"/>
            </a:avLst>
          </a:prstGeom>
          <a:solidFill>
            <a:srgbClr val="E07B39"/>
          </a:solidFill>
          <a:ln/>
        </p:spPr>
        <p:txBody>
          <a:bodyPr wrap="square" lIns="0" tIns="0" rIns="0" bIns="0" rtlCol="0" anchor="ctr"/>
          <a:lstStyle/>
          <a:p>
            <a:pPr algn="ctr" indent="0" marL="0">
              <a:buNone/>
            </a:pPr>
            <a:r>
              <a:rPr lang="ko-KR" altLang="en-US" sz="1800" b="1" dirty="0">
                <a:solidFill>
                  <a:srgbClr val="FFFFFF"/>
                </a:solidFill>
              </a:rPr>
              <a:t>연구 목적</a:t>
            </a:r>
            <a:endParaRPr lang="ko-KR" sz="1800" dirty="0"/>
          </a:p>
        </p:txBody>
      </p:sp>
      <p:sp>
        <p:nvSpPr>
          <p:cNvPr id="8" name="Text 6"/>
          <p:cNvSpPr/>
          <p:nvPr/>
        </p:nvSpPr>
        <p:spPr>
          <a:xfrm>
            <a:off x="594360" y="2441448"/>
            <a:ext cx="475488" cy="475488"/>
          </a:xfrm>
          <a:prstGeom prst="ellipse">
            <a:avLst/>
          </a:prstGeom>
          <a:solidFill>
            <a:srgbClr val="FFFFFF"/>
          </a:solidFill>
          <a:ln w="25400">
            <a:solidFill>
              <a:srgbClr val="E07B39"/>
            </a:solidFill>
          </a:ln>
        </p:spPr>
        <p:txBody>
          <a:bodyPr wrap="square" lIns="0" tIns="0" rIns="0" bIns="0" rtlCol="0" anchor="ctr"/>
          <a:lstStyle/>
          <a:p>
            <a:pPr algn="ctr" indent="0" marL="0">
              <a:buNone/>
            </a:pPr>
            <a:r>
              <a:rPr lang="en-US" sz="1800" b="1" dirty="0">
                <a:solidFill>
                  <a:srgbClr val="E07B39"/>
                </a:solidFill>
              </a:rPr>
              <a:t>1</a:t>
            </a:r>
            <a:endParaRPr lang="en-US" sz="1800" dirty="0"/>
          </a:p>
        </p:txBody>
      </p:sp>
      <p:sp>
        <p:nvSpPr>
          <p:cNvPr id="9" name="Text 7"/>
          <p:cNvSpPr txBox="1"/>
          <p:nvPr/>
        </p:nvSpPr>
        <p:spPr>
          <a:xfrm>
            <a:off x="1280160" y="2331720"/>
            <a:ext cx="4480560" cy="868680"/>
          </a:xfrm>
          <a:prstGeom prst="rect">
            <a:avLst/>
          </a:prstGeom>
          <a:noFill/>
          <a:ln/>
        </p:spPr>
        <p:txBody>
          <a:bodyPr wrap="square" lIns="0" tIns="0" rIns="0" bIns="0" rtlCol="0" anchor="ctr"/>
          <a:lstStyle/>
          <a:p>
            <a:pPr indent="0" marL="0">
              <a:buNone/>
            </a:pPr>
            <a:r>
              <a:rPr lang="ko-KR" altLang="en-US" sz="1700" dirty="0">
                <a:solidFill>
                  <a:srgbClr val="2B2F36"/>
                </a:solidFill>
              </a:rPr>
              <a:t>하향 카메라 · IMU · 거리 센서 기반 </a:t>
            </a:r>
            <a:pPr indent="0" marL="0">
              <a:buNone/>
            </a:pPr>
            <a:r>
              <a:rPr lang="ko-KR" altLang="en-US" sz="1700" b="1" dirty="0">
                <a:solidFill>
                  <a:srgbClr val="1B2559"/>
                </a:solidFill>
              </a:rPr>
              <a:t>EKF 상태추정 시스템</a:t>
            </a:r>
            <a:pPr indent="0" marL="0">
              <a:buNone/>
            </a:pPr>
            <a:r>
              <a:rPr lang="ko-KR" altLang="en-US" sz="1700" dirty="0">
                <a:solidFill>
                  <a:srgbClr val="2B2F36"/>
                </a:solidFill>
              </a:rPr>
              <a:t> 구성</a:t>
            </a:r>
            <a:endParaRPr lang="ko-KR" sz="1700" dirty="0"/>
          </a:p>
        </p:txBody>
      </p:sp>
      <p:sp>
        <p:nvSpPr>
          <p:cNvPr id="10" name="Shape 8"/>
          <p:cNvSpPr/>
          <p:nvPr/>
        </p:nvSpPr>
        <p:spPr>
          <a:xfrm>
            <a:off x="548640" y="3319272"/>
            <a:ext cx="5257800" cy="914"/>
          </a:xfrm>
          <a:prstGeom prst="line">
            <a:avLst/>
          </a:prstGeom>
          <a:noFill/>
          <a:ln w="9525">
            <a:solidFill>
              <a:srgbClr val="C9D3E3"/>
            </a:solidFill>
            <a:prstDash val="solid"/>
          </a:ln>
        </p:spPr>
      </p:sp>
      <p:sp>
        <p:nvSpPr>
          <p:cNvPr id="11" name="Text 9"/>
          <p:cNvSpPr/>
          <p:nvPr/>
        </p:nvSpPr>
        <p:spPr>
          <a:xfrm>
            <a:off x="594360" y="3538728"/>
            <a:ext cx="475488" cy="475488"/>
          </a:xfrm>
          <a:prstGeom prst="ellipse">
            <a:avLst/>
          </a:prstGeom>
          <a:solidFill>
            <a:srgbClr val="FFFFFF"/>
          </a:solidFill>
          <a:ln w="25400">
            <a:solidFill>
              <a:srgbClr val="E07B39"/>
            </a:solidFill>
          </a:ln>
        </p:spPr>
        <p:txBody>
          <a:bodyPr wrap="square" lIns="0" tIns="0" rIns="0" bIns="0" rtlCol="0" anchor="ctr"/>
          <a:lstStyle/>
          <a:p>
            <a:pPr algn="ctr" indent="0" marL="0">
              <a:buNone/>
            </a:pPr>
            <a:r>
              <a:rPr lang="en-US" sz="1800" b="1" dirty="0">
                <a:solidFill>
                  <a:srgbClr val="E07B39"/>
                </a:solidFill>
              </a:rPr>
              <a:t>2</a:t>
            </a:r>
            <a:endParaRPr lang="en-US" sz="1800" dirty="0"/>
          </a:p>
        </p:txBody>
      </p:sp>
      <p:sp>
        <p:nvSpPr>
          <p:cNvPr id="12" name="Text 10"/>
          <p:cNvSpPr txBox="1"/>
          <p:nvPr/>
        </p:nvSpPr>
        <p:spPr>
          <a:xfrm>
            <a:off x="1280160" y="3429000"/>
            <a:ext cx="4480560" cy="868680"/>
          </a:xfrm>
          <a:prstGeom prst="rect">
            <a:avLst/>
          </a:prstGeom>
          <a:noFill/>
          <a:ln/>
        </p:spPr>
        <p:txBody>
          <a:bodyPr wrap="square" lIns="0" tIns="0" rIns="0" bIns="0" rtlCol="0" anchor="ctr"/>
          <a:lstStyle/>
          <a:p>
            <a:pPr indent="0" marL="0">
              <a:buNone/>
            </a:pPr>
            <a:r>
              <a:rPr lang="ko-KR" altLang="en-US" sz="1700" dirty="0">
                <a:solidFill>
                  <a:srgbClr val="2B2F36"/>
                </a:solidFill>
              </a:rPr>
              <a:t>특징점 수 · 추적 성공률 · 잔차로 </a:t>
            </a:r>
            <a:pPr indent="0" marL="0">
              <a:buNone/>
            </a:pPr>
            <a:r>
              <a:rPr lang="ko-KR" altLang="en-US" sz="1700" b="1" dirty="0">
                <a:solidFill>
                  <a:srgbClr val="1B2559"/>
                </a:solidFill>
              </a:rPr>
              <a:t>영상 품질을 평가</a:t>
            </a:r>
            <a:pPr indent="0" marL="0">
              <a:buNone/>
            </a:pPr>
            <a:r>
              <a:rPr lang="ko-KR" altLang="en-US" sz="1700" dirty="0">
                <a:solidFill>
                  <a:srgbClr val="2B2F36"/>
                </a:solidFill>
              </a:rPr>
              <a:t>하고, 측정 잡음 R 조절 또는 측정 제외 적용</a:t>
            </a:r>
            <a:endParaRPr lang="ko-KR" sz="1700" dirty="0"/>
          </a:p>
        </p:txBody>
      </p:sp>
      <p:sp>
        <p:nvSpPr>
          <p:cNvPr id="13" name="Shape 11"/>
          <p:cNvSpPr/>
          <p:nvPr/>
        </p:nvSpPr>
        <p:spPr>
          <a:xfrm>
            <a:off x="548640" y="4416552"/>
            <a:ext cx="5257800" cy="914"/>
          </a:xfrm>
          <a:prstGeom prst="line">
            <a:avLst/>
          </a:prstGeom>
          <a:noFill/>
          <a:ln w="9525">
            <a:solidFill>
              <a:srgbClr val="C9D3E3"/>
            </a:solidFill>
            <a:prstDash val="solid"/>
          </a:ln>
        </p:spPr>
      </p:sp>
      <p:sp>
        <p:nvSpPr>
          <p:cNvPr id="14" name="Text 12"/>
          <p:cNvSpPr/>
          <p:nvPr/>
        </p:nvSpPr>
        <p:spPr>
          <a:xfrm>
            <a:off x="594360" y="4636008"/>
            <a:ext cx="475488" cy="475488"/>
          </a:xfrm>
          <a:prstGeom prst="ellipse">
            <a:avLst/>
          </a:prstGeom>
          <a:solidFill>
            <a:srgbClr val="FFFFFF"/>
          </a:solidFill>
          <a:ln w="25400">
            <a:solidFill>
              <a:srgbClr val="E07B39"/>
            </a:solidFill>
          </a:ln>
        </p:spPr>
        <p:txBody>
          <a:bodyPr wrap="square" lIns="0" tIns="0" rIns="0" bIns="0" rtlCol="0" anchor="ctr"/>
          <a:lstStyle/>
          <a:p>
            <a:pPr algn="ctr" indent="0" marL="0">
              <a:buNone/>
            </a:pPr>
            <a:r>
              <a:rPr lang="en-US" sz="1800" b="1" dirty="0">
                <a:solidFill>
                  <a:srgbClr val="E07B39"/>
                </a:solidFill>
              </a:rPr>
              <a:t>3</a:t>
            </a:r>
            <a:endParaRPr lang="en-US" sz="1800" dirty="0"/>
          </a:p>
        </p:txBody>
      </p:sp>
      <p:sp>
        <p:nvSpPr>
          <p:cNvPr id="15" name="Text 13"/>
          <p:cNvSpPr txBox="1"/>
          <p:nvPr/>
        </p:nvSpPr>
        <p:spPr>
          <a:xfrm>
            <a:off x="1280160" y="4526280"/>
            <a:ext cx="4480560" cy="868680"/>
          </a:xfrm>
          <a:prstGeom prst="rect">
            <a:avLst/>
          </a:prstGeom>
          <a:noFill/>
          <a:ln/>
        </p:spPr>
        <p:txBody>
          <a:bodyPr wrap="square" lIns="0" tIns="0" rIns="0" bIns="0" rtlCol="0" anchor="ctr"/>
          <a:lstStyle/>
          <a:p>
            <a:pPr indent="0" marL="0">
              <a:buNone/>
            </a:pPr>
            <a:r>
              <a:rPr lang="ko-KR" altLang="en-US" sz="1700" dirty="0">
                <a:solidFill>
                  <a:srgbClr val="2B2F36"/>
                </a:solidFill>
              </a:rPr>
              <a:t>IMU 단독 · 고정 R 융합 · 품질 반영 융합을 </a:t>
            </a:r>
            <a:pPr indent="0" marL="0">
              <a:buNone/>
            </a:pPr>
            <a:r>
              <a:rPr lang="ko-KR" altLang="en-US" sz="1700" b="1" dirty="0">
                <a:solidFill>
                  <a:srgbClr val="1B2559"/>
                </a:solidFill>
              </a:rPr>
              <a:t>동일 조건에서 비교</a:t>
            </a:r>
            <a:pPr indent="0" marL="0">
              <a:buNone/>
            </a:pPr>
            <a:r>
              <a:rPr lang="ko-KR" altLang="en-US" sz="1700" dirty="0">
                <a:solidFill>
                  <a:srgbClr val="2B2F36"/>
                </a:solidFill>
              </a:rPr>
              <a:t>해 효과와 한계 검증</a:t>
            </a:r>
            <a:endParaRPr lang="ko-KR" sz="1700" dirty="0"/>
          </a:p>
        </p:txBody>
      </p:sp>
      <p:sp>
        <p:nvSpPr>
          <p:cNvPr id="16" name="Shape 14"/>
          <p:cNvSpPr/>
          <p:nvPr/>
        </p:nvSpPr>
        <p:spPr>
          <a:xfrm>
            <a:off x="6263640" y="1856232"/>
            <a:ext cx="5379415" cy="914"/>
          </a:xfrm>
          <a:prstGeom prst="line">
            <a:avLst/>
          </a:prstGeom>
          <a:noFill/>
          <a:ln w="76200">
            <a:solidFill>
              <a:srgbClr val="DCEBF8"/>
            </a:solidFill>
            <a:prstDash val="solid"/>
          </a:ln>
        </p:spPr>
      </p:sp>
      <p:sp>
        <p:nvSpPr>
          <p:cNvPr id="17" name="Text 15"/>
          <p:cNvSpPr/>
          <p:nvPr/>
        </p:nvSpPr>
        <p:spPr>
          <a:xfrm>
            <a:off x="7901788" y="1627632"/>
            <a:ext cx="2103120" cy="457200"/>
          </a:xfrm>
          <a:prstGeom prst="roundRect">
            <a:avLst>
              <a:gd name="adj" fmla="val 50000"/>
            </a:avLst>
          </a:prstGeom>
          <a:solidFill>
            <a:srgbClr val="7DB3E0"/>
          </a:solidFill>
          <a:ln/>
        </p:spPr>
        <p:txBody>
          <a:bodyPr wrap="square" lIns="0" tIns="0" rIns="0" bIns="0" rtlCol="0" anchor="ctr"/>
          <a:lstStyle/>
          <a:p>
            <a:pPr algn="ctr" indent="0" marL="0">
              <a:buNone/>
            </a:pPr>
            <a:r>
              <a:rPr lang="ko-KR" altLang="en-US" sz="1800" b="1" dirty="0">
                <a:solidFill>
                  <a:srgbClr val="1B2559"/>
                </a:solidFill>
              </a:rPr>
              <a:t>연구 질문</a:t>
            </a:r>
            <a:endParaRPr lang="ko-KR" sz="1800" dirty="0"/>
          </a:p>
        </p:txBody>
      </p:sp>
      <p:sp>
        <p:nvSpPr>
          <p:cNvPr id="18" name="Shape 16"/>
          <p:cNvSpPr/>
          <p:nvPr/>
        </p:nvSpPr>
        <p:spPr>
          <a:xfrm>
            <a:off x="6263640" y="2286000"/>
            <a:ext cx="5379415" cy="1005840"/>
          </a:xfrm>
          <a:prstGeom prst="roundRect">
            <a:avLst>
              <a:gd name="adj" fmla="val 7273"/>
            </a:avLst>
          </a:prstGeom>
          <a:solidFill>
            <a:srgbClr val="EEF5FC"/>
          </a:solidFill>
          <a:ln w="9525">
            <a:solidFill>
              <a:srgbClr val="DCEBF8"/>
            </a:solidFill>
            <a:prstDash val="solid"/>
          </a:ln>
          <a:effectLst>
            <a:outerShdw sx="100000" sy="100000" kx="0" ky="0" algn="bl" rotWithShape="0" blurRad="101600" dist="25400" dir="5400000">
              <a:srgbClr val="1B2559">
                <a:alpha val="12000"/>
              </a:srgbClr>
            </a:outerShdw>
          </a:effectLst>
        </p:spPr>
      </p:sp>
      <p:sp>
        <p:nvSpPr>
          <p:cNvPr id="19" name="Text 17"/>
          <p:cNvSpPr txBox="1"/>
          <p:nvPr/>
        </p:nvSpPr>
        <p:spPr>
          <a:xfrm>
            <a:off x="6428232" y="2286000"/>
            <a:ext cx="777240" cy="1005840"/>
          </a:xfrm>
          <a:prstGeom prst="rect">
            <a:avLst/>
          </a:prstGeom>
          <a:noFill/>
          <a:ln/>
        </p:spPr>
        <p:txBody>
          <a:bodyPr wrap="square" lIns="0" tIns="0" rIns="0" bIns="0" rtlCol="0" anchor="ctr"/>
          <a:lstStyle/>
          <a:p>
            <a:pPr indent="0" marL="0">
              <a:buNone/>
            </a:pPr>
            <a:r>
              <a:rPr lang="ko-KR" altLang="en-US" sz="2600" b="1" dirty="0">
                <a:solidFill>
                  <a:srgbClr val="26357A"/>
                </a:solidFill>
              </a:rPr>
              <a:t>Q1</a:t>
            </a:r>
            <a:endParaRPr lang="ko-KR" sz="2600" dirty="0"/>
          </a:p>
        </p:txBody>
      </p:sp>
      <p:sp>
        <p:nvSpPr>
          <p:cNvPr id="20" name="Shape 18"/>
          <p:cNvSpPr/>
          <p:nvPr/>
        </p:nvSpPr>
        <p:spPr>
          <a:xfrm>
            <a:off x="7269480" y="2468880"/>
            <a:ext cx="914" cy="640080"/>
          </a:xfrm>
          <a:prstGeom prst="line">
            <a:avLst/>
          </a:prstGeom>
          <a:noFill/>
          <a:ln w="12700">
            <a:solidFill>
              <a:srgbClr val="7DB3E0"/>
            </a:solidFill>
            <a:prstDash val="solid"/>
          </a:ln>
        </p:spPr>
      </p:sp>
      <p:sp>
        <p:nvSpPr>
          <p:cNvPr id="21" name="Text 19"/>
          <p:cNvSpPr txBox="1"/>
          <p:nvPr/>
        </p:nvSpPr>
        <p:spPr>
          <a:xfrm>
            <a:off x="7434072" y="2377440"/>
            <a:ext cx="4099255" cy="329184"/>
          </a:xfrm>
          <a:prstGeom prst="rect">
            <a:avLst/>
          </a:prstGeom>
          <a:noFill/>
          <a:ln/>
        </p:spPr>
        <p:txBody>
          <a:bodyPr wrap="square" lIns="0" tIns="0" rIns="0" bIns="0" rtlCol="0" anchor="ctr"/>
          <a:lstStyle/>
          <a:p>
            <a:pPr indent="0" marL="0">
              <a:buNone/>
            </a:pPr>
            <a:r>
              <a:rPr lang="ko-KR" altLang="en-US" sz="1800" b="1" dirty="0">
                <a:solidFill>
                  <a:srgbClr val="1B2559"/>
                </a:solidFill>
              </a:rPr>
              <a:t>정상 영상</a:t>
            </a:r>
            <a:endParaRPr lang="ko-KR" sz="1800" dirty="0"/>
          </a:p>
        </p:txBody>
      </p:sp>
      <p:sp>
        <p:nvSpPr>
          <p:cNvPr id="22" name="Text 20"/>
          <p:cNvSpPr txBox="1"/>
          <p:nvPr/>
        </p:nvSpPr>
        <p:spPr>
          <a:xfrm>
            <a:off x="7434072" y="2706624"/>
            <a:ext cx="4099255" cy="548640"/>
          </a:xfrm>
          <a:prstGeom prst="rect">
            <a:avLst/>
          </a:prstGeom>
          <a:noFill/>
          <a:ln/>
        </p:spPr>
        <p:txBody>
          <a:bodyPr wrap="square" lIns="0" tIns="0" rIns="0" bIns="0" rtlCol="0" anchor="t"/>
          <a:lstStyle/>
          <a:p>
            <a:pPr indent="0" marL="0">
              <a:buNone/>
            </a:pPr>
            <a:r>
              <a:rPr lang="ko-KR" altLang="en-US" sz="1600" dirty="0">
                <a:solidFill>
                  <a:srgbClr val="2B2F36"/>
                </a:solidFill>
              </a:rPr>
              <a:t>품질 반영 방법이 고정 신뢰도 융합과 비교해 정확도를 유지하는가?</a:t>
            </a:r>
            <a:endParaRPr lang="ko-KR" sz="1600" dirty="0"/>
          </a:p>
        </p:txBody>
      </p:sp>
      <p:sp>
        <p:nvSpPr>
          <p:cNvPr id="23" name="Shape 21"/>
          <p:cNvSpPr/>
          <p:nvPr/>
        </p:nvSpPr>
        <p:spPr>
          <a:xfrm>
            <a:off x="6263640" y="3401568"/>
            <a:ext cx="5379415" cy="1005840"/>
          </a:xfrm>
          <a:prstGeom prst="roundRect">
            <a:avLst>
              <a:gd name="adj" fmla="val 7273"/>
            </a:avLst>
          </a:prstGeom>
          <a:solidFill>
            <a:srgbClr val="EEF5FC"/>
          </a:solidFill>
          <a:ln w="9525">
            <a:solidFill>
              <a:srgbClr val="DCEBF8"/>
            </a:solidFill>
            <a:prstDash val="solid"/>
          </a:ln>
          <a:effectLst>
            <a:outerShdw sx="100000" sy="100000" kx="0" ky="0" algn="bl" rotWithShape="0" blurRad="101600" dist="25400" dir="5400000">
              <a:srgbClr val="1B2559">
                <a:alpha val="12000"/>
              </a:srgbClr>
            </a:outerShdw>
          </a:effectLst>
        </p:spPr>
      </p:sp>
      <p:sp>
        <p:nvSpPr>
          <p:cNvPr id="24" name="Text 22"/>
          <p:cNvSpPr txBox="1"/>
          <p:nvPr/>
        </p:nvSpPr>
        <p:spPr>
          <a:xfrm>
            <a:off x="6428232" y="3401568"/>
            <a:ext cx="777240" cy="1005840"/>
          </a:xfrm>
          <a:prstGeom prst="rect">
            <a:avLst/>
          </a:prstGeom>
          <a:noFill/>
          <a:ln/>
        </p:spPr>
        <p:txBody>
          <a:bodyPr wrap="square" lIns="0" tIns="0" rIns="0" bIns="0" rtlCol="0" anchor="ctr"/>
          <a:lstStyle/>
          <a:p>
            <a:pPr indent="0" marL="0">
              <a:buNone/>
            </a:pPr>
            <a:r>
              <a:rPr lang="ko-KR" altLang="en-US" sz="2600" b="1" dirty="0">
                <a:solidFill>
                  <a:srgbClr val="26357A"/>
                </a:solidFill>
              </a:rPr>
              <a:t>Q2</a:t>
            </a:r>
            <a:endParaRPr lang="ko-KR" sz="2600" dirty="0"/>
          </a:p>
        </p:txBody>
      </p:sp>
      <p:sp>
        <p:nvSpPr>
          <p:cNvPr id="25" name="Shape 23"/>
          <p:cNvSpPr/>
          <p:nvPr/>
        </p:nvSpPr>
        <p:spPr>
          <a:xfrm>
            <a:off x="7269480" y="3584448"/>
            <a:ext cx="914" cy="640080"/>
          </a:xfrm>
          <a:prstGeom prst="line">
            <a:avLst/>
          </a:prstGeom>
          <a:noFill/>
          <a:ln w="12700">
            <a:solidFill>
              <a:srgbClr val="7DB3E0"/>
            </a:solidFill>
            <a:prstDash val="solid"/>
          </a:ln>
        </p:spPr>
      </p:sp>
      <p:sp>
        <p:nvSpPr>
          <p:cNvPr id="26" name="Text 24"/>
          <p:cNvSpPr txBox="1"/>
          <p:nvPr/>
        </p:nvSpPr>
        <p:spPr>
          <a:xfrm>
            <a:off x="7434072" y="3493008"/>
            <a:ext cx="4099255" cy="329184"/>
          </a:xfrm>
          <a:prstGeom prst="rect">
            <a:avLst/>
          </a:prstGeom>
          <a:noFill/>
          <a:ln/>
        </p:spPr>
        <p:txBody>
          <a:bodyPr wrap="square" lIns="0" tIns="0" rIns="0" bIns="0" rtlCol="0" anchor="ctr"/>
          <a:lstStyle/>
          <a:p>
            <a:pPr indent="0" marL="0">
              <a:buNone/>
            </a:pPr>
            <a:r>
              <a:rPr lang="ko-KR" altLang="en-US" sz="1800" b="1" dirty="0">
                <a:solidFill>
                  <a:srgbClr val="1B2559"/>
                </a:solidFill>
              </a:rPr>
              <a:t>영상 품질 저하</a:t>
            </a:r>
            <a:endParaRPr lang="ko-KR" sz="1800" dirty="0"/>
          </a:p>
        </p:txBody>
      </p:sp>
      <p:sp>
        <p:nvSpPr>
          <p:cNvPr id="27" name="Text 25"/>
          <p:cNvSpPr txBox="1"/>
          <p:nvPr/>
        </p:nvSpPr>
        <p:spPr>
          <a:xfrm>
            <a:off x="7434072" y="3822192"/>
            <a:ext cx="4099255" cy="548640"/>
          </a:xfrm>
          <a:prstGeom prst="rect">
            <a:avLst/>
          </a:prstGeom>
          <a:noFill/>
          <a:ln/>
        </p:spPr>
        <p:txBody>
          <a:bodyPr wrap="square" lIns="0" tIns="0" rIns="0" bIns="0" rtlCol="0" anchor="t"/>
          <a:lstStyle/>
          <a:p>
            <a:pPr indent="0" marL="0">
              <a:buNone/>
            </a:pPr>
            <a:r>
              <a:rPr lang="ko-KR" altLang="en-US" sz="1600" dirty="0">
                <a:solidFill>
                  <a:srgbClr val="2B2F36"/>
                </a:solidFill>
              </a:rPr>
              <a:t>흐림 · 저조도에서 신뢰도 조절이 위치 오차 증가를 줄이는가?</a:t>
            </a:r>
            <a:endParaRPr lang="ko-KR" sz="1600" dirty="0"/>
          </a:p>
        </p:txBody>
      </p:sp>
      <p:sp>
        <p:nvSpPr>
          <p:cNvPr id="28" name="Shape 26"/>
          <p:cNvSpPr/>
          <p:nvPr/>
        </p:nvSpPr>
        <p:spPr>
          <a:xfrm>
            <a:off x="6263640" y="4517136"/>
            <a:ext cx="5379415" cy="1005840"/>
          </a:xfrm>
          <a:prstGeom prst="roundRect">
            <a:avLst>
              <a:gd name="adj" fmla="val 7273"/>
            </a:avLst>
          </a:prstGeom>
          <a:solidFill>
            <a:srgbClr val="EEF5FC"/>
          </a:solidFill>
          <a:ln w="9525">
            <a:solidFill>
              <a:srgbClr val="DCEBF8"/>
            </a:solidFill>
            <a:prstDash val="solid"/>
          </a:ln>
          <a:effectLst>
            <a:outerShdw sx="100000" sy="100000" kx="0" ky="0" algn="bl" rotWithShape="0" blurRad="101600" dist="25400" dir="5400000">
              <a:srgbClr val="1B2559">
                <a:alpha val="12000"/>
              </a:srgbClr>
            </a:outerShdw>
          </a:effectLst>
        </p:spPr>
      </p:sp>
      <p:sp>
        <p:nvSpPr>
          <p:cNvPr id="29" name="Text 27"/>
          <p:cNvSpPr txBox="1"/>
          <p:nvPr/>
        </p:nvSpPr>
        <p:spPr>
          <a:xfrm>
            <a:off x="6428232" y="4517136"/>
            <a:ext cx="777240" cy="1005840"/>
          </a:xfrm>
          <a:prstGeom prst="rect">
            <a:avLst/>
          </a:prstGeom>
          <a:noFill/>
          <a:ln/>
        </p:spPr>
        <p:txBody>
          <a:bodyPr wrap="square" lIns="0" tIns="0" rIns="0" bIns="0" rtlCol="0" anchor="ctr"/>
          <a:lstStyle/>
          <a:p>
            <a:pPr indent="0" marL="0">
              <a:buNone/>
            </a:pPr>
            <a:r>
              <a:rPr lang="ko-KR" altLang="en-US" sz="2600" b="1" dirty="0">
                <a:solidFill>
                  <a:srgbClr val="26357A"/>
                </a:solidFill>
              </a:rPr>
              <a:t>Q3</a:t>
            </a:r>
            <a:endParaRPr lang="ko-KR" sz="2600" dirty="0"/>
          </a:p>
        </p:txBody>
      </p:sp>
      <p:sp>
        <p:nvSpPr>
          <p:cNvPr id="30" name="Shape 28"/>
          <p:cNvSpPr/>
          <p:nvPr/>
        </p:nvSpPr>
        <p:spPr>
          <a:xfrm>
            <a:off x="7269480" y="4700016"/>
            <a:ext cx="914" cy="640080"/>
          </a:xfrm>
          <a:prstGeom prst="line">
            <a:avLst/>
          </a:prstGeom>
          <a:noFill/>
          <a:ln w="12700">
            <a:solidFill>
              <a:srgbClr val="7DB3E0"/>
            </a:solidFill>
            <a:prstDash val="solid"/>
          </a:ln>
        </p:spPr>
      </p:sp>
      <p:sp>
        <p:nvSpPr>
          <p:cNvPr id="31" name="Text 29"/>
          <p:cNvSpPr txBox="1"/>
          <p:nvPr/>
        </p:nvSpPr>
        <p:spPr>
          <a:xfrm>
            <a:off x="7434072" y="4608576"/>
            <a:ext cx="4099255" cy="329184"/>
          </a:xfrm>
          <a:prstGeom prst="rect">
            <a:avLst/>
          </a:prstGeom>
          <a:noFill/>
          <a:ln/>
        </p:spPr>
        <p:txBody>
          <a:bodyPr wrap="square" lIns="0" tIns="0" rIns="0" bIns="0" rtlCol="0" anchor="ctr"/>
          <a:lstStyle/>
          <a:p>
            <a:pPr indent="0" marL="0">
              <a:buNone/>
            </a:pPr>
            <a:r>
              <a:rPr lang="ko-KR" altLang="en-US" sz="1800" b="1" dirty="0">
                <a:solidFill>
                  <a:srgbClr val="1B2559"/>
                </a:solidFill>
              </a:rPr>
              <a:t>측정 중단</a:t>
            </a:r>
            <a:endParaRPr lang="ko-KR" sz="1800" dirty="0"/>
          </a:p>
        </p:txBody>
      </p:sp>
      <p:sp>
        <p:nvSpPr>
          <p:cNvPr id="32" name="Text 30"/>
          <p:cNvSpPr txBox="1"/>
          <p:nvPr/>
        </p:nvSpPr>
        <p:spPr>
          <a:xfrm>
            <a:off x="7434072" y="4937760"/>
            <a:ext cx="4099255" cy="548640"/>
          </a:xfrm>
          <a:prstGeom prst="rect">
            <a:avLst/>
          </a:prstGeom>
          <a:noFill/>
          <a:ln/>
        </p:spPr>
        <p:txBody>
          <a:bodyPr wrap="square" lIns="0" tIns="0" rIns="0" bIns="0" rtlCol="0" anchor="t"/>
          <a:lstStyle/>
          <a:p>
            <a:pPr indent="0" marL="0">
              <a:buNone/>
            </a:pPr>
            <a:r>
              <a:rPr lang="ko-KR" altLang="en-US" sz="1600" dirty="0">
                <a:solidFill>
                  <a:srgbClr val="2B2F36"/>
                </a:solidFill>
              </a:rPr>
              <a:t>카메라 측정이 일시적으로 끊기면 추정 오차는 어떻게 변하는가?</a:t>
            </a:r>
            <a:endParaRPr lang="ko-KR" sz="1600" dirty="0"/>
          </a:p>
        </p:txBody>
      </p:sp>
      <p:sp>
        <p:nvSpPr>
          <p:cNvPr id="33" name="Shape 31"/>
          <p:cNvSpPr/>
          <p:nvPr/>
        </p:nvSpPr>
        <p:spPr>
          <a:xfrm>
            <a:off x="548640" y="5687568"/>
            <a:ext cx="11094415" cy="475488"/>
          </a:xfrm>
          <a:prstGeom prst="roundRect">
            <a:avLst>
              <a:gd name="adj" fmla="val 15385"/>
            </a:avLst>
          </a:prstGeom>
          <a:solidFill>
            <a:srgbClr val="F3F6FB"/>
          </a:solidFill>
          <a:ln w="12700">
            <a:solidFill>
              <a:srgbClr val="F3F6FB"/>
            </a:solidFill>
            <a:prstDash val="solid"/>
          </a:ln>
        </p:spPr>
      </p:sp>
      <p:sp>
        <p:nvSpPr>
          <p:cNvPr id="34" name="Text 32"/>
          <p:cNvSpPr txBox="1"/>
          <p:nvPr/>
        </p:nvSpPr>
        <p:spPr>
          <a:xfrm>
            <a:off x="777240" y="5687568"/>
            <a:ext cx="10637215" cy="475488"/>
          </a:xfrm>
          <a:prstGeom prst="rect">
            <a:avLst/>
          </a:prstGeom>
          <a:noFill/>
          <a:ln/>
        </p:spPr>
        <p:txBody>
          <a:bodyPr wrap="square" lIns="0" tIns="0" rIns="0" bIns="0" rtlCol="0" anchor="ctr"/>
          <a:lstStyle/>
          <a:p>
            <a:pPr indent="0" marL="0">
              <a:buNone/>
            </a:pPr>
            <a:r>
              <a:rPr lang="ko-KR" altLang="en-US" sz="1500" b="1" dirty="0">
                <a:solidFill>
                  <a:srgbClr val="26357A"/>
                </a:solidFill>
              </a:rPr>
              <a:t>평가 원칙  </a:t>
            </a:r>
            <a:pPr indent="0" marL="0">
              <a:buNone/>
            </a:pPr>
            <a:r>
              <a:rPr lang="ko-KR" altLang="en-US" sz="1500" dirty="0">
                <a:solidFill>
                  <a:srgbClr val="2B2F36"/>
                </a:solidFill>
              </a:rPr>
              <a:t>GPS · RTK · 모션캡처 정답은 추정에 쓰지 않고 평가에만 사용  ·  규칙 설정 구간과 평가 구간을 분리</a:t>
            </a:r>
            <a:endParaRPr lang="ko-KR" sz="1500" dirty="0"/>
          </a:p>
        </p:txBody>
      </p:sp>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298448" y="118872"/>
            <a:ext cx="7680960" cy="640080"/>
          </a:xfrm>
          <a:prstGeom prst="rect">
            <a:avLst/>
          </a:prstGeom>
          <a:noFill/>
          <a:ln/>
        </p:spPr>
        <p:txBody>
          <a:bodyPr wrap="square" lIns="0" tIns="0" rIns="0" bIns="0" rtlCol="0" anchor="ctr"/>
          <a:lstStyle/>
          <a:p>
            <a:pPr algn="l" indent="0" marL="0">
              <a:buNone/>
            </a:pPr>
            <a:r>
              <a:rPr lang="en-US" sz="2800" b="1" dirty="0">
                <a:solidFill>
                  <a:srgbClr val="FFFFFF"/>
                </a:solidFill>
              </a:rPr>
              <a:t>연구 방법: 다중센서 융합 구조</a:t>
            </a:r>
            <a:endParaRPr lang="en-US" sz="2800" dirty="0"/>
          </a:p>
        </p:txBody>
      </p:sp>
      <p:sp>
        <p:nvSpPr>
          <p:cNvPr id="3" name="Text 0"/>
          <p:cNvSpPr/>
          <p:nvPr>
            <p:ph idx="102" type="body" hasCustomPrompt="1"/>
          </p:nvPr>
        </p:nvSpPr>
        <p:spPr>
          <a:xfrm>
            <a:off x="8229600" y="228600"/>
            <a:ext cx="3410712" cy="411480"/>
          </a:xfrm>
          <a:prstGeom prst="rect">
            <a:avLst/>
          </a:prstGeom>
          <a:noFill/>
          <a:ln/>
        </p:spPr>
        <p:txBody>
          <a:bodyPr wrap="square" lIns="0" tIns="0" rIns="0" bIns="0" rtlCol="0" anchor="ctr"/>
          <a:lstStyle/>
          <a:p>
            <a:pPr algn="r" indent="0" marL="0">
              <a:buNone/>
            </a:pPr>
            <a:r>
              <a:rPr lang="en-US" sz="1300" i="1" dirty="0">
                <a:solidFill>
                  <a:srgbClr val="C3D8F2"/>
                </a:solidFill>
              </a:rPr>
              <a:t>System Architecture</a:t>
            </a:r>
            <a:endParaRPr lang="en-US" sz="1300" dirty="0"/>
          </a:p>
        </p:txBody>
      </p:sp>
      <p:sp>
        <p:nvSpPr>
          <p:cNvPr id="4" name="Text 2"/>
          <p:cNvSpPr/>
          <p:nvPr/>
        </p:nvSpPr>
        <p:spPr>
          <a:xfrm>
            <a:off x="548640" y="182880"/>
            <a:ext cx="603504" cy="502920"/>
          </a:xfrm>
          <a:prstGeom prst="roundRect">
            <a:avLst>
              <a:gd name="adj" fmla="val 14545"/>
            </a:avLst>
          </a:prstGeom>
          <a:solidFill>
            <a:srgbClr val="7DB3E0"/>
          </a:solidFill>
          <a:ln/>
        </p:spPr>
        <p:txBody>
          <a:bodyPr wrap="square" lIns="0" tIns="0" rIns="0" bIns="0" rtlCol="0" anchor="ctr"/>
          <a:lstStyle/>
          <a:p>
            <a:pPr algn="ctr" indent="0" marL="0">
              <a:buNone/>
            </a:pPr>
            <a:r>
              <a:rPr lang="en-US" sz="1800" b="1" dirty="0">
                <a:solidFill>
                  <a:srgbClr val="1B2559"/>
                </a:solidFill>
              </a:rPr>
              <a:t>04</a:t>
            </a:r>
            <a:endParaRPr lang="en-US" sz="1800" dirty="0"/>
          </a:p>
        </p:txBody>
      </p:sp>
      <p:sp>
        <p:nvSpPr>
          <p:cNvPr id="5" name="Text 3"/>
          <p:cNvSpPr txBox="1"/>
          <p:nvPr/>
        </p:nvSpPr>
        <p:spPr>
          <a:xfrm>
            <a:off x="548640" y="1005840"/>
            <a:ext cx="11094415" cy="457200"/>
          </a:xfrm>
          <a:prstGeom prst="rect">
            <a:avLst/>
          </a:prstGeom>
          <a:noFill/>
          <a:ln/>
        </p:spPr>
        <p:txBody>
          <a:bodyPr wrap="square" lIns="0" tIns="0" rIns="0" bIns="0" rtlCol="0" anchor="ctr"/>
          <a:lstStyle/>
          <a:p>
            <a:pPr indent="0" marL="0">
              <a:buNone/>
            </a:pPr>
            <a:r>
              <a:rPr lang="ko-KR" altLang="en-US" sz="2000" b="1" dirty="0">
                <a:solidFill>
                  <a:srgbClr val="1B2559"/>
                </a:solidFill>
              </a:rPr>
              <a:t>IMU로 예측하고, 품질을 반영한 Optical Flow 측정으로 보정한다 </a:t>
            </a:r>
            <a:pPr indent="0" marL="0">
              <a:buNone/>
            </a:pPr>
            <a:r>
              <a:rPr lang="ko-KR" altLang="en-US" sz="1700" b="1" dirty="0">
                <a:solidFill>
                  <a:srgbClr val="3B5BA9"/>
                </a:solidFill>
              </a:rPr>
              <a:t>(거리 센서 보조 융합)</a:t>
            </a:r>
            <a:endParaRPr lang="ko-KR" sz="2000" dirty="0"/>
          </a:p>
        </p:txBody>
      </p:sp>
      <p:sp>
        <p:nvSpPr>
          <p:cNvPr id="6" name="Shape 4"/>
          <p:cNvSpPr/>
          <p:nvPr/>
        </p:nvSpPr>
        <p:spPr>
          <a:xfrm>
            <a:off x="548640" y="1600200"/>
            <a:ext cx="1371600" cy="676656"/>
          </a:xfrm>
          <a:prstGeom prst="roundRect">
            <a:avLst>
              <a:gd name="adj" fmla="val 10811"/>
            </a:avLst>
          </a:prstGeom>
          <a:solidFill>
            <a:srgbClr val="26357A"/>
          </a:solidFill>
          <a:ln w="12700">
            <a:solidFill>
              <a:srgbClr val="26357A"/>
            </a:solidFill>
            <a:prstDash val="solid"/>
          </a:ln>
        </p:spPr>
      </p:sp>
      <p:pic>
        <p:nvPicPr>
          <p:cNvPr id="7" name="Image 0" descr="preencoded.png">    </p:cNvPr>
          <p:cNvPicPr>
            <a:picLocks noChangeAspect="1"/>
          </p:cNvPicPr>
          <p:nvPr/>
        </p:nvPicPr>
        <p:blipFill>
          <a:blip r:embed="rId1"/>
          <a:stretch>
            <a:fillRect/>
          </a:stretch>
        </p:blipFill>
        <p:spPr>
          <a:xfrm>
            <a:off x="676656" y="1783080"/>
            <a:ext cx="310896" cy="310896"/>
          </a:xfrm>
          <a:prstGeom prst="rect">
            <a:avLst/>
          </a:prstGeom>
        </p:spPr>
      </p:pic>
      <p:sp>
        <p:nvSpPr>
          <p:cNvPr id="8" name="Text 5"/>
          <p:cNvSpPr txBox="1"/>
          <p:nvPr/>
        </p:nvSpPr>
        <p:spPr>
          <a:xfrm>
            <a:off x="1024128" y="1600200"/>
            <a:ext cx="841248" cy="676656"/>
          </a:xfrm>
          <a:prstGeom prst="rect">
            <a:avLst/>
          </a:prstGeom>
          <a:noFill/>
          <a:ln/>
        </p:spPr>
        <p:txBody>
          <a:bodyPr wrap="square" lIns="0" tIns="0" rIns="0" bIns="0" rtlCol="0" anchor="ctr"/>
          <a:lstStyle/>
          <a:p>
            <a:pPr indent="0" marL="0">
              <a:buNone/>
            </a:pPr>
            <a:r>
              <a:rPr lang="ko-KR" altLang="en-US" sz="1450" b="1" dirty="0">
                <a:solidFill>
                  <a:srgbClr val="FFFFFF"/>
                </a:solidFill>
              </a:rPr>
              <a:t>IMU</a:t>
            </a:r>
            <a:endParaRPr lang="ko-KR" sz="1450" dirty="0"/>
          </a:p>
        </p:txBody>
      </p:sp>
      <p:sp>
        <p:nvSpPr>
          <p:cNvPr id="9" name="Shape 6"/>
          <p:cNvSpPr/>
          <p:nvPr/>
        </p:nvSpPr>
        <p:spPr>
          <a:xfrm>
            <a:off x="548640" y="2578608"/>
            <a:ext cx="1371600" cy="676656"/>
          </a:xfrm>
          <a:prstGeom prst="roundRect">
            <a:avLst>
              <a:gd name="adj" fmla="val 10811"/>
            </a:avLst>
          </a:prstGeom>
          <a:solidFill>
            <a:srgbClr val="26357A"/>
          </a:solidFill>
          <a:ln w="12700">
            <a:solidFill>
              <a:srgbClr val="26357A"/>
            </a:solidFill>
            <a:prstDash val="solid"/>
          </a:ln>
        </p:spPr>
      </p:sp>
      <p:pic>
        <p:nvPicPr>
          <p:cNvPr id="10" name="Image 1" descr="preencoded.png">    </p:cNvPr>
          <p:cNvPicPr>
            <a:picLocks noChangeAspect="1"/>
          </p:cNvPicPr>
          <p:nvPr/>
        </p:nvPicPr>
        <p:blipFill>
          <a:blip r:embed="rId2"/>
          <a:stretch>
            <a:fillRect/>
          </a:stretch>
        </p:blipFill>
        <p:spPr>
          <a:xfrm>
            <a:off x="676656" y="2761488"/>
            <a:ext cx="310896" cy="310896"/>
          </a:xfrm>
          <a:prstGeom prst="rect">
            <a:avLst/>
          </a:prstGeom>
        </p:spPr>
      </p:pic>
      <p:sp>
        <p:nvSpPr>
          <p:cNvPr id="11" name="Text 7"/>
          <p:cNvSpPr txBox="1"/>
          <p:nvPr/>
        </p:nvSpPr>
        <p:spPr>
          <a:xfrm>
            <a:off x="1024128" y="2578608"/>
            <a:ext cx="841248" cy="676656"/>
          </a:xfrm>
          <a:prstGeom prst="rect">
            <a:avLst/>
          </a:prstGeom>
          <a:noFill/>
          <a:ln/>
        </p:spPr>
        <p:txBody>
          <a:bodyPr wrap="square" lIns="0" tIns="0" rIns="0" bIns="0" rtlCol="0" anchor="ctr"/>
          <a:lstStyle/>
          <a:p>
            <a:pPr indent="0" marL="0">
              <a:buNone/>
            </a:pPr>
            <a:r>
              <a:rPr lang="ko-KR" altLang="en-US" sz="1450" b="1" dirty="0">
                <a:solidFill>
                  <a:srgbClr val="FFFFFF"/>
                </a:solidFill>
              </a:rPr>
              <a:t>하향 카메라</a:t>
            </a:r>
            <a:endParaRPr lang="ko-KR" sz="1450" dirty="0"/>
          </a:p>
        </p:txBody>
      </p:sp>
      <p:sp>
        <p:nvSpPr>
          <p:cNvPr id="12" name="Shape 8"/>
          <p:cNvSpPr/>
          <p:nvPr/>
        </p:nvSpPr>
        <p:spPr>
          <a:xfrm>
            <a:off x="548640" y="4507992"/>
            <a:ext cx="1371600" cy="548640"/>
          </a:xfrm>
          <a:prstGeom prst="roundRect">
            <a:avLst>
              <a:gd name="adj" fmla="val 13333"/>
            </a:avLst>
          </a:prstGeom>
          <a:solidFill>
            <a:srgbClr val="26357A"/>
          </a:solidFill>
          <a:ln w="12700">
            <a:solidFill>
              <a:srgbClr val="26357A"/>
            </a:solidFill>
            <a:prstDash val="solid"/>
          </a:ln>
        </p:spPr>
      </p:sp>
      <p:pic>
        <p:nvPicPr>
          <p:cNvPr id="13" name="Image 2" descr="preencoded.png">    </p:cNvPr>
          <p:cNvPicPr>
            <a:picLocks noChangeAspect="1"/>
          </p:cNvPicPr>
          <p:nvPr/>
        </p:nvPicPr>
        <p:blipFill>
          <a:blip r:embed="rId3"/>
          <a:stretch>
            <a:fillRect/>
          </a:stretch>
        </p:blipFill>
        <p:spPr>
          <a:xfrm>
            <a:off x="676656" y="4626864"/>
            <a:ext cx="310896" cy="310896"/>
          </a:xfrm>
          <a:prstGeom prst="rect">
            <a:avLst/>
          </a:prstGeom>
        </p:spPr>
      </p:pic>
      <p:sp>
        <p:nvSpPr>
          <p:cNvPr id="14" name="Text 9"/>
          <p:cNvSpPr txBox="1"/>
          <p:nvPr/>
        </p:nvSpPr>
        <p:spPr>
          <a:xfrm>
            <a:off x="1024128" y="4507992"/>
            <a:ext cx="841248" cy="548640"/>
          </a:xfrm>
          <a:prstGeom prst="rect">
            <a:avLst/>
          </a:prstGeom>
          <a:noFill/>
          <a:ln/>
        </p:spPr>
        <p:txBody>
          <a:bodyPr wrap="square" lIns="0" tIns="0" rIns="0" bIns="0" rtlCol="0" anchor="ctr"/>
          <a:lstStyle/>
          <a:p>
            <a:pPr indent="0" marL="0">
              <a:buNone/>
            </a:pPr>
            <a:r>
              <a:rPr lang="ko-KR" altLang="en-US" sz="1450" b="1" dirty="0">
                <a:solidFill>
                  <a:srgbClr val="FFFFFF"/>
                </a:solidFill>
              </a:rPr>
              <a:t>거리 센서</a:t>
            </a:r>
            <a:endParaRPr lang="ko-KR" sz="1450" dirty="0"/>
          </a:p>
        </p:txBody>
      </p:sp>
      <p:sp>
        <p:nvSpPr>
          <p:cNvPr id="15" name="Shape 10"/>
          <p:cNvSpPr/>
          <p:nvPr/>
        </p:nvSpPr>
        <p:spPr>
          <a:xfrm>
            <a:off x="2240280" y="1600200"/>
            <a:ext cx="2194560" cy="676656"/>
          </a:xfrm>
          <a:prstGeom prst="roundRect">
            <a:avLst>
              <a:gd name="adj" fmla="val 10811"/>
            </a:avLst>
          </a:prstGeom>
          <a:solidFill>
            <a:srgbClr val="EEF5FC"/>
          </a:solidFill>
          <a:ln w="12700">
            <a:solidFill>
              <a:srgbClr val="7DB3E0"/>
            </a:solidFill>
            <a:prstDash val="solid"/>
          </a:ln>
        </p:spPr>
      </p:sp>
      <p:sp>
        <p:nvSpPr>
          <p:cNvPr id="16" name="Text 11"/>
          <p:cNvSpPr txBox="1"/>
          <p:nvPr/>
        </p:nvSpPr>
        <p:spPr>
          <a:xfrm>
            <a:off x="2313432" y="1600200"/>
            <a:ext cx="2048256" cy="676656"/>
          </a:xfrm>
          <a:prstGeom prst="rect">
            <a:avLst/>
          </a:prstGeom>
          <a:noFill/>
          <a:ln/>
        </p:spPr>
        <p:txBody>
          <a:bodyPr wrap="square" lIns="0" tIns="0" rIns="0" bIns="0" rtlCol="0" anchor="ctr"/>
          <a:lstStyle/>
          <a:p>
            <a:pPr algn="ctr" indent="0" marL="0">
              <a:buNone/>
            </a:pPr>
            <a:r>
              <a:rPr lang="ko-KR" altLang="en-US" sz="1450" b="1" dirty="0">
                <a:solidFill>
                  <a:srgbClr val="1B2559"/>
                </a:solidFill>
              </a:rPr>
              <a:t>가속도 f · 각속도 ω</a:t>
            </a:r>
            <a:endParaRPr lang="ko-KR" sz="1350" dirty="0"/>
          </a:p>
          <a:p>
            <a:pPr algn="ctr" indent="0" marL="0">
              <a:buNone/>
            </a:pPr>
            <a:r>
              <a:rPr lang="ko-KR" altLang="en-US" sz="1350" dirty="0">
                <a:solidFill>
                  <a:srgbClr val="2B2F36"/>
                </a:solidFill>
              </a:rPr>
              <a:t>IMU 원시 측정</a:t>
            </a:r>
            <a:endParaRPr lang="ko-KR" sz="1350" dirty="0"/>
          </a:p>
        </p:txBody>
      </p:sp>
      <p:sp>
        <p:nvSpPr>
          <p:cNvPr id="17" name="Shape 12"/>
          <p:cNvSpPr/>
          <p:nvPr/>
        </p:nvSpPr>
        <p:spPr>
          <a:xfrm>
            <a:off x="4754880" y="1600200"/>
            <a:ext cx="2240280" cy="676656"/>
          </a:xfrm>
          <a:prstGeom prst="roundRect">
            <a:avLst>
              <a:gd name="adj" fmla="val 10811"/>
            </a:avLst>
          </a:prstGeom>
          <a:solidFill>
            <a:srgbClr val="EEF5FC"/>
          </a:solidFill>
          <a:ln w="12700">
            <a:solidFill>
              <a:srgbClr val="7DB3E0"/>
            </a:solidFill>
            <a:prstDash val="solid"/>
          </a:ln>
        </p:spPr>
      </p:sp>
      <p:sp>
        <p:nvSpPr>
          <p:cNvPr id="18" name="Text 13"/>
          <p:cNvSpPr txBox="1"/>
          <p:nvPr/>
        </p:nvSpPr>
        <p:spPr>
          <a:xfrm>
            <a:off x="4828032" y="1600200"/>
            <a:ext cx="2093976" cy="676656"/>
          </a:xfrm>
          <a:prstGeom prst="rect">
            <a:avLst/>
          </a:prstGeom>
          <a:noFill/>
          <a:ln/>
        </p:spPr>
        <p:txBody>
          <a:bodyPr wrap="square" lIns="0" tIns="0" rIns="0" bIns="0" rtlCol="0" anchor="ctr"/>
          <a:lstStyle/>
          <a:p>
            <a:pPr algn="ctr" indent="0" marL="0">
              <a:buNone/>
            </a:pPr>
            <a:r>
              <a:rPr lang="ko-KR" altLang="en-US" sz="1450" b="1" dirty="0">
                <a:solidFill>
                  <a:srgbClr val="1B2559"/>
                </a:solidFill>
              </a:rPr>
              <a:t>관성 항법 적분</a:t>
            </a:r>
            <a:endParaRPr lang="ko-KR" sz="1350" dirty="0"/>
          </a:p>
          <a:p>
            <a:pPr algn="ctr" indent="0" marL="0">
              <a:buNone/>
            </a:pPr>
            <a:r>
              <a:rPr lang="ko-KR" altLang="en-US" sz="1350" dirty="0">
                <a:solidFill>
                  <a:srgbClr val="2B2F36"/>
                </a:solidFill>
              </a:rPr>
              <a:t>자세 회전 · 중력 보상</a:t>
            </a:r>
            <a:endParaRPr lang="ko-KR" sz="1350" dirty="0"/>
          </a:p>
        </p:txBody>
      </p:sp>
      <p:sp>
        <p:nvSpPr>
          <p:cNvPr id="19" name="Shape 14"/>
          <p:cNvSpPr/>
          <p:nvPr/>
        </p:nvSpPr>
        <p:spPr>
          <a:xfrm>
            <a:off x="2240280" y="2578608"/>
            <a:ext cx="2194560" cy="676656"/>
          </a:xfrm>
          <a:prstGeom prst="roundRect">
            <a:avLst>
              <a:gd name="adj" fmla="val 10811"/>
            </a:avLst>
          </a:prstGeom>
          <a:solidFill>
            <a:srgbClr val="EEF5FC"/>
          </a:solidFill>
          <a:ln w="12700">
            <a:solidFill>
              <a:srgbClr val="7DB3E0"/>
            </a:solidFill>
            <a:prstDash val="solid"/>
          </a:ln>
        </p:spPr>
      </p:sp>
      <p:sp>
        <p:nvSpPr>
          <p:cNvPr id="20" name="Text 15"/>
          <p:cNvSpPr txBox="1"/>
          <p:nvPr/>
        </p:nvSpPr>
        <p:spPr>
          <a:xfrm>
            <a:off x="2313432" y="2578608"/>
            <a:ext cx="2048256" cy="676656"/>
          </a:xfrm>
          <a:prstGeom prst="rect">
            <a:avLst/>
          </a:prstGeom>
          <a:noFill/>
          <a:ln/>
        </p:spPr>
        <p:txBody>
          <a:bodyPr wrap="square" lIns="0" tIns="0" rIns="0" bIns="0" rtlCol="0" anchor="ctr"/>
          <a:lstStyle/>
          <a:p>
            <a:pPr algn="ctr" indent="0" marL="0">
              <a:buNone/>
            </a:pPr>
            <a:r>
              <a:rPr lang="ko-KR" altLang="en-US" sz="1450" b="1" dirty="0">
                <a:solidFill>
                  <a:srgbClr val="1B2559"/>
                </a:solidFill>
              </a:rPr>
              <a:t>특징점 검출 · 추적</a:t>
            </a:r>
            <a:endParaRPr lang="ko-KR" sz="1350" dirty="0"/>
          </a:p>
          <a:p>
            <a:pPr algn="ctr" indent="0" marL="0">
              <a:buNone/>
            </a:pPr>
            <a:r>
              <a:rPr lang="ko-KR" altLang="en-US" sz="1350" dirty="0">
                <a:solidFill>
                  <a:srgbClr val="2B2F36"/>
                </a:solidFill>
              </a:rPr>
              <a:t>Shi–Tomasi + KLT</a:t>
            </a:r>
            <a:endParaRPr lang="ko-KR" sz="1350" dirty="0"/>
          </a:p>
        </p:txBody>
      </p:sp>
      <p:sp>
        <p:nvSpPr>
          <p:cNvPr id="21" name="Shape 16"/>
          <p:cNvSpPr/>
          <p:nvPr/>
        </p:nvSpPr>
        <p:spPr>
          <a:xfrm>
            <a:off x="4754880" y="2578608"/>
            <a:ext cx="2240280" cy="676656"/>
          </a:xfrm>
          <a:prstGeom prst="roundRect">
            <a:avLst>
              <a:gd name="adj" fmla="val 10811"/>
            </a:avLst>
          </a:prstGeom>
          <a:solidFill>
            <a:srgbClr val="EEF5FC"/>
          </a:solidFill>
          <a:ln w="12700">
            <a:solidFill>
              <a:srgbClr val="7DB3E0"/>
            </a:solidFill>
            <a:prstDash val="solid"/>
          </a:ln>
        </p:spPr>
      </p:sp>
      <p:sp>
        <p:nvSpPr>
          <p:cNvPr id="22" name="Text 17"/>
          <p:cNvSpPr txBox="1"/>
          <p:nvPr/>
        </p:nvSpPr>
        <p:spPr>
          <a:xfrm>
            <a:off x="4828032" y="2578608"/>
            <a:ext cx="2093976" cy="676656"/>
          </a:xfrm>
          <a:prstGeom prst="rect">
            <a:avLst/>
          </a:prstGeom>
          <a:noFill/>
          <a:ln/>
        </p:spPr>
        <p:txBody>
          <a:bodyPr wrap="square" lIns="0" tIns="0" rIns="0" bIns="0" rtlCol="0" anchor="ctr"/>
          <a:lstStyle/>
          <a:p>
            <a:pPr algn="ctr" indent="0" marL="0">
              <a:buNone/>
            </a:pPr>
            <a:r>
              <a:rPr lang="ko-KR" altLang="en-US" sz="1450" b="1" dirty="0">
                <a:solidFill>
                  <a:srgbClr val="1B2559"/>
                </a:solidFill>
              </a:rPr>
              <a:t>Optical Flow</a:t>
            </a:r>
            <a:endParaRPr lang="ko-KR" sz="1350" dirty="0"/>
          </a:p>
          <a:p>
            <a:pPr algn="ctr" indent="0" marL="0">
              <a:buNone/>
            </a:pPr>
            <a:r>
              <a:rPr lang="ko-KR" altLang="en-US" sz="1350" dirty="0">
                <a:solidFill>
                  <a:srgbClr val="2B2F36"/>
                </a:solidFill>
              </a:rPr>
              <a:t>픽셀 이동 → 각속도 [rad/s]</a:t>
            </a:r>
            <a:endParaRPr lang="ko-KR" sz="1350" dirty="0"/>
          </a:p>
        </p:txBody>
      </p:sp>
      <p:sp>
        <p:nvSpPr>
          <p:cNvPr id="23" name="Shape 18"/>
          <p:cNvSpPr/>
          <p:nvPr/>
        </p:nvSpPr>
        <p:spPr>
          <a:xfrm>
            <a:off x="2240280" y="3557016"/>
            <a:ext cx="2194560" cy="676656"/>
          </a:xfrm>
          <a:prstGeom prst="roundRect">
            <a:avLst>
              <a:gd name="adj" fmla="val 10811"/>
            </a:avLst>
          </a:prstGeom>
          <a:solidFill>
            <a:srgbClr val="FCEBDD"/>
          </a:solidFill>
          <a:ln w="22225">
            <a:solidFill>
              <a:srgbClr val="E07B39"/>
            </a:solidFill>
            <a:prstDash val="solid"/>
          </a:ln>
        </p:spPr>
      </p:sp>
      <p:sp>
        <p:nvSpPr>
          <p:cNvPr id="24" name="Text 19"/>
          <p:cNvSpPr txBox="1"/>
          <p:nvPr/>
        </p:nvSpPr>
        <p:spPr>
          <a:xfrm>
            <a:off x="2313432" y="3557016"/>
            <a:ext cx="2048256" cy="676656"/>
          </a:xfrm>
          <a:prstGeom prst="rect">
            <a:avLst/>
          </a:prstGeom>
          <a:noFill/>
          <a:ln/>
        </p:spPr>
        <p:txBody>
          <a:bodyPr wrap="square" lIns="0" tIns="0" rIns="0" bIns="0" rtlCol="0" anchor="ctr"/>
          <a:lstStyle/>
          <a:p>
            <a:pPr algn="ctr" indent="0" marL="0">
              <a:buNone/>
            </a:pPr>
            <a:r>
              <a:rPr lang="ko-KR" altLang="en-US" sz="1450" b="1" dirty="0">
                <a:solidFill>
                  <a:srgbClr val="1B2559"/>
                </a:solidFill>
              </a:rPr>
              <a:t>영상 품질 평가</a:t>
            </a:r>
            <a:endParaRPr lang="ko-KR" sz="1350" dirty="0"/>
          </a:p>
          <a:p>
            <a:pPr algn="ctr" indent="0" marL="0">
              <a:buNone/>
            </a:pPr>
            <a:r>
              <a:rPr lang="ko-KR" altLang="en-US" sz="1350" dirty="0">
                <a:solidFill>
                  <a:srgbClr val="2B2F36"/>
                </a:solidFill>
              </a:rPr>
              <a:t>특징점 수 · 성공률 · 잔차</a:t>
            </a:r>
            <a:endParaRPr lang="ko-KR" sz="1350" dirty="0"/>
          </a:p>
        </p:txBody>
      </p:sp>
      <p:sp>
        <p:nvSpPr>
          <p:cNvPr id="25" name="Shape 20"/>
          <p:cNvSpPr/>
          <p:nvPr/>
        </p:nvSpPr>
        <p:spPr>
          <a:xfrm>
            <a:off x="4754880" y="3557016"/>
            <a:ext cx="2240280" cy="676656"/>
          </a:xfrm>
          <a:prstGeom prst="roundRect">
            <a:avLst>
              <a:gd name="adj" fmla="val 10811"/>
            </a:avLst>
          </a:prstGeom>
          <a:solidFill>
            <a:srgbClr val="FCEBDD"/>
          </a:solidFill>
          <a:ln w="22225">
            <a:solidFill>
              <a:srgbClr val="E07B39"/>
            </a:solidFill>
            <a:prstDash val="solid"/>
          </a:ln>
        </p:spPr>
      </p:sp>
      <p:sp>
        <p:nvSpPr>
          <p:cNvPr id="26" name="Text 21"/>
          <p:cNvSpPr txBox="1"/>
          <p:nvPr/>
        </p:nvSpPr>
        <p:spPr>
          <a:xfrm>
            <a:off x="4828032" y="3557016"/>
            <a:ext cx="2093976" cy="676656"/>
          </a:xfrm>
          <a:prstGeom prst="rect">
            <a:avLst/>
          </a:prstGeom>
          <a:noFill/>
          <a:ln/>
        </p:spPr>
        <p:txBody>
          <a:bodyPr wrap="square" lIns="0" tIns="0" rIns="0" bIns="0" rtlCol="0" anchor="ctr"/>
          <a:lstStyle/>
          <a:p>
            <a:pPr algn="ctr" indent="0" marL="0">
              <a:buNone/>
            </a:pPr>
            <a:r>
              <a:rPr lang="ko-KR" altLang="en-US" sz="1450" b="1" dirty="0">
                <a:solidFill>
                  <a:srgbClr val="1B2559"/>
                </a:solidFill>
              </a:rPr>
              <a:t>측정 잡음 R 조절</a:t>
            </a:r>
            <a:endParaRPr lang="ko-KR" sz="1350" dirty="0"/>
          </a:p>
          <a:p>
            <a:pPr algn="ctr" indent="0" marL="0">
              <a:buNone/>
            </a:pPr>
            <a:r>
              <a:rPr lang="ko-KR" altLang="en-US" sz="1350" dirty="0">
                <a:solidFill>
                  <a:srgbClr val="2B2F36"/>
                </a:solidFill>
              </a:rPr>
              <a:t>품질이 너무 낮으면 측정 제외</a:t>
            </a:r>
            <a:endParaRPr lang="ko-KR" sz="1350" dirty="0"/>
          </a:p>
        </p:txBody>
      </p:sp>
      <p:sp>
        <p:nvSpPr>
          <p:cNvPr id="27" name="Shape 22"/>
          <p:cNvSpPr/>
          <p:nvPr/>
        </p:nvSpPr>
        <p:spPr>
          <a:xfrm>
            <a:off x="2240280" y="4507992"/>
            <a:ext cx="4754880" cy="548640"/>
          </a:xfrm>
          <a:prstGeom prst="roundRect">
            <a:avLst>
              <a:gd name="adj" fmla="val 13333"/>
            </a:avLst>
          </a:prstGeom>
          <a:solidFill>
            <a:srgbClr val="EEF5FC"/>
          </a:solidFill>
          <a:ln w="12700">
            <a:solidFill>
              <a:srgbClr val="7DB3E0"/>
            </a:solidFill>
            <a:prstDash val="solid"/>
          </a:ln>
        </p:spPr>
      </p:sp>
      <p:sp>
        <p:nvSpPr>
          <p:cNvPr id="28" name="Text 23"/>
          <p:cNvSpPr txBox="1"/>
          <p:nvPr/>
        </p:nvSpPr>
        <p:spPr>
          <a:xfrm>
            <a:off x="2331720" y="4507992"/>
            <a:ext cx="4572000" cy="548640"/>
          </a:xfrm>
          <a:prstGeom prst="rect">
            <a:avLst/>
          </a:prstGeom>
          <a:noFill/>
          <a:ln/>
        </p:spPr>
        <p:txBody>
          <a:bodyPr wrap="square" lIns="0" tIns="0" rIns="0" bIns="0" rtlCol="0" anchor="ctr"/>
          <a:lstStyle/>
          <a:p>
            <a:pPr algn="ctr" indent="0" marL="0">
              <a:buNone/>
            </a:pPr>
            <a:r>
              <a:rPr lang="ko-KR" altLang="en-US" sz="1450" b="1" dirty="0">
                <a:solidFill>
                  <a:srgbClr val="1B2559"/>
                </a:solidFill>
              </a:rPr>
              <a:t>지면까지 거리 d</a:t>
            </a:r>
            <a:pPr algn="ctr" indent="0" marL="0">
              <a:buNone/>
            </a:pPr>
            <a:r>
              <a:rPr lang="ko-KR" altLang="en-US" sz="1350" dirty="0">
                <a:solidFill>
                  <a:srgbClr val="2B2F36"/>
                </a:solidFill>
              </a:rPr>
              <a:t>  →  Flow 스케일 결정 (평탄 지면 가정)</a:t>
            </a:r>
            <a:endParaRPr lang="ko-KR" sz="1350" dirty="0"/>
          </a:p>
        </p:txBody>
      </p:sp>
      <p:sp>
        <p:nvSpPr>
          <p:cNvPr id="29" name="Shape 24"/>
          <p:cNvSpPr/>
          <p:nvPr/>
        </p:nvSpPr>
        <p:spPr>
          <a:xfrm>
            <a:off x="1920240" y="1938528"/>
            <a:ext cx="320040" cy="914"/>
          </a:xfrm>
          <a:prstGeom prst="line">
            <a:avLst/>
          </a:prstGeom>
          <a:noFill/>
          <a:ln w="22225">
            <a:solidFill>
              <a:srgbClr val="26357A"/>
            </a:solidFill>
            <a:prstDash val="solid"/>
            <a:tailEnd type="triangle"/>
          </a:ln>
        </p:spPr>
      </p:sp>
      <p:sp>
        <p:nvSpPr>
          <p:cNvPr id="30" name="Shape 25"/>
          <p:cNvSpPr/>
          <p:nvPr/>
        </p:nvSpPr>
        <p:spPr>
          <a:xfrm>
            <a:off x="1920240" y="2916936"/>
            <a:ext cx="320040" cy="914"/>
          </a:xfrm>
          <a:prstGeom prst="line">
            <a:avLst/>
          </a:prstGeom>
          <a:noFill/>
          <a:ln w="22225">
            <a:solidFill>
              <a:srgbClr val="26357A"/>
            </a:solidFill>
            <a:prstDash val="solid"/>
            <a:tailEnd type="triangle"/>
          </a:ln>
        </p:spPr>
      </p:sp>
      <p:sp>
        <p:nvSpPr>
          <p:cNvPr id="31" name="Shape 26"/>
          <p:cNvSpPr/>
          <p:nvPr/>
        </p:nvSpPr>
        <p:spPr>
          <a:xfrm>
            <a:off x="1920240" y="4782312"/>
            <a:ext cx="320040" cy="914"/>
          </a:xfrm>
          <a:prstGeom prst="line">
            <a:avLst/>
          </a:prstGeom>
          <a:noFill/>
          <a:ln w="22225">
            <a:solidFill>
              <a:srgbClr val="26357A"/>
            </a:solidFill>
            <a:prstDash val="solid"/>
            <a:tailEnd type="triangle"/>
          </a:ln>
        </p:spPr>
      </p:sp>
      <p:sp>
        <p:nvSpPr>
          <p:cNvPr id="32" name="Shape 27"/>
          <p:cNvSpPr/>
          <p:nvPr/>
        </p:nvSpPr>
        <p:spPr>
          <a:xfrm>
            <a:off x="4434840" y="1938528"/>
            <a:ext cx="320040" cy="914"/>
          </a:xfrm>
          <a:prstGeom prst="line">
            <a:avLst/>
          </a:prstGeom>
          <a:noFill/>
          <a:ln w="22225">
            <a:solidFill>
              <a:srgbClr val="26357A"/>
            </a:solidFill>
            <a:prstDash val="solid"/>
            <a:tailEnd type="triangle"/>
          </a:ln>
        </p:spPr>
      </p:sp>
      <p:sp>
        <p:nvSpPr>
          <p:cNvPr id="33" name="Shape 28"/>
          <p:cNvSpPr/>
          <p:nvPr/>
        </p:nvSpPr>
        <p:spPr>
          <a:xfrm>
            <a:off x="4434840" y="2916936"/>
            <a:ext cx="320040" cy="914"/>
          </a:xfrm>
          <a:prstGeom prst="line">
            <a:avLst/>
          </a:prstGeom>
          <a:noFill/>
          <a:ln w="22225">
            <a:solidFill>
              <a:srgbClr val="26357A"/>
            </a:solidFill>
            <a:prstDash val="solid"/>
            <a:tailEnd type="triangle"/>
          </a:ln>
        </p:spPr>
      </p:sp>
      <p:sp>
        <p:nvSpPr>
          <p:cNvPr id="34" name="Shape 29"/>
          <p:cNvSpPr/>
          <p:nvPr/>
        </p:nvSpPr>
        <p:spPr>
          <a:xfrm>
            <a:off x="4434840" y="3895344"/>
            <a:ext cx="320040" cy="914"/>
          </a:xfrm>
          <a:prstGeom prst="line">
            <a:avLst/>
          </a:prstGeom>
          <a:noFill/>
          <a:ln w="22225">
            <a:solidFill>
              <a:srgbClr val="E07B39"/>
            </a:solidFill>
            <a:prstDash val="solid"/>
            <a:tailEnd type="triangle"/>
          </a:ln>
        </p:spPr>
      </p:sp>
      <p:sp>
        <p:nvSpPr>
          <p:cNvPr id="35" name="Shape 30"/>
          <p:cNvSpPr/>
          <p:nvPr/>
        </p:nvSpPr>
        <p:spPr>
          <a:xfrm>
            <a:off x="3337560" y="3255264"/>
            <a:ext cx="914" cy="301752"/>
          </a:xfrm>
          <a:prstGeom prst="line">
            <a:avLst/>
          </a:prstGeom>
          <a:noFill/>
          <a:ln w="22225">
            <a:solidFill>
              <a:srgbClr val="E07B39"/>
            </a:solidFill>
            <a:prstDash val="solid"/>
            <a:tailEnd type="triangle"/>
          </a:ln>
        </p:spPr>
      </p:sp>
      <p:sp>
        <p:nvSpPr>
          <p:cNvPr id="36" name="Shape 31"/>
          <p:cNvSpPr/>
          <p:nvPr/>
        </p:nvSpPr>
        <p:spPr>
          <a:xfrm>
            <a:off x="4114800" y="2276856"/>
            <a:ext cx="868680" cy="301752"/>
          </a:xfrm>
          <a:prstGeom prst="line">
            <a:avLst/>
          </a:prstGeom>
          <a:noFill/>
          <a:ln w="15875">
            <a:solidFill>
              <a:srgbClr val="3B5BA9"/>
            </a:solidFill>
            <a:prstDash val="dash"/>
            <a:tailEnd type="triangle"/>
          </a:ln>
        </p:spPr>
      </p:sp>
      <p:sp>
        <p:nvSpPr>
          <p:cNvPr id="37" name="Text 32"/>
          <p:cNvSpPr txBox="1"/>
          <p:nvPr/>
        </p:nvSpPr>
        <p:spPr>
          <a:xfrm>
            <a:off x="5120640" y="2313432"/>
            <a:ext cx="1645920" cy="219456"/>
          </a:xfrm>
          <a:prstGeom prst="rect">
            <a:avLst/>
          </a:prstGeom>
          <a:noFill/>
          <a:ln/>
        </p:spPr>
        <p:txBody>
          <a:bodyPr wrap="square" lIns="0" tIns="0" rIns="0" bIns="0" rtlCol="0" anchor="t"/>
          <a:lstStyle/>
          <a:p>
            <a:pPr indent="0" marL="0">
              <a:buNone/>
            </a:pPr>
            <a:r>
              <a:rPr lang="ko-KR" altLang="en-US" sz="1050" b="1" dirty="0">
                <a:solidFill>
                  <a:srgbClr val="3B5BA9"/>
                </a:solidFill>
              </a:rPr>
              <a:t>ω → 회전 성분 보상</a:t>
            </a:r>
            <a:endParaRPr lang="ko-KR" sz="1050" dirty="0"/>
          </a:p>
        </p:txBody>
      </p:sp>
      <p:sp>
        <p:nvSpPr>
          <p:cNvPr id="38" name="Shape 33"/>
          <p:cNvSpPr/>
          <p:nvPr/>
        </p:nvSpPr>
        <p:spPr>
          <a:xfrm>
            <a:off x="7315200" y="1600200"/>
            <a:ext cx="1737360" cy="3456432"/>
          </a:xfrm>
          <a:prstGeom prst="roundRect">
            <a:avLst>
              <a:gd name="adj" fmla="val 4211"/>
            </a:avLst>
          </a:prstGeom>
          <a:solidFill>
            <a:srgbClr val="DCEBF8"/>
          </a:solidFill>
          <a:ln w="25400">
            <a:solidFill>
              <a:srgbClr val="26357A"/>
            </a:solidFill>
            <a:prstDash val="solid"/>
          </a:ln>
          <a:effectLst>
            <a:outerShdw sx="100000" sy="100000" kx="0" ky="0" algn="bl" rotWithShape="0" blurRad="101600" dist="25400" dir="5400000">
              <a:srgbClr val="1B2559">
                <a:alpha val="12000"/>
              </a:srgbClr>
            </a:outerShdw>
          </a:effectLst>
        </p:spPr>
      </p:sp>
      <p:sp>
        <p:nvSpPr>
          <p:cNvPr id="39" name="Shape 34"/>
          <p:cNvSpPr/>
          <p:nvPr/>
        </p:nvSpPr>
        <p:spPr>
          <a:xfrm>
            <a:off x="7452360" y="1673352"/>
            <a:ext cx="1463040" cy="530352"/>
          </a:xfrm>
          <a:prstGeom prst="roundRect">
            <a:avLst>
              <a:gd name="adj" fmla="val 13793"/>
            </a:avLst>
          </a:prstGeom>
          <a:solidFill>
            <a:srgbClr val="FFFFFF"/>
          </a:solidFill>
          <a:ln w="12700">
            <a:solidFill>
              <a:srgbClr val="26357A"/>
            </a:solidFill>
            <a:prstDash val="solid"/>
          </a:ln>
        </p:spPr>
      </p:sp>
      <p:sp>
        <p:nvSpPr>
          <p:cNvPr id="40" name="Text 35"/>
          <p:cNvSpPr txBox="1"/>
          <p:nvPr/>
        </p:nvSpPr>
        <p:spPr>
          <a:xfrm>
            <a:off x="7452360" y="1673352"/>
            <a:ext cx="1463040" cy="530352"/>
          </a:xfrm>
          <a:prstGeom prst="rect">
            <a:avLst/>
          </a:prstGeom>
          <a:noFill/>
          <a:ln/>
        </p:spPr>
        <p:txBody>
          <a:bodyPr wrap="square" lIns="0" tIns="0" rIns="0" bIns="0" rtlCol="0" anchor="ctr"/>
          <a:lstStyle/>
          <a:p>
            <a:pPr algn="ctr" indent="0" marL="0">
              <a:buNone/>
            </a:pPr>
            <a:r>
              <a:rPr lang="ko-KR" altLang="en-US" sz="1500" b="1" dirty="0">
                <a:solidFill>
                  <a:srgbClr val="1B2559"/>
                </a:solidFill>
              </a:rPr>
              <a:t>예측</a:t>
            </a:r>
            <a:endParaRPr lang="ko-KR" sz="1700" dirty="0"/>
          </a:p>
          <a:p>
            <a:pPr algn="ctr" indent="0" marL="0">
              <a:buNone/>
            </a:pPr>
            <a:r>
              <a:rPr lang="ko-KR" altLang="en-US" sz="1100" dirty="0">
                <a:solidFill>
                  <a:srgbClr val="5F6878"/>
                </a:solidFill>
              </a:rPr>
              <a:t>Predict</a:t>
            </a:r>
            <a:endParaRPr lang="ko-KR" sz="1700" dirty="0"/>
          </a:p>
        </p:txBody>
      </p:sp>
      <p:sp>
        <p:nvSpPr>
          <p:cNvPr id="41" name="Text 36"/>
          <p:cNvSpPr txBox="1"/>
          <p:nvPr/>
        </p:nvSpPr>
        <p:spPr>
          <a:xfrm>
            <a:off x="7315200" y="2313432"/>
            <a:ext cx="1737360" cy="384048"/>
          </a:xfrm>
          <a:prstGeom prst="rect">
            <a:avLst/>
          </a:prstGeom>
          <a:noFill/>
          <a:ln/>
        </p:spPr>
        <p:txBody>
          <a:bodyPr wrap="square" lIns="0" tIns="0" rIns="0" bIns="0" rtlCol="0" anchor="ctr"/>
          <a:lstStyle/>
          <a:p>
            <a:pPr algn="ctr" indent="0" marL="0">
              <a:buNone/>
            </a:pPr>
            <a:r>
              <a:rPr lang="ko-KR" altLang="en-US" sz="2200" b="1" dirty="0">
                <a:solidFill>
                  <a:srgbClr val="26357A"/>
                </a:solidFill>
              </a:rPr>
              <a:t>EKF</a:t>
            </a:r>
            <a:endParaRPr lang="ko-KR" sz="2200" dirty="0"/>
          </a:p>
        </p:txBody>
      </p:sp>
      <p:sp>
        <p:nvSpPr>
          <p:cNvPr id="42" name="Shape 37"/>
          <p:cNvSpPr/>
          <p:nvPr/>
        </p:nvSpPr>
        <p:spPr>
          <a:xfrm>
            <a:off x="7452360" y="2688336"/>
            <a:ext cx="1463040" cy="2295144"/>
          </a:xfrm>
          <a:prstGeom prst="roundRect">
            <a:avLst>
              <a:gd name="adj" fmla="val 5000"/>
            </a:avLst>
          </a:prstGeom>
          <a:solidFill>
            <a:srgbClr val="FFFFFF"/>
          </a:solidFill>
          <a:ln w="12700">
            <a:solidFill>
              <a:srgbClr val="26357A"/>
            </a:solidFill>
            <a:prstDash val="solid"/>
          </a:ln>
        </p:spPr>
      </p:sp>
      <p:sp>
        <p:nvSpPr>
          <p:cNvPr id="43" name="Text 38"/>
          <p:cNvSpPr txBox="1"/>
          <p:nvPr/>
        </p:nvSpPr>
        <p:spPr>
          <a:xfrm>
            <a:off x="7452360" y="2688336"/>
            <a:ext cx="1463040" cy="2295144"/>
          </a:xfrm>
          <a:prstGeom prst="rect">
            <a:avLst/>
          </a:prstGeom>
          <a:noFill/>
          <a:ln/>
        </p:spPr>
        <p:txBody>
          <a:bodyPr wrap="square" lIns="0" tIns="0" rIns="0" bIns="0" rtlCol="0" anchor="ctr"/>
          <a:lstStyle/>
          <a:p>
            <a:pPr algn="ctr" indent="0" marL="0">
              <a:buNone/>
            </a:pPr>
            <a:r>
              <a:rPr lang="ko-KR" altLang="en-US" sz="1500" b="1" dirty="0">
                <a:solidFill>
                  <a:srgbClr val="1B2559"/>
                </a:solidFill>
              </a:rPr>
              <a:t>보정</a:t>
            </a:r>
            <a:endParaRPr lang="ko-KR" sz="1700" dirty="0"/>
          </a:p>
          <a:p>
            <a:pPr algn="ctr" indent="0" marL="0">
              <a:buNone/>
            </a:pPr>
            <a:r>
              <a:rPr lang="ko-KR" altLang="en-US" sz="1100" dirty="0">
                <a:solidFill>
                  <a:srgbClr val="5F6878"/>
                </a:solidFill>
              </a:rPr>
              <a:t>Update</a:t>
            </a:r>
            <a:endParaRPr lang="ko-KR" sz="1700" dirty="0"/>
          </a:p>
          <a:p>
            <a:pPr algn="ctr" indent="0" marL="0">
              <a:buNone/>
            </a:pPr>
            <a:r>
              <a:rPr lang="ko-KR" altLang="en-US" sz="600" dirty="0">
                <a:solidFill>
                  <a:srgbClr val="1B2559"/>
                </a:solidFill>
              </a:rPr>
              <a:t> </a:t>
            </a:r>
            <a:endParaRPr lang="ko-KR" sz="1700" dirty="0"/>
          </a:p>
          <a:p>
            <a:pPr algn="ctr" indent="0" marL="0">
              <a:buNone/>
            </a:pPr>
            <a:r>
              <a:rPr lang="ko-KR" altLang="en-US" sz="1150" dirty="0">
                <a:solidFill>
                  <a:srgbClr val="2B2F36"/>
                </a:solidFill>
              </a:rPr>
              <a:t>z = flow (회전 보상)</a:t>
            </a:r>
            <a:endParaRPr lang="ko-KR" sz="1700" dirty="0"/>
          </a:p>
          <a:p>
            <a:pPr algn="ctr" indent="0" marL="0">
              <a:buNone/>
            </a:pPr>
            <a:r>
              <a:rPr lang="ko-KR" altLang="en-US" sz="1150" dirty="0">
                <a:solidFill>
                  <a:srgbClr val="2B2F36"/>
                </a:solidFill>
              </a:rPr>
              <a:t>h(x): 속도 · 자세 · d</a:t>
            </a:r>
            <a:endParaRPr lang="ko-KR" sz="1700" dirty="0"/>
          </a:p>
        </p:txBody>
      </p:sp>
      <p:sp>
        <p:nvSpPr>
          <p:cNvPr id="44" name="Shape 39"/>
          <p:cNvSpPr/>
          <p:nvPr/>
        </p:nvSpPr>
        <p:spPr>
          <a:xfrm>
            <a:off x="6995160" y="1938528"/>
            <a:ext cx="457200" cy="914"/>
          </a:xfrm>
          <a:prstGeom prst="line">
            <a:avLst/>
          </a:prstGeom>
          <a:noFill/>
          <a:ln w="22225">
            <a:solidFill>
              <a:srgbClr val="26357A"/>
            </a:solidFill>
            <a:prstDash val="solid"/>
            <a:tailEnd type="triangle"/>
          </a:ln>
        </p:spPr>
      </p:sp>
      <p:sp>
        <p:nvSpPr>
          <p:cNvPr id="45" name="Shape 40"/>
          <p:cNvSpPr/>
          <p:nvPr/>
        </p:nvSpPr>
        <p:spPr>
          <a:xfrm>
            <a:off x="6995160" y="2916936"/>
            <a:ext cx="457200" cy="914"/>
          </a:xfrm>
          <a:prstGeom prst="line">
            <a:avLst/>
          </a:prstGeom>
          <a:noFill/>
          <a:ln w="22225">
            <a:solidFill>
              <a:srgbClr val="26357A"/>
            </a:solidFill>
            <a:prstDash val="solid"/>
            <a:tailEnd type="triangle"/>
          </a:ln>
        </p:spPr>
      </p:sp>
      <p:sp>
        <p:nvSpPr>
          <p:cNvPr id="46" name="Shape 41"/>
          <p:cNvSpPr/>
          <p:nvPr/>
        </p:nvSpPr>
        <p:spPr>
          <a:xfrm>
            <a:off x="6995160" y="3895344"/>
            <a:ext cx="457200" cy="914"/>
          </a:xfrm>
          <a:prstGeom prst="line">
            <a:avLst/>
          </a:prstGeom>
          <a:noFill/>
          <a:ln w="22225">
            <a:solidFill>
              <a:srgbClr val="E07B39"/>
            </a:solidFill>
            <a:prstDash val="solid"/>
            <a:tailEnd type="triangle"/>
          </a:ln>
        </p:spPr>
      </p:sp>
      <p:sp>
        <p:nvSpPr>
          <p:cNvPr id="47" name="Shape 42"/>
          <p:cNvSpPr/>
          <p:nvPr/>
        </p:nvSpPr>
        <p:spPr>
          <a:xfrm>
            <a:off x="6995160" y="4782312"/>
            <a:ext cx="457200" cy="914"/>
          </a:xfrm>
          <a:prstGeom prst="line">
            <a:avLst/>
          </a:prstGeom>
          <a:noFill/>
          <a:ln w="22225">
            <a:solidFill>
              <a:srgbClr val="26357A"/>
            </a:solidFill>
            <a:prstDash val="solid"/>
            <a:tailEnd type="triangle"/>
          </a:ln>
        </p:spPr>
      </p:sp>
      <p:sp>
        <p:nvSpPr>
          <p:cNvPr id="48" name="Shape 43"/>
          <p:cNvSpPr/>
          <p:nvPr/>
        </p:nvSpPr>
        <p:spPr>
          <a:xfrm>
            <a:off x="9052560" y="3337560"/>
            <a:ext cx="365760" cy="914"/>
          </a:xfrm>
          <a:prstGeom prst="line">
            <a:avLst/>
          </a:prstGeom>
          <a:noFill/>
          <a:ln w="28575">
            <a:solidFill>
              <a:srgbClr val="26357A"/>
            </a:solidFill>
            <a:prstDash val="solid"/>
            <a:tailEnd type="triangle"/>
          </a:ln>
        </p:spPr>
      </p:sp>
      <p:sp>
        <p:nvSpPr>
          <p:cNvPr id="49" name="Shape 44"/>
          <p:cNvSpPr/>
          <p:nvPr/>
        </p:nvSpPr>
        <p:spPr>
          <a:xfrm>
            <a:off x="9418320" y="1828800"/>
            <a:ext cx="2224735" cy="3017520"/>
          </a:xfrm>
          <a:prstGeom prst="roundRect">
            <a:avLst>
              <a:gd name="adj" fmla="val 3288"/>
            </a:avLst>
          </a:prstGeom>
          <a:solidFill>
            <a:srgbClr val="F3F6FB"/>
          </a:solidFill>
          <a:ln w="9525">
            <a:solidFill>
              <a:srgbClr val="C9D3E3"/>
            </a:solidFill>
            <a:prstDash val="solid"/>
          </a:ln>
        </p:spPr>
      </p:sp>
      <p:sp>
        <p:nvSpPr>
          <p:cNvPr id="50" name="Text 45"/>
          <p:cNvSpPr txBox="1"/>
          <p:nvPr/>
        </p:nvSpPr>
        <p:spPr>
          <a:xfrm>
            <a:off x="9418320" y="1920240"/>
            <a:ext cx="2224735" cy="365760"/>
          </a:xfrm>
          <a:prstGeom prst="rect">
            <a:avLst/>
          </a:prstGeom>
          <a:noFill/>
          <a:ln/>
        </p:spPr>
        <p:txBody>
          <a:bodyPr wrap="square" lIns="0" tIns="0" rIns="0" bIns="0" rtlCol="0" anchor="ctr"/>
          <a:lstStyle/>
          <a:p>
            <a:pPr algn="ctr" indent="0" marL="0">
              <a:buNone/>
            </a:pPr>
            <a:r>
              <a:rPr lang="ko-KR" altLang="en-US" sz="1600" b="1" dirty="0">
                <a:solidFill>
                  <a:srgbClr val="1B2559"/>
                </a:solidFill>
              </a:rPr>
              <a:t>추정 상태  x</a:t>
            </a:r>
            <a:endParaRPr lang="ko-KR" sz="1600" dirty="0"/>
          </a:p>
        </p:txBody>
      </p:sp>
      <p:sp>
        <p:nvSpPr>
          <p:cNvPr id="51" name="Shape 46"/>
          <p:cNvSpPr/>
          <p:nvPr/>
        </p:nvSpPr>
        <p:spPr>
          <a:xfrm>
            <a:off x="9601200" y="2395728"/>
            <a:ext cx="1858975" cy="621792"/>
          </a:xfrm>
          <a:prstGeom prst="roundRect">
            <a:avLst>
              <a:gd name="adj" fmla="val 11765"/>
            </a:avLst>
          </a:prstGeom>
          <a:solidFill>
            <a:srgbClr val="FFFFFF"/>
          </a:solidFill>
          <a:ln w="12700">
            <a:solidFill>
              <a:srgbClr val="7DB3E0"/>
            </a:solidFill>
            <a:prstDash val="solid"/>
          </a:ln>
        </p:spPr>
      </p:sp>
      <p:sp>
        <p:nvSpPr>
          <p:cNvPr id="52" name="Text 47"/>
          <p:cNvSpPr txBox="1"/>
          <p:nvPr/>
        </p:nvSpPr>
        <p:spPr>
          <a:xfrm>
            <a:off x="9601200" y="2395728"/>
            <a:ext cx="1858975" cy="621792"/>
          </a:xfrm>
          <a:prstGeom prst="rect">
            <a:avLst/>
          </a:prstGeom>
          <a:noFill/>
          <a:ln/>
        </p:spPr>
        <p:txBody>
          <a:bodyPr wrap="square" lIns="0" tIns="0" rIns="0" bIns="0" rtlCol="0" anchor="ctr"/>
          <a:lstStyle/>
          <a:p>
            <a:pPr algn="ctr" indent="0" marL="0">
              <a:buNone/>
            </a:pPr>
            <a:r>
              <a:rPr lang="ko-KR" altLang="en-US" sz="1600" b="1" dirty="0">
                <a:solidFill>
                  <a:srgbClr val="1B2559"/>
                </a:solidFill>
              </a:rPr>
              <a:t>위치  p</a:t>
            </a:r>
            <a:pPr algn="ctr" indent="0" marL="0">
              <a:buNone/>
            </a:pPr>
            <a:r>
              <a:rPr lang="ko-KR" altLang="en-US" sz="1100" dirty="0">
                <a:solidFill>
                  <a:srgbClr val="5F6878"/>
                </a:solidFill>
              </a:rPr>
              <a:t>   Position</a:t>
            </a:r>
            <a:endParaRPr lang="ko-KR" sz="1700" dirty="0"/>
          </a:p>
        </p:txBody>
      </p:sp>
      <p:sp>
        <p:nvSpPr>
          <p:cNvPr id="53" name="Shape 48"/>
          <p:cNvSpPr/>
          <p:nvPr/>
        </p:nvSpPr>
        <p:spPr>
          <a:xfrm>
            <a:off x="9601200" y="3182112"/>
            <a:ext cx="1858975" cy="621792"/>
          </a:xfrm>
          <a:prstGeom prst="roundRect">
            <a:avLst>
              <a:gd name="adj" fmla="val 11765"/>
            </a:avLst>
          </a:prstGeom>
          <a:solidFill>
            <a:srgbClr val="FFFFFF"/>
          </a:solidFill>
          <a:ln w="12700">
            <a:solidFill>
              <a:srgbClr val="7DB3E0"/>
            </a:solidFill>
            <a:prstDash val="solid"/>
          </a:ln>
        </p:spPr>
      </p:sp>
      <p:sp>
        <p:nvSpPr>
          <p:cNvPr id="54" name="Text 49"/>
          <p:cNvSpPr txBox="1"/>
          <p:nvPr/>
        </p:nvSpPr>
        <p:spPr>
          <a:xfrm>
            <a:off x="9601200" y="3182112"/>
            <a:ext cx="1858975" cy="621792"/>
          </a:xfrm>
          <a:prstGeom prst="rect">
            <a:avLst/>
          </a:prstGeom>
          <a:noFill/>
          <a:ln/>
        </p:spPr>
        <p:txBody>
          <a:bodyPr wrap="square" lIns="0" tIns="0" rIns="0" bIns="0" rtlCol="0" anchor="ctr"/>
          <a:lstStyle/>
          <a:p>
            <a:pPr algn="ctr" indent="0" marL="0">
              <a:buNone/>
            </a:pPr>
            <a:r>
              <a:rPr lang="ko-KR" altLang="en-US" sz="1600" b="1" dirty="0">
                <a:solidFill>
                  <a:srgbClr val="1B2559"/>
                </a:solidFill>
              </a:rPr>
              <a:t>속도  v</a:t>
            </a:r>
            <a:pPr algn="ctr" indent="0" marL="0">
              <a:buNone/>
            </a:pPr>
            <a:r>
              <a:rPr lang="ko-KR" altLang="en-US" sz="1100" dirty="0">
                <a:solidFill>
                  <a:srgbClr val="5F6878"/>
                </a:solidFill>
              </a:rPr>
              <a:t>   Velocity</a:t>
            </a:r>
            <a:endParaRPr lang="ko-KR" sz="1700" dirty="0"/>
          </a:p>
        </p:txBody>
      </p:sp>
      <p:sp>
        <p:nvSpPr>
          <p:cNvPr id="55" name="Shape 50"/>
          <p:cNvSpPr/>
          <p:nvPr/>
        </p:nvSpPr>
        <p:spPr>
          <a:xfrm>
            <a:off x="9601200" y="3968496"/>
            <a:ext cx="1858975" cy="621792"/>
          </a:xfrm>
          <a:prstGeom prst="roundRect">
            <a:avLst>
              <a:gd name="adj" fmla="val 11765"/>
            </a:avLst>
          </a:prstGeom>
          <a:solidFill>
            <a:srgbClr val="FFFFFF"/>
          </a:solidFill>
          <a:ln w="12700">
            <a:solidFill>
              <a:srgbClr val="7DB3E0"/>
            </a:solidFill>
            <a:prstDash val="solid"/>
          </a:ln>
        </p:spPr>
      </p:sp>
      <p:sp>
        <p:nvSpPr>
          <p:cNvPr id="56" name="Text 51"/>
          <p:cNvSpPr txBox="1"/>
          <p:nvPr/>
        </p:nvSpPr>
        <p:spPr>
          <a:xfrm>
            <a:off x="9601200" y="3968496"/>
            <a:ext cx="1858975" cy="621792"/>
          </a:xfrm>
          <a:prstGeom prst="rect">
            <a:avLst/>
          </a:prstGeom>
          <a:noFill/>
          <a:ln/>
        </p:spPr>
        <p:txBody>
          <a:bodyPr wrap="square" lIns="0" tIns="0" rIns="0" bIns="0" rtlCol="0" anchor="ctr"/>
          <a:lstStyle/>
          <a:p>
            <a:pPr algn="ctr" indent="0" marL="0">
              <a:buNone/>
            </a:pPr>
            <a:r>
              <a:rPr lang="ko-KR" altLang="en-US" sz="1600" b="1" dirty="0">
                <a:solidFill>
                  <a:srgbClr val="1B2559"/>
                </a:solidFill>
              </a:rPr>
              <a:t>자세  q</a:t>
            </a:r>
            <a:pPr algn="ctr" indent="0" marL="0">
              <a:buNone/>
            </a:pPr>
            <a:r>
              <a:rPr lang="ko-KR" altLang="en-US" sz="1100" dirty="0">
                <a:solidFill>
                  <a:srgbClr val="5F6878"/>
                </a:solidFill>
              </a:rPr>
              <a:t>   Attitude</a:t>
            </a:r>
            <a:endParaRPr lang="ko-KR" sz="1700" dirty="0"/>
          </a:p>
        </p:txBody>
      </p:sp>
      <p:sp>
        <p:nvSpPr>
          <p:cNvPr id="57" name="Shape 52"/>
          <p:cNvSpPr/>
          <p:nvPr/>
        </p:nvSpPr>
        <p:spPr>
          <a:xfrm>
            <a:off x="548640" y="5230368"/>
            <a:ext cx="4709160" cy="932688"/>
          </a:xfrm>
          <a:prstGeom prst="roundRect">
            <a:avLst>
              <a:gd name="adj" fmla="val 7843"/>
            </a:avLst>
          </a:prstGeom>
          <a:solidFill>
            <a:srgbClr val="EEF5FC"/>
          </a:solidFill>
          <a:ln w="12700">
            <a:solidFill>
              <a:srgbClr val="DCEBF8"/>
            </a:solidFill>
            <a:prstDash val="solid"/>
          </a:ln>
        </p:spPr>
      </p:sp>
      <p:sp>
        <p:nvSpPr>
          <p:cNvPr id="58" name="Text 53"/>
          <p:cNvSpPr txBox="1"/>
          <p:nvPr/>
        </p:nvSpPr>
        <p:spPr>
          <a:xfrm>
            <a:off x="713232" y="5294376"/>
            <a:ext cx="4480560" cy="219456"/>
          </a:xfrm>
          <a:prstGeom prst="rect">
            <a:avLst/>
          </a:prstGeom>
          <a:noFill/>
          <a:ln/>
        </p:spPr>
        <p:txBody>
          <a:bodyPr wrap="square" lIns="0" tIns="0" rIns="0" bIns="0" rtlCol="0" anchor="t"/>
          <a:lstStyle/>
          <a:p>
            <a:pPr indent="0" marL="0">
              <a:buNone/>
            </a:pPr>
            <a:r>
              <a:rPr lang="ko-KR" altLang="en-US" sz="1150" b="1" dirty="0">
                <a:solidFill>
                  <a:srgbClr val="3B5BA9"/>
                </a:solidFill>
              </a:rPr>
              <a:t>Optical Flow 측정 (영상 중심 근처, 평탄 지면)</a:t>
            </a:r>
            <a:endParaRPr lang="ko-KR" sz="1150" dirty="0"/>
          </a:p>
        </p:txBody>
      </p:sp>
      <p:sp>
        <p:nvSpPr>
          <p:cNvPr id="59" name="Text 54"/>
          <p:cNvSpPr txBox="1"/>
          <p:nvPr/>
        </p:nvSpPr>
        <p:spPr>
          <a:xfrm>
            <a:off x="713232" y="5513832"/>
            <a:ext cx="4480560" cy="384048"/>
          </a:xfrm>
          <a:prstGeom prst="rect">
            <a:avLst/>
          </a:prstGeom>
          <a:noFill/>
          <a:ln/>
        </p:spPr>
        <p:txBody>
          <a:bodyPr wrap="square" lIns="0" tIns="0" rIns="0" bIns="0" rtlCol="0" anchor="ctr"/>
          <a:lstStyle/>
          <a:p>
            <a:pPr indent="0" marL="0">
              <a:buNone/>
            </a:pPr>
            <a:r>
              <a:rPr lang="ko-KR" altLang="en-US" sz="2000" i="1" dirty="0">
                <a:solidFill>
                  <a:srgbClr val="1B2559"/>
                </a:solidFill>
                <a:latin typeface="Times New Roman" pitchFamily="34" charset="0"/>
                <a:ea typeface="Times New Roman" pitchFamily="34" charset="-122"/>
                <a:cs typeface="Times New Roman" pitchFamily="34" charset="-120"/>
              </a:rPr>
              <a:t>z</a:t>
            </a:r>
            <a:pPr indent="0" marL="0">
              <a:buNone/>
            </a:pPr>
            <a:r>
              <a:rPr lang="ko-KR" altLang="en-US" sz="2000" dirty="0">
                <a:solidFill>
                  <a:srgbClr val="1B2559"/>
                </a:solidFill>
              </a:rPr>
              <a:t> = </a:t>
            </a:r>
            <a:pPr indent="0" marL="0">
              <a:buNone/>
            </a:pPr>
            <a:r>
              <a:rPr lang="ko-KR" altLang="en-US" sz="2000" dirty="0">
                <a:solidFill>
                  <a:srgbClr val="1B2559"/>
                </a:solidFill>
                <a:latin typeface="Times New Roman" pitchFamily="34" charset="0"/>
                <a:ea typeface="Times New Roman" pitchFamily="34" charset="-122"/>
                <a:cs typeface="Times New Roman" pitchFamily="34" charset="-120"/>
              </a:rPr>
              <a:t>Ω</a:t>
            </a:r>
            <a:pPr indent="0" marL="0">
              <a:buNone/>
            </a:pPr>
            <a:r>
              <a:rPr lang="ko-KR" altLang="en-US" sz="1300" baseline="-40000" dirty="0">
                <a:solidFill>
                  <a:srgbClr val="1B2559"/>
                </a:solidFill>
              </a:rPr>
              <a:t>flow</a:t>
            </a:r>
            <a:pPr indent="0" marL="0">
              <a:buNone/>
            </a:pPr>
            <a:r>
              <a:rPr lang="ko-KR" altLang="en-US" sz="2000" dirty="0">
                <a:solidFill>
                  <a:srgbClr val="1B2559"/>
                </a:solidFill>
              </a:rPr>
              <a:t> − </a:t>
            </a:r>
            <a:pPr indent="0" marL="0">
              <a:buNone/>
            </a:pPr>
            <a:r>
              <a:rPr lang="ko-KR" altLang="en-US" sz="2000" i="1" dirty="0">
                <a:solidFill>
                  <a:srgbClr val="1B2559"/>
                </a:solidFill>
                <a:latin typeface="Times New Roman" pitchFamily="34" charset="0"/>
                <a:ea typeface="Times New Roman" pitchFamily="34" charset="-122"/>
                <a:cs typeface="Times New Roman" pitchFamily="34" charset="-120"/>
              </a:rPr>
              <a:t>ω</a:t>
            </a:r>
            <a:pPr indent="0" marL="0">
              <a:buNone/>
            </a:pPr>
            <a:r>
              <a:rPr lang="ko-KR" altLang="en-US" sz="1300" baseline="-40000" dirty="0">
                <a:solidFill>
                  <a:srgbClr val="1B2559"/>
                </a:solidFill>
              </a:rPr>
              <a:t>gyro</a:t>
            </a:r>
            <a:pPr indent="0" marL="0">
              <a:buNone/>
            </a:pPr>
            <a:r>
              <a:rPr lang="ko-KR" altLang="en-US" sz="2000" dirty="0">
                <a:solidFill>
                  <a:srgbClr val="1B2559"/>
                </a:solidFill>
              </a:rPr>
              <a:t>  ≈  </a:t>
            </a:r>
            <a:pPr indent="0" marL="0">
              <a:buNone/>
            </a:pPr>
            <a:r>
              <a:rPr lang="ko-KR" altLang="en-US" sz="2000" i="1" dirty="0">
                <a:solidFill>
                  <a:srgbClr val="1B2559"/>
                </a:solidFill>
                <a:latin typeface="Times New Roman" pitchFamily="34" charset="0"/>
                <a:ea typeface="Times New Roman" pitchFamily="34" charset="-122"/>
                <a:cs typeface="Times New Roman" pitchFamily="34" charset="-120"/>
              </a:rPr>
              <a:t>v</a:t>
            </a:r>
            <a:pPr indent="0" marL="0">
              <a:buNone/>
            </a:pPr>
            <a:r>
              <a:rPr lang="ko-KR" altLang="en-US" sz="1300" baseline="-40000" dirty="0">
                <a:solidFill>
                  <a:srgbClr val="1B2559"/>
                </a:solidFill>
              </a:rPr>
              <a:t>⊥</a:t>
            </a:r>
            <a:pPr indent="0" marL="0">
              <a:buNone/>
            </a:pPr>
            <a:r>
              <a:rPr lang="ko-KR" altLang="en-US" sz="2000" dirty="0">
                <a:solidFill>
                  <a:srgbClr val="1B2559"/>
                </a:solidFill>
              </a:rPr>
              <a:t> / </a:t>
            </a:r>
            <a:pPr indent="0" marL="0">
              <a:buNone/>
            </a:pPr>
            <a:r>
              <a:rPr lang="ko-KR" altLang="en-US" sz="2000" i="1" dirty="0">
                <a:solidFill>
                  <a:srgbClr val="1B2559"/>
                </a:solidFill>
                <a:latin typeface="Times New Roman" pitchFamily="34" charset="0"/>
                <a:ea typeface="Times New Roman" pitchFamily="34" charset="-122"/>
                <a:cs typeface="Times New Roman" pitchFamily="34" charset="-120"/>
              </a:rPr>
              <a:t>d</a:t>
            </a:r>
            <a:endParaRPr lang="ko-KR" sz="2000" dirty="0"/>
          </a:p>
        </p:txBody>
      </p:sp>
      <p:sp>
        <p:nvSpPr>
          <p:cNvPr id="60" name="Text 55"/>
          <p:cNvSpPr txBox="1"/>
          <p:nvPr/>
        </p:nvSpPr>
        <p:spPr>
          <a:xfrm>
            <a:off x="713232" y="5897880"/>
            <a:ext cx="4480560" cy="228600"/>
          </a:xfrm>
          <a:prstGeom prst="rect">
            <a:avLst/>
          </a:prstGeom>
          <a:noFill/>
          <a:ln/>
        </p:spPr>
        <p:txBody>
          <a:bodyPr wrap="square" lIns="0" tIns="0" rIns="0" bIns="0" rtlCol="0" anchor="t"/>
          <a:lstStyle/>
          <a:p>
            <a:pPr indent="0" marL="0">
              <a:buNone/>
            </a:pPr>
            <a:r>
              <a:rPr lang="ko-KR" altLang="en-US" sz="1150" dirty="0">
                <a:solidFill>
                  <a:srgbClr val="5F6878"/>
                </a:solidFill>
              </a:rPr>
              <a:t>회전 성분은 자이로로 제거, 병진 성분의 스케일은 거리 d로 결정</a:t>
            </a:r>
            <a:endParaRPr lang="ko-KR" sz="1150" dirty="0"/>
          </a:p>
        </p:txBody>
      </p:sp>
      <p:sp>
        <p:nvSpPr>
          <p:cNvPr id="61" name="Shape 56"/>
          <p:cNvSpPr/>
          <p:nvPr/>
        </p:nvSpPr>
        <p:spPr>
          <a:xfrm>
            <a:off x="5440680" y="5230368"/>
            <a:ext cx="3749040" cy="932688"/>
          </a:xfrm>
          <a:prstGeom prst="roundRect">
            <a:avLst>
              <a:gd name="adj" fmla="val 7843"/>
            </a:avLst>
          </a:prstGeom>
          <a:solidFill>
            <a:srgbClr val="EEF5FC"/>
          </a:solidFill>
          <a:ln w="12700">
            <a:solidFill>
              <a:srgbClr val="DCEBF8"/>
            </a:solidFill>
            <a:prstDash val="solid"/>
          </a:ln>
        </p:spPr>
      </p:sp>
      <p:sp>
        <p:nvSpPr>
          <p:cNvPr id="62" name="Text 57"/>
          <p:cNvSpPr txBox="1"/>
          <p:nvPr/>
        </p:nvSpPr>
        <p:spPr>
          <a:xfrm>
            <a:off x="5605272" y="5294376"/>
            <a:ext cx="3474720" cy="219456"/>
          </a:xfrm>
          <a:prstGeom prst="rect">
            <a:avLst/>
          </a:prstGeom>
          <a:noFill/>
          <a:ln/>
        </p:spPr>
        <p:txBody>
          <a:bodyPr wrap="square" lIns="0" tIns="0" rIns="0" bIns="0" rtlCol="0" anchor="t"/>
          <a:lstStyle/>
          <a:p>
            <a:pPr indent="0" marL="0">
              <a:buNone/>
            </a:pPr>
            <a:r>
              <a:rPr lang="ko-KR" altLang="en-US" sz="1150" b="1" dirty="0">
                <a:solidFill>
                  <a:srgbClr val="3B5BA9"/>
                </a:solidFill>
              </a:rPr>
              <a:t>EKF 보정 이득과 측정 잡음 R</a:t>
            </a:r>
            <a:endParaRPr lang="ko-KR" sz="1150" dirty="0"/>
          </a:p>
        </p:txBody>
      </p:sp>
      <p:sp>
        <p:nvSpPr>
          <p:cNvPr id="63" name="Text 58"/>
          <p:cNvSpPr txBox="1"/>
          <p:nvPr/>
        </p:nvSpPr>
        <p:spPr>
          <a:xfrm>
            <a:off x="5605272" y="5513832"/>
            <a:ext cx="3474720" cy="384048"/>
          </a:xfrm>
          <a:prstGeom prst="rect">
            <a:avLst/>
          </a:prstGeom>
          <a:noFill/>
          <a:ln/>
        </p:spPr>
        <p:txBody>
          <a:bodyPr wrap="square" lIns="0" tIns="0" rIns="0" bIns="0" rtlCol="0" anchor="ctr"/>
          <a:lstStyle/>
          <a:p>
            <a:pPr indent="0" marL="0">
              <a:buNone/>
            </a:pPr>
            <a:r>
              <a:rPr lang="ko-KR" altLang="en-US" sz="2000" i="1" dirty="0">
                <a:solidFill>
                  <a:srgbClr val="1B2559"/>
                </a:solidFill>
                <a:latin typeface="Times New Roman" pitchFamily="34" charset="0"/>
                <a:ea typeface="Times New Roman" pitchFamily="34" charset="-122"/>
                <a:cs typeface="Times New Roman" pitchFamily="34" charset="-120"/>
              </a:rPr>
              <a:t>K</a:t>
            </a:r>
            <a:pPr indent="0" marL="0">
              <a:buNone/>
            </a:pPr>
            <a:r>
              <a:rPr lang="ko-KR" altLang="en-US" sz="2000" dirty="0">
                <a:solidFill>
                  <a:srgbClr val="1B2559"/>
                </a:solidFill>
              </a:rPr>
              <a:t> = </a:t>
            </a:r>
            <a:pPr indent="0" marL="0">
              <a:buNone/>
            </a:pPr>
            <a:r>
              <a:rPr lang="ko-KR" altLang="en-US" sz="2000" i="1" dirty="0">
                <a:solidFill>
                  <a:srgbClr val="1B2559"/>
                </a:solidFill>
                <a:latin typeface="Times New Roman" pitchFamily="34" charset="0"/>
                <a:ea typeface="Times New Roman" pitchFamily="34" charset="-122"/>
                <a:cs typeface="Times New Roman" pitchFamily="34" charset="-120"/>
              </a:rPr>
              <a:t>PH</a:t>
            </a:r>
            <a:pPr indent="0" marL="0">
              <a:buNone/>
            </a:pPr>
            <a:r>
              <a:rPr lang="ko-KR" altLang="en-US" sz="1300" baseline="30000" dirty="0">
                <a:solidFill>
                  <a:srgbClr val="1B2559"/>
                </a:solidFill>
              </a:rPr>
              <a:t>T</a:t>
            </a:r>
            <a:pPr indent="0" marL="0">
              <a:buNone/>
            </a:pPr>
            <a:r>
              <a:rPr lang="ko-KR" altLang="en-US" sz="2000" dirty="0">
                <a:solidFill>
                  <a:srgbClr val="1B2559"/>
                </a:solidFill>
              </a:rPr>
              <a:t>(</a:t>
            </a:r>
            <a:pPr indent="0" marL="0">
              <a:buNone/>
            </a:pPr>
            <a:r>
              <a:rPr lang="ko-KR" altLang="en-US" sz="2000" i="1" dirty="0">
                <a:solidFill>
                  <a:srgbClr val="1B2559"/>
                </a:solidFill>
                <a:latin typeface="Times New Roman" pitchFamily="34" charset="0"/>
                <a:ea typeface="Times New Roman" pitchFamily="34" charset="-122"/>
                <a:cs typeface="Times New Roman" pitchFamily="34" charset="-120"/>
              </a:rPr>
              <a:t>HPH</a:t>
            </a:r>
            <a:pPr indent="0" marL="0">
              <a:buNone/>
            </a:pPr>
            <a:r>
              <a:rPr lang="ko-KR" altLang="en-US" sz="1300" baseline="30000" dirty="0">
                <a:solidFill>
                  <a:srgbClr val="1B2559"/>
                </a:solidFill>
              </a:rPr>
              <a:t>T</a:t>
            </a:r>
            <a:pPr indent="0" marL="0">
              <a:buNone/>
            </a:pPr>
            <a:r>
              <a:rPr lang="ko-KR" altLang="en-US" sz="2000" dirty="0">
                <a:solidFill>
                  <a:srgbClr val="1B2559"/>
                </a:solidFill>
              </a:rPr>
              <a:t> + </a:t>
            </a:r>
            <a:pPr indent="0" marL="0">
              <a:buNone/>
            </a:pPr>
            <a:r>
              <a:rPr lang="ko-KR" altLang="en-US" sz="2000" b="1" i="1" dirty="0">
                <a:solidFill>
                  <a:srgbClr val="E07B39"/>
                </a:solidFill>
                <a:latin typeface="Times New Roman" pitchFamily="34" charset="0"/>
                <a:ea typeface="Times New Roman" pitchFamily="34" charset="-122"/>
                <a:cs typeface="Times New Roman" pitchFamily="34" charset="-120"/>
              </a:rPr>
              <a:t>R</a:t>
            </a:r>
            <a:pPr indent="0" marL="0">
              <a:buNone/>
            </a:pPr>
            <a:r>
              <a:rPr lang="ko-KR" altLang="en-US" sz="2000" dirty="0">
                <a:solidFill>
                  <a:srgbClr val="1B2559"/>
                </a:solidFill>
              </a:rPr>
              <a:t>)</a:t>
            </a:r>
            <a:pPr indent="0" marL="0">
              <a:buNone/>
            </a:pPr>
            <a:r>
              <a:rPr lang="ko-KR" altLang="en-US" sz="1300" baseline="30000" dirty="0">
                <a:solidFill>
                  <a:srgbClr val="1B2559"/>
                </a:solidFill>
              </a:rPr>
              <a:t>−1</a:t>
            </a:r>
            <a:endParaRPr lang="ko-KR" sz="2000" dirty="0"/>
          </a:p>
        </p:txBody>
      </p:sp>
      <p:sp>
        <p:nvSpPr>
          <p:cNvPr id="64" name="Text 59"/>
          <p:cNvSpPr txBox="1"/>
          <p:nvPr/>
        </p:nvSpPr>
        <p:spPr>
          <a:xfrm>
            <a:off x="5605272" y="5897880"/>
            <a:ext cx="3474720" cy="228600"/>
          </a:xfrm>
          <a:prstGeom prst="rect">
            <a:avLst/>
          </a:prstGeom>
          <a:noFill/>
          <a:ln/>
        </p:spPr>
        <p:txBody>
          <a:bodyPr wrap="square" lIns="0" tIns="0" rIns="0" bIns="0" rtlCol="0" anchor="t"/>
          <a:lstStyle/>
          <a:p>
            <a:pPr indent="0" marL="0">
              <a:buNone/>
            </a:pPr>
            <a:r>
              <a:rPr lang="ko-KR" altLang="en-US" sz="1150" b="1" dirty="0">
                <a:solidFill>
                  <a:srgbClr val="E07B39"/>
                </a:solidFill>
              </a:rPr>
              <a:t>R ↑  →  K ↓  →  카메라 보정 반영 ↓</a:t>
            </a:r>
            <a:endParaRPr lang="ko-KR" sz="1150" dirty="0"/>
          </a:p>
        </p:txBody>
      </p:sp>
      <p:sp>
        <p:nvSpPr>
          <p:cNvPr id="65" name="Shape 60"/>
          <p:cNvSpPr/>
          <p:nvPr/>
        </p:nvSpPr>
        <p:spPr>
          <a:xfrm>
            <a:off x="9372600" y="5321808"/>
            <a:ext cx="292608" cy="201168"/>
          </a:xfrm>
          <a:prstGeom prst="roundRect">
            <a:avLst>
              <a:gd name="adj" fmla="val 36364"/>
            </a:avLst>
          </a:prstGeom>
          <a:solidFill>
            <a:srgbClr val="EEF5FC"/>
          </a:solidFill>
          <a:ln w="12700">
            <a:solidFill>
              <a:srgbClr val="7DB3E0"/>
            </a:solidFill>
            <a:prstDash val="solid"/>
          </a:ln>
        </p:spPr>
      </p:sp>
      <p:sp>
        <p:nvSpPr>
          <p:cNvPr id="66" name="Text 61"/>
          <p:cNvSpPr txBox="1"/>
          <p:nvPr/>
        </p:nvSpPr>
        <p:spPr>
          <a:xfrm>
            <a:off x="9756648" y="5285232"/>
            <a:ext cx="2011680" cy="274320"/>
          </a:xfrm>
          <a:prstGeom prst="rect">
            <a:avLst/>
          </a:prstGeom>
          <a:noFill/>
          <a:ln/>
        </p:spPr>
        <p:txBody>
          <a:bodyPr wrap="square" lIns="0" tIns="0" rIns="0" bIns="0" rtlCol="0" anchor="ctr"/>
          <a:lstStyle/>
          <a:p>
            <a:pPr indent="0" marL="0">
              <a:buNone/>
            </a:pPr>
            <a:r>
              <a:rPr lang="ko-KR" altLang="en-US" sz="1200" dirty="0">
                <a:solidFill>
                  <a:srgbClr val="2B2F36"/>
                </a:solidFill>
              </a:rPr>
              <a:t>기존 기법 활용</a:t>
            </a:r>
            <a:endParaRPr lang="ko-KR" sz="1200" dirty="0"/>
          </a:p>
        </p:txBody>
      </p:sp>
      <p:sp>
        <p:nvSpPr>
          <p:cNvPr id="67" name="Shape 62"/>
          <p:cNvSpPr/>
          <p:nvPr/>
        </p:nvSpPr>
        <p:spPr>
          <a:xfrm>
            <a:off x="9372600" y="5641848"/>
            <a:ext cx="292608" cy="201168"/>
          </a:xfrm>
          <a:prstGeom prst="roundRect">
            <a:avLst>
              <a:gd name="adj" fmla="val 36364"/>
            </a:avLst>
          </a:prstGeom>
          <a:solidFill>
            <a:srgbClr val="FCEBDD"/>
          </a:solidFill>
          <a:ln w="19050">
            <a:solidFill>
              <a:srgbClr val="E07B39"/>
            </a:solidFill>
            <a:prstDash val="solid"/>
          </a:ln>
        </p:spPr>
      </p:sp>
      <p:sp>
        <p:nvSpPr>
          <p:cNvPr id="68" name="Text 63"/>
          <p:cNvSpPr txBox="1"/>
          <p:nvPr/>
        </p:nvSpPr>
        <p:spPr>
          <a:xfrm>
            <a:off x="9756648" y="5605272"/>
            <a:ext cx="2103120" cy="274320"/>
          </a:xfrm>
          <a:prstGeom prst="rect">
            <a:avLst/>
          </a:prstGeom>
          <a:noFill/>
          <a:ln/>
        </p:spPr>
        <p:txBody>
          <a:bodyPr wrap="square" lIns="0" tIns="0" rIns="0" bIns="0" rtlCol="0" anchor="ctr"/>
          <a:lstStyle/>
          <a:p>
            <a:pPr indent="0" marL="0">
              <a:buNone/>
            </a:pPr>
            <a:r>
              <a:rPr lang="ko-KR" altLang="en-US" sz="1200" dirty="0">
                <a:solidFill>
                  <a:srgbClr val="2B2F36"/>
                </a:solidFill>
              </a:rPr>
              <a:t>본 연구에서 구성 · 평가</a:t>
            </a:r>
            <a:endParaRPr lang="ko-KR" sz="1200" dirty="0"/>
          </a:p>
        </p:txBody>
      </p:sp>
      <p:sp>
        <p:nvSpPr>
          <p:cNvPr id="69" name="Text 64"/>
          <p:cNvSpPr txBox="1"/>
          <p:nvPr/>
        </p:nvSpPr>
        <p:spPr>
          <a:xfrm>
            <a:off x="9372600" y="5907024"/>
            <a:ext cx="2270455" cy="274320"/>
          </a:xfrm>
          <a:prstGeom prst="rect">
            <a:avLst/>
          </a:prstGeom>
          <a:noFill/>
          <a:ln/>
        </p:spPr>
        <p:txBody>
          <a:bodyPr wrap="square" lIns="0" tIns="0" rIns="0" bIns="0" rtlCol="0" anchor="t"/>
          <a:lstStyle/>
          <a:p>
            <a:pPr indent="0" marL="0">
              <a:buNone/>
            </a:pPr>
            <a:r>
              <a:rPr lang="ko-KR" altLang="en-US" sz="950" dirty="0">
                <a:solidFill>
                  <a:srgbClr val="5F6878"/>
                </a:solidFill>
              </a:rPr>
              <a:t>※ 순수 Camera–IMU VIO가 아닌 거리 센서 보조 융합 · 상세 모델은 부록 A2–A3</a:t>
            </a:r>
            <a:endParaRPr lang="ko-KR" sz="950" dirty="0"/>
          </a:p>
        </p:txBody>
      </p:sp>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298448" y="118872"/>
            <a:ext cx="7680960" cy="640080"/>
          </a:xfrm>
          <a:prstGeom prst="rect">
            <a:avLst/>
          </a:prstGeom>
          <a:noFill/>
          <a:ln/>
        </p:spPr>
        <p:txBody>
          <a:bodyPr wrap="square" lIns="0" tIns="0" rIns="0" bIns="0" rtlCol="0" anchor="ctr"/>
          <a:lstStyle/>
          <a:p>
            <a:pPr algn="l" indent="0" marL="0">
              <a:buNone/>
            </a:pPr>
            <a:r>
              <a:rPr lang="en-US" sz="2800" b="1" dirty="0">
                <a:solidFill>
                  <a:srgbClr val="FFFFFF"/>
                </a:solidFill>
              </a:rPr>
              <a:t>실험 설계 및 성능 평가</a:t>
            </a:r>
            <a:endParaRPr lang="en-US" sz="2800" dirty="0"/>
          </a:p>
        </p:txBody>
      </p:sp>
      <p:sp>
        <p:nvSpPr>
          <p:cNvPr id="3" name="Text 0"/>
          <p:cNvSpPr/>
          <p:nvPr>
            <p:ph idx="102" type="body" hasCustomPrompt="1"/>
          </p:nvPr>
        </p:nvSpPr>
        <p:spPr>
          <a:xfrm>
            <a:off x="8229600" y="228600"/>
            <a:ext cx="3410712" cy="411480"/>
          </a:xfrm>
          <a:prstGeom prst="rect">
            <a:avLst/>
          </a:prstGeom>
          <a:noFill/>
          <a:ln/>
        </p:spPr>
        <p:txBody>
          <a:bodyPr wrap="square" lIns="0" tIns="0" rIns="0" bIns="0" rtlCol="0" anchor="ctr"/>
          <a:lstStyle/>
          <a:p>
            <a:pPr algn="r" indent="0" marL="0">
              <a:buNone/>
            </a:pPr>
            <a:r>
              <a:rPr lang="en-US" sz="1300" i="1" dirty="0">
                <a:solidFill>
                  <a:srgbClr val="C3D8F2"/>
                </a:solidFill>
              </a:rPr>
              <a:t>Experimental Design</a:t>
            </a:r>
            <a:endParaRPr lang="en-US" sz="1300" dirty="0"/>
          </a:p>
        </p:txBody>
      </p:sp>
      <p:sp>
        <p:nvSpPr>
          <p:cNvPr id="4" name="Text 2"/>
          <p:cNvSpPr/>
          <p:nvPr/>
        </p:nvSpPr>
        <p:spPr>
          <a:xfrm>
            <a:off x="548640" y="182880"/>
            <a:ext cx="603504" cy="502920"/>
          </a:xfrm>
          <a:prstGeom prst="roundRect">
            <a:avLst>
              <a:gd name="adj" fmla="val 14545"/>
            </a:avLst>
          </a:prstGeom>
          <a:solidFill>
            <a:srgbClr val="7DB3E0"/>
          </a:solidFill>
          <a:ln/>
        </p:spPr>
        <p:txBody>
          <a:bodyPr wrap="square" lIns="0" tIns="0" rIns="0" bIns="0" rtlCol="0" anchor="ctr"/>
          <a:lstStyle/>
          <a:p>
            <a:pPr algn="ctr" indent="0" marL="0">
              <a:buNone/>
            </a:pPr>
            <a:r>
              <a:rPr lang="en-US" sz="1800" b="1" dirty="0">
                <a:solidFill>
                  <a:srgbClr val="1B2559"/>
                </a:solidFill>
              </a:rPr>
              <a:t>04</a:t>
            </a:r>
            <a:endParaRPr lang="en-US" sz="1800" dirty="0"/>
          </a:p>
        </p:txBody>
      </p:sp>
      <p:sp>
        <p:nvSpPr>
          <p:cNvPr id="5" name="Text 3"/>
          <p:cNvSpPr txBox="1"/>
          <p:nvPr/>
        </p:nvSpPr>
        <p:spPr>
          <a:xfrm>
            <a:off x="548640" y="1005840"/>
            <a:ext cx="11094415" cy="457200"/>
          </a:xfrm>
          <a:prstGeom prst="rect">
            <a:avLst/>
          </a:prstGeom>
          <a:noFill/>
          <a:ln/>
        </p:spPr>
        <p:txBody>
          <a:bodyPr wrap="square" lIns="0" tIns="0" rIns="0" bIns="0" rtlCol="0" anchor="ctr"/>
          <a:lstStyle/>
          <a:p>
            <a:pPr indent="0" marL="0">
              <a:buNone/>
            </a:pPr>
            <a:r>
              <a:rPr lang="ko-KR" altLang="en-US" sz="2000" b="1" dirty="0">
                <a:solidFill>
                  <a:srgbClr val="1B2559"/>
                </a:solidFill>
              </a:rPr>
              <a:t>같은 데이터 · 같은 초기 조건 · 같은 평가 구간에서 세 방법을 비교한다</a:t>
            </a:r>
            <a:endParaRPr lang="ko-KR" sz="2000" dirty="0"/>
          </a:p>
        </p:txBody>
      </p:sp>
      <p:sp>
        <p:nvSpPr>
          <p:cNvPr id="6" name="Shape 4"/>
          <p:cNvSpPr/>
          <p:nvPr/>
        </p:nvSpPr>
        <p:spPr>
          <a:xfrm>
            <a:off x="548640" y="1600200"/>
            <a:ext cx="3794760" cy="3794760"/>
          </a:xfrm>
          <a:prstGeom prst="roundRect">
            <a:avLst>
              <a:gd name="adj" fmla="val 1928"/>
            </a:avLst>
          </a:prstGeom>
          <a:solidFill>
            <a:srgbClr val="F3F6FB"/>
          </a:solidFill>
          <a:ln w="12700">
            <a:solidFill>
              <a:srgbClr val="F3F6FB"/>
            </a:solidFill>
            <a:prstDash val="solid"/>
          </a:ln>
        </p:spPr>
      </p:sp>
      <p:sp>
        <p:nvSpPr>
          <p:cNvPr id="7" name="Text 5"/>
          <p:cNvSpPr/>
          <p:nvPr/>
        </p:nvSpPr>
        <p:spPr>
          <a:xfrm>
            <a:off x="548640" y="1600200"/>
            <a:ext cx="3794760" cy="457200"/>
          </a:xfrm>
          <a:prstGeom prst="roundRect">
            <a:avLst>
              <a:gd name="adj" fmla="val 16000"/>
            </a:avLst>
          </a:prstGeom>
          <a:solidFill>
            <a:srgbClr val="26357A"/>
          </a:solidFill>
          <a:ln/>
        </p:spPr>
        <p:txBody>
          <a:bodyPr wrap="square" lIns="0" tIns="0" rIns="0" bIns="0" rtlCol="0" anchor="ctr"/>
          <a:lstStyle/>
          <a:p>
            <a:pPr algn="ctr" indent="0" marL="0">
              <a:buNone/>
            </a:pPr>
            <a:r>
              <a:rPr lang="ko-KR" altLang="en-US" sz="1800" b="1" dirty="0">
                <a:solidFill>
                  <a:srgbClr val="FFFFFF"/>
                </a:solidFill>
              </a:rPr>
              <a:t>비교 대상</a:t>
            </a:r>
            <a:endParaRPr lang="ko-KR" sz="1800" dirty="0"/>
          </a:p>
        </p:txBody>
      </p:sp>
      <p:sp>
        <p:nvSpPr>
          <p:cNvPr id="8" name="Shape 6"/>
          <p:cNvSpPr/>
          <p:nvPr/>
        </p:nvSpPr>
        <p:spPr>
          <a:xfrm>
            <a:off x="4526280" y="1600200"/>
            <a:ext cx="3383280" cy="3794760"/>
          </a:xfrm>
          <a:prstGeom prst="roundRect">
            <a:avLst>
              <a:gd name="adj" fmla="val 2162"/>
            </a:avLst>
          </a:prstGeom>
          <a:solidFill>
            <a:srgbClr val="F3F6FB"/>
          </a:solidFill>
          <a:ln w="12700">
            <a:solidFill>
              <a:srgbClr val="F3F6FB"/>
            </a:solidFill>
            <a:prstDash val="solid"/>
          </a:ln>
        </p:spPr>
      </p:sp>
      <p:sp>
        <p:nvSpPr>
          <p:cNvPr id="9" name="Text 7"/>
          <p:cNvSpPr/>
          <p:nvPr/>
        </p:nvSpPr>
        <p:spPr>
          <a:xfrm>
            <a:off x="4526280" y="1600200"/>
            <a:ext cx="3383280" cy="457200"/>
          </a:xfrm>
          <a:prstGeom prst="roundRect">
            <a:avLst>
              <a:gd name="adj" fmla="val 16000"/>
            </a:avLst>
          </a:prstGeom>
          <a:solidFill>
            <a:srgbClr val="26357A"/>
          </a:solidFill>
          <a:ln/>
        </p:spPr>
        <p:txBody>
          <a:bodyPr wrap="square" lIns="0" tIns="0" rIns="0" bIns="0" rtlCol="0" anchor="ctr"/>
          <a:lstStyle/>
          <a:p>
            <a:pPr algn="ctr" indent="0" marL="0">
              <a:buNone/>
            </a:pPr>
            <a:r>
              <a:rPr lang="ko-KR" altLang="en-US" sz="1800" b="1" dirty="0">
                <a:solidFill>
                  <a:srgbClr val="FFFFFF"/>
                </a:solidFill>
              </a:rPr>
              <a:t>실험 조건</a:t>
            </a:r>
            <a:endParaRPr lang="ko-KR" sz="1800" dirty="0"/>
          </a:p>
        </p:txBody>
      </p:sp>
      <p:sp>
        <p:nvSpPr>
          <p:cNvPr id="10" name="Shape 8"/>
          <p:cNvSpPr/>
          <p:nvPr/>
        </p:nvSpPr>
        <p:spPr>
          <a:xfrm>
            <a:off x="8092440" y="1600200"/>
            <a:ext cx="3550615" cy="3794760"/>
          </a:xfrm>
          <a:prstGeom prst="roundRect">
            <a:avLst>
              <a:gd name="adj" fmla="val 2060"/>
            </a:avLst>
          </a:prstGeom>
          <a:solidFill>
            <a:srgbClr val="F3F6FB"/>
          </a:solidFill>
          <a:ln w="12700">
            <a:solidFill>
              <a:srgbClr val="F3F6FB"/>
            </a:solidFill>
            <a:prstDash val="solid"/>
          </a:ln>
        </p:spPr>
      </p:sp>
      <p:sp>
        <p:nvSpPr>
          <p:cNvPr id="11" name="Text 9"/>
          <p:cNvSpPr/>
          <p:nvPr/>
        </p:nvSpPr>
        <p:spPr>
          <a:xfrm>
            <a:off x="8092440" y="1600200"/>
            <a:ext cx="3550615" cy="457200"/>
          </a:xfrm>
          <a:prstGeom prst="roundRect">
            <a:avLst>
              <a:gd name="adj" fmla="val 16000"/>
            </a:avLst>
          </a:prstGeom>
          <a:solidFill>
            <a:srgbClr val="26357A"/>
          </a:solidFill>
          <a:ln/>
        </p:spPr>
        <p:txBody>
          <a:bodyPr wrap="square" lIns="0" tIns="0" rIns="0" bIns="0" rtlCol="0" anchor="ctr"/>
          <a:lstStyle/>
          <a:p>
            <a:pPr algn="ctr" indent="0" marL="0">
              <a:buNone/>
            </a:pPr>
            <a:r>
              <a:rPr lang="ko-KR" altLang="en-US" sz="1800" b="1" dirty="0">
                <a:solidFill>
                  <a:srgbClr val="FFFFFF"/>
                </a:solidFill>
              </a:rPr>
              <a:t>평가 지표</a:t>
            </a:r>
            <a:endParaRPr lang="ko-KR" sz="1800" dirty="0"/>
          </a:p>
        </p:txBody>
      </p:sp>
      <p:sp>
        <p:nvSpPr>
          <p:cNvPr id="12" name="Shape 10"/>
          <p:cNvSpPr/>
          <p:nvPr/>
        </p:nvSpPr>
        <p:spPr>
          <a:xfrm>
            <a:off x="685800" y="2212848"/>
            <a:ext cx="3520440" cy="914400"/>
          </a:xfrm>
          <a:prstGeom prst="roundRect">
            <a:avLst>
              <a:gd name="adj" fmla="val 8000"/>
            </a:avLst>
          </a:prstGeom>
          <a:solidFill>
            <a:srgbClr val="FFFFFF"/>
          </a:solidFill>
          <a:ln w="9525">
            <a:solidFill>
              <a:srgbClr val="C9D3E3"/>
            </a:solidFill>
            <a:prstDash val="solid"/>
          </a:ln>
        </p:spPr>
      </p:sp>
      <p:sp>
        <p:nvSpPr>
          <p:cNvPr id="13" name="Text 11"/>
          <p:cNvSpPr/>
          <p:nvPr/>
        </p:nvSpPr>
        <p:spPr>
          <a:xfrm>
            <a:off x="822960" y="2414016"/>
            <a:ext cx="512064" cy="512064"/>
          </a:xfrm>
          <a:prstGeom prst="ellipse">
            <a:avLst/>
          </a:prstGeom>
          <a:solidFill>
            <a:srgbClr val="8A94A6"/>
          </a:solidFill>
          <a:ln/>
        </p:spPr>
        <p:txBody>
          <a:bodyPr wrap="square" lIns="0" tIns="0" rIns="0" bIns="0" rtlCol="0" anchor="ctr"/>
          <a:lstStyle/>
          <a:p>
            <a:pPr algn="ctr" indent="0" marL="0">
              <a:buNone/>
            </a:pPr>
            <a:r>
              <a:rPr lang="en-US" sz="2000" b="1" dirty="0">
                <a:solidFill>
                  <a:srgbClr val="FFFFFF"/>
                </a:solidFill>
              </a:rPr>
              <a:t>A</a:t>
            </a:r>
            <a:endParaRPr lang="en-US" sz="2000" dirty="0"/>
          </a:p>
        </p:txBody>
      </p:sp>
      <p:sp>
        <p:nvSpPr>
          <p:cNvPr id="14" name="Text 12"/>
          <p:cNvSpPr txBox="1"/>
          <p:nvPr/>
        </p:nvSpPr>
        <p:spPr>
          <a:xfrm>
            <a:off x="1463040" y="2304288"/>
            <a:ext cx="2651760" cy="365760"/>
          </a:xfrm>
          <a:prstGeom prst="rect">
            <a:avLst/>
          </a:prstGeom>
          <a:noFill/>
          <a:ln/>
        </p:spPr>
        <p:txBody>
          <a:bodyPr wrap="square" lIns="0" tIns="0" rIns="0" bIns="0" rtlCol="0" anchor="ctr"/>
          <a:lstStyle/>
          <a:p>
            <a:pPr indent="0" marL="0">
              <a:buNone/>
            </a:pPr>
            <a:r>
              <a:rPr lang="ko-KR" altLang="en-US" sz="1800" b="1" dirty="0">
                <a:solidFill>
                  <a:srgbClr val="1B2559"/>
                </a:solidFill>
              </a:rPr>
              <a:t>IMU 단독 항법</a:t>
            </a:r>
            <a:endParaRPr lang="ko-KR" sz="1800" dirty="0"/>
          </a:p>
        </p:txBody>
      </p:sp>
      <p:sp>
        <p:nvSpPr>
          <p:cNvPr id="15" name="Text 13"/>
          <p:cNvSpPr txBox="1"/>
          <p:nvPr/>
        </p:nvSpPr>
        <p:spPr>
          <a:xfrm>
            <a:off x="1463040" y="2670048"/>
            <a:ext cx="2651760" cy="384048"/>
          </a:xfrm>
          <a:prstGeom prst="rect">
            <a:avLst/>
          </a:prstGeom>
          <a:noFill/>
          <a:ln/>
        </p:spPr>
        <p:txBody>
          <a:bodyPr wrap="square" lIns="0" tIns="0" rIns="0" bIns="0" rtlCol="0" anchor="ctr"/>
          <a:lstStyle/>
          <a:p>
            <a:pPr indent="0" marL="0">
              <a:buNone/>
            </a:pPr>
            <a:r>
              <a:rPr lang="ko-KR" altLang="en-US" sz="1400" dirty="0">
                <a:solidFill>
                  <a:srgbClr val="2B2F36"/>
                </a:solidFill>
              </a:rPr>
              <a:t>카메라 보정 없음 (기준선)</a:t>
            </a:r>
            <a:endParaRPr lang="ko-KR" sz="1400" dirty="0"/>
          </a:p>
        </p:txBody>
      </p:sp>
      <p:sp>
        <p:nvSpPr>
          <p:cNvPr id="16" name="Shape 14"/>
          <p:cNvSpPr/>
          <p:nvPr/>
        </p:nvSpPr>
        <p:spPr>
          <a:xfrm>
            <a:off x="685800" y="3264408"/>
            <a:ext cx="3520440" cy="914400"/>
          </a:xfrm>
          <a:prstGeom prst="roundRect">
            <a:avLst>
              <a:gd name="adj" fmla="val 8000"/>
            </a:avLst>
          </a:prstGeom>
          <a:solidFill>
            <a:srgbClr val="FFFFFF"/>
          </a:solidFill>
          <a:ln w="9525">
            <a:solidFill>
              <a:srgbClr val="C9D3E3"/>
            </a:solidFill>
            <a:prstDash val="solid"/>
          </a:ln>
        </p:spPr>
      </p:sp>
      <p:sp>
        <p:nvSpPr>
          <p:cNvPr id="17" name="Text 15"/>
          <p:cNvSpPr/>
          <p:nvPr/>
        </p:nvSpPr>
        <p:spPr>
          <a:xfrm>
            <a:off x="822960" y="3465576"/>
            <a:ext cx="512064" cy="512064"/>
          </a:xfrm>
          <a:prstGeom prst="ellipse">
            <a:avLst/>
          </a:prstGeom>
          <a:solidFill>
            <a:srgbClr val="3B5BA9"/>
          </a:solidFill>
          <a:ln/>
        </p:spPr>
        <p:txBody>
          <a:bodyPr wrap="square" lIns="0" tIns="0" rIns="0" bIns="0" rtlCol="0" anchor="ctr"/>
          <a:lstStyle/>
          <a:p>
            <a:pPr algn="ctr" indent="0" marL="0">
              <a:buNone/>
            </a:pPr>
            <a:r>
              <a:rPr lang="en-US" sz="2000" b="1" dirty="0">
                <a:solidFill>
                  <a:srgbClr val="FFFFFF"/>
                </a:solidFill>
              </a:rPr>
              <a:t>B</a:t>
            </a:r>
            <a:endParaRPr lang="en-US" sz="2000" dirty="0"/>
          </a:p>
        </p:txBody>
      </p:sp>
      <p:sp>
        <p:nvSpPr>
          <p:cNvPr id="18" name="Text 16"/>
          <p:cNvSpPr txBox="1"/>
          <p:nvPr/>
        </p:nvSpPr>
        <p:spPr>
          <a:xfrm>
            <a:off x="1463040" y="3355848"/>
            <a:ext cx="2651760" cy="365760"/>
          </a:xfrm>
          <a:prstGeom prst="rect">
            <a:avLst/>
          </a:prstGeom>
          <a:noFill/>
          <a:ln/>
        </p:spPr>
        <p:txBody>
          <a:bodyPr wrap="square" lIns="0" tIns="0" rIns="0" bIns="0" rtlCol="0" anchor="ctr"/>
          <a:lstStyle/>
          <a:p>
            <a:pPr indent="0" marL="0">
              <a:buNone/>
            </a:pPr>
            <a:r>
              <a:rPr lang="ko-KR" altLang="en-US" sz="1800" b="1" dirty="0">
                <a:solidFill>
                  <a:srgbClr val="1B2559"/>
                </a:solidFill>
              </a:rPr>
              <a:t>고정 R 기반 EKF</a:t>
            </a:r>
            <a:endParaRPr lang="ko-KR" sz="1800" dirty="0"/>
          </a:p>
        </p:txBody>
      </p:sp>
      <p:sp>
        <p:nvSpPr>
          <p:cNvPr id="19" name="Text 17"/>
          <p:cNvSpPr txBox="1"/>
          <p:nvPr/>
        </p:nvSpPr>
        <p:spPr>
          <a:xfrm>
            <a:off x="1463040" y="3721608"/>
            <a:ext cx="2651760" cy="384048"/>
          </a:xfrm>
          <a:prstGeom prst="rect">
            <a:avLst/>
          </a:prstGeom>
          <a:noFill/>
          <a:ln/>
        </p:spPr>
        <p:txBody>
          <a:bodyPr wrap="square" lIns="0" tIns="0" rIns="0" bIns="0" rtlCol="0" anchor="ctr"/>
          <a:lstStyle/>
          <a:p>
            <a:pPr indent="0" marL="0">
              <a:buNone/>
            </a:pPr>
            <a:r>
              <a:rPr lang="ko-KR" altLang="en-US" sz="1400" dirty="0">
                <a:solidFill>
                  <a:srgbClr val="2B2F36"/>
                </a:solidFill>
              </a:rPr>
              <a:t>R 고정 · 품질과 무관하게 반영</a:t>
            </a:r>
            <a:endParaRPr lang="ko-KR" sz="1400" dirty="0"/>
          </a:p>
        </p:txBody>
      </p:sp>
      <p:sp>
        <p:nvSpPr>
          <p:cNvPr id="20" name="Shape 18"/>
          <p:cNvSpPr/>
          <p:nvPr/>
        </p:nvSpPr>
        <p:spPr>
          <a:xfrm>
            <a:off x="685800" y="4315968"/>
            <a:ext cx="3520440" cy="914400"/>
          </a:xfrm>
          <a:prstGeom prst="roundRect">
            <a:avLst>
              <a:gd name="adj" fmla="val 8000"/>
            </a:avLst>
          </a:prstGeom>
          <a:solidFill>
            <a:srgbClr val="FCEBDD"/>
          </a:solidFill>
          <a:ln w="22225">
            <a:solidFill>
              <a:srgbClr val="E07B39"/>
            </a:solidFill>
            <a:prstDash val="solid"/>
          </a:ln>
        </p:spPr>
      </p:sp>
      <p:sp>
        <p:nvSpPr>
          <p:cNvPr id="21" name="Text 19"/>
          <p:cNvSpPr/>
          <p:nvPr/>
        </p:nvSpPr>
        <p:spPr>
          <a:xfrm>
            <a:off x="822960" y="4517136"/>
            <a:ext cx="512064" cy="512064"/>
          </a:xfrm>
          <a:prstGeom prst="ellipse">
            <a:avLst/>
          </a:prstGeom>
          <a:solidFill>
            <a:srgbClr val="E07B39"/>
          </a:solidFill>
          <a:ln/>
        </p:spPr>
        <p:txBody>
          <a:bodyPr wrap="square" lIns="0" tIns="0" rIns="0" bIns="0" rtlCol="0" anchor="ctr"/>
          <a:lstStyle/>
          <a:p>
            <a:pPr algn="ctr" indent="0" marL="0">
              <a:buNone/>
            </a:pPr>
            <a:r>
              <a:rPr lang="en-US" sz="2000" b="1" dirty="0">
                <a:solidFill>
                  <a:srgbClr val="FFFFFF"/>
                </a:solidFill>
              </a:rPr>
              <a:t>C</a:t>
            </a:r>
            <a:endParaRPr lang="en-US" sz="2000" dirty="0"/>
          </a:p>
        </p:txBody>
      </p:sp>
      <p:sp>
        <p:nvSpPr>
          <p:cNvPr id="22" name="Text 20"/>
          <p:cNvSpPr txBox="1"/>
          <p:nvPr/>
        </p:nvSpPr>
        <p:spPr>
          <a:xfrm>
            <a:off x="1463040" y="4407408"/>
            <a:ext cx="2651760" cy="365760"/>
          </a:xfrm>
          <a:prstGeom prst="rect">
            <a:avLst/>
          </a:prstGeom>
          <a:noFill/>
          <a:ln/>
        </p:spPr>
        <p:txBody>
          <a:bodyPr wrap="square" lIns="0" tIns="0" rIns="0" bIns="0" rtlCol="0" anchor="ctr"/>
          <a:lstStyle/>
          <a:p>
            <a:pPr indent="0" marL="0">
              <a:buNone/>
            </a:pPr>
            <a:r>
              <a:rPr lang="ko-KR" altLang="en-US" sz="1800" b="1" dirty="0">
                <a:solidFill>
                  <a:srgbClr val="1B2559"/>
                </a:solidFill>
              </a:rPr>
              <a:t>영상 품질 반영 EKF</a:t>
            </a:r>
            <a:endParaRPr lang="ko-KR" sz="1800" dirty="0"/>
          </a:p>
        </p:txBody>
      </p:sp>
      <p:sp>
        <p:nvSpPr>
          <p:cNvPr id="23" name="Text 21"/>
          <p:cNvSpPr txBox="1"/>
          <p:nvPr/>
        </p:nvSpPr>
        <p:spPr>
          <a:xfrm>
            <a:off x="1463040" y="4773168"/>
            <a:ext cx="2651760" cy="384048"/>
          </a:xfrm>
          <a:prstGeom prst="rect">
            <a:avLst/>
          </a:prstGeom>
          <a:noFill/>
          <a:ln/>
        </p:spPr>
        <p:txBody>
          <a:bodyPr wrap="square" lIns="0" tIns="0" rIns="0" bIns="0" rtlCol="0" anchor="ctr"/>
          <a:lstStyle/>
          <a:p>
            <a:pPr indent="0" marL="0">
              <a:buNone/>
            </a:pPr>
            <a:r>
              <a:rPr lang="ko-KR" altLang="en-US" sz="1400" dirty="0">
                <a:solidFill>
                  <a:srgbClr val="2B2F36"/>
                </a:solidFill>
              </a:rPr>
              <a:t>품질에 따라 R 조절 · 저품질 제외</a:t>
            </a:r>
            <a:endParaRPr lang="ko-KR" sz="1400" dirty="0"/>
          </a:p>
        </p:txBody>
      </p:sp>
      <p:sp>
        <p:nvSpPr>
          <p:cNvPr id="24" name="Shape 22"/>
          <p:cNvSpPr/>
          <p:nvPr/>
        </p:nvSpPr>
        <p:spPr>
          <a:xfrm>
            <a:off x="4690872" y="2249424"/>
            <a:ext cx="457200" cy="457200"/>
          </a:xfrm>
          <a:prstGeom prst="ellipse">
            <a:avLst/>
          </a:prstGeom>
          <a:solidFill>
            <a:srgbClr val="DCEBF8"/>
          </a:solidFill>
          <a:ln w="12700">
            <a:solidFill>
              <a:srgbClr val="DCEBF8"/>
            </a:solidFill>
            <a:prstDash val="solid"/>
          </a:ln>
        </p:spPr>
      </p:sp>
      <p:pic>
        <p:nvPicPr>
          <p:cNvPr id="25" name="Image 0" descr="preencoded.png">    </p:cNvPr>
          <p:cNvPicPr>
            <a:picLocks noChangeAspect="1"/>
          </p:cNvPicPr>
          <p:nvPr/>
        </p:nvPicPr>
        <p:blipFill>
          <a:blip r:embed="rId1"/>
          <a:stretch>
            <a:fillRect/>
          </a:stretch>
        </p:blipFill>
        <p:spPr>
          <a:xfrm>
            <a:off x="4800600" y="2359152"/>
            <a:ext cx="237744" cy="237744"/>
          </a:xfrm>
          <a:prstGeom prst="rect">
            <a:avLst/>
          </a:prstGeom>
        </p:spPr>
      </p:pic>
      <p:sp>
        <p:nvSpPr>
          <p:cNvPr id="26" name="Text 23"/>
          <p:cNvSpPr txBox="1"/>
          <p:nvPr/>
        </p:nvSpPr>
        <p:spPr>
          <a:xfrm>
            <a:off x="5285232" y="2212848"/>
            <a:ext cx="2514600" cy="548640"/>
          </a:xfrm>
          <a:prstGeom prst="rect">
            <a:avLst/>
          </a:prstGeom>
          <a:noFill/>
          <a:ln/>
        </p:spPr>
        <p:txBody>
          <a:bodyPr wrap="square" lIns="0" tIns="0" rIns="0" bIns="0" rtlCol="0" anchor="ctr"/>
          <a:lstStyle/>
          <a:p>
            <a:pPr indent="0" marL="0">
              <a:buNone/>
            </a:pPr>
            <a:r>
              <a:rPr lang="ko-KR" altLang="en-US" sz="1650" b="1" dirty="0">
                <a:solidFill>
                  <a:srgbClr val="1B2559"/>
                </a:solidFill>
              </a:rPr>
              <a:t>정상 영상</a:t>
            </a:r>
            <a:endParaRPr lang="ko-KR" sz="1700" dirty="0"/>
          </a:p>
          <a:p>
            <a:pPr indent="0" marL="0">
              <a:buNone/>
            </a:pPr>
            <a:r>
              <a:rPr lang="ko-KR" altLang="en-US" sz="1200" dirty="0">
                <a:solidFill>
                  <a:srgbClr val="5F6878"/>
                </a:solidFill>
              </a:rPr>
              <a:t>기준 조건</a:t>
            </a:r>
            <a:endParaRPr lang="ko-KR" sz="1700" dirty="0"/>
          </a:p>
        </p:txBody>
      </p:sp>
      <p:sp>
        <p:nvSpPr>
          <p:cNvPr id="27" name="Shape 24"/>
          <p:cNvSpPr/>
          <p:nvPr/>
        </p:nvSpPr>
        <p:spPr>
          <a:xfrm>
            <a:off x="4690872" y="2871216"/>
            <a:ext cx="457200" cy="457200"/>
          </a:xfrm>
          <a:prstGeom prst="ellipse">
            <a:avLst/>
          </a:prstGeom>
          <a:solidFill>
            <a:srgbClr val="DCEBF8"/>
          </a:solidFill>
          <a:ln w="12700">
            <a:solidFill>
              <a:srgbClr val="DCEBF8"/>
            </a:solidFill>
            <a:prstDash val="solid"/>
          </a:ln>
        </p:spPr>
      </p:sp>
      <p:pic>
        <p:nvPicPr>
          <p:cNvPr id="28" name="Image 1" descr="preencoded.png">    </p:cNvPr>
          <p:cNvPicPr>
            <a:picLocks noChangeAspect="1"/>
          </p:cNvPicPr>
          <p:nvPr/>
        </p:nvPicPr>
        <p:blipFill>
          <a:blip r:embed="rId2"/>
          <a:stretch>
            <a:fillRect/>
          </a:stretch>
        </p:blipFill>
        <p:spPr>
          <a:xfrm>
            <a:off x="4800600" y="2980944"/>
            <a:ext cx="237744" cy="237744"/>
          </a:xfrm>
          <a:prstGeom prst="rect">
            <a:avLst/>
          </a:prstGeom>
        </p:spPr>
      </p:pic>
      <p:sp>
        <p:nvSpPr>
          <p:cNvPr id="29" name="Text 25"/>
          <p:cNvSpPr txBox="1"/>
          <p:nvPr/>
        </p:nvSpPr>
        <p:spPr>
          <a:xfrm>
            <a:off x="5285232" y="2834640"/>
            <a:ext cx="2514600" cy="548640"/>
          </a:xfrm>
          <a:prstGeom prst="rect">
            <a:avLst/>
          </a:prstGeom>
          <a:noFill/>
          <a:ln/>
        </p:spPr>
        <p:txBody>
          <a:bodyPr wrap="square" lIns="0" tIns="0" rIns="0" bIns="0" rtlCol="0" anchor="ctr"/>
          <a:lstStyle/>
          <a:p>
            <a:pPr indent="0" marL="0">
              <a:buNone/>
            </a:pPr>
            <a:r>
              <a:rPr lang="ko-KR" altLang="en-US" sz="1650" b="1" dirty="0">
                <a:solidFill>
                  <a:srgbClr val="1B2559"/>
                </a:solidFill>
              </a:rPr>
              <a:t>흐림 (Motion Blur)</a:t>
            </a:r>
            <a:endParaRPr lang="ko-KR" sz="1700" dirty="0"/>
          </a:p>
          <a:p>
            <a:pPr indent="0" marL="0">
              <a:buNone/>
            </a:pPr>
            <a:r>
              <a:rPr lang="ko-KR" altLang="en-US" sz="1200" dirty="0">
                <a:solidFill>
                  <a:srgbClr val="5F6878"/>
                </a:solidFill>
              </a:rPr>
              <a:t>인위적 부여</a:t>
            </a:r>
            <a:endParaRPr lang="ko-KR" sz="1700" dirty="0"/>
          </a:p>
        </p:txBody>
      </p:sp>
      <p:sp>
        <p:nvSpPr>
          <p:cNvPr id="30" name="Shape 26"/>
          <p:cNvSpPr/>
          <p:nvPr/>
        </p:nvSpPr>
        <p:spPr>
          <a:xfrm>
            <a:off x="4690872" y="3493008"/>
            <a:ext cx="457200" cy="457200"/>
          </a:xfrm>
          <a:prstGeom prst="ellipse">
            <a:avLst/>
          </a:prstGeom>
          <a:solidFill>
            <a:srgbClr val="DCEBF8"/>
          </a:solidFill>
          <a:ln w="12700">
            <a:solidFill>
              <a:srgbClr val="DCEBF8"/>
            </a:solidFill>
            <a:prstDash val="solid"/>
          </a:ln>
        </p:spPr>
      </p:sp>
      <p:pic>
        <p:nvPicPr>
          <p:cNvPr id="31" name="Image 2" descr="preencoded.png">    </p:cNvPr>
          <p:cNvPicPr>
            <a:picLocks noChangeAspect="1"/>
          </p:cNvPicPr>
          <p:nvPr/>
        </p:nvPicPr>
        <p:blipFill>
          <a:blip r:embed="rId3"/>
          <a:stretch>
            <a:fillRect/>
          </a:stretch>
        </p:blipFill>
        <p:spPr>
          <a:xfrm>
            <a:off x="4800600" y="3602736"/>
            <a:ext cx="237744" cy="237744"/>
          </a:xfrm>
          <a:prstGeom prst="rect">
            <a:avLst/>
          </a:prstGeom>
        </p:spPr>
      </p:pic>
      <p:sp>
        <p:nvSpPr>
          <p:cNvPr id="32" name="Text 27"/>
          <p:cNvSpPr txBox="1"/>
          <p:nvPr/>
        </p:nvSpPr>
        <p:spPr>
          <a:xfrm>
            <a:off x="5285232" y="3456432"/>
            <a:ext cx="2514600" cy="548640"/>
          </a:xfrm>
          <a:prstGeom prst="rect">
            <a:avLst/>
          </a:prstGeom>
          <a:noFill/>
          <a:ln/>
        </p:spPr>
        <p:txBody>
          <a:bodyPr wrap="square" lIns="0" tIns="0" rIns="0" bIns="0" rtlCol="0" anchor="ctr"/>
          <a:lstStyle/>
          <a:p>
            <a:pPr indent="0" marL="0">
              <a:buNone/>
            </a:pPr>
            <a:r>
              <a:rPr lang="ko-KR" altLang="en-US" sz="1650" b="1" dirty="0">
                <a:solidFill>
                  <a:srgbClr val="1B2559"/>
                </a:solidFill>
              </a:rPr>
              <a:t>저조도 (Low-light)</a:t>
            </a:r>
            <a:endParaRPr lang="ko-KR" sz="1700" dirty="0"/>
          </a:p>
          <a:p>
            <a:pPr indent="0" marL="0">
              <a:buNone/>
            </a:pPr>
            <a:r>
              <a:rPr lang="ko-KR" altLang="en-US" sz="1200" dirty="0">
                <a:solidFill>
                  <a:srgbClr val="5F6878"/>
                </a:solidFill>
              </a:rPr>
              <a:t>인위적 부여</a:t>
            </a:r>
            <a:endParaRPr lang="ko-KR" sz="1700" dirty="0"/>
          </a:p>
        </p:txBody>
      </p:sp>
      <p:sp>
        <p:nvSpPr>
          <p:cNvPr id="33" name="Shape 28"/>
          <p:cNvSpPr/>
          <p:nvPr/>
        </p:nvSpPr>
        <p:spPr>
          <a:xfrm>
            <a:off x="4690872" y="4114800"/>
            <a:ext cx="457200" cy="457200"/>
          </a:xfrm>
          <a:prstGeom prst="ellipse">
            <a:avLst/>
          </a:prstGeom>
          <a:solidFill>
            <a:srgbClr val="DCEBF8"/>
          </a:solidFill>
          <a:ln w="12700">
            <a:solidFill>
              <a:srgbClr val="DCEBF8"/>
            </a:solidFill>
            <a:prstDash val="solid"/>
          </a:ln>
        </p:spPr>
      </p:sp>
      <p:pic>
        <p:nvPicPr>
          <p:cNvPr id="34" name="Image 3" descr="preencoded.png">    </p:cNvPr>
          <p:cNvPicPr>
            <a:picLocks noChangeAspect="1"/>
          </p:cNvPicPr>
          <p:nvPr/>
        </p:nvPicPr>
        <p:blipFill>
          <a:blip r:embed="rId4"/>
          <a:stretch>
            <a:fillRect/>
          </a:stretch>
        </p:blipFill>
        <p:spPr>
          <a:xfrm>
            <a:off x="4800600" y="4224528"/>
            <a:ext cx="237744" cy="237744"/>
          </a:xfrm>
          <a:prstGeom prst="rect">
            <a:avLst/>
          </a:prstGeom>
        </p:spPr>
      </p:pic>
      <p:sp>
        <p:nvSpPr>
          <p:cNvPr id="35" name="Text 29"/>
          <p:cNvSpPr txBox="1"/>
          <p:nvPr/>
        </p:nvSpPr>
        <p:spPr>
          <a:xfrm>
            <a:off x="5285232" y="4078224"/>
            <a:ext cx="2514600" cy="548640"/>
          </a:xfrm>
          <a:prstGeom prst="rect">
            <a:avLst/>
          </a:prstGeom>
          <a:noFill/>
          <a:ln/>
        </p:spPr>
        <p:txBody>
          <a:bodyPr wrap="square" lIns="0" tIns="0" rIns="0" bIns="0" rtlCol="0" anchor="ctr"/>
          <a:lstStyle/>
          <a:p>
            <a:pPr indent="0" marL="0">
              <a:buNone/>
            </a:pPr>
            <a:r>
              <a:rPr lang="ko-KR" altLang="en-US" sz="1650" b="1" dirty="0">
                <a:solidFill>
                  <a:srgbClr val="1B2559"/>
                </a:solidFill>
              </a:rPr>
              <a:t>프레임 누락</a:t>
            </a:r>
            <a:endParaRPr lang="ko-KR" sz="1700" dirty="0"/>
          </a:p>
          <a:p>
            <a:pPr indent="0" marL="0">
              <a:buNone/>
            </a:pPr>
            <a:r>
              <a:rPr lang="ko-KR" altLang="en-US" sz="1200" dirty="0">
                <a:solidFill>
                  <a:srgbClr val="5F6878"/>
                </a:solidFill>
              </a:rPr>
              <a:t>측정 중단 모사</a:t>
            </a:r>
            <a:endParaRPr lang="ko-KR" sz="1700" dirty="0"/>
          </a:p>
        </p:txBody>
      </p:sp>
      <p:sp>
        <p:nvSpPr>
          <p:cNvPr id="36" name="Shape 30"/>
          <p:cNvSpPr/>
          <p:nvPr/>
        </p:nvSpPr>
        <p:spPr>
          <a:xfrm>
            <a:off x="4690872" y="4736592"/>
            <a:ext cx="457200" cy="457200"/>
          </a:xfrm>
          <a:prstGeom prst="ellipse">
            <a:avLst/>
          </a:prstGeom>
          <a:solidFill>
            <a:srgbClr val="DCEBF8"/>
          </a:solidFill>
          <a:ln w="12700">
            <a:solidFill>
              <a:srgbClr val="DCEBF8"/>
            </a:solidFill>
            <a:prstDash val="solid"/>
          </a:ln>
        </p:spPr>
      </p:sp>
      <p:pic>
        <p:nvPicPr>
          <p:cNvPr id="37" name="Image 4" descr="preencoded.png">    </p:cNvPr>
          <p:cNvPicPr>
            <a:picLocks noChangeAspect="1"/>
          </p:cNvPicPr>
          <p:nvPr/>
        </p:nvPicPr>
        <p:blipFill>
          <a:blip r:embed="rId5"/>
          <a:stretch>
            <a:fillRect/>
          </a:stretch>
        </p:blipFill>
        <p:spPr>
          <a:xfrm>
            <a:off x="4800600" y="4846320"/>
            <a:ext cx="237744" cy="237744"/>
          </a:xfrm>
          <a:prstGeom prst="rect">
            <a:avLst/>
          </a:prstGeom>
        </p:spPr>
      </p:pic>
      <p:sp>
        <p:nvSpPr>
          <p:cNvPr id="38" name="Text 31"/>
          <p:cNvSpPr txBox="1"/>
          <p:nvPr/>
        </p:nvSpPr>
        <p:spPr>
          <a:xfrm>
            <a:off x="5285232" y="4700016"/>
            <a:ext cx="2514600" cy="548640"/>
          </a:xfrm>
          <a:prstGeom prst="rect">
            <a:avLst/>
          </a:prstGeom>
          <a:noFill/>
          <a:ln/>
        </p:spPr>
        <p:txBody>
          <a:bodyPr wrap="square" lIns="0" tIns="0" rIns="0" bIns="0" rtlCol="0" anchor="ctr"/>
          <a:lstStyle/>
          <a:p>
            <a:pPr indent="0" marL="0">
              <a:buNone/>
            </a:pPr>
            <a:r>
              <a:rPr lang="ko-KR" altLang="en-US" sz="1650" b="1" dirty="0">
                <a:solidFill>
                  <a:srgbClr val="1B2559"/>
                </a:solidFill>
              </a:rPr>
              <a:t>운동 조건</a:t>
            </a:r>
            <a:endParaRPr lang="ko-KR" sz="1700" dirty="0"/>
          </a:p>
          <a:p>
            <a:pPr indent="0" marL="0">
              <a:buNone/>
            </a:pPr>
            <a:r>
              <a:rPr lang="ko-KR" altLang="en-US" sz="1200" dirty="0">
                <a:solidFill>
                  <a:srgbClr val="5F6878"/>
                </a:solidFill>
              </a:rPr>
              <a:t>직선 · 선회 · 정지 구간</a:t>
            </a:r>
            <a:endParaRPr lang="ko-KR" sz="1700" dirty="0"/>
          </a:p>
        </p:txBody>
      </p:sp>
      <p:sp>
        <p:nvSpPr>
          <p:cNvPr id="39" name="Shape 32"/>
          <p:cNvSpPr/>
          <p:nvPr/>
        </p:nvSpPr>
        <p:spPr>
          <a:xfrm>
            <a:off x="8229600" y="2212848"/>
            <a:ext cx="1569568" cy="640080"/>
          </a:xfrm>
          <a:prstGeom prst="roundRect">
            <a:avLst>
              <a:gd name="adj" fmla="val 11429"/>
            </a:avLst>
          </a:prstGeom>
          <a:solidFill>
            <a:srgbClr val="FFFFFF"/>
          </a:solidFill>
          <a:ln w="9525">
            <a:solidFill>
              <a:srgbClr val="C9D3E3"/>
            </a:solidFill>
            <a:prstDash val="solid"/>
          </a:ln>
        </p:spPr>
      </p:sp>
      <p:pic>
        <p:nvPicPr>
          <p:cNvPr id="40" name="Image 5" descr="preencoded.png">    </p:cNvPr>
          <p:cNvPicPr>
            <a:picLocks noChangeAspect="1"/>
          </p:cNvPicPr>
          <p:nvPr/>
        </p:nvPicPr>
        <p:blipFill>
          <a:blip r:embed="rId6"/>
          <a:stretch>
            <a:fillRect/>
          </a:stretch>
        </p:blipFill>
        <p:spPr>
          <a:xfrm>
            <a:off x="8339328" y="2404872"/>
            <a:ext cx="256032" cy="256032"/>
          </a:xfrm>
          <a:prstGeom prst="rect">
            <a:avLst/>
          </a:prstGeom>
        </p:spPr>
      </p:pic>
      <p:sp>
        <p:nvSpPr>
          <p:cNvPr id="41" name="Text 33"/>
          <p:cNvSpPr txBox="1"/>
          <p:nvPr/>
        </p:nvSpPr>
        <p:spPr>
          <a:xfrm>
            <a:off x="8650224" y="2212848"/>
            <a:ext cx="1094080" cy="640080"/>
          </a:xfrm>
          <a:prstGeom prst="rect">
            <a:avLst/>
          </a:prstGeom>
          <a:noFill/>
          <a:ln/>
        </p:spPr>
        <p:txBody>
          <a:bodyPr wrap="square" lIns="0" tIns="0" rIns="0" bIns="0" rtlCol="0" anchor="ctr"/>
          <a:lstStyle/>
          <a:p>
            <a:pPr indent="0" marL="0">
              <a:buNone/>
            </a:pPr>
            <a:r>
              <a:rPr lang="ko-KR" altLang="en-US" sz="1350" b="1" dirty="0">
                <a:solidFill>
                  <a:srgbClr val="1B2559"/>
                </a:solidFill>
              </a:rPr>
              <a:t>위치 RMSE</a:t>
            </a:r>
            <a:endParaRPr lang="ko-KR" sz="1350" dirty="0"/>
          </a:p>
        </p:txBody>
      </p:sp>
      <p:sp>
        <p:nvSpPr>
          <p:cNvPr id="42" name="Shape 34"/>
          <p:cNvSpPr/>
          <p:nvPr/>
        </p:nvSpPr>
        <p:spPr>
          <a:xfrm>
            <a:off x="9936328" y="2212848"/>
            <a:ext cx="1569568" cy="640080"/>
          </a:xfrm>
          <a:prstGeom prst="roundRect">
            <a:avLst>
              <a:gd name="adj" fmla="val 11429"/>
            </a:avLst>
          </a:prstGeom>
          <a:solidFill>
            <a:srgbClr val="FFFFFF"/>
          </a:solidFill>
          <a:ln w="9525">
            <a:solidFill>
              <a:srgbClr val="C9D3E3"/>
            </a:solidFill>
            <a:prstDash val="solid"/>
          </a:ln>
        </p:spPr>
      </p:sp>
      <p:pic>
        <p:nvPicPr>
          <p:cNvPr id="43" name="Image 6" descr="preencoded.png">    </p:cNvPr>
          <p:cNvPicPr>
            <a:picLocks noChangeAspect="1"/>
          </p:cNvPicPr>
          <p:nvPr/>
        </p:nvPicPr>
        <p:blipFill>
          <a:blip r:embed="rId7"/>
          <a:stretch>
            <a:fillRect/>
          </a:stretch>
        </p:blipFill>
        <p:spPr>
          <a:xfrm>
            <a:off x="10046056" y="2404872"/>
            <a:ext cx="256032" cy="256032"/>
          </a:xfrm>
          <a:prstGeom prst="rect">
            <a:avLst/>
          </a:prstGeom>
        </p:spPr>
      </p:pic>
      <p:sp>
        <p:nvSpPr>
          <p:cNvPr id="44" name="Text 35"/>
          <p:cNvSpPr txBox="1"/>
          <p:nvPr/>
        </p:nvSpPr>
        <p:spPr>
          <a:xfrm>
            <a:off x="10356952" y="2212848"/>
            <a:ext cx="1094080" cy="640080"/>
          </a:xfrm>
          <a:prstGeom prst="rect">
            <a:avLst/>
          </a:prstGeom>
          <a:noFill/>
          <a:ln/>
        </p:spPr>
        <p:txBody>
          <a:bodyPr wrap="square" lIns="0" tIns="0" rIns="0" bIns="0" rtlCol="0" anchor="ctr"/>
          <a:lstStyle/>
          <a:p>
            <a:pPr indent="0" marL="0">
              <a:buNone/>
            </a:pPr>
            <a:r>
              <a:rPr lang="ko-KR" altLang="en-US" sz="1350" b="1" dirty="0">
                <a:solidFill>
                  <a:srgbClr val="1B2559"/>
                </a:solidFill>
              </a:rPr>
              <a:t>최종 위치 오차</a:t>
            </a:r>
            <a:endParaRPr lang="ko-KR" sz="1350" dirty="0"/>
          </a:p>
        </p:txBody>
      </p:sp>
      <p:sp>
        <p:nvSpPr>
          <p:cNvPr id="45" name="Shape 36"/>
          <p:cNvSpPr/>
          <p:nvPr/>
        </p:nvSpPr>
        <p:spPr>
          <a:xfrm>
            <a:off x="8229600" y="2962656"/>
            <a:ext cx="1569568" cy="640080"/>
          </a:xfrm>
          <a:prstGeom prst="roundRect">
            <a:avLst>
              <a:gd name="adj" fmla="val 11429"/>
            </a:avLst>
          </a:prstGeom>
          <a:solidFill>
            <a:srgbClr val="FFFFFF"/>
          </a:solidFill>
          <a:ln w="9525">
            <a:solidFill>
              <a:srgbClr val="C9D3E3"/>
            </a:solidFill>
            <a:prstDash val="solid"/>
          </a:ln>
        </p:spPr>
      </p:sp>
      <p:pic>
        <p:nvPicPr>
          <p:cNvPr id="46" name="Image 7" descr="preencoded.png">    </p:cNvPr>
          <p:cNvPicPr>
            <a:picLocks noChangeAspect="1"/>
          </p:cNvPicPr>
          <p:nvPr/>
        </p:nvPicPr>
        <p:blipFill>
          <a:blip r:embed="rId8"/>
          <a:stretch>
            <a:fillRect/>
          </a:stretch>
        </p:blipFill>
        <p:spPr>
          <a:xfrm>
            <a:off x="8339328" y="3154680"/>
            <a:ext cx="256032" cy="256032"/>
          </a:xfrm>
          <a:prstGeom prst="rect">
            <a:avLst/>
          </a:prstGeom>
        </p:spPr>
      </p:pic>
      <p:sp>
        <p:nvSpPr>
          <p:cNvPr id="47" name="Text 37"/>
          <p:cNvSpPr txBox="1"/>
          <p:nvPr/>
        </p:nvSpPr>
        <p:spPr>
          <a:xfrm>
            <a:off x="8650224" y="2962656"/>
            <a:ext cx="1094080" cy="640080"/>
          </a:xfrm>
          <a:prstGeom prst="rect">
            <a:avLst/>
          </a:prstGeom>
          <a:noFill/>
          <a:ln/>
        </p:spPr>
        <p:txBody>
          <a:bodyPr wrap="square" lIns="0" tIns="0" rIns="0" bIns="0" rtlCol="0" anchor="ctr"/>
          <a:lstStyle/>
          <a:p>
            <a:pPr indent="0" marL="0">
              <a:buNone/>
            </a:pPr>
            <a:r>
              <a:rPr lang="ko-KR" altLang="en-US" sz="1350" b="1" dirty="0">
                <a:solidFill>
                  <a:srgbClr val="1B2559"/>
                </a:solidFill>
              </a:rPr>
              <a:t>저하 구간 오차 증가량</a:t>
            </a:r>
            <a:endParaRPr lang="ko-KR" sz="1350" dirty="0"/>
          </a:p>
        </p:txBody>
      </p:sp>
      <p:sp>
        <p:nvSpPr>
          <p:cNvPr id="48" name="Shape 38"/>
          <p:cNvSpPr/>
          <p:nvPr/>
        </p:nvSpPr>
        <p:spPr>
          <a:xfrm>
            <a:off x="9936328" y="2962656"/>
            <a:ext cx="1569568" cy="640080"/>
          </a:xfrm>
          <a:prstGeom prst="roundRect">
            <a:avLst>
              <a:gd name="adj" fmla="val 11429"/>
            </a:avLst>
          </a:prstGeom>
          <a:solidFill>
            <a:srgbClr val="FFFFFF"/>
          </a:solidFill>
          <a:ln w="9525">
            <a:solidFill>
              <a:srgbClr val="C9D3E3"/>
            </a:solidFill>
            <a:prstDash val="solid"/>
          </a:ln>
        </p:spPr>
      </p:sp>
      <p:pic>
        <p:nvPicPr>
          <p:cNvPr id="49" name="Image 8" descr="preencoded.png">    </p:cNvPr>
          <p:cNvPicPr>
            <a:picLocks noChangeAspect="1"/>
          </p:cNvPicPr>
          <p:nvPr/>
        </p:nvPicPr>
        <p:blipFill>
          <a:blip r:embed="rId9"/>
          <a:stretch>
            <a:fillRect/>
          </a:stretch>
        </p:blipFill>
        <p:spPr>
          <a:xfrm>
            <a:off x="10046056" y="3154680"/>
            <a:ext cx="256032" cy="256032"/>
          </a:xfrm>
          <a:prstGeom prst="rect">
            <a:avLst/>
          </a:prstGeom>
        </p:spPr>
      </p:pic>
      <p:sp>
        <p:nvSpPr>
          <p:cNvPr id="50" name="Text 39"/>
          <p:cNvSpPr txBox="1"/>
          <p:nvPr/>
        </p:nvSpPr>
        <p:spPr>
          <a:xfrm>
            <a:off x="10356952" y="2962656"/>
            <a:ext cx="1094080" cy="640080"/>
          </a:xfrm>
          <a:prstGeom prst="rect">
            <a:avLst/>
          </a:prstGeom>
          <a:noFill/>
          <a:ln/>
        </p:spPr>
        <p:txBody>
          <a:bodyPr wrap="square" lIns="0" tIns="0" rIns="0" bIns="0" rtlCol="0" anchor="ctr"/>
          <a:lstStyle/>
          <a:p>
            <a:pPr indent="0" marL="0">
              <a:buNone/>
            </a:pPr>
            <a:r>
              <a:rPr lang="ko-KR" altLang="en-US" sz="1350" b="1" dirty="0">
                <a:solidFill>
                  <a:srgbClr val="1B2559"/>
                </a:solidFill>
              </a:rPr>
              <a:t>처리시간</a:t>
            </a:r>
            <a:endParaRPr lang="ko-KR" sz="1350" dirty="0"/>
          </a:p>
        </p:txBody>
      </p:sp>
      <p:sp>
        <p:nvSpPr>
          <p:cNvPr id="51" name="Shape 40"/>
          <p:cNvSpPr/>
          <p:nvPr/>
        </p:nvSpPr>
        <p:spPr>
          <a:xfrm>
            <a:off x="8229600" y="3794760"/>
            <a:ext cx="3276295" cy="1508760"/>
          </a:xfrm>
          <a:prstGeom prst="roundRect">
            <a:avLst>
              <a:gd name="adj" fmla="val 4848"/>
            </a:avLst>
          </a:prstGeom>
          <a:solidFill>
            <a:srgbClr val="FFFFFF"/>
          </a:solidFill>
          <a:ln w="9525">
            <a:solidFill>
              <a:srgbClr val="C9D3E3"/>
            </a:solidFill>
            <a:prstDash val="solid"/>
          </a:ln>
        </p:spPr>
      </p:sp>
      <p:sp>
        <p:nvSpPr>
          <p:cNvPr id="52" name="Text 41"/>
          <p:cNvSpPr txBox="1"/>
          <p:nvPr/>
        </p:nvSpPr>
        <p:spPr>
          <a:xfrm>
            <a:off x="8339328" y="3849624"/>
            <a:ext cx="3056839" cy="201168"/>
          </a:xfrm>
          <a:prstGeom prst="rect">
            <a:avLst/>
          </a:prstGeom>
          <a:noFill/>
          <a:ln/>
        </p:spPr>
        <p:txBody>
          <a:bodyPr wrap="square" lIns="0" tIns="0" rIns="0" bIns="0" rtlCol="0" anchor="t"/>
          <a:lstStyle/>
          <a:p>
            <a:pPr indent="0" marL="0">
              <a:buNone/>
            </a:pPr>
            <a:r>
              <a:rPr lang="ko-KR" altLang="en-US" sz="950" i="1" dirty="0">
                <a:solidFill>
                  <a:srgbClr val="5F6878"/>
                </a:solidFill>
              </a:rPr>
              <a:t>결과 그래프 형식 예시 · 데이터 아님</a:t>
            </a:r>
            <a:endParaRPr lang="ko-KR" sz="950" dirty="0"/>
          </a:p>
        </p:txBody>
      </p:sp>
      <p:sp>
        <p:nvSpPr>
          <p:cNvPr id="53" name="Shape 42"/>
          <p:cNvSpPr/>
          <p:nvPr/>
        </p:nvSpPr>
        <p:spPr>
          <a:xfrm>
            <a:off x="9827377" y="4142232"/>
            <a:ext cx="632692" cy="914400"/>
          </a:xfrm>
          <a:prstGeom prst="rect">
            <a:avLst/>
          </a:prstGeom>
          <a:solidFill>
            <a:srgbClr val="E6EAF0"/>
          </a:solidFill>
          <a:ln w="12700">
            <a:solidFill>
              <a:srgbClr val="E6EAF0"/>
            </a:solidFill>
            <a:prstDash val="solid"/>
          </a:ln>
        </p:spPr>
      </p:sp>
      <p:sp>
        <p:nvSpPr>
          <p:cNvPr id="54" name="Text 43"/>
          <p:cNvSpPr txBox="1"/>
          <p:nvPr/>
        </p:nvSpPr>
        <p:spPr>
          <a:xfrm>
            <a:off x="9644497" y="4178808"/>
            <a:ext cx="998452" cy="201168"/>
          </a:xfrm>
          <a:prstGeom prst="rect">
            <a:avLst/>
          </a:prstGeom>
          <a:noFill/>
          <a:ln/>
        </p:spPr>
        <p:txBody>
          <a:bodyPr wrap="square" lIns="0" tIns="0" rIns="0" bIns="0" rtlCol="0" anchor="t"/>
          <a:lstStyle/>
          <a:p>
            <a:pPr algn="ctr" indent="0" marL="0">
              <a:buNone/>
            </a:pPr>
            <a:r>
              <a:rPr lang="ko-KR" altLang="en-US" sz="950" dirty="0">
                <a:solidFill>
                  <a:srgbClr val="5F6878"/>
                </a:solidFill>
              </a:rPr>
              <a:t>품질 저하 구간</a:t>
            </a:r>
            <a:endParaRPr lang="ko-KR" sz="950" dirty="0"/>
          </a:p>
        </p:txBody>
      </p:sp>
      <p:sp>
        <p:nvSpPr>
          <p:cNvPr id="55" name="Shape 44"/>
          <p:cNvSpPr/>
          <p:nvPr/>
        </p:nvSpPr>
        <p:spPr>
          <a:xfrm>
            <a:off x="8641080" y="5056632"/>
            <a:ext cx="2636215" cy="914"/>
          </a:xfrm>
          <a:prstGeom prst="line">
            <a:avLst/>
          </a:prstGeom>
          <a:noFill/>
          <a:ln w="12700">
            <a:solidFill>
              <a:srgbClr val="2B2F36"/>
            </a:solidFill>
            <a:prstDash val="solid"/>
            <a:tailEnd type="triangle"/>
          </a:ln>
        </p:spPr>
      </p:sp>
      <p:sp>
        <p:nvSpPr>
          <p:cNvPr id="56" name="Shape 45"/>
          <p:cNvSpPr/>
          <p:nvPr/>
        </p:nvSpPr>
        <p:spPr>
          <a:xfrm flipV="1">
            <a:off x="8641080" y="4142232"/>
            <a:ext cx="914" cy="914400"/>
          </a:xfrm>
          <a:prstGeom prst="line">
            <a:avLst/>
          </a:prstGeom>
          <a:noFill/>
          <a:ln w="12700">
            <a:solidFill>
              <a:srgbClr val="2B2F36"/>
            </a:solidFill>
            <a:prstDash val="solid"/>
            <a:tailEnd type="triangle"/>
          </a:ln>
        </p:spPr>
      </p:sp>
      <p:sp>
        <p:nvSpPr>
          <p:cNvPr id="57" name="Shape 46"/>
          <p:cNvSpPr/>
          <p:nvPr/>
        </p:nvSpPr>
        <p:spPr>
          <a:xfrm flipV="1">
            <a:off x="10697328" y="4325112"/>
            <a:ext cx="914" cy="411480"/>
          </a:xfrm>
          <a:prstGeom prst="line">
            <a:avLst/>
          </a:prstGeom>
          <a:noFill/>
          <a:ln w="19050">
            <a:solidFill>
              <a:srgbClr val="E07B39"/>
            </a:solidFill>
            <a:prstDash val="solid"/>
            <a:tailEnd type="triangle"/>
          </a:ln>
        </p:spPr>
      </p:sp>
      <p:sp>
        <p:nvSpPr>
          <p:cNvPr id="58" name="Shape 47"/>
          <p:cNvSpPr/>
          <p:nvPr/>
        </p:nvSpPr>
        <p:spPr>
          <a:xfrm>
            <a:off x="10697328" y="4325112"/>
            <a:ext cx="914" cy="411480"/>
          </a:xfrm>
          <a:prstGeom prst="line">
            <a:avLst/>
          </a:prstGeom>
          <a:noFill/>
          <a:ln w="19050">
            <a:solidFill>
              <a:srgbClr val="E07B39"/>
            </a:solidFill>
            <a:prstDash val="solid"/>
            <a:tailEnd type="triangle"/>
          </a:ln>
        </p:spPr>
      </p:sp>
      <p:sp>
        <p:nvSpPr>
          <p:cNvPr id="59" name="Text 48"/>
          <p:cNvSpPr txBox="1"/>
          <p:nvPr/>
        </p:nvSpPr>
        <p:spPr>
          <a:xfrm>
            <a:off x="10750052" y="4398264"/>
            <a:ext cx="777240" cy="201168"/>
          </a:xfrm>
          <a:prstGeom prst="rect">
            <a:avLst/>
          </a:prstGeom>
          <a:noFill/>
          <a:ln/>
        </p:spPr>
        <p:txBody>
          <a:bodyPr wrap="square" lIns="0" tIns="0" rIns="0" bIns="0" rtlCol="0" anchor="t"/>
          <a:lstStyle/>
          <a:p>
            <a:pPr indent="0" marL="0">
              <a:buNone/>
            </a:pPr>
            <a:r>
              <a:rPr lang="ko-KR" altLang="en-US" sz="950" b="1" dirty="0">
                <a:solidFill>
                  <a:srgbClr val="E07B39"/>
                </a:solidFill>
              </a:rPr>
              <a:t>오차 증가량</a:t>
            </a:r>
            <a:endParaRPr lang="ko-KR" sz="950" dirty="0"/>
          </a:p>
        </p:txBody>
      </p:sp>
      <p:sp>
        <p:nvSpPr>
          <p:cNvPr id="60" name="Text 49"/>
          <p:cNvSpPr txBox="1"/>
          <p:nvPr/>
        </p:nvSpPr>
        <p:spPr>
          <a:xfrm>
            <a:off x="10820095" y="5074920"/>
            <a:ext cx="457200" cy="182880"/>
          </a:xfrm>
          <a:prstGeom prst="rect">
            <a:avLst/>
          </a:prstGeom>
          <a:noFill/>
          <a:ln/>
        </p:spPr>
        <p:txBody>
          <a:bodyPr wrap="square" lIns="0" tIns="0" rIns="0" bIns="0" rtlCol="0" anchor="t"/>
          <a:lstStyle/>
          <a:p>
            <a:pPr algn="r" indent="0" marL="0">
              <a:buNone/>
            </a:pPr>
            <a:r>
              <a:rPr lang="ko-KR" altLang="en-US" sz="950" dirty="0">
                <a:solidFill>
                  <a:srgbClr val="5F6878"/>
                </a:solidFill>
              </a:rPr>
              <a:t>시간</a:t>
            </a:r>
            <a:endParaRPr lang="ko-KR" sz="950" dirty="0"/>
          </a:p>
        </p:txBody>
      </p:sp>
      <p:sp>
        <p:nvSpPr>
          <p:cNvPr id="61" name="Text 50"/>
          <p:cNvSpPr txBox="1"/>
          <p:nvPr/>
        </p:nvSpPr>
        <p:spPr>
          <a:xfrm>
            <a:off x="8275320" y="4187952"/>
            <a:ext cx="347472" cy="822960"/>
          </a:xfrm>
          <a:prstGeom prst="rect">
            <a:avLst/>
          </a:prstGeom>
          <a:noFill/>
          <a:ln/>
        </p:spPr>
        <p:txBody>
          <a:bodyPr wrap="square" lIns="0" tIns="0" rIns="0" bIns="0" rtlCol="0" anchor="t" vert="eaVert"/>
          <a:lstStyle/>
          <a:p>
            <a:pPr algn="ctr" indent="0" marL="0">
              <a:buNone/>
            </a:pPr>
            <a:r>
              <a:rPr lang="ko-KR" altLang="en-US" sz="950" dirty="0">
                <a:solidFill>
                  <a:srgbClr val="5F6878"/>
                </a:solidFill>
              </a:rPr>
              <a:t>위치 오차</a:t>
            </a:r>
            <a:endParaRPr lang="ko-KR" sz="950" dirty="0"/>
          </a:p>
        </p:txBody>
      </p:sp>
      <p:sp>
        <p:nvSpPr>
          <p:cNvPr id="62" name="Shape 51"/>
          <p:cNvSpPr/>
          <p:nvPr/>
        </p:nvSpPr>
        <p:spPr>
          <a:xfrm>
            <a:off x="548640" y="5532120"/>
            <a:ext cx="11094415" cy="640080"/>
          </a:xfrm>
          <a:prstGeom prst="roundRect">
            <a:avLst>
              <a:gd name="adj" fmla="val 11429"/>
            </a:avLst>
          </a:prstGeom>
          <a:solidFill>
            <a:srgbClr val="EEF5FC"/>
          </a:solidFill>
          <a:ln w="12700">
            <a:solidFill>
              <a:srgbClr val="DCEBF8"/>
            </a:solidFill>
            <a:prstDash val="solid"/>
          </a:ln>
        </p:spPr>
      </p:sp>
      <p:sp>
        <p:nvSpPr>
          <p:cNvPr id="63" name="Shape 52"/>
          <p:cNvSpPr/>
          <p:nvPr/>
        </p:nvSpPr>
        <p:spPr>
          <a:xfrm>
            <a:off x="685800" y="5605272"/>
            <a:ext cx="475488" cy="475488"/>
          </a:xfrm>
          <a:prstGeom prst="ellipse">
            <a:avLst/>
          </a:prstGeom>
          <a:solidFill>
            <a:srgbClr val="26357A"/>
          </a:solidFill>
          <a:ln w="12700">
            <a:solidFill>
              <a:srgbClr val="26357A"/>
            </a:solidFill>
            <a:prstDash val="solid"/>
          </a:ln>
        </p:spPr>
      </p:sp>
      <p:pic>
        <p:nvPicPr>
          <p:cNvPr id="64" name="Image 9" descr="preencoded.png">    </p:cNvPr>
          <p:cNvPicPr>
            <a:picLocks noChangeAspect="1"/>
          </p:cNvPicPr>
          <p:nvPr/>
        </p:nvPicPr>
        <p:blipFill>
          <a:blip r:embed="rId10"/>
          <a:stretch>
            <a:fillRect/>
          </a:stretch>
        </p:blipFill>
        <p:spPr>
          <a:xfrm>
            <a:off x="790407" y="5709879"/>
            <a:ext cx="266273" cy="266273"/>
          </a:xfrm>
          <a:prstGeom prst="rect">
            <a:avLst/>
          </a:prstGeom>
        </p:spPr>
      </p:pic>
      <p:sp>
        <p:nvSpPr>
          <p:cNvPr id="65" name="Text 53"/>
          <p:cNvSpPr txBox="1"/>
          <p:nvPr/>
        </p:nvSpPr>
        <p:spPr>
          <a:xfrm>
            <a:off x="1298448" y="5550408"/>
            <a:ext cx="10180015" cy="603504"/>
          </a:xfrm>
          <a:prstGeom prst="rect">
            <a:avLst/>
          </a:prstGeom>
          <a:noFill/>
          <a:ln/>
        </p:spPr>
        <p:txBody>
          <a:bodyPr wrap="square" lIns="0" tIns="0" rIns="0" bIns="0" rtlCol="0" anchor="ctr"/>
          <a:lstStyle/>
          <a:p>
            <a:pPr indent="0" marL="0">
              <a:buNone/>
            </a:pPr>
            <a:r>
              <a:rPr lang="ko-KR" altLang="en-US" sz="1400" b="1" dirty="0">
                <a:solidFill>
                  <a:srgbClr val="1B2559"/>
                </a:solidFill>
              </a:rPr>
              <a:t>데이터 후보  INSANE (Brommer et al., IJRR 2024)</a:t>
            </a:r>
            <a:endParaRPr lang="ko-KR" sz="1400" dirty="0"/>
          </a:p>
          <a:p>
            <a:pPr indent="0" marL="0">
              <a:buNone/>
            </a:pPr>
            <a:r>
              <a:rPr lang="ko-KR" altLang="en-US" sz="1200" dirty="0">
                <a:solidFill>
                  <a:srgbClr val="2B2F36"/>
                </a:solidFill>
              </a:rPr>
              <a:t>하향 카메라 · 하향 레이저 거리계 · 다중 IMU 포함 / 정답: 실내 OptiTrack, 실외 dual RTK-GNSS → 평가에만 사용 (실제 파일로 구간 확인 예정)</a:t>
            </a:r>
            <a:endParaRPr lang="ko-KR" sz="1400" dirty="0"/>
          </a:p>
        </p:txBody>
      </p:sp>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298448" y="118872"/>
            <a:ext cx="7680960" cy="640080"/>
          </a:xfrm>
          <a:prstGeom prst="rect">
            <a:avLst/>
          </a:prstGeom>
          <a:noFill/>
          <a:ln/>
        </p:spPr>
        <p:txBody>
          <a:bodyPr wrap="square" lIns="0" tIns="0" rIns="0" bIns="0" rtlCol="0" anchor="ctr"/>
          <a:lstStyle/>
          <a:p>
            <a:pPr algn="l" indent="0" marL="0">
              <a:buNone/>
            </a:pPr>
            <a:r>
              <a:rPr lang="en-US" sz="2800" b="1" dirty="0">
                <a:solidFill>
                  <a:srgbClr val="FFFFFF"/>
                </a:solidFill>
              </a:rPr>
              <a:t>기대 결과 및 연구 일정</a:t>
            </a:r>
            <a:endParaRPr lang="en-US" sz="2800" dirty="0"/>
          </a:p>
        </p:txBody>
      </p:sp>
      <p:sp>
        <p:nvSpPr>
          <p:cNvPr id="3" name="Text 0"/>
          <p:cNvSpPr/>
          <p:nvPr>
            <p:ph idx="102" type="body" hasCustomPrompt="1"/>
          </p:nvPr>
        </p:nvSpPr>
        <p:spPr>
          <a:xfrm>
            <a:off x="8229600" y="228600"/>
            <a:ext cx="3410712" cy="411480"/>
          </a:xfrm>
          <a:prstGeom prst="rect">
            <a:avLst/>
          </a:prstGeom>
          <a:noFill/>
          <a:ln/>
        </p:spPr>
        <p:txBody>
          <a:bodyPr wrap="square" lIns="0" tIns="0" rIns="0" bIns="0" rtlCol="0" anchor="ctr"/>
          <a:lstStyle/>
          <a:p>
            <a:pPr algn="r" indent="0" marL="0">
              <a:buNone/>
            </a:pPr>
            <a:r>
              <a:rPr lang="en-US" sz="1300" i="1" dirty="0">
                <a:solidFill>
                  <a:srgbClr val="C3D8F2"/>
                </a:solidFill>
              </a:rPr>
              <a:t>Expected Outcomes &amp; Timeline</a:t>
            </a:r>
            <a:endParaRPr lang="en-US" sz="1300" dirty="0"/>
          </a:p>
        </p:txBody>
      </p:sp>
      <p:sp>
        <p:nvSpPr>
          <p:cNvPr id="4" name="Text 2"/>
          <p:cNvSpPr/>
          <p:nvPr/>
        </p:nvSpPr>
        <p:spPr>
          <a:xfrm>
            <a:off x="548640" y="182880"/>
            <a:ext cx="603504" cy="502920"/>
          </a:xfrm>
          <a:prstGeom prst="roundRect">
            <a:avLst>
              <a:gd name="adj" fmla="val 14545"/>
            </a:avLst>
          </a:prstGeom>
          <a:solidFill>
            <a:srgbClr val="7DB3E0"/>
          </a:solidFill>
          <a:ln/>
        </p:spPr>
        <p:txBody>
          <a:bodyPr wrap="square" lIns="0" tIns="0" rIns="0" bIns="0" rtlCol="0" anchor="ctr"/>
          <a:lstStyle/>
          <a:p>
            <a:pPr algn="ctr" indent="0" marL="0">
              <a:buNone/>
            </a:pPr>
            <a:r>
              <a:rPr lang="en-US" sz="1800" b="1" dirty="0">
                <a:solidFill>
                  <a:srgbClr val="1B2559"/>
                </a:solidFill>
              </a:rPr>
              <a:t>05</a:t>
            </a:r>
            <a:endParaRPr lang="en-US" sz="1800" dirty="0"/>
          </a:p>
        </p:txBody>
      </p:sp>
      <p:sp>
        <p:nvSpPr>
          <p:cNvPr id="5" name="Text 3"/>
          <p:cNvSpPr txBox="1"/>
          <p:nvPr/>
        </p:nvSpPr>
        <p:spPr>
          <a:xfrm>
            <a:off x="548640" y="1005840"/>
            <a:ext cx="11094415" cy="457200"/>
          </a:xfrm>
          <a:prstGeom prst="rect">
            <a:avLst/>
          </a:prstGeom>
          <a:noFill/>
          <a:ln/>
        </p:spPr>
        <p:txBody>
          <a:bodyPr wrap="square" lIns="0" tIns="0" rIns="0" bIns="0" rtlCol="0" anchor="ctr"/>
          <a:lstStyle/>
          <a:p>
            <a:pPr indent="0" marL="0">
              <a:buNone/>
            </a:pPr>
            <a:r>
              <a:rPr lang="ko-KR" altLang="en-US" sz="1800" b="1" dirty="0">
                <a:solidFill>
                  <a:srgbClr val="1B2559"/>
                </a:solidFill>
              </a:rPr>
              <a:t>예상 결과는 실험 전 가설이며, </a:t>
            </a:r>
            <a:pPr indent="0" marL="0">
              <a:buNone/>
            </a:pPr>
            <a:r>
              <a:rPr lang="ko-KR" altLang="en-US" sz="1800" b="1" dirty="0">
                <a:solidFill>
                  <a:srgbClr val="E07B39"/>
                </a:solidFill>
              </a:rPr>
              <a:t>효과가 없거나 작은 조건도 그대로 보고한다</a:t>
            </a:r>
            <a:endParaRPr lang="ko-KR" sz="1800" dirty="0"/>
          </a:p>
        </p:txBody>
      </p:sp>
      <p:sp>
        <p:nvSpPr>
          <p:cNvPr id="6" name="Shape 4"/>
          <p:cNvSpPr/>
          <p:nvPr/>
        </p:nvSpPr>
        <p:spPr>
          <a:xfrm>
            <a:off x="548640" y="1691640"/>
            <a:ext cx="2636444" cy="1207008"/>
          </a:xfrm>
          <a:prstGeom prst="roundRect">
            <a:avLst>
              <a:gd name="adj" fmla="val 6061"/>
            </a:avLst>
          </a:prstGeom>
          <a:solidFill>
            <a:srgbClr val="EEF5FC"/>
          </a:solidFill>
          <a:ln w="12700">
            <a:solidFill>
              <a:srgbClr val="EEF5FC"/>
            </a:solidFill>
            <a:prstDash val="solid"/>
          </a:ln>
        </p:spPr>
      </p:sp>
      <p:sp>
        <p:nvSpPr>
          <p:cNvPr id="7" name="Text 5"/>
          <p:cNvSpPr/>
          <p:nvPr/>
        </p:nvSpPr>
        <p:spPr>
          <a:xfrm>
            <a:off x="658368" y="1508760"/>
            <a:ext cx="402336" cy="402336"/>
          </a:xfrm>
          <a:prstGeom prst="ellipse">
            <a:avLst/>
          </a:prstGeom>
          <a:solidFill>
            <a:srgbClr val="7DB3E0"/>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6"/>
          <p:cNvSpPr txBox="1"/>
          <p:nvPr/>
        </p:nvSpPr>
        <p:spPr>
          <a:xfrm>
            <a:off x="731520" y="1892808"/>
            <a:ext cx="2316404" cy="329184"/>
          </a:xfrm>
          <a:prstGeom prst="rect">
            <a:avLst/>
          </a:prstGeom>
          <a:noFill/>
          <a:ln/>
        </p:spPr>
        <p:txBody>
          <a:bodyPr wrap="square" lIns="0" tIns="0" rIns="0" bIns="0" rtlCol="0" anchor="ctr"/>
          <a:lstStyle/>
          <a:p>
            <a:pPr indent="0" marL="0">
              <a:buNone/>
            </a:pPr>
            <a:r>
              <a:rPr lang="ko-KR" altLang="en-US" sz="1650" b="1" dirty="0">
                <a:solidFill>
                  <a:srgbClr val="1B2559"/>
                </a:solidFill>
              </a:rPr>
              <a:t>가설 H1 · 정상 영상</a:t>
            </a:r>
            <a:endParaRPr lang="ko-KR" sz="1650" dirty="0"/>
          </a:p>
        </p:txBody>
      </p:sp>
      <p:sp>
        <p:nvSpPr>
          <p:cNvPr id="9" name="Text 7"/>
          <p:cNvSpPr txBox="1"/>
          <p:nvPr/>
        </p:nvSpPr>
        <p:spPr>
          <a:xfrm>
            <a:off x="731520" y="2240280"/>
            <a:ext cx="2316404" cy="603504"/>
          </a:xfrm>
          <a:prstGeom prst="rect">
            <a:avLst/>
          </a:prstGeom>
          <a:noFill/>
          <a:ln/>
        </p:spPr>
        <p:txBody>
          <a:bodyPr wrap="square" lIns="0" tIns="0" rIns="0" bIns="0" rtlCol="0" anchor="t"/>
          <a:lstStyle/>
          <a:p>
            <a:pPr indent="0" marL="0">
              <a:buNone/>
            </a:pPr>
            <a:r>
              <a:rPr lang="ko-KR" altLang="en-US" sz="1500" dirty="0">
                <a:solidFill>
                  <a:srgbClr val="2B2F36"/>
                </a:solidFill>
              </a:rPr>
              <a:t>B와 C의 정확도가</a:t>
            </a:r>
            <a:endParaRPr lang="ko-KR" sz="1500" dirty="0"/>
          </a:p>
          <a:p>
            <a:pPr indent="0" marL="0">
              <a:buNone/>
            </a:pPr>
            <a:r>
              <a:rPr lang="ko-KR" altLang="en-US" sz="1500" dirty="0">
                <a:solidFill>
                  <a:srgbClr val="2B2F36"/>
                </a:solidFill>
              </a:rPr>
              <a:t>비슷할 것</a:t>
            </a:r>
            <a:endParaRPr lang="ko-KR" sz="1500" dirty="0"/>
          </a:p>
        </p:txBody>
      </p:sp>
      <p:sp>
        <p:nvSpPr>
          <p:cNvPr id="10" name="Shape 8"/>
          <p:cNvSpPr/>
          <p:nvPr/>
        </p:nvSpPr>
        <p:spPr>
          <a:xfrm>
            <a:off x="3367964" y="1691640"/>
            <a:ext cx="2636444" cy="1207008"/>
          </a:xfrm>
          <a:prstGeom prst="roundRect">
            <a:avLst>
              <a:gd name="adj" fmla="val 6061"/>
            </a:avLst>
          </a:prstGeom>
          <a:solidFill>
            <a:srgbClr val="EEF5FC"/>
          </a:solidFill>
          <a:ln w="12700">
            <a:solidFill>
              <a:srgbClr val="EEF5FC"/>
            </a:solidFill>
            <a:prstDash val="solid"/>
          </a:ln>
        </p:spPr>
      </p:sp>
      <p:sp>
        <p:nvSpPr>
          <p:cNvPr id="11" name="Text 9"/>
          <p:cNvSpPr/>
          <p:nvPr/>
        </p:nvSpPr>
        <p:spPr>
          <a:xfrm>
            <a:off x="3477692" y="1508760"/>
            <a:ext cx="402336" cy="402336"/>
          </a:xfrm>
          <a:prstGeom prst="ellipse">
            <a:avLst/>
          </a:prstGeom>
          <a:solidFill>
            <a:srgbClr val="7DB3E0"/>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3550844" y="1892808"/>
            <a:ext cx="2316404" cy="329184"/>
          </a:xfrm>
          <a:prstGeom prst="rect">
            <a:avLst/>
          </a:prstGeom>
          <a:noFill/>
          <a:ln/>
        </p:spPr>
        <p:txBody>
          <a:bodyPr wrap="square" lIns="0" tIns="0" rIns="0" bIns="0" rtlCol="0" anchor="ctr"/>
          <a:lstStyle/>
          <a:p>
            <a:pPr indent="0" marL="0">
              <a:buNone/>
            </a:pPr>
            <a:r>
              <a:rPr lang="ko-KR" altLang="en-US" sz="1650" b="1" dirty="0">
                <a:solidFill>
                  <a:srgbClr val="1B2559"/>
                </a:solidFill>
              </a:rPr>
              <a:t>가설 H2 · 저하 · 중단</a:t>
            </a:r>
            <a:endParaRPr lang="ko-KR" sz="1650" dirty="0"/>
          </a:p>
        </p:txBody>
      </p:sp>
      <p:sp>
        <p:nvSpPr>
          <p:cNvPr id="13" name="Text 11"/>
          <p:cNvSpPr txBox="1"/>
          <p:nvPr/>
        </p:nvSpPr>
        <p:spPr>
          <a:xfrm>
            <a:off x="3550844" y="2240280"/>
            <a:ext cx="2316404" cy="603504"/>
          </a:xfrm>
          <a:prstGeom prst="rect">
            <a:avLst/>
          </a:prstGeom>
          <a:noFill/>
          <a:ln/>
        </p:spPr>
        <p:txBody>
          <a:bodyPr wrap="square" lIns="0" tIns="0" rIns="0" bIns="0" rtlCol="0" anchor="t"/>
          <a:lstStyle/>
          <a:p>
            <a:pPr indent="0" marL="0">
              <a:buNone/>
            </a:pPr>
            <a:r>
              <a:rPr lang="ko-KR" altLang="en-US" sz="1500" dirty="0">
                <a:solidFill>
                  <a:srgbClr val="2B2F36"/>
                </a:solidFill>
              </a:rPr>
              <a:t>C의 오차 증가가</a:t>
            </a:r>
            <a:endParaRPr lang="ko-KR" sz="1500" dirty="0"/>
          </a:p>
          <a:p>
            <a:pPr indent="0" marL="0">
              <a:buNone/>
            </a:pPr>
            <a:r>
              <a:rPr lang="ko-KR" altLang="en-US" sz="1500" dirty="0">
                <a:solidFill>
                  <a:srgbClr val="2B2F36"/>
                </a:solidFill>
              </a:rPr>
              <a:t>B보다 작을 것</a:t>
            </a:r>
            <a:endParaRPr lang="ko-KR" sz="1500" dirty="0"/>
          </a:p>
        </p:txBody>
      </p:sp>
      <p:sp>
        <p:nvSpPr>
          <p:cNvPr id="14" name="Shape 12"/>
          <p:cNvSpPr/>
          <p:nvPr/>
        </p:nvSpPr>
        <p:spPr>
          <a:xfrm>
            <a:off x="6187288" y="1691640"/>
            <a:ext cx="2636444" cy="1207008"/>
          </a:xfrm>
          <a:prstGeom prst="roundRect">
            <a:avLst>
              <a:gd name="adj" fmla="val 6061"/>
            </a:avLst>
          </a:prstGeom>
          <a:solidFill>
            <a:srgbClr val="F3F6FB"/>
          </a:solidFill>
          <a:ln w="12700">
            <a:solidFill>
              <a:srgbClr val="F3F6FB"/>
            </a:solidFill>
            <a:prstDash val="solid"/>
          </a:ln>
        </p:spPr>
      </p:sp>
      <p:sp>
        <p:nvSpPr>
          <p:cNvPr id="15" name="Text 13"/>
          <p:cNvSpPr/>
          <p:nvPr/>
        </p:nvSpPr>
        <p:spPr>
          <a:xfrm>
            <a:off x="6297016" y="1508760"/>
            <a:ext cx="402336" cy="402336"/>
          </a:xfrm>
          <a:prstGeom prst="ellipse">
            <a:avLst/>
          </a:prstGeom>
          <a:solidFill>
            <a:srgbClr val="26357A"/>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6" name="Text 14"/>
          <p:cNvSpPr txBox="1"/>
          <p:nvPr/>
        </p:nvSpPr>
        <p:spPr>
          <a:xfrm>
            <a:off x="6370168" y="1892808"/>
            <a:ext cx="2316404" cy="329184"/>
          </a:xfrm>
          <a:prstGeom prst="rect">
            <a:avLst/>
          </a:prstGeom>
          <a:noFill/>
          <a:ln/>
        </p:spPr>
        <p:txBody>
          <a:bodyPr wrap="square" lIns="0" tIns="0" rIns="0" bIns="0" rtlCol="0" anchor="ctr"/>
          <a:lstStyle/>
          <a:p>
            <a:pPr indent="0" marL="0">
              <a:buNone/>
            </a:pPr>
            <a:r>
              <a:rPr lang="ko-KR" altLang="en-US" sz="1650" b="1" dirty="0">
                <a:solidFill>
                  <a:srgbClr val="1B2559"/>
                </a:solidFill>
              </a:rPr>
              <a:t>검증 산출물</a:t>
            </a:r>
            <a:endParaRPr lang="ko-KR" sz="1650" dirty="0"/>
          </a:p>
        </p:txBody>
      </p:sp>
      <p:sp>
        <p:nvSpPr>
          <p:cNvPr id="17" name="Text 15"/>
          <p:cNvSpPr txBox="1"/>
          <p:nvPr/>
        </p:nvSpPr>
        <p:spPr>
          <a:xfrm>
            <a:off x="6370168" y="2240280"/>
            <a:ext cx="2316404" cy="603504"/>
          </a:xfrm>
          <a:prstGeom prst="rect">
            <a:avLst/>
          </a:prstGeom>
          <a:noFill/>
          <a:ln/>
        </p:spPr>
        <p:txBody>
          <a:bodyPr wrap="square" lIns="0" tIns="0" rIns="0" bIns="0" rtlCol="0" anchor="t"/>
          <a:lstStyle/>
          <a:p>
            <a:pPr indent="0" marL="0">
              <a:buNone/>
            </a:pPr>
            <a:r>
              <a:rPr lang="ko-KR" altLang="en-US" sz="1500" dirty="0">
                <a:solidFill>
                  <a:srgbClr val="2B2F36"/>
                </a:solidFill>
              </a:rPr>
              <a:t>상태추정 코드 · 조건별</a:t>
            </a:r>
            <a:endParaRPr lang="ko-KR" sz="1500" dirty="0"/>
          </a:p>
          <a:p>
            <a:pPr indent="0" marL="0">
              <a:buNone/>
            </a:pPr>
            <a:r>
              <a:rPr lang="ko-KR" altLang="en-US" sz="1500" dirty="0">
                <a:solidFill>
                  <a:srgbClr val="2B2F36"/>
                </a:solidFill>
              </a:rPr>
              <a:t>비교 결과 · 보고서</a:t>
            </a:r>
            <a:endParaRPr lang="ko-KR" sz="1500" dirty="0"/>
          </a:p>
        </p:txBody>
      </p:sp>
      <p:sp>
        <p:nvSpPr>
          <p:cNvPr id="18" name="Shape 16"/>
          <p:cNvSpPr/>
          <p:nvPr/>
        </p:nvSpPr>
        <p:spPr>
          <a:xfrm>
            <a:off x="9006611" y="1691640"/>
            <a:ext cx="2636444" cy="1207008"/>
          </a:xfrm>
          <a:prstGeom prst="roundRect">
            <a:avLst>
              <a:gd name="adj" fmla="val 6061"/>
            </a:avLst>
          </a:prstGeom>
          <a:solidFill>
            <a:srgbClr val="F3F6FB"/>
          </a:solidFill>
          <a:ln w="12700">
            <a:solidFill>
              <a:srgbClr val="F3F6FB"/>
            </a:solidFill>
            <a:prstDash val="solid"/>
          </a:ln>
        </p:spPr>
      </p:sp>
      <p:sp>
        <p:nvSpPr>
          <p:cNvPr id="19" name="Text 17"/>
          <p:cNvSpPr/>
          <p:nvPr/>
        </p:nvSpPr>
        <p:spPr>
          <a:xfrm>
            <a:off x="9116339" y="1508760"/>
            <a:ext cx="402336" cy="402336"/>
          </a:xfrm>
          <a:prstGeom prst="ellipse">
            <a:avLst/>
          </a:prstGeom>
          <a:solidFill>
            <a:srgbClr val="26357A"/>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0" name="Text 18"/>
          <p:cNvSpPr txBox="1"/>
          <p:nvPr/>
        </p:nvSpPr>
        <p:spPr>
          <a:xfrm>
            <a:off x="9189491" y="1892808"/>
            <a:ext cx="2316404" cy="329184"/>
          </a:xfrm>
          <a:prstGeom prst="rect">
            <a:avLst/>
          </a:prstGeom>
          <a:noFill/>
          <a:ln/>
        </p:spPr>
        <p:txBody>
          <a:bodyPr wrap="square" lIns="0" tIns="0" rIns="0" bIns="0" rtlCol="0" anchor="ctr"/>
          <a:lstStyle/>
          <a:p>
            <a:pPr indent="0" marL="0">
              <a:buNone/>
            </a:pPr>
            <a:r>
              <a:rPr lang="ko-KR" altLang="en-US" sz="1650" b="1" dirty="0">
                <a:solidFill>
                  <a:srgbClr val="1B2559"/>
                </a:solidFill>
              </a:rPr>
              <a:t>기대 기여</a:t>
            </a:r>
            <a:endParaRPr lang="ko-KR" sz="1650" dirty="0"/>
          </a:p>
        </p:txBody>
      </p:sp>
      <p:sp>
        <p:nvSpPr>
          <p:cNvPr id="21" name="Text 19"/>
          <p:cNvSpPr txBox="1"/>
          <p:nvPr/>
        </p:nvSpPr>
        <p:spPr>
          <a:xfrm>
            <a:off x="9189491" y="2240280"/>
            <a:ext cx="2316404" cy="603504"/>
          </a:xfrm>
          <a:prstGeom prst="rect">
            <a:avLst/>
          </a:prstGeom>
          <a:noFill/>
          <a:ln/>
        </p:spPr>
        <p:txBody>
          <a:bodyPr wrap="square" lIns="0" tIns="0" rIns="0" bIns="0" rtlCol="0" anchor="t"/>
          <a:lstStyle/>
          <a:p>
            <a:pPr indent="0" marL="0">
              <a:buNone/>
            </a:pPr>
            <a:r>
              <a:rPr lang="ko-KR" altLang="en-US" sz="1500" dirty="0">
                <a:solidFill>
                  <a:srgbClr val="2B2F36"/>
                </a:solidFill>
              </a:rPr>
              <a:t>품질 지표별 효과와</a:t>
            </a:r>
            <a:endParaRPr lang="ko-KR" sz="1500" dirty="0"/>
          </a:p>
          <a:p>
            <a:pPr indent="0" marL="0">
              <a:buNone/>
            </a:pPr>
            <a:r>
              <a:rPr lang="ko-KR" altLang="en-US" sz="1500" dirty="0">
                <a:solidFill>
                  <a:srgbClr val="2B2F36"/>
                </a:solidFill>
              </a:rPr>
              <a:t>한계를 정량적으로 제시</a:t>
            </a:r>
            <a:endParaRPr lang="ko-KR" sz="1500" dirty="0"/>
          </a:p>
        </p:txBody>
      </p:sp>
      <p:sp>
        <p:nvSpPr>
          <p:cNvPr id="22" name="Text 20"/>
          <p:cNvSpPr/>
          <p:nvPr/>
        </p:nvSpPr>
        <p:spPr>
          <a:xfrm>
            <a:off x="548640" y="3200400"/>
            <a:ext cx="2286000" cy="713232"/>
          </a:xfrm>
          <a:prstGeom prst="chevron">
            <a:avLst/>
          </a:prstGeom>
          <a:solidFill>
            <a:srgbClr val="DCEBF8"/>
          </a:solidFill>
          <a:ln>
            <a:solidFill>
              <a:srgbClr val="DCEBF8"/>
            </a:solidFill>
          </a:ln>
        </p:spPr>
        <p:txBody>
          <a:bodyPr wrap="square" lIns="0" tIns="0" rIns="0" bIns="0" rtlCol="0" anchor="ctr"/>
          <a:lstStyle/>
          <a:p>
            <a:pPr algn="ctr" indent="0" marL="0">
              <a:buNone/>
            </a:pPr>
            <a:r>
              <a:rPr lang="ko-KR" altLang="en-US" sz="1800" b="1" dirty="0">
                <a:solidFill>
                  <a:srgbClr val="1B2559"/>
                </a:solidFill>
              </a:rPr>
              <a:t>10월 초</a:t>
            </a:r>
            <a:endParaRPr lang="ko-KR" sz="1800" dirty="0"/>
          </a:p>
        </p:txBody>
      </p:sp>
      <p:sp>
        <p:nvSpPr>
          <p:cNvPr id="23" name="Shape 21"/>
          <p:cNvSpPr/>
          <p:nvPr/>
        </p:nvSpPr>
        <p:spPr>
          <a:xfrm>
            <a:off x="1655064" y="4005072"/>
            <a:ext cx="73152" cy="73152"/>
          </a:xfrm>
          <a:prstGeom prst="ellipse">
            <a:avLst/>
          </a:prstGeom>
          <a:solidFill>
            <a:srgbClr val="C9D3E3"/>
          </a:solidFill>
          <a:ln w="12700">
            <a:solidFill>
              <a:srgbClr val="C9D3E3"/>
            </a:solidFill>
            <a:prstDash val="solid"/>
          </a:ln>
        </p:spPr>
      </p:sp>
      <p:sp>
        <p:nvSpPr>
          <p:cNvPr id="24" name="Shape 22"/>
          <p:cNvSpPr/>
          <p:nvPr/>
        </p:nvSpPr>
        <p:spPr>
          <a:xfrm>
            <a:off x="1655064" y="4123944"/>
            <a:ext cx="73152" cy="73152"/>
          </a:xfrm>
          <a:prstGeom prst="ellipse">
            <a:avLst/>
          </a:prstGeom>
          <a:solidFill>
            <a:srgbClr val="C9D3E3"/>
          </a:solidFill>
          <a:ln w="12700">
            <a:solidFill>
              <a:srgbClr val="C9D3E3"/>
            </a:solidFill>
            <a:prstDash val="solid"/>
          </a:ln>
        </p:spPr>
      </p:sp>
      <p:sp>
        <p:nvSpPr>
          <p:cNvPr id="25" name="Shape 23"/>
          <p:cNvSpPr/>
          <p:nvPr/>
        </p:nvSpPr>
        <p:spPr>
          <a:xfrm>
            <a:off x="1655064" y="4242816"/>
            <a:ext cx="73152" cy="73152"/>
          </a:xfrm>
          <a:prstGeom prst="ellipse">
            <a:avLst/>
          </a:prstGeom>
          <a:solidFill>
            <a:srgbClr val="C9D3E3"/>
          </a:solidFill>
          <a:ln w="12700">
            <a:solidFill>
              <a:srgbClr val="C9D3E3"/>
            </a:solidFill>
            <a:prstDash val="solid"/>
          </a:ln>
        </p:spPr>
      </p:sp>
      <p:sp>
        <p:nvSpPr>
          <p:cNvPr id="26" name="Text 24"/>
          <p:cNvSpPr txBox="1"/>
          <p:nvPr/>
        </p:nvSpPr>
        <p:spPr>
          <a:xfrm>
            <a:off x="685800" y="4370832"/>
            <a:ext cx="2011680" cy="640080"/>
          </a:xfrm>
          <a:prstGeom prst="rect">
            <a:avLst/>
          </a:prstGeom>
          <a:noFill/>
          <a:ln/>
        </p:spPr>
        <p:txBody>
          <a:bodyPr wrap="square" lIns="0" tIns="0" rIns="0" bIns="0" rtlCol="0" anchor="t"/>
          <a:lstStyle/>
          <a:p>
            <a:pPr algn="ctr" indent="0" marL="0">
              <a:buNone/>
            </a:pPr>
            <a:r>
              <a:rPr lang="ko-KR" altLang="en-US" sz="1550" dirty="0">
                <a:solidFill>
                  <a:srgbClr val="2B2F36"/>
                </a:solidFill>
              </a:rPr>
              <a:t>데이터 구성 ·</a:t>
            </a:r>
            <a:endParaRPr lang="ko-KR" sz="1550" dirty="0"/>
          </a:p>
          <a:p>
            <a:pPr algn="ctr" indent="0" marL="0">
              <a:buNone/>
            </a:pPr>
            <a:r>
              <a:rPr lang="ko-KR" altLang="en-US" sz="1550" dirty="0">
                <a:solidFill>
                  <a:srgbClr val="2B2F36"/>
                </a:solidFill>
              </a:rPr>
              <a:t>센서 전처리</a:t>
            </a:r>
            <a:endParaRPr lang="ko-KR" sz="1550" dirty="0"/>
          </a:p>
        </p:txBody>
      </p:sp>
      <p:sp>
        <p:nvSpPr>
          <p:cNvPr id="27" name="Text 25"/>
          <p:cNvSpPr/>
          <p:nvPr/>
        </p:nvSpPr>
        <p:spPr>
          <a:xfrm>
            <a:off x="2743200" y="3200400"/>
            <a:ext cx="2286000" cy="713232"/>
          </a:xfrm>
          <a:prstGeom prst="chevron">
            <a:avLst/>
          </a:prstGeom>
          <a:solidFill>
            <a:srgbClr val="DCEBF8"/>
          </a:solidFill>
          <a:ln>
            <a:solidFill>
              <a:srgbClr val="DCEBF8"/>
            </a:solidFill>
          </a:ln>
        </p:spPr>
        <p:txBody>
          <a:bodyPr wrap="square" lIns="0" tIns="0" rIns="0" bIns="0" rtlCol="0" anchor="ctr"/>
          <a:lstStyle/>
          <a:p>
            <a:pPr algn="ctr" indent="0" marL="0">
              <a:buNone/>
            </a:pPr>
            <a:r>
              <a:rPr lang="ko-KR" altLang="en-US" sz="1800" b="1" dirty="0">
                <a:solidFill>
                  <a:srgbClr val="1B2559"/>
                </a:solidFill>
              </a:rPr>
              <a:t>10월 말</a:t>
            </a:r>
            <a:endParaRPr lang="ko-KR" sz="1800" dirty="0"/>
          </a:p>
        </p:txBody>
      </p:sp>
      <p:sp>
        <p:nvSpPr>
          <p:cNvPr id="28" name="Shape 26"/>
          <p:cNvSpPr/>
          <p:nvPr/>
        </p:nvSpPr>
        <p:spPr>
          <a:xfrm>
            <a:off x="3849624" y="4005072"/>
            <a:ext cx="73152" cy="73152"/>
          </a:xfrm>
          <a:prstGeom prst="ellipse">
            <a:avLst/>
          </a:prstGeom>
          <a:solidFill>
            <a:srgbClr val="C9D3E3"/>
          </a:solidFill>
          <a:ln w="12700">
            <a:solidFill>
              <a:srgbClr val="C9D3E3"/>
            </a:solidFill>
            <a:prstDash val="solid"/>
          </a:ln>
        </p:spPr>
      </p:sp>
      <p:sp>
        <p:nvSpPr>
          <p:cNvPr id="29" name="Shape 27"/>
          <p:cNvSpPr/>
          <p:nvPr/>
        </p:nvSpPr>
        <p:spPr>
          <a:xfrm>
            <a:off x="3849624" y="4123944"/>
            <a:ext cx="73152" cy="73152"/>
          </a:xfrm>
          <a:prstGeom prst="ellipse">
            <a:avLst/>
          </a:prstGeom>
          <a:solidFill>
            <a:srgbClr val="C9D3E3"/>
          </a:solidFill>
          <a:ln w="12700">
            <a:solidFill>
              <a:srgbClr val="C9D3E3"/>
            </a:solidFill>
            <a:prstDash val="solid"/>
          </a:ln>
        </p:spPr>
      </p:sp>
      <p:sp>
        <p:nvSpPr>
          <p:cNvPr id="30" name="Shape 28"/>
          <p:cNvSpPr/>
          <p:nvPr/>
        </p:nvSpPr>
        <p:spPr>
          <a:xfrm>
            <a:off x="3849624" y="4242816"/>
            <a:ext cx="73152" cy="73152"/>
          </a:xfrm>
          <a:prstGeom prst="ellipse">
            <a:avLst/>
          </a:prstGeom>
          <a:solidFill>
            <a:srgbClr val="C9D3E3"/>
          </a:solidFill>
          <a:ln w="12700">
            <a:solidFill>
              <a:srgbClr val="C9D3E3"/>
            </a:solidFill>
            <a:prstDash val="solid"/>
          </a:ln>
        </p:spPr>
      </p:sp>
      <p:sp>
        <p:nvSpPr>
          <p:cNvPr id="31" name="Text 29"/>
          <p:cNvSpPr txBox="1"/>
          <p:nvPr/>
        </p:nvSpPr>
        <p:spPr>
          <a:xfrm>
            <a:off x="2880360" y="4370832"/>
            <a:ext cx="2011680" cy="640080"/>
          </a:xfrm>
          <a:prstGeom prst="rect">
            <a:avLst/>
          </a:prstGeom>
          <a:noFill/>
          <a:ln/>
        </p:spPr>
        <p:txBody>
          <a:bodyPr wrap="square" lIns="0" tIns="0" rIns="0" bIns="0" rtlCol="0" anchor="t"/>
          <a:lstStyle/>
          <a:p>
            <a:pPr algn="ctr" indent="0" marL="0">
              <a:buNone/>
            </a:pPr>
            <a:r>
              <a:rPr lang="ko-KR" altLang="en-US" sz="1550" dirty="0">
                <a:solidFill>
                  <a:srgbClr val="2B2F36"/>
                </a:solidFill>
              </a:rPr>
              <a:t>기준 EKF</a:t>
            </a:r>
            <a:endParaRPr lang="ko-KR" sz="1550" dirty="0"/>
          </a:p>
          <a:p>
            <a:pPr algn="ctr" indent="0" marL="0">
              <a:buNone/>
            </a:pPr>
            <a:r>
              <a:rPr lang="ko-KR" altLang="en-US" sz="1550" dirty="0">
                <a:solidFill>
                  <a:srgbClr val="2B2F36"/>
                </a:solidFill>
              </a:rPr>
              <a:t>구현</a:t>
            </a:r>
            <a:endParaRPr lang="ko-KR" sz="1550" dirty="0"/>
          </a:p>
        </p:txBody>
      </p:sp>
      <p:sp>
        <p:nvSpPr>
          <p:cNvPr id="32" name="Text 30"/>
          <p:cNvSpPr/>
          <p:nvPr/>
        </p:nvSpPr>
        <p:spPr>
          <a:xfrm>
            <a:off x="4937760" y="3200400"/>
            <a:ext cx="2286000" cy="713232"/>
          </a:xfrm>
          <a:prstGeom prst="chevron">
            <a:avLst/>
          </a:prstGeom>
          <a:solidFill>
            <a:srgbClr val="FCEBDD"/>
          </a:solidFill>
          <a:ln>
            <a:solidFill>
              <a:srgbClr val="FCEBDD"/>
            </a:solidFill>
          </a:ln>
        </p:spPr>
        <p:txBody>
          <a:bodyPr wrap="square" lIns="0" tIns="0" rIns="0" bIns="0" rtlCol="0" anchor="ctr"/>
          <a:lstStyle/>
          <a:p>
            <a:pPr algn="ctr" indent="0" marL="0">
              <a:buNone/>
            </a:pPr>
            <a:r>
              <a:rPr lang="ko-KR" altLang="en-US" sz="1800" b="1" dirty="0">
                <a:solidFill>
                  <a:srgbClr val="E07B39"/>
                </a:solidFill>
              </a:rPr>
              <a:t>11월 초</a:t>
            </a:r>
            <a:endParaRPr lang="ko-KR" sz="1800" dirty="0"/>
          </a:p>
        </p:txBody>
      </p:sp>
      <p:sp>
        <p:nvSpPr>
          <p:cNvPr id="33" name="Shape 31"/>
          <p:cNvSpPr/>
          <p:nvPr/>
        </p:nvSpPr>
        <p:spPr>
          <a:xfrm>
            <a:off x="6044184" y="4005072"/>
            <a:ext cx="73152" cy="73152"/>
          </a:xfrm>
          <a:prstGeom prst="ellipse">
            <a:avLst/>
          </a:prstGeom>
          <a:solidFill>
            <a:srgbClr val="C9D3E3"/>
          </a:solidFill>
          <a:ln w="12700">
            <a:solidFill>
              <a:srgbClr val="C9D3E3"/>
            </a:solidFill>
            <a:prstDash val="solid"/>
          </a:ln>
        </p:spPr>
      </p:sp>
      <p:sp>
        <p:nvSpPr>
          <p:cNvPr id="34" name="Shape 32"/>
          <p:cNvSpPr/>
          <p:nvPr/>
        </p:nvSpPr>
        <p:spPr>
          <a:xfrm>
            <a:off x="6044184" y="4123944"/>
            <a:ext cx="73152" cy="73152"/>
          </a:xfrm>
          <a:prstGeom prst="ellipse">
            <a:avLst/>
          </a:prstGeom>
          <a:solidFill>
            <a:srgbClr val="C9D3E3"/>
          </a:solidFill>
          <a:ln w="12700">
            <a:solidFill>
              <a:srgbClr val="C9D3E3"/>
            </a:solidFill>
            <a:prstDash val="solid"/>
          </a:ln>
        </p:spPr>
      </p:sp>
      <p:sp>
        <p:nvSpPr>
          <p:cNvPr id="35" name="Shape 33"/>
          <p:cNvSpPr/>
          <p:nvPr/>
        </p:nvSpPr>
        <p:spPr>
          <a:xfrm>
            <a:off x="6044184" y="4242816"/>
            <a:ext cx="73152" cy="73152"/>
          </a:xfrm>
          <a:prstGeom prst="ellipse">
            <a:avLst/>
          </a:prstGeom>
          <a:solidFill>
            <a:srgbClr val="C9D3E3"/>
          </a:solidFill>
          <a:ln w="12700">
            <a:solidFill>
              <a:srgbClr val="C9D3E3"/>
            </a:solidFill>
            <a:prstDash val="solid"/>
          </a:ln>
        </p:spPr>
      </p:sp>
      <p:sp>
        <p:nvSpPr>
          <p:cNvPr id="36" name="Text 34"/>
          <p:cNvSpPr txBox="1"/>
          <p:nvPr/>
        </p:nvSpPr>
        <p:spPr>
          <a:xfrm>
            <a:off x="5074920" y="4370832"/>
            <a:ext cx="2011680" cy="640080"/>
          </a:xfrm>
          <a:prstGeom prst="rect">
            <a:avLst/>
          </a:prstGeom>
          <a:noFill/>
          <a:ln/>
        </p:spPr>
        <p:txBody>
          <a:bodyPr wrap="square" lIns="0" tIns="0" rIns="0" bIns="0" rtlCol="0" anchor="t"/>
          <a:lstStyle/>
          <a:p>
            <a:pPr algn="ctr" indent="0" marL="0">
              <a:buNone/>
            </a:pPr>
            <a:r>
              <a:rPr lang="ko-KR" altLang="en-US" sz="1550" b="1" dirty="0">
                <a:solidFill>
                  <a:srgbClr val="1B2559"/>
                </a:solidFill>
              </a:rPr>
              <a:t>품질 지표 ·</a:t>
            </a:r>
            <a:endParaRPr lang="ko-KR" sz="1550" dirty="0"/>
          </a:p>
          <a:p>
            <a:pPr algn="ctr" indent="0" marL="0">
              <a:buNone/>
            </a:pPr>
            <a:r>
              <a:rPr lang="ko-KR" altLang="en-US" sz="1550" b="1" dirty="0">
                <a:solidFill>
                  <a:srgbClr val="1B2559"/>
                </a:solidFill>
              </a:rPr>
              <a:t>신뢰도 규칙 설계</a:t>
            </a:r>
            <a:endParaRPr lang="ko-KR" sz="1550" dirty="0"/>
          </a:p>
        </p:txBody>
      </p:sp>
      <p:sp>
        <p:nvSpPr>
          <p:cNvPr id="37" name="Text 35"/>
          <p:cNvSpPr/>
          <p:nvPr/>
        </p:nvSpPr>
        <p:spPr>
          <a:xfrm>
            <a:off x="7132320" y="3200400"/>
            <a:ext cx="2286000" cy="713232"/>
          </a:xfrm>
          <a:prstGeom prst="chevron">
            <a:avLst/>
          </a:prstGeom>
          <a:solidFill>
            <a:srgbClr val="DCEBF8"/>
          </a:solidFill>
          <a:ln>
            <a:solidFill>
              <a:srgbClr val="DCEBF8"/>
            </a:solidFill>
          </a:ln>
        </p:spPr>
        <p:txBody>
          <a:bodyPr wrap="square" lIns="0" tIns="0" rIns="0" bIns="0" rtlCol="0" anchor="ctr"/>
          <a:lstStyle/>
          <a:p>
            <a:pPr algn="ctr" indent="0" marL="0">
              <a:buNone/>
            </a:pPr>
            <a:r>
              <a:rPr lang="ko-KR" altLang="en-US" sz="1800" b="1" dirty="0">
                <a:solidFill>
                  <a:srgbClr val="1B2559"/>
                </a:solidFill>
              </a:rPr>
              <a:t>11월 말</a:t>
            </a:r>
            <a:endParaRPr lang="ko-KR" sz="1800" dirty="0"/>
          </a:p>
        </p:txBody>
      </p:sp>
      <p:sp>
        <p:nvSpPr>
          <p:cNvPr id="38" name="Shape 36"/>
          <p:cNvSpPr/>
          <p:nvPr/>
        </p:nvSpPr>
        <p:spPr>
          <a:xfrm>
            <a:off x="8238744" y="4005072"/>
            <a:ext cx="73152" cy="73152"/>
          </a:xfrm>
          <a:prstGeom prst="ellipse">
            <a:avLst/>
          </a:prstGeom>
          <a:solidFill>
            <a:srgbClr val="C9D3E3"/>
          </a:solidFill>
          <a:ln w="12700">
            <a:solidFill>
              <a:srgbClr val="C9D3E3"/>
            </a:solidFill>
            <a:prstDash val="solid"/>
          </a:ln>
        </p:spPr>
      </p:sp>
      <p:sp>
        <p:nvSpPr>
          <p:cNvPr id="39" name="Shape 37"/>
          <p:cNvSpPr/>
          <p:nvPr/>
        </p:nvSpPr>
        <p:spPr>
          <a:xfrm>
            <a:off x="8238744" y="4123944"/>
            <a:ext cx="73152" cy="73152"/>
          </a:xfrm>
          <a:prstGeom prst="ellipse">
            <a:avLst/>
          </a:prstGeom>
          <a:solidFill>
            <a:srgbClr val="C9D3E3"/>
          </a:solidFill>
          <a:ln w="12700">
            <a:solidFill>
              <a:srgbClr val="C9D3E3"/>
            </a:solidFill>
            <a:prstDash val="solid"/>
          </a:ln>
        </p:spPr>
      </p:sp>
      <p:sp>
        <p:nvSpPr>
          <p:cNvPr id="40" name="Shape 38"/>
          <p:cNvSpPr/>
          <p:nvPr/>
        </p:nvSpPr>
        <p:spPr>
          <a:xfrm>
            <a:off x="8238744" y="4242816"/>
            <a:ext cx="73152" cy="73152"/>
          </a:xfrm>
          <a:prstGeom prst="ellipse">
            <a:avLst/>
          </a:prstGeom>
          <a:solidFill>
            <a:srgbClr val="C9D3E3"/>
          </a:solidFill>
          <a:ln w="12700">
            <a:solidFill>
              <a:srgbClr val="C9D3E3"/>
            </a:solidFill>
            <a:prstDash val="solid"/>
          </a:ln>
        </p:spPr>
      </p:sp>
      <p:sp>
        <p:nvSpPr>
          <p:cNvPr id="41" name="Text 39"/>
          <p:cNvSpPr txBox="1"/>
          <p:nvPr/>
        </p:nvSpPr>
        <p:spPr>
          <a:xfrm>
            <a:off x="7269480" y="4370832"/>
            <a:ext cx="2011680" cy="640080"/>
          </a:xfrm>
          <a:prstGeom prst="rect">
            <a:avLst/>
          </a:prstGeom>
          <a:noFill/>
          <a:ln/>
        </p:spPr>
        <p:txBody>
          <a:bodyPr wrap="square" lIns="0" tIns="0" rIns="0" bIns="0" rtlCol="0" anchor="t"/>
          <a:lstStyle/>
          <a:p>
            <a:pPr algn="ctr" indent="0" marL="0">
              <a:buNone/>
            </a:pPr>
            <a:r>
              <a:rPr lang="ko-KR" altLang="en-US" sz="1550" dirty="0">
                <a:solidFill>
                  <a:srgbClr val="2B2F36"/>
                </a:solidFill>
              </a:rPr>
              <a:t>조건별</a:t>
            </a:r>
            <a:endParaRPr lang="ko-KR" sz="1550" dirty="0"/>
          </a:p>
          <a:p>
            <a:pPr algn="ctr" indent="0" marL="0">
              <a:buNone/>
            </a:pPr>
            <a:r>
              <a:rPr lang="ko-KR" altLang="en-US" sz="1550" dirty="0">
                <a:solidFill>
                  <a:srgbClr val="2B2F36"/>
                </a:solidFill>
              </a:rPr>
              <a:t>비교 실험</a:t>
            </a:r>
            <a:endParaRPr lang="ko-KR" sz="1550" dirty="0"/>
          </a:p>
        </p:txBody>
      </p:sp>
      <p:sp>
        <p:nvSpPr>
          <p:cNvPr id="42" name="Text 40"/>
          <p:cNvSpPr/>
          <p:nvPr/>
        </p:nvSpPr>
        <p:spPr>
          <a:xfrm>
            <a:off x="9326880" y="3200400"/>
            <a:ext cx="2286000" cy="713232"/>
          </a:xfrm>
          <a:prstGeom prst="chevron">
            <a:avLst/>
          </a:prstGeom>
          <a:solidFill>
            <a:srgbClr val="DCEBF8"/>
          </a:solidFill>
          <a:ln>
            <a:solidFill>
              <a:srgbClr val="DCEBF8"/>
            </a:solidFill>
          </a:ln>
        </p:spPr>
        <p:txBody>
          <a:bodyPr wrap="square" lIns="0" tIns="0" rIns="0" bIns="0" rtlCol="0" anchor="ctr"/>
          <a:lstStyle/>
          <a:p>
            <a:pPr algn="ctr" indent="0" marL="0">
              <a:buNone/>
            </a:pPr>
            <a:r>
              <a:rPr lang="ko-KR" altLang="en-US" sz="1800" b="1" dirty="0">
                <a:solidFill>
                  <a:srgbClr val="1B2559"/>
                </a:solidFill>
              </a:rPr>
              <a:t>12월 초</a:t>
            </a:r>
            <a:endParaRPr lang="ko-KR" sz="1800" dirty="0"/>
          </a:p>
        </p:txBody>
      </p:sp>
      <p:sp>
        <p:nvSpPr>
          <p:cNvPr id="43" name="Shape 41"/>
          <p:cNvSpPr/>
          <p:nvPr/>
        </p:nvSpPr>
        <p:spPr>
          <a:xfrm>
            <a:off x="10433304" y="4005072"/>
            <a:ext cx="73152" cy="73152"/>
          </a:xfrm>
          <a:prstGeom prst="ellipse">
            <a:avLst/>
          </a:prstGeom>
          <a:solidFill>
            <a:srgbClr val="C9D3E3"/>
          </a:solidFill>
          <a:ln w="12700">
            <a:solidFill>
              <a:srgbClr val="C9D3E3"/>
            </a:solidFill>
            <a:prstDash val="solid"/>
          </a:ln>
        </p:spPr>
      </p:sp>
      <p:sp>
        <p:nvSpPr>
          <p:cNvPr id="44" name="Shape 42"/>
          <p:cNvSpPr/>
          <p:nvPr/>
        </p:nvSpPr>
        <p:spPr>
          <a:xfrm>
            <a:off x="10433304" y="4123944"/>
            <a:ext cx="73152" cy="73152"/>
          </a:xfrm>
          <a:prstGeom prst="ellipse">
            <a:avLst/>
          </a:prstGeom>
          <a:solidFill>
            <a:srgbClr val="C9D3E3"/>
          </a:solidFill>
          <a:ln w="12700">
            <a:solidFill>
              <a:srgbClr val="C9D3E3"/>
            </a:solidFill>
            <a:prstDash val="solid"/>
          </a:ln>
        </p:spPr>
      </p:sp>
      <p:sp>
        <p:nvSpPr>
          <p:cNvPr id="45" name="Shape 43"/>
          <p:cNvSpPr/>
          <p:nvPr/>
        </p:nvSpPr>
        <p:spPr>
          <a:xfrm>
            <a:off x="10433304" y="4242816"/>
            <a:ext cx="73152" cy="73152"/>
          </a:xfrm>
          <a:prstGeom prst="ellipse">
            <a:avLst/>
          </a:prstGeom>
          <a:solidFill>
            <a:srgbClr val="C9D3E3"/>
          </a:solidFill>
          <a:ln w="12700">
            <a:solidFill>
              <a:srgbClr val="C9D3E3"/>
            </a:solidFill>
            <a:prstDash val="solid"/>
          </a:ln>
        </p:spPr>
      </p:sp>
      <p:sp>
        <p:nvSpPr>
          <p:cNvPr id="46" name="Text 44"/>
          <p:cNvSpPr txBox="1"/>
          <p:nvPr/>
        </p:nvSpPr>
        <p:spPr>
          <a:xfrm>
            <a:off x="9464040" y="4370832"/>
            <a:ext cx="2011680" cy="640080"/>
          </a:xfrm>
          <a:prstGeom prst="rect">
            <a:avLst/>
          </a:prstGeom>
          <a:noFill/>
          <a:ln/>
        </p:spPr>
        <p:txBody>
          <a:bodyPr wrap="square" lIns="0" tIns="0" rIns="0" bIns="0" rtlCol="0" anchor="t"/>
          <a:lstStyle/>
          <a:p>
            <a:pPr algn="ctr" indent="0" marL="0">
              <a:buNone/>
            </a:pPr>
            <a:r>
              <a:rPr lang="ko-KR" altLang="en-US" sz="1550" dirty="0">
                <a:solidFill>
                  <a:srgbClr val="2B2F36"/>
                </a:solidFill>
              </a:rPr>
              <a:t>성능 분석 ·</a:t>
            </a:r>
            <a:endParaRPr lang="ko-KR" sz="1550" dirty="0"/>
          </a:p>
          <a:p>
            <a:pPr algn="ctr" indent="0" marL="0">
              <a:buNone/>
            </a:pPr>
            <a:r>
              <a:rPr lang="ko-KR" altLang="en-US" sz="1550" dirty="0">
                <a:solidFill>
                  <a:srgbClr val="2B2F36"/>
                </a:solidFill>
              </a:rPr>
              <a:t>최종 보고서</a:t>
            </a:r>
            <a:endParaRPr lang="ko-KR" sz="1550" dirty="0"/>
          </a:p>
        </p:txBody>
      </p:sp>
      <p:sp>
        <p:nvSpPr>
          <p:cNvPr id="47" name="Text 45"/>
          <p:cNvSpPr txBox="1"/>
          <p:nvPr/>
        </p:nvSpPr>
        <p:spPr>
          <a:xfrm>
            <a:off x="7528255" y="5029200"/>
            <a:ext cx="4114800" cy="219456"/>
          </a:xfrm>
          <a:prstGeom prst="rect">
            <a:avLst/>
          </a:prstGeom>
          <a:noFill/>
          <a:ln/>
        </p:spPr>
        <p:txBody>
          <a:bodyPr wrap="square" lIns="0" tIns="0" rIns="0" bIns="0" rtlCol="0" anchor="t"/>
          <a:lstStyle/>
          <a:p>
            <a:pPr algn="r" indent="0" marL="0">
              <a:buNone/>
            </a:pPr>
            <a:r>
              <a:rPr lang="ko-KR" altLang="en-US" sz="1050" dirty="0">
                <a:solidFill>
                  <a:srgbClr val="5F6878"/>
                </a:solidFill>
              </a:rPr>
              <a:t>계획(안): 세부 일정은 지도교수님과 협의하여 조정</a:t>
            </a:r>
            <a:endParaRPr lang="ko-KR" sz="1050" dirty="0"/>
          </a:p>
        </p:txBody>
      </p:sp>
      <p:sp>
        <p:nvSpPr>
          <p:cNvPr id="48" name="Shape 46"/>
          <p:cNvSpPr/>
          <p:nvPr/>
        </p:nvSpPr>
        <p:spPr>
          <a:xfrm>
            <a:off x="548640" y="5349240"/>
            <a:ext cx="11094415" cy="804672"/>
          </a:xfrm>
          <a:prstGeom prst="roundRect">
            <a:avLst>
              <a:gd name="adj" fmla="val 9091"/>
            </a:avLst>
          </a:prstGeom>
          <a:solidFill>
            <a:srgbClr val="26357A"/>
          </a:solidFill>
          <a:ln w="12700">
            <a:solidFill>
              <a:srgbClr val="26357A"/>
            </a:solidFill>
            <a:prstDash val="solid"/>
          </a:ln>
          <a:effectLst>
            <a:outerShdw sx="100000" sy="100000" kx="0" ky="0" algn="bl" rotWithShape="0" blurRad="101600" dist="25400" dir="5400000">
              <a:srgbClr val="1B2559">
                <a:alpha val="12000"/>
              </a:srgbClr>
            </a:outerShdw>
          </a:effectLst>
        </p:spPr>
      </p:sp>
      <p:sp>
        <p:nvSpPr>
          <p:cNvPr id="49" name="Shape 47"/>
          <p:cNvSpPr/>
          <p:nvPr/>
        </p:nvSpPr>
        <p:spPr>
          <a:xfrm>
            <a:off x="749808" y="5486400"/>
            <a:ext cx="530352" cy="530352"/>
          </a:xfrm>
          <a:prstGeom prst="ellipse">
            <a:avLst/>
          </a:prstGeom>
          <a:solidFill>
            <a:srgbClr val="3B5BA9"/>
          </a:solidFill>
          <a:ln w="12700">
            <a:solidFill>
              <a:srgbClr val="3B5BA9"/>
            </a:solidFill>
            <a:prstDash val="solid"/>
          </a:ln>
        </p:spPr>
      </p:sp>
      <p:pic>
        <p:nvPicPr>
          <p:cNvPr id="50" name="Image 0" descr="preencoded.png">    </p:cNvPr>
          <p:cNvPicPr>
            <a:picLocks noChangeAspect="1"/>
          </p:cNvPicPr>
          <p:nvPr/>
        </p:nvPicPr>
        <p:blipFill>
          <a:blip r:embed="rId1"/>
          <a:stretch>
            <a:fillRect/>
          </a:stretch>
        </p:blipFill>
        <p:spPr>
          <a:xfrm>
            <a:off x="866485" y="5603077"/>
            <a:ext cx="296997" cy="296997"/>
          </a:xfrm>
          <a:prstGeom prst="rect">
            <a:avLst/>
          </a:prstGeom>
        </p:spPr>
      </p:pic>
      <p:sp>
        <p:nvSpPr>
          <p:cNvPr id="51" name="Text 48"/>
          <p:cNvSpPr txBox="1"/>
          <p:nvPr/>
        </p:nvSpPr>
        <p:spPr>
          <a:xfrm>
            <a:off x="1444752" y="5349240"/>
            <a:ext cx="10042855" cy="804672"/>
          </a:xfrm>
          <a:prstGeom prst="rect">
            <a:avLst/>
          </a:prstGeom>
          <a:noFill/>
          <a:ln/>
        </p:spPr>
        <p:txBody>
          <a:bodyPr wrap="square" lIns="0" tIns="0" rIns="0" bIns="0" rtlCol="0" anchor="ctr"/>
          <a:lstStyle/>
          <a:p>
            <a:pPr indent="0" marL="0">
              <a:buNone/>
            </a:pPr>
            <a:r>
              <a:rPr lang="ko-KR" altLang="en-US" sz="1300" b="1" dirty="0">
                <a:solidFill>
                  <a:srgbClr val="C3D8F2"/>
                </a:solidFill>
              </a:rPr>
              <a:t>최종 목표 · GPS 불가 · 영상 품질 저하 환경에서</a:t>
            </a:r>
            <a:endParaRPr lang="ko-KR" sz="1850" dirty="0"/>
          </a:p>
          <a:p>
            <a:pPr indent="0" marL="0">
              <a:buNone/>
            </a:pPr>
            <a:r>
              <a:rPr lang="ko-KR" altLang="en-US" sz="1850" b="1" dirty="0">
                <a:solidFill>
                  <a:srgbClr val="FFFFFF"/>
                </a:solidFill>
              </a:rPr>
              <a:t>카메라 측정을 언제, 얼마나 믿어야 하는지 정량적 근거를 제시한다</a:t>
            </a:r>
            <a:endParaRPr lang="ko-KR" sz="1850" dirty="0"/>
          </a:p>
        </p:txBody>
      </p:sp>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270248" y="685800"/>
            <a:ext cx="3657600" cy="3657600"/>
          </a:xfrm>
          <a:prstGeom prst="ellipse">
            <a:avLst/>
          </a:prstGeom>
          <a:solidFill>
            <a:srgbClr val="EEF5FC"/>
          </a:solidFill>
          <a:ln w="12700">
            <a:solidFill>
              <a:srgbClr val="EEF5FC"/>
            </a:solidFill>
            <a:prstDash val="solid"/>
          </a:ln>
        </p:spPr>
      </p:sp>
      <p:sp>
        <p:nvSpPr>
          <p:cNvPr id="3" name="Text 1"/>
          <p:cNvSpPr txBox="1"/>
          <p:nvPr/>
        </p:nvSpPr>
        <p:spPr>
          <a:xfrm>
            <a:off x="0" y="1600200"/>
            <a:ext cx="12191695" cy="822960"/>
          </a:xfrm>
          <a:prstGeom prst="rect">
            <a:avLst/>
          </a:prstGeom>
          <a:noFill/>
          <a:ln/>
        </p:spPr>
        <p:txBody>
          <a:bodyPr wrap="square" lIns="0" tIns="0" rIns="0" bIns="0" rtlCol="0" anchor="ctr"/>
          <a:lstStyle/>
          <a:p>
            <a:pPr algn="ctr" indent="0" marL="0">
              <a:buNone/>
            </a:pPr>
            <a:r>
              <a:rPr lang="ko-KR" altLang="en-US" sz="4000" b="1" dirty="0">
                <a:solidFill>
                  <a:srgbClr val="1B2559"/>
                </a:solidFill>
              </a:rPr>
              <a:t>감사합니다</a:t>
            </a:r>
            <a:endParaRPr lang="ko-KR" sz="4000" dirty="0"/>
          </a:p>
        </p:txBody>
      </p:sp>
      <p:sp>
        <p:nvSpPr>
          <p:cNvPr id="4" name="Text 2"/>
          <p:cNvSpPr txBox="1"/>
          <p:nvPr/>
        </p:nvSpPr>
        <p:spPr>
          <a:xfrm>
            <a:off x="0" y="2377440"/>
            <a:ext cx="12191695" cy="1005840"/>
          </a:xfrm>
          <a:prstGeom prst="rect">
            <a:avLst/>
          </a:prstGeom>
          <a:noFill/>
          <a:ln/>
        </p:spPr>
        <p:txBody>
          <a:bodyPr wrap="square" lIns="0" tIns="0" rIns="0" bIns="0" rtlCol="0" anchor="ctr"/>
          <a:lstStyle/>
          <a:p>
            <a:pPr algn="ctr" indent="0" marL="0">
              <a:buNone/>
            </a:pPr>
            <a:r>
              <a:rPr lang="ko-KR" altLang="en-US" sz="6000" b="1" dirty="0">
                <a:solidFill>
                  <a:srgbClr val="7DB3E0"/>
                </a:solidFill>
              </a:rPr>
              <a:t>Q&amp;A</a:t>
            </a:r>
            <a:endParaRPr lang="ko-KR" sz="6000" dirty="0"/>
          </a:p>
        </p:txBody>
      </p:sp>
      <p:sp>
        <p:nvSpPr>
          <p:cNvPr id="5" name="Text 3"/>
          <p:cNvSpPr txBox="1"/>
          <p:nvPr/>
        </p:nvSpPr>
        <p:spPr>
          <a:xfrm>
            <a:off x="914400" y="4572000"/>
            <a:ext cx="10362895" cy="822960"/>
          </a:xfrm>
          <a:prstGeom prst="rect">
            <a:avLst/>
          </a:prstGeom>
          <a:noFill/>
          <a:ln/>
        </p:spPr>
        <p:txBody>
          <a:bodyPr wrap="square" lIns="0" tIns="0" rIns="0" bIns="0" rtlCol="0" anchor="ctr"/>
          <a:lstStyle/>
          <a:p>
            <a:pPr algn="ctr" indent="0" marL="0">
              <a:buNone/>
            </a:pPr>
            <a:r>
              <a:rPr lang="ko-KR" altLang="en-US" sz="1700" b="1" dirty="0">
                <a:solidFill>
                  <a:srgbClr val="26357A"/>
                </a:solidFill>
              </a:rPr>
              <a:t>GPS 사용 불가 환경에서 비전 보조 항법을 위한 다중센서 융합</a:t>
            </a:r>
            <a:endParaRPr lang="ko-KR" sz="1700" dirty="0"/>
          </a:p>
          <a:p>
            <a:pPr algn="ctr" indent="0" marL="0">
              <a:buNone/>
            </a:pPr>
            <a:r>
              <a:rPr lang="ko-KR" altLang="en-US" sz="1400" dirty="0">
                <a:solidFill>
                  <a:srgbClr val="5F6878"/>
                </a:solidFill>
              </a:rPr>
              <a:t>박찬혁 · 부산대학교 기계공학부 제어자동화시스템 · 지도교수 안창선 교수님</a:t>
            </a:r>
            <a:endParaRPr lang="ko-KR"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298448" y="118872"/>
            <a:ext cx="7680960" cy="640080"/>
          </a:xfrm>
          <a:prstGeom prst="rect">
            <a:avLst/>
          </a:prstGeom>
          <a:noFill/>
          <a:ln/>
        </p:spPr>
        <p:txBody>
          <a:bodyPr wrap="square" lIns="0" tIns="0" rIns="0" bIns="0" rtlCol="0" anchor="ctr"/>
          <a:lstStyle/>
          <a:p>
            <a:pPr algn="l" indent="0" marL="0">
              <a:buNone/>
            </a:pPr>
            <a:r>
              <a:rPr lang="en-US" sz="2800" b="1" dirty="0">
                <a:solidFill>
                  <a:srgbClr val="FFFFFF"/>
                </a:solidFill>
              </a:rPr>
              <a:t>부록 1. 참고문헌</a:t>
            </a:r>
            <a:endParaRPr lang="en-US" sz="2800" dirty="0"/>
          </a:p>
        </p:txBody>
      </p:sp>
      <p:sp>
        <p:nvSpPr>
          <p:cNvPr id="3" name="Text 0"/>
          <p:cNvSpPr/>
          <p:nvPr>
            <p:ph idx="102" type="body" hasCustomPrompt="1"/>
          </p:nvPr>
        </p:nvSpPr>
        <p:spPr>
          <a:xfrm>
            <a:off x="8229600" y="228600"/>
            <a:ext cx="3410712" cy="411480"/>
          </a:xfrm>
          <a:prstGeom prst="rect">
            <a:avLst/>
          </a:prstGeom>
          <a:noFill/>
          <a:ln/>
        </p:spPr>
        <p:txBody>
          <a:bodyPr wrap="square" lIns="0" tIns="0" rIns="0" bIns="0" rtlCol="0" anchor="ctr"/>
          <a:lstStyle/>
          <a:p>
            <a:pPr algn="r" indent="0" marL="0">
              <a:buNone/>
            </a:pPr>
            <a:r>
              <a:rPr lang="en-US" sz="1300" i="1" dirty="0">
                <a:solidFill>
                  <a:srgbClr val="C3D8F2"/>
                </a:solidFill>
              </a:rPr>
              <a:t>Appendix · References</a:t>
            </a:r>
            <a:endParaRPr lang="en-US" sz="1300" dirty="0"/>
          </a:p>
        </p:txBody>
      </p:sp>
      <p:sp>
        <p:nvSpPr>
          <p:cNvPr id="4" name="Text 2"/>
          <p:cNvSpPr/>
          <p:nvPr/>
        </p:nvSpPr>
        <p:spPr>
          <a:xfrm>
            <a:off x="548640" y="182880"/>
            <a:ext cx="603504" cy="502920"/>
          </a:xfrm>
          <a:prstGeom prst="roundRect">
            <a:avLst>
              <a:gd name="adj" fmla="val 14545"/>
            </a:avLst>
          </a:prstGeom>
          <a:solidFill>
            <a:srgbClr val="7DB3E0"/>
          </a:solidFill>
          <a:ln/>
        </p:spPr>
        <p:txBody>
          <a:bodyPr wrap="square" lIns="0" tIns="0" rIns="0" bIns="0" rtlCol="0" anchor="ctr"/>
          <a:lstStyle/>
          <a:p>
            <a:pPr algn="ctr" indent="0" marL="0">
              <a:buNone/>
            </a:pPr>
            <a:r>
              <a:rPr lang="en-US" sz="1800" b="1" dirty="0">
                <a:solidFill>
                  <a:srgbClr val="1B2559"/>
                </a:solidFill>
              </a:rPr>
              <a:t>A1</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078992"/>
          <a:ext cx="11094415" cy="914400"/>
        </p:xfrm>
        <a:graphic>
          <a:graphicData uri="http://schemas.openxmlformats.org/drawingml/2006/table">
            <a:tbl>
              <a:tblPr/>
              <a:tblGrid>
                <a:gridCol w="411480"/>
                <a:gridCol w="8229600"/>
                <a:gridCol w="2453335"/>
              </a:tblGrid>
              <a:tr h="365760">
                <a:tc>
                  <a:txBody>
                    <a:bodyPr/>
                    <a:lstStyle/>
                    <a:p>
                      <a:pPr algn="ctr" indent="0" marL="0">
                        <a:buNone/>
                      </a:pPr>
                      <a:r>
                        <a:rPr lang="en-US" sz="1050" b="1" dirty="0">
                          <a:solidFill>
                            <a:srgbClr val="1B2559"/>
                          </a:solidFill>
                        </a:rPr>
                        <a:t>#</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DCEBF8"/>
                    </a:solidFill>
                  </a:tcPr>
                </a:tc>
                <a:tc>
                  <a:txBody>
                    <a:bodyPr/>
                    <a:lstStyle/>
                    <a:p>
                      <a:pPr indent="0" marL="0">
                        <a:buNone/>
                      </a:pPr>
                      <a:r>
                        <a:rPr lang="en-US" sz="1050" b="1" dirty="0">
                          <a:solidFill>
                            <a:srgbClr val="1B2559"/>
                          </a:solidFill>
                        </a:rPr>
                        <a:t>문헌</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DCEBF8"/>
                    </a:solidFill>
                  </a:tcPr>
                </a:tc>
                <a:tc>
                  <a:txBody>
                    <a:bodyPr/>
                    <a:lstStyle/>
                    <a:p>
                      <a:pPr indent="0" marL="0">
                        <a:buNone/>
                      </a:pPr>
                      <a:r>
                        <a:rPr lang="en-US" sz="1050" b="1" dirty="0">
                          <a:solidFill>
                            <a:srgbClr val="1B2559"/>
                          </a:solidFill>
                        </a:rPr>
                        <a:t>본 연구에서의 역할</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DCEBF8"/>
                    </a:solidFill>
                  </a:tcPr>
                </a:tc>
              </a:tr>
              <a:tr h="365760">
                <a:tc>
                  <a:txBody>
                    <a:bodyPr/>
                    <a:lstStyle/>
                    <a:p>
                      <a:pPr algn="ctr" indent="0" marL="0">
                        <a:buNone/>
                      </a:pPr>
                      <a:r>
                        <a:rPr lang="en-US" sz="1050" dirty="0">
                          <a:solidFill>
                            <a:srgbClr val="5F6878"/>
                          </a:solidFill>
                        </a:rPr>
                        <a:t>1</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R. E. Kalman, “A New Approach to Linear Filtering and Prediction Problems,” J. Basic Eng., 82(1), 1960.</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Kalman Filter 기본 구조</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r h="365760">
                <a:tc>
                  <a:txBody>
                    <a:bodyPr/>
                    <a:lstStyle/>
                    <a:p>
                      <a:pPr algn="ctr" indent="0" marL="0">
                        <a:buNone/>
                      </a:pPr>
                      <a:r>
                        <a:rPr lang="en-US" sz="1050" dirty="0">
                          <a:solidFill>
                            <a:srgbClr val="5F6878"/>
                          </a:solidFill>
                        </a:rPr>
                        <a:t>2</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R. K. Mehra, “On the Identification of Variances and Adaptive Kalman Filtering,” IEEE TAC, 15(2), 1970.</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적응형 Kalman Filter</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r h="365760">
                <a:tc>
                  <a:txBody>
                    <a:bodyPr/>
                    <a:lstStyle/>
                    <a:p>
                      <a:pPr algn="ctr" indent="0" marL="0">
                        <a:buNone/>
                      </a:pPr>
                      <a:r>
                        <a:rPr lang="en-US" sz="1050" dirty="0">
                          <a:solidFill>
                            <a:srgbClr val="5F6878"/>
                          </a:solidFill>
                        </a:rPr>
                        <a:t>3</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B. D. Lucas, T. Kanade, “An Iterative Image Registration Technique with an Application to Stereo Vision,” IJCAI, 1981.</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특징점 추적 (KLT의 기반)</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r h="365760">
                <a:tc>
                  <a:txBody>
                    <a:bodyPr/>
                    <a:lstStyle/>
                    <a:p>
                      <a:pPr algn="ctr" indent="0" marL="0">
                        <a:buNone/>
                      </a:pPr>
                      <a:r>
                        <a:rPr lang="en-US" sz="1050" dirty="0">
                          <a:solidFill>
                            <a:srgbClr val="5F6878"/>
                          </a:solidFill>
                        </a:rPr>
                        <a:t>4</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J. Shi, C. Tomasi, “Good Features to Track,” IEEE CVPR, 1994.</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특징점 검출 (Shi–Tomasi)</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r h="365760">
                <a:tc>
                  <a:txBody>
                    <a:bodyPr/>
                    <a:lstStyle/>
                    <a:p>
                      <a:pPr algn="ctr" indent="0" marL="0">
                        <a:buNone/>
                      </a:pPr>
                      <a:r>
                        <a:rPr lang="en-US" sz="1050" dirty="0">
                          <a:solidFill>
                            <a:srgbClr val="5F6878"/>
                          </a:solidFill>
                        </a:rPr>
                        <a:t>5</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A. I. Mourikis, S. I. Roumeliotis, “A Multi-State Constraint Kalman Filter for Vision-aided Inertial Navigation,” IEEE ICRA, 2007.</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필터 기반 VIO (MSCKF)</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r h="365760">
                <a:tc>
                  <a:txBody>
                    <a:bodyPr/>
                    <a:lstStyle/>
                    <a:p>
                      <a:pPr algn="ctr" indent="0" marL="0">
                        <a:buNone/>
                      </a:pPr>
                      <a:r>
                        <a:rPr lang="en-US" sz="1050" dirty="0">
                          <a:solidFill>
                            <a:srgbClr val="5F6878"/>
                          </a:solidFill>
                        </a:rPr>
                        <a:t>6</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S. Leutenegger et al., “Keyframe-based Visual–Inertial Odometry using Nonlinear Optimization,” IJRR, 34(3), 2015.</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최적화 기반 VIO (OKVIS)</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r h="365760">
                <a:tc>
                  <a:txBody>
                    <a:bodyPr/>
                    <a:lstStyle/>
                    <a:p>
                      <a:pPr algn="ctr" indent="0" marL="0">
                        <a:buNone/>
                      </a:pPr>
                      <a:r>
                        <a:rPr lang="en-US" sz="1050" dirty="0">
                          <a:solidFill>
                            <a:srgbClr val="5F6878"/>
                          </a:solidFill>
                        </a:rPr>
                        <a:t>7</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T. Qin, P. Li, S. Shen, “VINS-Mono: A Robust and Versatile Monocular Visual-Inertial State Estimator,” IEEE T-RO, 34(4), 2018.</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최적화 기반 단안 VIO</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r h="365760">
                <a:tc>
                  <a:txBody>
                    <a:bodyPr/>
                    <a:lstStyle/>
                    <a:p>
                      <a:pPr algn="ctr" indent="0" marL="0">
                        <a:buNone/>
                      </a:pPr>
                      <a:r>
                        <a:rPr lang="en-US" sz="1050" dirty="0">
                          <a:solidFill>
                            <a:srgbClr val="5F6878"/>
                          </a:solidFill>
                        </a:rPr>
                        <a:t>8</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D. Honegger et al., “An Open Source and Open Hardware Embedded Metric Optical Flow CMOS Camera for Indoor and Outdoor Applications,” IEEE ICRA, 2013.</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하향 flow 센서 (PX4Flow)</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r h="365760">
                <a:tc>
                  <a:txBody>
                    <a:bodyPr/>
                    <a:lstStyle/>
                    <a:p>
                      <a:pPr algn="ctr" indent="0" marL="0">
                        <a:buNone/>
                      </a:pPr>
                      <a:r>
                        <a:rPr lang="en-US" sz="1050" dirty="0">
                          <a:solidFill>
                            <a:srgbClr val="5F6878"/>
                          </a:solidFill>
                        </a:rPr>
                        <a:t>9</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V. Grabe et al., “Nonlinear Ego-Motion Estimation from Optical Flow for Online Control of a Quadrotor UAV,” IJRR, 34(8), 2015.</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flow 기반 자기운동 추정</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r h="365760">
                <a:tc>
                  <a:txBody>
                    <a:bodyPr/>
                    <a:lstStyle/>
                    <a:p>
                      <a:pPr algn="ctr" indent="0" marL="0">
                        <a:buNone/>
                      </a:pPr>
                      <a:r>
                        <a:rPr lang="en-US" sz="1050" dirty="0">
                          <a:solidFill>
                            <a:srgbClr val="5F6878"/>
                          </a:solidFill>
                        </a:rPr>
                        <a:t>10</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PX4 Autopilot, EKF2 optical flow fusion — optical_flow_control.cpp, optical_flow_fusion.cpp (main 브랜치, 2026. 10. 확인)</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flow 품질 → R 보간 · 저품질 제외</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r h="365760">
                <a:tc>
                  <a:txBody>
                    <a:bodyPr/>
                    <a:lstStyle/>
                    <a:p>
                      <a:pPr algn="ctr" indent="0" marL="0">
                        <a:buNone/>
                      </a:pPr>
                      <a:r>
                        <a:rPr lang="en-US" sz="1050" dirty="0">
                          <a:solidFill>
                            <a:srgbClr val="5F6878"/>
                          </a:solidFill>
                        </a:rPr>
                        <a:t>11</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U. Asil, E. Nasibov, “Adaptive Covariance and Quaternion-Focused Hybrid Error-State EKF/UKF for Visual-Inertial Odometry,” Int. J. Comput. Intell. Syst., 18, 2025 (arXiv:2512.17505).</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영상 신뢰도 기반 R 조절</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r h="365760">
                <a:tc>
                  <a:txBody>
                    <a:bodyPr/>
                    <a:lstStyle/>
                    <a:p>
                      <a:pPr algn="ctr" indent="0" marL="0">
                        <a:buNone/>
                      </a:pPr>
                      <a:r>
                        <a:rPr lang="en-US" sz="1050" dirty="0">
                          <a:solidFill>
                            <a:srgbClr val="5F6878"/>
                          </a:solidFill>
                        </a:rPr>
                        <a:t>12</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dirty="0">
                          <a:solidFill>
                            <a:srgbClr val="2B2F36"/>
                          </a:solidFill>
                        </a:rPr>
                        <a:t>C. Brommer et al., “The INSANE Dataset: Large Number of Sensors for Challenging UAV Flights in Mars Analog, Outdoor, and Out-/Indoor Transition Scenarios,” IJRR, 43(8), 2024.</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indent="0" marL="0">
                        <a:buNone/>
                      </a:pPr>
                      <a:r>
                        <a:rPr lang="en-US" sz="1050" b="1" dirty="0">
                          <a:solidFill>
                            <a:srgbClr val="1B2559"/>
                          </a:solidFill>
                        </a:rPr>
                        <a:t>공개 데이터셋 후보</a:t>
                      </a:r>
                      <a:endParaRPr lang="en-US" sz="1050" dirty="0"/>
                    </a:p>
                  </a:txBody>
                  <a:tcPr marL="73152" marR="73152" marT="27432" marB="27432"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298448" y="118872"/>
            <a:ext cx="7680960" cy="640080"/>
          </a:xfrm>
          <a:prstGeom prst="rect">
            <a:avLst/>
          </a:prstGeom>
          <a:noFill/>
          <a:ln/>
        </p:spPr>
        <p:txBody>
          <a:bodyPr wrap="square" lIns="0" tIns="0" rIns="0" bIns="0" rtlCol="0" anchor="ctr"/>
          <a:lstStyle/>
          <a:p>
            <a:pPr algn="l" indent="0" marL="0">
              <a:buNone/>
            </a:pPr>
            <a:r>
              <a:rPr lang="en-US" sz="2800" b="1" dirty="0">
                <a:solidFill>
                  <a:srgbClr val="FFFFFF"/>
                </a:solidFill>
              </a:rPr>
              <a:t>부록 2. Optical Flow 측정모델과 좌표계</a:t>
            </a:r>
            <a:endParaRPr lang="en-US" sz="2800" dirty="0"/>
          </a:p>
        </p:txBody>
      </p:sp>
      <p:sp>
        <p:nvSpPr>
          <p:cNvPr id="3" name="Text 0"/>
          <p:cNvSpPr/>
          <p:nvPr>
            <p:ph idx="102" type="body" hasCustomPrompt="1"/>
          </p:nvPr>
        </p:nvSpPr>
        <p:spPr>
          <a:xfrm>
            <a:off x="8229600" y="228600"/>
            <a:ext cx="3410712" cy="411480"/>
          </a:xfrm>
          <a:prstGeom prst="rect">
            <a:avLst/>
          </a:prstGeom>
          <a:noFill/>
          <a:ln/>
        </p:spPr>
        <p:txBody>
          <a:bodyPr wrap="square" lIns="0" tIns="0" rIns="0" bIns="0" rtlCol="0" anchor="ctr"/>
          <a:lstStyle/>
          <a:p>
            <a:pPr algn="r" indent="0" marL="0">
              <a:buNone/>
            </a:pPr>
            <a:r>
              <a:rPr lang="en-US" sz="1300" i="1" dirty="0">
                <a:solidFill>
                  <a:srgbClr val="C3D8F2"/>
                </a:solidFill>
              </a:rPr>
              <a:t>Appendix · Measurement Model</a:t>
            </a:r>
            <a:endParaRPr lang="en-US" sz="1300" dirty="0"/>
          </a:p>
        </p:txBody>
      </p:sp>
      <p:sp>
        <p:nvSpPr>
          <p:cNvPr id="4" name="Text 2"/>
          <p:cNvSpPr/>
          <p:nvPr/>
        </p:nvSpPr>
        <p:spPr>
          <a:xfrm>
            <a:off x="548640" y="182880"/>
            <a:ext cx="603504" cy="502920"/>
          </a:xfrm>
          <a:prstGeom prst="roundRect">
            <a:avLst>
              <a:gd name="adj" fmla="val 14545"/>
            </a:avLst>
          </a:prstGeom>
          <a:solidFill>
            <a:srgbClr val="7DB3E0"/>
          </a:solidFill>
          <a:ln/>
        </p:spPr>
        <p:txBody>
          <a:bodyPr wrap="square" lIns="0" tIns="0" rIns="0" bIns="0" rtlCol="0" anchor="ctr"/>
          <a:lstStyle/>
          <a:p>
            <a:pPr algn="ctr" indent="0" marL="0">
              <a:buNone/>
            </a:pPr>
            <a:r>
              <a:rPr lang="en-US" sz="1800" b="1" dirty="0">
                <a:solidFill>
                  <a:srgbClr val="1B2559"/>
                </a:solidFill>
              </a:rPr>
              <a:t>A2</a:t>
            </a:r>
            <a:endParaRPr lang="en-US" sz="1800" dirty="0"/>
          </a:p>
        </p:txBody>
      </p:sp>
      <p:sp>
        <p:nvSpPr>
          <p:cNvPr id="5" name="Shape 3"/>
          <p:cNvSpPr/>
          <p:nvPr/>
        </p:nvSpPr>
        <p:spPr>
          <a:xfrm>
            <a:off x="502920" y="1097280"/>
            <a:ext cx="5029200" cy="3997205"/>
          </a:xfrm>
          <a:prstGeom prst="roundRect">
            <a:avLst>
              <a:gd name="adj" fmla="val 1830"/>
            </a:avLst>
          </a:prstGeom>
          <a:solidFill>
            <a:srgbClr val="F3F6FB"/>
          </a:solidFill>
          <a:ln w="12700">
            <a:solidFill>
              <a:srgbClr val="F3F6FB"/>
            </a:solidFill>
            <a:prstDash val="solid"/>
          </a:ln>
        </p:spPr>
      </p:sp>
      <p:pic>
        <p:nvPicPr>
          <p:cNvPr id="6" name="Image 0" descr="기체 · 카메라 좌표계와 거리 관계 도식">    </p:cNvPr>
          <p:cNvPicPr>
            <a:picLocks noChangeAspect="1"/>
          </p:cNvPicPr>
          <p:nvPr/>
        </p:nvPicPr>
        <p:blipFill>
          <a:blip r:embed="rId1"/>
          <a:stretch>
            <a:fillRect/>
          </a:stretch>
        </p:blipFill>
        <p:spPr>
          <a:xfrm>
            <a:off x="548640" y="1188720"/>
            <a:ext cx="4937760" cy="3494285"/>
          </a:xfrm>
          <a:prstGeom prst="rect">
            <a:avLst/>
          </a:prstGeom>
        </p:spPr>
      </p:pic>
      <p:sp>
        <p:nvSpPr>
          <p:cNvPr id="7" name="Text 4"/>
          <p:cNvSpPr txBox="1"/>
          <p:nvPr/>
        </p:nvSpPr>
        <p:spPr>
          <a:xfrm>
            <a:off x="3578254" y="1515100"/>
            <a:ext cx="1371600" cy="237744"/>
          </a:xfrm>
          <a:prstGeom prst="rect">
            <a:avLst/>
          </a:prstGeom>
          <a:noFill/>
          <a:ln/>
        </p:spPr>
        <p:txBody>
          <a:bodyPr wrap="square" lIns="0" tIns="0" rIns="0" bIns="0" rtlCol="0" anchor="t"/>
          <a:lstStyle/>
          <a:p>
            <a:pPr indent="0" marL="0">
              <a:buNone/>
            </a:pPr>
            <a:r>
              <a:rPr lang="ko-KR" altLang="en-US" sz="1200" b="1" dirty="0">
                <a:solidFill>
                  <a:srgbClr val="3B5BA9"/>
                </a:solidFill>
              </a:rPr>
              <a:t>x</a:t>
            </a:r>
            <a:pPr indent="0" marL="0">
              <a:buNone/>
            </a:pPr>
            <a:r>
              <a:rPr lang="ko-KR" altLang="en-US" sz="1200" b="1" baseline="-40000" dirty="0">
                <a:solidFill>
                  <a:srgbClr val="3B5BA9"/>
                </a:solidFill>
              </a:rPr>
              <a:t>B</a:t>
            </a:r>
            <a:pPr indent="0" marL="0">
              <a:buNone/>
            </a:pPr>
            <a:r>
              <a:rPr lang="ko-KR" altLang="en-US" sz="1200" b="1" dirty="0">
                <a:solidFill>
                  <a:srgbClr val="3B5BA9"/>
                </a:solidFill>
              </a:rPr>
              <a:t> (기체 전방)</a:t>
            </a:r>
            <a:endParaRPr lang="ko-KR" sz="1200" dirty="0"/>
          </a:p>
        </p:txBody>
      </p:sp>
      <p:sp>
        <p:nvSpPr>
          <p:cNvPr id="8" name="Text 5"/>
          <p:cNvSpPr txBox="1"/>
          <p:nvPr/>
        </p:nvSpPr>
        <p:spPr>
          <a:xfrm>
            <a:off x="4643756" y="1161802"/>
            <a:ext cx="274320" cy="237744"/>
          </a:xfrm>
          <a:prstGeom prst="rect">
            <a:avLst/>
          </a:prstGeom>
          <a:noFill/>
          <a:ln/>
        </p:spPr>
        <p:txBody>
          <a:bodyPr wrap="square" lIns="0" tIns="0" rIns="0" bIns="0" rtlCol="0" anchor="t"/>
          <a:lstStyle/>
          <a:p>
            <a:pPr indent="0" marL="0">
              <a:buNone/>
            </a:pPr>
            <a:r>
              <a:rPr lang="ko-KR" altLang="en-US" sz="1200" b="1" dirty="0">
                <a:solidFill>
                  <a:srgbClr val="E07B39"/>
                </a:solidFill>
              </a:rPr>
              <a:t>v</a:t>
            </a:r>
            <a:endParaRPr lang="ko-KR" sz="1200" dirty="0"/>
          </a:p>
        </p:txBody>
      </p:sp>
      <p:sp>
        <p:nvSpPr>
          <p:cNvPr id="9" name="Text 6"/>
          <p:cNvSpPr txBox="1"/>
          <p:nvPr/>
        </p:nvSpPr>
        <p:spPr>
          <a:xfrm>
            <a:off x="2372555" y="3057274"/>
            <a:ext cx="274320" cy="237744"/>
          </a:xfrm>
          <a:prstGeom prst="rect">
            <a:avLst/>
          </a:prstGeom>
          <a:noFill/>
          <a:ln/>
        </p:spPr>
        <p:txBody>
          <a:bodyPr wrap="square" lIns="0" tIns="0" rIns="0" bIns="0" rtlCol="0" anchor="t"/>
          <a:lstStyle/>
          <a:p>
            <a:pPr indent="0" marL="0">
              <a:buNone/>
            </a:pPr>
            <a:r>
              <a:rPr lang="ko-KR" altLang="en-US" sz="1200" b="1" dirty="0">
                <a:solidFill>
                  <a:srgbClr val="5F6878"/>
                </a:solidFill>
              </a:rPr>
              <a:t>h</a:t>
            </a:r>
            <a:endParaRPr lang="ko-KR" sz="1200" dirty="0"/>
          </a:p>
        </p:txBody>
      </p:sp>
      <p:sp>
        <p:nvSpPr>
          <p:cNvPr id="10" name="Text 7"/>
          <p:cNvSpPr txBox="1"/>
          <p:nvPr/>
        </p:nvSpPr>
        <p:spPr>
          <a:xfrm>
            <a:off x="3353938" y="3786301"/>
            <a:ext cx="1280160" cy="237744"/>
          </a:xfrm>
          <a:prstGeom prst="rect">
            <a:avLst/>
          </a:prstGeom>
          <a:noFill/>
          <a:ln/>
        </p:spPr>
        <p:txBody>
          <a:bodyPr wrap="square" lIns="0" tIns="0" rIns="0" bIns="0" rtlCol="0" anchor="t"/>
          <a:lstStyle/>
          <a:p>
            <a:pPr indent="0" marL="0">
              <a:buNone/>
            </a:pPr>
            <a:r>
              <a:rPr lang="ko-KR" altLang="en-US" sz="1200" b="1" dirty="0">
                <a:solidFill>
                  <a:srgbClr val="E07B39"/>
                </a:solidFill>
              </a:rPr>
              <a:t>d (광축 거리)</a:t>
            </a:r>
            <a:endParaRPr lang="ko-KR" sz="1200" dirty="0"/>
          </a:p>
        </p:txBody>
      </p:sp>
      <p:sp>
        <p:nvSpPr>
          <p:cNvPr id="11" name="Text 8"/>
          <p:cNvSpPr txBox="1"/>
          <p:nvPr/>
        </p:nvSpPr>
        <p:spPr>
          <a:xfrm>
            <a:off x="2680990" y="2917076"/>
            <a:ext cx="274320" cy="237744"/>
          </a:xfrm>
          <a:prstGeom prst="rect">
            <a:avLst/>
          </a:prstGeom>
          <a:noFill/>
          <a:ln/>
        </p:spPr>
        <p:txBody>
          <a:bodyPr wrap="square" lIns="0" tIns="0" rIns="0" bIns="0" rtlCol="0" anchor="t"/>
          <a:lstStyle/>
          <a:p>
            <a:pPr indent="0" marL="0">
              <a:buNone/>
            </a:pPr>
            <a:r>
              <a:rPr lang="ko-KR" altLang="en-US" sz="1200" b="1" dirty="0">
                <a:solidFill>
                  <a:srgbClr val="1B2559"/>
                </a:solidFill>
              </a:rPr>
              <a:t>θ</a:t>
            </a:r>
            <a:endParaRPr lang="ko-KR" sz="1200" dirty="0"/>
          </a:p>
        </p:txBody>
      </p:sp>
      <p:sp>
        <p:nvSpPr>
          <p:cNvPr id="12" name="Text 9"/>
          <p:cNvSpPr txBox="1"/>
          <p:nvPr/>
        </p:nvSpPr>
        <p:spPr>
          <a:xfrm>
            <a:off x="1492114" y="3477867"/>
            <a:ext cx="548640" cy="237744"/>
          </a:xfrm>
          <a:prstGeom prst="rect">
            <a:avLst/>
          </a:prstGeom>
          <a:noFill/>
          <a:ln/>
        </p:spPr>
        <p:txBody>
          <a:bodyPr wrap="square" lIns="0" tIns="0" rIns="0" bIns="0" rtlCol="0" anchor="t"/>
          <a:lstStyle/>
          <a:p>
            <a:pPr indent="0" marL="0">
              <a:buNone/>
            </a:pPr>
            <a:r>
              <a:rPr lang="ko-KR" altLang="en-US" sz="1200" b="1" dirty="0">
                <a:solidFill>
                  <a:srgbClr val="1B2559"/>
                </a:solidFill>
              </a:rPr>
              <a:t>x</a:t>
            </a:r>
            <a:pPr indent="0" marL="0">
              <a:buNone/>
            </a:pPr>
            <a:r>
              <a:rPr lang="ko-KR" altLang="en-US" sz="1200" b="1" baseline="-40000" dirty="0">
                <a:solidFill>
                  <a:srgbClr val="1B2559"/>
                </a:solidFill>
              </a:rPr>
              <a:t>W</a:t>
            </a:r>
            <a:endParaRPr lang="ko-KR" sz="1200" dirty="0"/>
          </a:p>
        </p:txBody>
      </p:sp>
      <p:sp>
        <p:nvSpPr>
          <p:cNvPr id="13" name="Text 10"/>
          <p:cNvSpPr txBox="1"/>
          <p:nvPr/>
        </p:nvSpPr>
        <p:spPr>
          <a:xfrm>
            <a:off x="897676" y="4094736"/>
            <a:ext cx="548640" cy="237744"/>
          </a:xfrm>
          <a:prstGeom prst="rect">
            <a:avLst/>
          </a:prstGeom>
          <a:noFill/>
          <a:ln/>
        </p:spPr>
        <p:txBody>
          <a:bodyPr wrap="square" lIns="0" tIns="0" rIns="0" bIns="0" rtlCol="0" anchor="t"/>
          <a:lstStyle/>
          <a:p>
            <a:pPr indent="0" marL="0">
              <a:buNone/>
            </a:pPr>
            <a:r>
              <a:rPr lang="ko-KR" altLang="en-US" sz="1200" b="1" dirty="0">
                <a:solidFill>
                  <a:srgbClr val="1B2559"/>
                </a:solidFill>
              </a:rPr>
              <a:t>z</a:t>
            </a:r>
            <a:pPr indent="0" marL="0">
              <a:buNone/>
            </a:pPr>
            <a:r>
              <a:rPr lang="ko-KR" altLang="en-US" sz="1200" b="1" baseline="-40000" dirty="0">
                <a:solidFill>
                  <a:srgbClr val="1B2559"/>
                </a:solidFill>
              </a:rPr>
              <a:t>W</a:t>
            </a:r>
            <a:endParaRPr lang="ko-KR" sz="1200" dirty="0"/>
          </a:p>
        </p:txBody>
      </p:sp>
      <p:sp>
        <p:nvSpPr>
          <p:cNvPr id="14" name="Text 11"/>
          <p:cNvSpPr txBox="1"/>
          <p:nvPr/>
        </p:nvSpPr>
        <p:spPr>
          <a:xfrm>
            <a:off x="4139045" y="4403171"/>
            <a:ext cx="1371600" cy="237744"/>
          </a:xfrm>
          <a:prstGeom prst="rect">
            <a:avLst/>
          </a:prstGeom>
          <a:noFill/>
          <a:ln/>
        </p:spPr>
        <p:txBody>
          <a:bodyPr wrap="square" lIns="0" tIns="0" rIns="0" bIns="0" rtlCol="0" anchor="t"/>
          <a:lstStyle/>
          <a:p>
            <a:pPr indent="0" marL="0">
              <a:buNone/>
            </a:pPr>
            <a:r>
              <a:rPr lang="ko-KR" altLang="en-US" sz="1100" b="1" dirty="0">
                <a:solidFill>
                  <a:srgbClr val="5F6878"/>
                </a:solidFill>
              </a:rPr>
              <a:t>평탄 지면 가정</a:t>
            </a:r>
            <a:endParaRPr lang="ko-KR" sz="1100" dirty="0"/>
          </a:p>
        </p:txBody>
      </p:sp>
      <p:sp>
        <p:nvSpPr>
          <p:cNvPr id="15" name="Text 12"/>
          <p:cNvSpPr txBox="1"/>
          <p:nvPr/>
        </p:nvSpPr>
        <p:spPr>
          <a:xfrm>
            <a:off x="594360" y="4728725"/>
            <a:ext cx="4846320" cy="347472"/>
          </a:xfrm>
          <a:prstGeom prst="rect">
            <a:avLst/>
          </a:prstGeom>
          <a:noFill/>
          <a:ln/>
        </p:spPr>
        <p:txBody>
          <a:bodyPr wrap="square" lIns="0" tIns="0" rIns="0" bIns="0" rtlCol="0" anchor="t"/>
          <a:lstStyle/>
          <a:p>
            <a:pPr indent="0" marL="0">
              <a:buNone/>
            </a:pPr>
            <a:r>
              <a:rPr lang="ko-KR" altLang="en-US" sz="1050" dirty="0">
                <a:solidFill>
                  <a:srgbClr val="5F6878"/>
                </a:solidFill>
              </a:rPr>
              <a:t>카메라는 하향(광축 ≈ 기체 z축), 거리 센서는 광축 방향 거리 d를 측정한다고 가정 (장착 오프셋은 보정 필요)</a:t>
            </a:r>
            <a:endParaRPr lang="ko-KR" sz="1050" dirty="0"/>
          </a:p>
        </p:txBody>
      </p:sp>
      <p:sp>
        <p:nvSpPr>
          <p:cNvPr id="16" name="Text 13"/>
          <p:cNvSpPr txBox="1"/>
          <p:nvPr/>
        </p:nvSpPr>
        <p:spPr>
          <a:xfrm>
            <a:off x="5806440" y="1097280"/>
            <a:ext cx="5836615" cy="274320"/>
          </a:xfrm>
          <a:prstGeom prst="rect">
            <a:avLst/>
          </a:prstGeom>
          <a:noFill/>
          <a:ln/>
        </p:spPr>
        <p:txBody>
          <a:bodyPr wrap="square" lIns="0" tIns="0" rIns="0" bIns="0" rtlCol="0" anchor="t"/>
          <a:lstStyle/>
          <a:p>
            <a:pPr indent="0" marL="0">
              <a:buNone/>
            </a:pPr>
            <a:r>
              <a:rPr lang="ko-KR" altLang="en-US" sz="1350" b="1" dirty="0">
                <a:solidFill>
                  <a:srgbClr val="3B5BA9"/>
                </a:solidFill>
              </a:rPr>
              <a:t>① 영상 운동 (핀홀, 영상 중심 근처의 정적 지면점)</a:t>
            </a:r>
            <a:endParaRPr lang="ko-KR" sz="1350" dirty="0"/>
          </a:p>
        </p:txBody>
      </p:sp>
      <p:sp>
        <p:nvSpPr>
          <p:cNvPr id="17" name="Text 14"/>
          <p:cNvSpPr txBox="1"/>
          <p:nvPr/>
        </p:nvSpPr>
        <p:spPr>
          <a:xfrm>
            <a:off x="5943600" y="1389888"/>
            <a:ext cx="5699455" cy="365760"/>
          </a:xfrm>
          <a:prstGeom prst="rect">
            <a:avLst/>
          </a:prstGeom>
          <a:noFill/>
          <a:ln/>
        </p:spPr>
        <p:txBody>
          <a:bodyPr wrap="square" lIns="0" tIns="0" rIns="0" bIns="0" rtlCol="0" anchor="ctr"/>
          <a:lstStyle/>
          <a:p>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ẋ ≈ −v</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x</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 Z − ω</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y</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     ẏ ≈ −v</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y</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 Z + ω</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x</a:t>
            </a:r>
            <a:endParaRPr lang="ko-KR" sz="1700" dirty="0"/>
          </a:p>
        </p:txBody>
      </p:sp>
      <p:sp>
        <p:nvSpPr>
          <p:cNvPr id="18" name="Text 15"/>
          <p:cNvSpPr txBox="1"/>
          <p:nvPr/>
        </p:nvSpPr>
        <p:spPr>
          <a:xfrm>
            <a:off x="5943600" y="1764792"/>
            <a:ext cx="5699455" cy="237744"/>
          </a:xfrm>
          <a:prstGeom prst="rect">
            <a:avLst/>
          </a:prstGeom>
          <a:noFill/>
          <a:ln/>
        </p:spPr>
        <p:txBody>
          <a:bodyPr wrap="square" lIns="0" tIns="0" rIns="0" bIns="0" rtlCol="0" anchor="t"/>
          <a:lstStyle/>
          <a:p>
            <a:pPr indent="0" marL="0">
              <a:buNone/>
            </a:pPr>
            <a:r>
              <a:rPr lang="ko-KR" altLang="en-US" sz="1100" dirty="0">
                <a:solidFill>
                  <a:srgbClr val="5F6878"/>
                </a:solidFill>
              </a:rPr>
              <a:t>v, ω: 카메라 좌표계(C) 성분 · 병진(÷ 깊이 Z)과 회전이 합쳐짐 · 부호는 축 정의에 따름</a:t>
            </a:r>
            <a:endParaRPr lang="ko-KR" sz="1100" dirty="0"/>
          </a:p>
        </p:txBody>
      </p:sp>
      <p:sp>
        <p:nvSpPr>
          <p:cNvPr id="19" name="Text 16"/>
          <p:cNvSpPr txBox="1"/>
          <p:nvPr/>
        </p:nvSpPr>
        <p:spPr>
          <a:xfrm>
            <a:off x="5806440" y="2084832"/>
            <a:ext cx="5836615" cy="274320"/>
          </a:xfrm>
          <a:prstGeom prst="rect">
            <a:avLst/>
          </a:prstGeom>
          <a:noFill/>
          <a:ln/>
        </p:spPr>
        <p:txBody>
          <a:bodyPr wrap="square" lIns="0" tIns="0" rIns="0" bIns="0" rtlCol="0" anchor="t"/>
          <a:lstStyle/>
          <a:p>
            <a:pPr indent="0" marL="0">
              <a:buNone/>
            </a:pPr>
            <a:r>
              <a:rPr lang="ko-KR" altLang="en-US" sz="1350" b="1" dirty="0">
                <a:solidFill>
                  <a:srgbClr val="3B5BA9"/>
                </a:solidFill>
              </a:rPr>
              <a:t>② 픽셀 → 각도 (카메라 내부 파라미터)</a:t>
            </a:r>
            <a:endParaRPr lang="ko-KR" sz="1350" dirty="0"/>
          </a:p>
        </p:txBody>
      </p:sp>
      <p:sp>
        <p:nvSpPr>
          <p:cNvPr id="20" name="Text 17"/>
          <p:cNvSpPr txBox="1"/>
          <p:nvPr/>
        </p:nvSpPr>
        <p:spPr>
          <a:xfrm>
            <a:off x="5943600" y="2377440"/>
            <a:ext cx="5699455" cy="365760"/>
          </a:xfrm>
          <a:prstGeom prst="rect">
            <a:avLst/>
          </a:prstGeom>
          <a:noFill/>
          <a:ln/>
        </p:spPr>
        <p:txBody>
          <a:bodyPr wrap="square" lIns="0" tIns="0" rIns="0" bIns="0" rtlCol="0" anchor="ctr"/>
          <a:lstStyle/>
          <a:p>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ẋ ≈ (Δu / f</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px</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 Δt</a:t>
            </a:r>
            <a:endParaRPr lang="ko-KR" sz="1700" dirty="0"/>
          </a:p>
        </p:txBody>
      </p:sp>
      <p:sp>
        <p:nvSpPr>
          <p:cNvPr id="21" name="Text 18"/>
          <p:cNvSpPr txBox="1"/>
          <p:nvPr/>
        </p:nvSpPr>
        <p:spPr>
          <a:xfrm>
            <a:off x="5943600" y="2752344"/>
            <a:ext cx="5699455" cy="237744"/>
          </a:xfrm>
          <a:prstGeom prst="rect">
            <a:avLst/>
          </a:prstGeom>
          <a:noFill/>
          <a:ln/>
        </p:spPr>
        <p:txBody>
          <a:bodyPr wrap="square" lIns="0" tIns="0" rIns="0" bIns="0" rtlCol="0" anchor="t"/>
          <a:lstStyle/>
          <a:p>
            <a:pPr indent="0" marL="0">
              <a:buNone/>
            </a:pPr>
            <a:r>
              <a:rPr lang="ko-KR" altLang="en-US" sz="1100" dirty="0">
                <a:solidFill>
                  <a:srgbClr val="5F6878"/>
                </a:solidFill>
              </a:rPr>
              <a:t>f_px: 픽셀 단위 초점거리 · Δt: 프레임 간격 (왜곡 보정 후)</a:t>
            </a:r>
            <a:endParaRPr lang="ko-KR" sz="1100" dirty="0"/>
          </a:p>
        </p:txBody>
      </p:sp>
      <p:sp>
        <p:nvSpPr>
          <p:cNvPr id="22" name="Text 19"/>
          <p:cNvSpPr txBox="1"/>
          <p:nvPr/>
        </p:nvSpPr>
        <p:spPr>
          <a:xfrm>
            <a:off x="5806440" y="3072384"/>
            <a:ext cx="5836615" cy="274320"/>
          </a:xfrm>
          <a:prstGeom prst="rect">
            <a:avLst/>
          </a:prstGeom>
          <a:noFill/>
          <a:ln/>
        </p:spPr>
        <p:txBody>
          <a:bodyPr wrap="square" lIns="0" tIns="0" rIns="0" bIns="0" rtlCol="0" anchor="t"/>
          <a:lstStyle/>
          <a:p>
            <a:pPr indent="0" marL="0">
              <a:buNone/>
            </a:pPr>
            <a:r>
              <a:rPr lang="ko-KR" altLang="en-US" sz="1350" b="1" dirty="0">
                <a:solidFill>
                  <a:srgbClr val="3B5BA9"/>
                </a:solidFill>
              </a:rPr>
              <a:t>③ 회전 보상 · 좌표변환 (외부 파라미터)</a:t>
            </a:r>
            <a:endParaRPr lang="ko-KR" sz="1350" dirty="0"/>
          </a:p>
        </p:txBody>
      </p:sp>
      <p:sp>
        <p:nvSpPr>
          <p:cNvPr id="23" name="Text 20"/>
          <p:cNvSpPr txBox="1"/>
          <p:nvPr/>
        </p:nvSpPr>
        <p:spPr>
          <a:xfrm>
            <a:off x="5943600" y="3364992"/>
            <a:ext cx="5699455" cy="365760"/>
          </a:xfrm>
          <a:prstGeom prst="rect">
            <a:avLst/>
          </a:prstGeom>
          <a:noFill/>
          <a:ln/>
        </p:spPr>
        <p:txBody>
          <a:bodyPr wrap="square" lIns="0" tIns="0" rIns="0" bIns="0" rtlCol="0" anchor="ctr"/>
          <a:lstStyle/>
          <a:p>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ω</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C</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 R</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CB</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ω</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B</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   v</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C</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 R</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CB</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 R(q)</a:t>
            </a:r>
            <a:pPr indent="0" marL="0">
              <a:buNone/>
            </a:pPr>
            <a:r>
              <a:rPr lang="ko-KR" altLang="en-US" sz="1700" baseline="30000" dirty="0">
                <a:solidFill>
                  <a:srgbClr val="1B2559"/>
                </a:solidFill>
                <a:latin typeface="Times New Roman" pitchFamily="34" charset="0"/>
                <a:ea typeface="Times New Roman" pitchFamily="34" charset="-122"/>
                <a:cs typeface="Times New Roman" pitchFamily="34" charset="-120"/>
              </a:rPr>
              <a:t>T</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v</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W</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 ω</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B</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 r</a:t>
            </a:r>
            <a:pPr indent="0" marL="0">
              <a:buNone/>
            </a:pPr>
            <a:r>
              <a:rPr lang="ko-KR" altLang="en-US" sz="1700" baseline="-40000" dirty="0">
                <a:solidFill>
                  <a:srgbClr val="1B2559"/>
                </a:solidFill>
                <a:latin typeface="Times New Roman" pitchFamily="34" charset="0"/>
                <a:ea typeface="Times New Roman" pitchFamily="34" charset="-122"/>
                <a:cs typeface="Times New Roman" pitchFamily="34" charset="-120"/>
              </a:rPr>
              <a:t>BC</a:t>
            </a:r>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 )</a:t>
            </a:r>
            <a:endParaRPr lang="ko-KR" sz="1700" dirty="0"/>
          </a:p>
        </p:txBody>
      </p:sp>
      <p:sp>
        <p:nvSpPr>
          <p:cNvPr id="24" name="Text 21"/>
          <p:cNvSpPr txBox="1"/>
          <p:nvPr/>
        </p:nvSpPr>
        <p:spPr>
          <a:xfrm>
            <a:off x="5943600" y="3739896"/>
            <a:ext cx="5699455" cy="237744"/>
          </a:xfrm>
          <a:prstGeom prst="rect">
            <a:avLst/>
          </a:prstGeom>
          <a:noFill/>
          <a:ln/>
        </p:spPr>
        <p:txBody>
          <a:bodyPr wrap="square" lIns="0" tIns="0" rIns="0" bIns="0" rtlCol="0" anchor="t"/>
          <a:lstStyle/>
          <a:p>
            <a:pPr indent="0" marL="0">
              <a:buNone/>
            </a:pPr>
            <a:r>
              <a:rPr lang="ko-KR" altLang="en-US" sz="1100" dirty="0">
                <a:solidFill>
                  <a:srgbClr val="5F6878"/>
                </a:solidFill>
              </a:rPr>
              <a:t>R_CB: IMU→카메라 회전 · r_BC: IMU→카메라 위치 차이(레버암) · q: 드론 자세</a:t>
            </a:r>
            <a:endParaRPr lang="ko-KR" sz="1100" dirty="0"/>
          </a:p>
        </p:txBody>
      </p:sp>
      <p:sp>
        <p:nvSpPr>
          <p:cNvPr id="25" name="Text 22"/>
          <p:cNvSpPr txBox="1"/>
          <p:nvPr/>
        </p:nvSpPr>
        <p:spPr>
          <a:xfrm>
            <a:off x="5806440" y="4059936"/>
            <a:ext cx="5836615" cy="274320"/>
          </a:xfrm>
          <a:prstGeom prst="rect">
            <a:avLst/>
          </a:prstGeom>
          <a:noFill/>
          <a:ln/>
        </p:spPr>
        <p:txBody>
          <a:bodyPr wrap="square" lIns="0" tIns="0" rIns="0" bIns="0" rtlCol="0" anchor="t"/>
          <a:lstStyle/>
          <a:p>
            <a:pPr indent="0" marL="0">
              <a:buNone/>
            </a:pPr>
            <a:r>
              <a:rPr lang="ko-KR" altLang="en-US" sz="1350" b="1" dirty="0">
                <a:solidFill>
                  <a:srgbClr val="3B5BA9"/>
                </a:solidFill>
              </a:rPr>
              <a:t>④ 거리 센서로 깊이 결정</a:t>
            </a:r>
            <a:endParaRPr lang="ko-KR" sz="1350" dirty="0"/>
          </a:p>
        </p:txBody>
      </p:sp>
      <p:sp>
        <p:nvSpPr>
          <p:cNvPr id="26" name="Text 23"/>
          <p:cNvSpPr txBox="1"/>
          <p:nvPr/>
        </p:nvSpPr>
        <p:spPr>
          <a:xfrm>
            <a:off x="5943600" y="4352544"/>
            <a:ext cx="5699455" cy="365760"/>
          </a:xfrm>
          <a:prstGeom prst="rect">
            <a:avLst/>
          </a:prstGeom>
          <a:noFill/>
          <a:ln/>
        </p:spPr>
        <p:txBody>
          <a:bodyPr wrap="square" lIns="0" tIns="0" rIns="0" bIns="0" rtlCol="0" anchor="ctr"/>
          <a:lstStyle/>
          <a:p>
            <a:pPr indent="0" marL="0">
              <a:buNone/>
            </a:pPr>
            <a:r>
              <a:rPr lang="ko-KR" altLang="en-US" sz="1700" dirty="0">
                <a:solidFill>
                  <a:srgbClr val="1B2559"/>
                </a:solidFill>
                <a:latin typeface="Times New Roman" pitchFamily="34" charset="0"/>
                <a:ea typeface="Times New Roman" pitchFamily="34" charset="-122"/>
                <a:cs typeface="Times New Roman" pitchFamily="34" charset="-120"/>
              </a:rPr>
              <a:t>Z ≈ d = h / (cos φ cos θ)</a:t>
            </a:r>
            <a:endParaRPr lang="ko-KR" sz="1700" dirty="0"/>
          </a:p>
        </p:txBody>
      </p:sp>
      <p:sp>
        <p:nvSpPr>
          <p:cNvPr id="27" name="Text 24"/>
          <p:cNvSpPr txBox="1"/>
          <p:nvPr/>
        </p:nvSpPr>
        <p:spPr>
          <a:xfrm>
            <a:off x="5943600" y="4727448"/>
            <a:ext cx="5699455" cy="237744"/>
          </a:xfrm>
          <a:prstGeom prst="rect">
            <a:avLst/>
          </a:prstGeom>
          <a:noFill/>
          <a:ln/>
        </p:spPr>
        <p:txBody>
          <a:bodyPr wrap="square" lIns="0" tIns="0" rIns="0" bIns="0" rtlCol="0" anchor="t"/>
          <a:lstStyle/>
          <a:p>
            <a:pPr indent="0" marL="0">
              <a:buNone/>
            </a:pPr>
            <a:r>
              <a:rPr lang="ko-KR" altLang="en-US" sz="1100" dirty="0">
                <a:solidFill>
                  <a:srgbClr val="5F6878"/>
                </a:solidFill>
              </a:rPr>
              <a:t>평탄 지면 · 정적 장면 가정, 기울기가 크면 측정 제외 (PX4 EKF2도 기울기 조건 사용)</a:t>
            </a:r>
            <a:endParaRPr lang="ko-KR" sz="1100" dirty="0"/>
          </a:p>
        </p:txBody>
      </p:sp>
      <p:sp>
        <p:nvSpPr>
          <p:cNvPr id="28" name="Shape 25"/>
          <p:cNvSpPr/>
          <p:nvPr/>
        </p:nvSpPr>
        <p:spPr>
          <a:xfrm>
            <a:off x="5806440" y="5120640"/>
            <a:ext cx="5836615" cy="1005840"/>
          </a:xfrm>
          <a:prstGeom prst="roundRect">
            <a:avLst>
              <a:gd name="adj" fmla="val 7273"/>
            </a:avLst>
          </a:prstGeom>
          <a:solidFill>
            <a:srgbClr val="EEF5FC"/>
          </a:solidFill>
          <a:ln w="12700">
            <a:solidFill>
              <a:srgbClr val="7DB3E0"/>
            </a:solidFill>
            <a:prstDash val="solid"/>
          </a:ln>
        </p:spPr>
      </p:sp>
      <p:sp>
        <p:nvSpPr>
          <p:cNvPr id="29" name="Text 26"/>
          <p:cNvSpPr txBox="1"/>
          <p:nvPr/>
        </p:nvSpPr>
        <p:spPr>
          <a:xfrm>
            <a:off x="5943600" y="5120640"/>
            <a:ext cx="5562295" cy="1005840"/>
          </a:xfrm>
          <a:prstGeom prst="rect">
            <a:avLst/>
          </a:prstGeom>
          <a:noFill/>
          <a:ln/>
        </p:spPr>
        <p:txBody>
          <a:bodyPr wrap="square" lIns="0" tIns="0" rIns="0" bIns="0" rtlCol="0" anchor="ctr"/>
          <a:lstStyle/>
          <a:p>
            <a:pPr indent="0" marL="0">
              <a:spcAft>
                <a:spcPts val="400"/>
              </a:spcAft>
              <a:buNone/>
            </a:pPr>
            <a:r>
              <a:rPr lang="ko-KR" altLang="en-US" sz="1350" b="1" dirty="0">
                <a:solidFill>
                  <a:srgbClr val="3B5BA9"/>
                </a:solidFill>
              </a:rPr>
              <a:t>EKF 측정모델:  </a:t>
            </a:r>
            <a:pPr indent="0" marL="0">
              <a:spcAft>
                <a:spcPts val="400"/>
              </a:spcAft>
              <a:buNone/>
            </a:pPr>
            <a:r>
              <a:rPr lang="ko-KR" altLang="en-US" sz="1600" dirty="0">
                <a:solidFill>
                  <a:srgbClr val="1B2559"/>
                </a:solidFill>
              </a:rPr>
              <a:t>z = [ ẋ + ω</a:t>
            </a:r>
            <a:pPr indent="0" marL="0">
              <a:spcAft>
                <a:spcPts val="400"/>
              </a:spcAft>
              <a:buNone/>
            </a:pPr>
            <a:r>
              <a:rPr lang="ko-KR" altLang="en-US" sz="1600" baseline="-40000" dirty="0">
                <a:solidFill>
                  <a:srgbClr val="1B2559"/>
                </a:solidFill>
              </a:rPr>
              <a:t>y</a:t>
            </a:r>
            <a:pPr indent="0" marL="0">
              <a:spcAft>
                <a:spcPts val="400"/>
              </a:spcAft>
              <a:buNone/>
            </a:pPr>
            <a:r>
              <a:rPr lang="ko-KR" altLang="en-US" sz="1600" dirty="0">
                <a:solidFill>
                  <a:srgbClr val="1B2559"/>
                </a:solidFill>
              </a:rPr>
              <a:t> ,  ẏ − ω</a:t>
            </a:r>
            <a:pPr indent="0" marL="0">
              <a:spcAft>
                <a:spcPts val="400"/>
              </a:spcAft>
              <a:buNone/>
            </a:pPr>
            <a:r>
              <a:rPr lang="ko-KR" altLang="en-US" sz="1600" baseline="-40000" dirty="0">
                <a:solidFill>
                  <a:srgbClr val="1B2559"/>
                </a:solidFill>
              </a:rPr>
              <a:t>x</a:t>
            </a:r>
            <a:pPr indent="0" marL="0">
              <a:spcAft>
                <a:spcPts val="400"/>
              </a:spcAft>
              <a:buNone/>
            </a:pPr>
            <a:r>
              <a:rPr lang="ko-KR" altLang="en-US" sz="1600" dirty="0">
                <a:solidFill>
                  <a:srgbClr val="1B2559"/>
                </a:solidFill>
              </a:rPr>
              <a:t> ]  ≈  −[ v</a:t>
            </a:r>
            <a:pPr indent="0" marL="0">
              <a:spcAft>
                <a:spcPts val="400"/>
              </a:spcAft>
              <a:buNone/>
            </a:pPr>
            <a:r>
              <a:rPr lang="ko-KR" altLang="en-US" sz="1600" baseline="-40000" dirty="0">
                <a:solidFill>
                  <a:srgbClr val="1B2559"/>
                </a:solidFill>
              </a:rPr>
              <a:t>x</a:t>
            </a:r>
            <a:pPr indent="0" marL="0">
              <a:spcAft>
                <a:spcPts val="400"/>
              </a:spcAft>
              <a:buNone/>
            </a:pPr>
            <a:r>
              <a:rPr lang="ko-KR" altLang="en-US" sz="1600" dirty="0">
                <a:solidFill>
                  <a:srgbClr val="1B2559"/>
                </a:solidFill>
              </a:rPr>
              <a:t> ,  v</a:t>
            </a:r>
            <a:pPr indent="0" marL="0">
              <a:spcAft>
                <a:spcPts val="400"/>
              </a:spcAft>
              <a:buNone/>
            </a:pPr>
            <a:r>
              <a:rPr lang="ko-KR" altLang="en-US" sz="1600" baseline="-40000" dirty="0">
                <a:solidFill>
                  <a:srgbClr val="1B2559"/>
                </a:solidFill>
              </a:rPr>
              <a:t>y</a:t>
            </a:r>
            <a:pPr indent="0" marL="0">
              <a:spcAft>
                <a:spcPts val="400"/>
              </a:spcAft>
              <a:buNone/>
            </a:pPr>
            <a:r>
              <a:rPr lang="ko-KR" altLang="en-US" sz="1600" dirty="0">
                <a:solidFill>
                  <a:srgbClr val="1B2559"/>
                </a:solidFill>
              </a:rPr>
              <a:t> ] / d  =  h(x)</a:t>
            </a:r>
            <a:endParaRPr lang="ko-KR" sz="1600" dirty="0"/>
          </a:p>
          <a:p>
            <a:pPr indent="0" marL="0">
              <a:spcAft>
                <a:spcPts val="400"/>
              </a:spcAft>
              <a:buNone/>
            </a:pPr>
            <a:r>
              <a:rPr lang="ko-KR" altLang="en-US" sz="1150" dirty="0">
                <a:solidFill>
                  <a:srgbClr val="2B2F36"/>
                </a:solidFill>
              </a:rPr>
              <a:t>Optical Flow는 속도 자체가 아니라 ‘속도/거리 + 회전’을 관측한다 → 자이로 · 자세 · 거리 · 외부 파라미터가 모두 필요</a:t>
            </a:r>
            <a:endParaRPr lang="ko-KR" sz="1600" dirty="0"/>
          </a:p>
        </p:txBody>
      </p:sp>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298448" y="118872"/>
            <a:ext cx="7680960" cy="640080"/>
          </a:xfrm>
          <a:prstGeom prst="rect">
            <a:avLst/>
          </a:prstGeom>
          <a:noFill/>
          <a:ln/>
        </p:spPr>
        <p:txBody>
          <a:bodyPr wrap="square" lIns="0" tIns="0" rIns="0" bIns="0" rtlCol="0" anchor="ctr"/>
          <a:lstStyle/>
          <a:p>
            <a:pPr algn="l" indent="0" marL="0">
              <a:buNone/>
            </a:pPr>
            <a:r>
              <a:rPr lang="en-US" sz="2800" b="1" dirty="0">
                <a:solidFill>
                  <a:srgbClr val="FFFFFF"/>
                </a:solidFill>
              </a:rPr>
              <a:t>부록 3. EKF 예측 · 보정과 품질 → R 규칙</a:t>
            </a:r>
            <a:endParaRPr lang="en-US" sz="2800" dirty="0"/>
          </a:p>
        </p:txBody>
      </p:sp>
      <p:sp>
        <p:nvSpPr>
          <p:cNvPr id="3" name="Text 0"/>
          <p:cNvSpPr/>
          <p:nvPr>
            <p:ph idx="102" type="body" hasCustomPrompt="1"/>
          </p:nvPr>
        </p:nvSpPr>
        <p:spPr>
          <a:xfrm>
            <a:off x="8229600" y="228600"/>
            <a:ext cx="3410712" cy="411480"/>
          </a:xfrm>
          <a:prstGeom prst="rect">
            <a:avLst/>
          </a:prstGeom>
          <a:noFill/>
          <a:ln/>
        </p:spPr>
        <p:txBody>
          <a:bodyPr wrap="square" lIns="0" tIns="0" rIns="0" bIns="0" rtlCol="0" anchor="ctr"/>
          <a:lstStyle/>
          <a:p>
            <a:pPr algn="r" indent="0" marL="0">
              <a:buNone/>
            </a:pPr>
            <a:r>
              <a:rPr lang="en-US" sz="1300" i="1" dirty="0">
                <a:solidFill>
                  <a:srgbClr val="C3D8F2"/>
                </a:solidFill>
              </a:rPr>
              <a:t>Appendix · EKF &amp; Adaptive R</a:t>
            </a:r>
            <a:endParaRPr lang="en-US" sz="1300" dirty="0"/>
          </a:p>
        </p:txBody>
      </p:sp>
      <p:sp>
        <p:nvSpPr>
          <p:cNvPr id="4" name="Text 2"/>
          <p:cNvSpPr/>
          <p:nvPr/>
        </p:nvSpPr>
        <p:spPr>
          <a:xfrm>
            <a:off x="548640" y="182880"/>
            <a:ext cx="603504" cy="502920"/>
          </a:xfrm>
          <a:prstGeom prst="roundRect">
            <a:avLst>
              <a:gd name="adj" fmla="val 14545"/>
            </a:avLst>
          </a:prstGeom>
          <a:solidFill>
            <a:srgbClr val="7DB3E0"/>
          </a:solidFill>
          <a:ln/>
        </p:spPr>
        <p:txBody>
          <a:bodyPr wrap="square" lIns="0" tIns="0" rIns="0" bIns="0" rtlCol="0" anchor="ctr"/>
          <a:lstStyle/>
          <a:p>
            <a:pPr algn="ctr" indent="0" marL="0">
              <a:buNone/>
            </a:pPr>
            <a:r>
              <a:rPr lang="en-US" sz="1800" b="1" dirty="0">
                <a:solidFill>
                  <a:srgbClr val="1B2559"/>
                </a:solidFill>
              </a:rPr>
              <a:t>A3</a:t>
            </a:r>
            <a:endParaRPr lang="en-US" sz="1800" dirty="0"/>
          </a:p>
        </p:txBody>
      </p:sp>
      <p:sp>
        <p:nvSpPr>
          <p:cNvPr id="5" name="Shape 3"/>
          <p:cNvSpPr/>
          <p:nvPr/>
        </p:nvSpPr>
        <p:spPr>
          <a:xfrm>
            <a:off x="548640" y="1097280"/>
            <a:ext cx="5532120" cy="1051560"/>
          </a:xfrm>
          <a:prstGeom prst="roundRect">
            <a:avLst>
              <a:gd name="adj" fmla="val 6957"/>
            </a:avLst>
          </a:prstGeom>
          <a:solidFill>
            <a:srgbClr val="F3F6FB"/>
          </a:solidFill>
          <a:ln w="12700">
            <a:solidFill>
              <a:srgbClr val="F3F6FB"/>
            </a:solidFill>
            <a:prstDash val="solid"/>
          </a:ln>
        </p:spPr>
      </p:sp>
      <p:sp>
        <p:nvSpPr>
          <p:cNvPr id="6" name="Text 4"/>
          <p:cNvSpPr txBox="1"/>
          <p:nvPr/>
        </p:nvSpPr>
        <p:spPr>
          <a:xfrm>
            <a:off x="731520" y="1188720"/>
            <a:ext cx="5166360" cy="310896"/>
          </a:xfrm>
          <a:prstGeom prst="rect">
            <a:avLst/>
          </a:prstGeom>
          <a:noFill/>
          <a:ln/>
        </p:spPr>
        <p:txBody>
          <a:bodyPr wrap="square" lIns="0" tIns="0" rIns="0" bIns="0" rtlCol="0" anchor="ctr"/>
          <a:lstStyle/>
          <a:p>
            <a:pPr indent="0" marL="0">
              <a:buNone/>
            </a:pPr>
            <a:r>
              <a:rPr lang="ko-KR" altLang="en-US" sz="1500" b="1" dirty="0">
                <a:solidFill>
                  <a:srgbClr val="1B2559"/>
                </a:solidFill>
              </a:rPr>
              <a:t>상태 · 측정 벡터</a:t>
            </a:r>
            <a:endParaRPr lang="ko-KR" sz="1500" dirty="0"/>
          </a:p>
        </p:txBody>
      </p:sp>
      <p:sp>
        <p:nvSpPr>
          <p:cNvPr id="7" name="Text 5"/>
          <p:cNvSpPr txBox="1"/>
          <p:nvPr/>
        </p:nvSpPr>
        <p:spPr>
          <a:xfrm>
            <a:off x="822960" y="1417320"/>
            <a:ext cx="5074920" cy="685800"/>
          </a:xfrm>
          <a:prstGeom prst="rect">
            <a:avLst/>
          </a:prstGeom>
          <a:noFill/>
          <a:ln/>
        </p:spPr>
        <p:txBody>
          <a:bodyPr wrap="square" lIns="0" tIns="0" rIns="0" bIns="0" rtlCol="0" anchor="ctr"/>
          <a:lstStyle/>
          <a:p>
            <a:pPr indent="0" marL="0">
              <a:spcAft>
                <a:spcPts val="200"/>
              </a:spcAft>
              <a:buNone/>
            </a:pPr>
            <a:r>
              <a:rPr lang="ko-KR" altLang="en-US" sz="1600" b="1" dirty="0">
                <a:solidFill>
                  <a:srgbClr val="1B2559"/>
                </a:solidFill>
                <a:latin typeface="Times New Roman" pitchFamily="34" charset="0"/>
                <a:ea typeface="Times New Roman" pitchFamily="34" charset="-122"/>
                <a:cs typeface="Times New Roman" pitchFamily="34" charset="-120"/>
              </a:rPr>
              <a:t>x = [ p, v, q ]</a:t>
            </a:r>
            <a:pPr indent="0" marL="0">
              <a:spcAft>
                <a:spcPts val="200"/>
              </a:spcAft>
              <a:buNone/>
            </a:pPr>
            <a:r>
              <a:rPr lang="ko-KR" altLang="en-US" sz="1300" dirty="0">
                <a:solidFill>
                  <a:srgbClr val="5F6878"/>
                </a:solidFill>
              </a:rPr>
              <a:t>   위치 · 속도 · 자세(쿼터니언)</a:t>
            </a:r>
            <a:endParaRPr lang="ko-KR" sz="1600" dirty="0"/>
          </a:p>
          <a:p>
            <a:pPr indent="0" marL="0">
              <a:spcAft>
                <a:spcPts val="200"/>
              </a:spcAft>
              <a:buNone/>
            </a:pPr>
            <a:r>
              <a:rPr lang="ko-KR" altLang="en-US" sz="1600" b="1" dirty="0">
                <a:solidFill>
                  <a:srgbClr val="1B2559"/>
                </a:solidFill>
                <a:latin typeface="Times New Roman" pitchFamily="34" charset="0"/>
                <a:ea typeface="Times New Roman" pitchFamily="34" charset="-122"/>
                <a:cs typeface="Times New Roman" pitchFamily="34" charset="-120"/>
              </a:rPr>
              <a:t>z = flow (회전 보상, 2차원)</a:t>
            </a:r>
            <a:pPr indent="0" marL="0">
              <a:spcAft>
                <a:spcPts val="200"/>
              </a:spcAft>
              <a:buNone/>
            </a:pPr>
            <a:r>
              <a:rPr lang="ko-KR" altLang="en-US" sz="1300" dirty="0">
                <a:solidFill>
                  <a:srgbClr val="5F6878"/>
                </a:solidFill>
              </a:rPr>
              <a:t>   d: 거리 센서 값을 h(x)에 사용</a:t>
            </a:r>
            <a:endParaRPr lang="ko-KR" sz="1600" dirty="0"/>
          </a:p>
        </p:txBody>
      </p:sp>
      <p:sp>
        <p:nvSpPr>
          <p:cNvPr id="8" name="Shape 6"/>
          <p:cNvSpPr/>
          <p:nvPr/>
        </p:nvSpPr>
        <p:spPr>
          <a:xfrm>
            <a:off x="548640" y="2286000"/>
            <a:ext cx="5532120" cy="1554480"/>
          </a:xfrm>
          <a:prstGeom prst="roundRect">
            <a:avLst>
              <a:gd name="adj" fmla="val 4706"/>
            </a:avLst>
          </a:prstGeom>
          <a:solidFill>
            <a:srgbClr val="F3F6FB"/>
          </a:solidFill>
          <a:ln w="12700">
            <a:solidFill>
              <a:srgbClr val="F3F6FB"/>
            </a:solidFill>
            <a:prstDash val="solid"/>
          </a:ln>
        </p:spPr>
      </p:sp>
      <p:sp>
        <p:nvSpPr>
          <p:cNvPr id="9" name="Text 7"/>
          <p:cNvSpPr txBox="1"/>
          <p:nvPr/>
        </p:nvSpPr>
        <p:spPr>
          <a:xfrm>
            <a:off x="731520" y="2377440"/>
            <a:ext cx="5166360" cy="310896"/>
          </a:xfrm>
          <a:prstGeom prst="rect">
            <a:avLst/>
          </a:prstGeom>
          <a:noFill/>
          <a:ln/>
        </p:spPr>
        <p:txBody>
          <a:bodyPr wrap="square" lIns="0" tIns="0" rIns="0" bIns="0" rtlCol="0" anchor="ctr"/>
          <a:lstStyle/>
          <a:p>
            <a:pPr indent="0" marL="0">
              <a:buNone/>
            </a:pPr>
            <a:r>
              <a:rPr lang="ko-KR" altLang="en-US" sz="1500" b="1" dirty="0">
                <a:solidFill>
                  <a:srgbClr val="1B2559"/>
                </a:solidFill>
              </a:rPr>
              <a:t>예측 (IMU, 매 샘플)</a:t>
            </a:r>
            <a:endParaRPr lang="ko-KR" sz="1500" dirty="0"/>
          </a:p>
        </p:txBody>
      </p:sp>
      <p:sp>
        <p:nvSpPr>
          <p:cNvPr id="10" name="Text 8"/>
          <p:cNvSpPr txBox="1"/>
          <p:nvPr/>
        </p:nvSpPr>
        <p:spPr>
          <a:xfrm>
            <a:off x="822960" y="2651760"/>
            <a:ext cx="5074920" cy="1097280"/>
          </a:xfrm>
          <a:prstGeom prst="rect">
            <a:avLst/>
          </a:prstGeom>
          <a:noFill/>
          <a:ln/>
        </p:spPr>
        <p:txBody>
          <a:bodyPr wrap="square" lIns="0" tIns="0" rIns="0" bIns="0" rtlCol="0" anchor="ctr"/>
          <a:lstStyle/>
          <a:p>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v</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k</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v</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k−1</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 R(q) f</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m</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g ) Δt</a:t>
            </a:r>
            <a:endParaRPr lang="ko-KR" sz="1600" dirty="0"/>
          </a:p>
          <a:p>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p</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k</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p</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k−1</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v</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k−1</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Δt ,   q</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k</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q</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k−1</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Δq( ω</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m</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Δt )</a:t>
            </a:r>
            <a:endParaRPr lang="ko-KR" sz="1600" dirty="0"/>
          </a:p>
          <a:p>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P</a:t>
            </a:r>
            <a:pPr indent="0" marL="0">
              <a:spcAft>
                <a:spcPts val="300"/>
              </a:spcAft>
              <a:buNone/>
            </a:pPr>
            <a:r>
              <a:rPr lang="ko-KR" altLang="en-US" sz="1600" baseline="30000" dirty="0">
                <a:solidFill>
                  <a:srgbClr val="1B2559"/>
                </a:solidFill>
                <a:latin typeface="Times New Roman" pitchFamily="34" charset="0"/>
                <a:ea typeface="Times New Roman" pitchFamily="34" charset="-122"/>
                <a:cs typeface="Times New Roman" pitchFamily="34" charset="-120"/>
              </a:rPr>
              <a:t>−</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F P F</a:t>
            </a:r>
            <a:pPr indent="0" marL="0">
              <a:spcAft>
                <a:spcPts val="300"/>
              </a:spcAft>
              <a:buNone/>
            </a:pPr>
            <a:r>
              <a:rPr lang="ko-KR" altLang="en-US" sz="1600" baseline="30000" dirty="0">
                <a:solidFill>
                  <a:srgbClr val="1B2559"/>
                </a:solidFill>
                <a:latin typeface="Times New Roman" pitchFamily="34" charset="0"/>
                <a:ea typeface="Times New Roman" pitchFamily="34" charset="-122"/>
                <a:cs typeface="Times New Roman" pitchFamily="34" charset="-120"/>
              </a:rPr>
              <a:t>T</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Q</a:t>
            </a:r>
            <a:endParaRPr lang="ko-KR" sz="1600" dirty="0"/>
          </a:p>
        </p:txBody>
      </p:sp>
      <p:sp>
        <p:nvSpPr>
          <p:cNvPr id="11" name="Shape 9"/>
          <p:cNvSpPr/>
          <p:nvPr/>
        </p:nvSpPr>
        <p:spPr>
          <a:xfrm>
            <a:off x="548640" y="3977640"/>
            <a:ext cx="5532120" cy="1463040"/>
          </a:xfrm>
          <a:prstGeom prst="roundRect">
            <a:avLst>
              <a:gd name="adj" fmla="val 5000"/>
            </a:avLst>
          </a:prstGeom>
          <a:solidFill>
            <a:srgbClr val="F3F6FB"/>
          </a:solidFill>
          <a:ln w="12700">
            <a:solidFill>
              <a:srgbClr val="F3F6FB"/>
            </a:solidFill>
            <a:prstDash val="solid"/>
          </a:ln>
        </p:spPr>
      </p:sp>
      <p:sp>
        <p:nvSpPr>
          <p:cNvPr id="12" name="Text 10"/>
          <p:cNvSpPr txBox="1"/>
          <p:nvPr/>
        </p:nvSpPr>
        <p:spPr>
          <a:xfrm>
            <a:off x="731520" y="4069080"/>
            <a:ext cx="5166360" cy="310896"/>
          </a:xfrm>
          <a:prstGeom prst="rect">
            <a:avLst/>
          </a:prstGeom>
          <a:noFill/>
          <a:ln/>
        </p:spPr>
        <p:txBody>
          <a:bodyPr wrap="square" lIns="0" tIns="0" rIns="0" bIns="0" rtlCol="0" anchor="ctr"/>
          <a:lstStyle/>
          <a:p>
            <a:pPr indent="0" marL="0">
              <a:buNone/>
            </a:pPr>
            <a:r>
              <a:rPr lang="ko-KR" altLang="en-US" sz="1500" b="1" dirty="0">
                <a:solidFill>
                  <a:srgbClr val="1B2559"/>
                </a:solidFill>
              </a:rPr>
              <a:t>보정 (Optical Flow, 측정 시)</a:t>
            </a:r>
            <a:endParaRPr lang="ko-KR" sz="1500" dirty="0"/>
          </a:p>
        </p:txBody>
      </p:sp>
      <p:sp>
        <p:nvSpPr>
          <p:cNvPr id="13" name="Text 11"/>
          <p:cNvSpPr txBox="1"/>
          <p:nvPr/>
        </p:nvSpPr>
        <p:spPr>
          <a:xfrm>
            <a:off x="822960" y="4343400"/>
            <a:ext cx="5074920" cy="1051560"/>
          </a:xfrm>
          <a:prstGeom prst="rect">
            <a:avLst/>
          </a:prstGeom>
          <a:noFill/>
          <a:ln/>
        </p:spPr>
        <p:txBody>
          <a:bodyPr wrap="square" lIns="0" tIns="0" rIns="0" bIns="0" rtlCol="0" anchor="ctr"/>
          <a:lstStyle/>
          <a:p>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y = z − h(x̂</a:t>
            </a:r>
            <a:pPr indent="0" marL="0">
              <a:spcAft>
                <a:spcPts val="300"/>
              </a:spcAft>
              <a:buNone/>
            </a:pPr>
            <a:r>
              <a:rPr lang="ko-KR" altLang="en-US" sz="1600" baseline="30000" dirty="0">
                <a:solidFill>
                  <a:srgbClr val="1B2559"/>
                </a:solidFill>
                <a:latin typeface="Times New Roman" pitchFamily="34" charset="0"/>
                <a:ea typeface="Times New Roman" pitchFamily="34" charset="-122"/>
                <a:cs typeface="Times New Roman" pitchFamily="34" charset="-120"/>
              </a:rPr>
              <a:t>−</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S = H P</a:t>
            </a:r>
            <a:pPr indent="0" marL="0">
              <a:spcAft>
                <a:spcPts val="300"/>
              </a:spcAft>
              <a:buNone/>
            </a:pPr>
            <a:r>
              <a:rPr lang="ko-KR" altLang="en-US" sz="1600" baseline="30000" dirty="0">
                <a:solidFill>
                  <a:srgbClr val="1B2559"/>
                </a:solidFill>
                <a:latin typeface="Times New Roman" pitchFamily="34" charset="0"/>
                <a:ea typeface="Times New Roman" pitchFamily="34" charset="-122"/>
                <a:cs typeface="Times New Roman" pitchFamily="34" charset="-120"/>
              </a:rPr>
              <a:t>−</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H</a:t>
            </a:r>
            <a:pPr indent="0" marL="0">
              <a:spcAft>
                <a:spcPts val="300"/>
              </a:spcAft>
              <a:buNone/>
            </a:pPr>
            <a:r>
              <a:rPr lang="ko-KR" altLang="en-US" sz="1600" baseline="30000" dirty="0">
                <a:solidFill>
                  <a:srgbClr val="1B2559"/>
                </a:solidFill>
                <a:latin typeface="Times New Roman" pitchFamily="34" charset="0"/>
                <a:ea typeface="Times New Roman" pitchFamily="34" charset="-122"/>
                <a:cs typeface="Times New Roman" pitchFamily="34" charset="-120"/>
              </a:rPr>
              <a:t>T</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a:t>
            </a:r>
            <a:pPr indent="0" marL="0">
              <a:spcAft>
                <a:spcPts val="300"/>
              </a:spcAft>
              <a:buNone/>
            </a:pPr>
            <a:r>
              <a:rPr lang="ko-KR" altLang="en-US" sz="1600" b="1" dirty="0">
                <a:solidFill>
                  <a:srgbClr val="E07B39"/>
                </a:solidFill>
                <a:latin typeface="Times New Roman" pitchFamily="34" charset="0"/>
                <a:ea typeface="Times New Roman" pitchFamily="34" charset="-122"/>
                <a:cs typeface="Times New Roman" pitchFamily="34" charset="-120"/>
              </a:rPr>
              <a:t>R</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K = P</a:t>
            </a:r>
            <a:pPr indent="0" marL="0">
              <a:spcAft>
                <a:spcPts val="300"/>
              </a:spcAft>
              <a:buNone/>
            </a:pPr>
            <a:r>
              <a:rPr lang="ko-KR" altLang="en-US" sz="1600" baseline="30000" dirty="0">
                <a:solidFill>
                  <a:srgbClr val="1B2559"/>
                </a:solidFill>
                <a:latin typeface="Times New Roman" pitchFamily="34" charset="0"/>
                <a:ea typeface="Times New Roman" pitchFamily="34" charset="-122"/>
                <a:cs typeface="Times New Roman" pitchFamily="34" charset="-120"/>
              </a:rPr>
              <a:t>−</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H</a:t>
            </a:r>
            <a:pPr indent="0" marL="0">
              <a:spcAft>
                <a:spcPts val="300"/>
              </a:spcAft>
              <a:buNone/>
            </a:pPr>
            <a:r>
              <a:rPr lang="ko-KR" altLang="en-US" sz="1600" baseline="30000" dirty="0">
                <a:solidFill>
                  <a:srgbClr val="1B2559"/>
                </a:solidFill>
                <a:latin typeface="Times New Roman" pitchFamily="34" charset="0"/>
                <a:ea typeface="Times New Roman" pitchFamily="34" charset="-122"/>
                <a:cs typeface="Times New Roman" pitchFamily="34" charset="-120"/>
              </a:rPr>
              <a:t>T</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S</a:t>
            </a:r>
            <a:pPr indent="0" marL="0">
              <a:spcAft>
                <a:spcPts val="300"/>
              </a:spcAft>
              <a:buNone/>
            </a:pPr>
            <a:r>
              <a:rPr lang="ko-KR" altLang="en-US" sz="1600" baseline="30000" dirty="0">
                <a:solidFill>
                  <a:srgbClr val="1B2559"/>
                </a:solidFill>
                <a:latin typeface="Times New Roman" pitchFamily="34" charset="0"/>
                <a:ea typeface="Times New Roman" pitchFamily="34" charset="-122"/>
                <a:cs typeface="Times New Roman" pitchFamily="34" charset="-120"/>
              </a:rPr>
              <a:t>−1</a:t>
            </a:r>
            <a:endParaRPr lang="ko-KR" sz="1600" dirty="0"/>
          </a:p>
          <a:p>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x̂ = x̂</a:t>
            </a:r>
            <a:pPr indent="0" marL="0">
              <a:spcAft>
                <a:spcPts val="300"/>
              </a:spcAft>
              <a:buNone/>
            </a:pPr>
            <a:r>
              <a:rPr lang="ko-KR" altLang="en-US" sz="1600" baseline="30000" dirty="0">
                <a:solidFill>
                  <a:srgbClr val="1B2559"/>
                </a:solidFill>
                <a:latin typeface="Times New Roman" pitchFamily="34" charset="0"/>
                <a:ea typeface="Times New Roman" pitchFamily="34" charset="-122"/>
                <a:cs typeface="Times New Roman" pitchFamily="34" charset="-120"/>
              </a:rPr>
              <a:t>−</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K y ,   P = ( I − K H ) P</a:t>
            </a:r>
            <a:pPr indent="0" marL="0">
              <a:spcAft>
                <a:spcPts val="300"/>
              </a:spcAft>
              <a:buNone/>
            </a:pPr>
            <a:r>
              <a:rPr lang="ko-KR" altLang="en-US" sz="1600" baseline="30000" dirty="0">
                <a:solidFill>
                  <a:srgbClr val="1B2559"/>
                </a:solidFill>
                <a:latin typeface="Times New Roman" pitchFamily="34" charset="0"/>
                <a:ea typeface="Times New Roman" pitchFamily="34" charset="-122"/>
                <a:cs typeface="Times New Roman" pitchFamily="34" charset="-120"/>
              </a:rPr>
              <a:t>−</a:t>
            </a:r>
            <a:endParaRPr lang="ko-KR" sz="1600" dirty="0"/>
          </a:p>
          <a:p>
            <a:pPr indent="0" marL="0">
              <a:spcAft>
                <a:spcPts val="300"/>
              </a:spcAft>
              <a:buNone/>
            </a:pPr>
            <a:r>
              <a:rPr lang="ko-KR" altLang="en-US" sz="1200" dirty="0">
                <a:solidFill>
                  <a:srgbClr val="5F6878"/>
                </a:solidFill>
              </a:rPr>
              <a:t>f_m, ω_m: IMU 측정값 · χ² 게이트 초과 시 측정 거부</a:t>
            </a:r>
            <a:endParaRPr lang="ko-KR" sz="1600" dirty="0"/>
          </a:p>
        </p:txBody>
      </p:sp>
      <p:sp>
        <p:nvSpPr>
          <p:cNvPr id="14" name="Text 12"/>
          <p:cNvSpPr txBox="1"/>
          <p:nvPr/>
        </p:nvSpPr>
        <p:spPr>
          <a:xfrm>
            <a:off x="548640" y="5532120"/>
            <a:ext cx="5532120" cy="502920"/>
          </a:xfrm>
          <a:prstGeom prst="rect">
            <a:avLst/>
          </a:prstGeom>
          <a:noFill/>
          <a:ln/>
        </p:spPr>
        <p:txBody>
          <a:bodyPr wrap="square" lIns="0" tIns="0" rIns="0" bIns="0" rtlCol="0" anchor="t"/>
          <a:lstStyle/>
          <a:p>
            <a:pPr indent="0" marL="0">
              <a:buNone/>
            </a:pPr>
            <a:r>
              <a:rPr lang="ko-KR" altLang="en-US" sz="1100" dirty="0">
                <a:solidFill>
                  <a:srgbClr val="5F6878"/>
                </a:solidFill>
              </a:rPr>
              <a:t>※ IMU 바이어스(b_a, b_g)를 상태에 넣을지는 기준 EKF 구현 단계(10월 말)에서 결정할 검토 항목 — PX4 EKF2 등 일반적인 INS-EKF는 바이어스를 추정</a:t>
            </a:r>
            <a:endParaRPr lang="ko-KR" sz="1100" dirty="0"/>
          </a:p>
        </p:txBody>
      </p:sp>
      <p:sp>
        <p:nvSpPr>
          <p:cNvPr id="15" name="Shape 13"/>
          <p:cNvSpPr/>
          <p:nvPr/>
        </p:nvSpPr>
        <p:spPr>
          <a:xfrm>
            <a:off x="6355080" y="1097280"/>
            <a:ext cx="5287975" cy="4937760"/>
          </a:xfrm>
          <a:prstGeom prst="roundRect">
            <a:avLst>
              <a:gd name="adj" fmla="val 1481"/>
            </a:avLst>
          </a:prstGeom>
          <a:solidFill>
            <a:srgbClr val="F3F6FB"/>
          </a:solidFill>
          <a:ln w="12700">
            <a:solidFill>
              <a:srgbClr val="F3F6FB"/>
            </a:solidFill>
            <a:prstDash val="solid"/>
          </a:ln>
        </p:spPr>
      </p:sp>
      <p:sp>
        <p:nvSpPr>
          <p:cNvPr id="16" name="Text 14"/>
          <p:cNvSpPr txBox="1"/>
          <p:nvPr/>
        </p:nvSpPr>
        <p:spPr>
          <a:xfrm>
            <a:off x="6537960" y="1188720"/>
            <a:ext cx="4922215" cy="310896"/>
          </a:xfrm>
          <a:prstGeom prst="rect">
            <a:avLst/>
          </a:prstGeom>
          <a:noFill/>
          <a:ln/>
        </p:spPr>
        <p:txBody>
          <a:bodyPr wrap="square" lIns="0" tIns="0" rIns="0" bIns="0" rtlCol="0" anchor="ctr"/>
          <a:lstStyle/>
          <a:p>
            <a:pPr indent="0" marL="0">
              <a:buNone/>
            </a:pPr>
            <a:r>
              <a:rPr lang="ko-KR" altLang="en-US" sz="1500" b="1" dirty="0">
                <a:solidFill>
                  <a:srgbClr val="1B2559"/>
                </a:solidFill>
              </a:rPr>
              <a:t>영상 품질 Q → 측정 잡음 R (규칙 형태)</a:t>
            </a:r>
            <a:endParaRPr lang="ko-KR" sz="1500" dirty="0"/>
          </a:p>
        </p:txBody>
      </p:sp>
      <p:sp>
        <p:nvSpPr>
          <p:cNvPr id="17" name="Text 15"/>
          <p:cNvSpPr txBox="1"/>
          <p:nvPr/>
        </p:nvSpPr>
        <p:spPr>
          <a:xfrm>
            <a:off x="6629400" y="1463040"/>
            <a:ext cx="4830775" cy="1143000"/>
          </a:xfrm>
          <a:prstGeom prst="rect">
            <a:avLst/>
          </a:prstGeom>
          <a:noFill/>
          <a:ln/>
        </p:spPr>
        <p:txBody>
          <a:bodyPr wrap="square" lIns="0" tIns="0" rIns="0" bIns="0" rtlCol="0" anchor="ctr"/>
          <a:lstStyle/>
          <a:p>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w = clip( (Q − Q</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min</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(Q</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max</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Q</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min</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0, 1 )</a:t>
            </a:r>
            <a:endParaRPr lang="ko-KR" sz="1600" dirty="0"/>
          </a:p>
          <a:p>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σ = w σ</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best</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(1 − w) σ</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worst</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a:t>
            </a:r>
            <a:pPr indent="0" marL="0">
              <a:spcAft>
                <a:spcPts val="300"/>
              </a:spcAft>
              <a:buNone/>
            </a:pPr>
            <a:r>
              <a:rPr lang="ko-KR" altLang="en-US" sz="1600" b="1" dirty="0">
                <a:solidFill>
                  <a:srgbClr val="E07B39"/>
                </a:solidFill>
                <a:latin typeface="Times New Roman" pitchFamily="34" charset="0"/>
                <a:ea typeface="Times New Roman" pitchFamily="34" charset="-122"/>
                <a:cs typeface="Times New Roman" pitchFamily="34" charset="-120"/>
              </a:rPr>
              <a:t>R = σ</a:t>
            </a:r>
            <a:pPr indent="0" marL="0">
              <a:spcAft>
                <a:spcPts val="300"/>
              </a:spcAft>
              <a:buNone/>
            </a:pPr>
            <a:r>
              <a:rPr lang="ko-KR" altLang="en-US" sz="1600" b="1" baseline="30000" dirty="0">
                <a:solidFill>
                  <a:srgbClr val="E07B39"/>
                </a:solidFill>
                <a:latin typeface="Times New Roman" pitchFamily="34" charset="0"/>
                <a:ea typeface="Times New Roman" pitchFamily="34" charset="-122"/>
                <a:cs typeface="Times New Roman" pitchFamily="34" charset="-120"/>
              </a:rPr>
              <a:t>2</a:t>
            </a:r>
            <a:pPr indent="0" marL="0">
              <a:spcAft>
                <a:spcPts val="300"/>
              </a:spcAft>
              <a:buNone/>
            </a:pPr>
            <a:r>
              <a:rPr lang="ko-KR" altLang="en-US" sz="1600" b="1" dirty="0">
                <a:solidFill>
                  <a:srgbClr val="E07B39"/>
                </a:solidFill>
                <a:latin typeface="Times New Roman" pitchFamily="34" charset="0"/>
                <a:ea typeface="Times New Roman" pitchFamily="34" charset="-122"/>
                <a:cs typeface="Times New Roman" pitchFamily="34" charset="-120"/>
              </a:rPr>
              <a:t> I</a:t>
            </a:r>
            <a:endParaRPr lang="ko-KR" sz="1600" dirty="0"/>
          </a:p>
          <a:p>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Q &lt; Q</a:t>
            </a:r>
            <a:pPr indent="0" marL="0">
              <a:spcAft>
                <a:spcPts val="300"/>
              </a:spcAft>
              <a:buNone/>
            </a:pPr>
            <a:r>
              <a:rPr lang="ko-KR" altLang="en-US" sz="1600" baseline="-40000" dirty="0">
                <a:solidFill>
                  <a:srgbClr val="1B2559"/>
                </a:solidFill>
                <a:latin typeface="Times New Roman" pitchFamily="34" charset="0"/>
                <a:ea typeface="Times New Roman" pitchFamily="34" charset="-122"/>
                <a:cs typeface="Times New Roman" pitchFamily="34" charset="-120"/>
              </a:rPr>
              <a:t>min</a:t>
            </a:r>
            <a:pPr indent="0" marL="0">
              <a:spcAft>
                <a:spcPts val="300"/>
              </a:spcAft>
              <a:buNone/>
            </a:pPr>
            <a:r>
              <a:rPr lang="ko-KR" altLang="en-US" sz="1600" dirty="0">
                <a:solidFill>
                  <a:srgbClr val="1B2559"/>
                </a:solidFill>
                <a:latin typeface="Times New Roman" pitchFamily="34" charset="0"/>
                <a:ea typeface="Times New Roman" pitchFamily="34" charset="-122"/>
                <a:cs typeface="Times New Roman" pitchFamily="34" charset="-120"/>
              </a:rPr>
              <a:t>  →  측정 제외</a:t>
            </a:r>
            <a:endParaRPr lang="ko-KR" sz="1600" dirty="0"/>
          </a:p>
        </p:txBody>
      </p:sp>
      <p:graphicFrame>
        <p:nvGraphicFramePr>
          <p:cNvPr id="18" name="Chart 0" descr=""/>
          <p:cNvGraphicFramePr/>
          <p:nvPr/>
        </p:nvGraphicFramePr>
        <p:xfrm>
          <a:off x="6537960" y="2697480"/>
          <a:ext cx="4922215" cy="21488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6583680" y="4919472"/>
            <a:ext cx="4876495" cy="1051560"/>
          </a:xfrm>
          <a:prstGeom prst="rect">
            <a:avLst/>
          </a:prstGeom>
          <a:noFill/>
          <a:ln/>
        </p:spPr>
        <p:txBody>
          <a:bodyPr wrap="square" lIns="0" tIns="0" rIns="0" bIns="0" rtlCol="0" anchor="t"/>
          <a:lstStyle/>
          <a:p>
            <a:pPr indent="0" marL="0">
              <a:spcAft>
                <a:spcPts val="300"/>
              </a:spcAft>
              <a:buNone/>
            </a:pPr>
            <a:r>
              <a:rPr lang="ko-KR" altLang="en-US" sz="1100" dirty="0">
                <a:solidFill>
                  <a:srgbClr val="2B2F36"/>
                </a:solidFill>
              </a:rPr>
              <a:t>PX4 EKF2와 같은 형태(소스 코드 확인): σ를 품질에 따라 선형 보간, 최소 품질 미만은 사용하지 않음. </a:t>
            </a:r>
            <a:endParaRPr lang="ko-KR" sz="1100" dirty="0"/>
          </a:p>
          <a:p>
            <a:pPr indent="0" marL="0">
              <a:spcAft>
                <a:spcPts val="300"/>
              </a:spcAft>
              <a:buNone/>
            </a:pPr>
            <a:r>
              <a:rPr lang="ko-KR" altLang="en-US" sz="1100" dirty="0">
                <a:solidFill>
                  <a:srgbClr val="2B2F36"/>
                </a:solidFill>
              </a:rPr>
              <a:t>본 연구의 Q는 특징점 수 · 추적 성공률 · 잔차로 구성하며, 형태와 파라미터는 설정 구간에서만 결정한다. 그래프 수치는 형태를 보이기 위한 정규화 예시.</a:t>
            </a:r>
            <a:endParaRPr lang="ko-KR" sz="1100" dirty="0"/>
          </a:p>
        </p:txBody>
      </p:sp>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298448" y="118872"/>
            <a:ext cx="7680960" cy="640080"/>
          </a:xfrm>
          <a:prstGeom prst="rect">
            <a:avLst/>
          </a:prstGeom>
          <a:noFill/>
          <a:ln/>
        </p:spPr>
        <p:txBody>
          <a:bodyPr wrap="square" lIns="0" tIns="0" rIns="0" bIns="0" rtlCol="0" anchor="ctr"/>
          <a:lstStyle/>
          <a:p>
            <a:pPr algn="l" indent="0" marL="0">
              <a:buNone/>
            </a:pPr>
            <a:r>
              <a:rPr lang="en-US" sz="2800" b="1" dirty="0">
                <a:solidFill>
                  <a:srgbClr val="FFFFFF"/>
                </a:solidFill>
              </a:rPr>
              <a:t>부록 4. 데이터셋 및 평가 조건</a:t>
            </a:r>
            <a:endParaRPr lang="en-US" sz="2800" dirty="0"/>
          </a:p>
        </p:txBody>
      </p:sp>
      <p:sp>
        <p:nvSpPr>
          <p:cNvPr id="3" name="Text 0"/>
          <p:cNvSpPr/>
          <p:nvPr>
            <p:ph idx="102" type="body" hasCustomPrompt="1"/>
          </p:nvPr>
        </p:nvSpPr>
        <p:spPr>
          <a:xfrm>
            <a:off x="8229600" y="228600"/>
            <a:ext cx="3410712" cy="411480"/>
          </a:xfrm>
          <a:prstGeom prst="rect">
            <a:avLst/>
          </a:prstGeom>
          <a:noFill/>
          <a:ln/>
        </p:spPr>
        <p:txBody>
          <a:bodyPr wrap="square" lIns="0" tIns="0" rIns="0" bIns="0" rtlCol="0" anchor="ctr"/>
          <a:lstStyle/>
          <a:p>
            <a:pPr algn="r" indent="0" marL="0">
              <a:buNone/>
            </a:pPr>
            <a:r>
              <a:rPr lang="en-US" sz="1300" i="1" dirty="0">
                <a:solidFill>
                  <a:srgbClr val="C3D8F2"/>
                </a:solidFill>
              </a:rPr>
              <a:t>Appendix · Dataset &amp; Evaluation</a:t>
            </a:r>
            <a:endParaRPr lang="en-US" sz="1300" dirty="0"/>
          </a:p>
        </p:txBody>
      </p:sp>
      <p:sp>
        <p:nvSpPr>
          <p:cNvPr id="4" name="Text 2"/>
          <p:cNvSpPr/>
          <p:nvPr/>
        </p:nvSpPr>
        <p:spPr>
          <a:xfrm>
            <a:off x="548640" y="182880"/>
            <a:ext cx="603504" cy="502920"/>
          </a:xfrm>
          <a:prstGeom prst="roundRect">
            <a:avLst>
              <a:gd name="adj" fmla="val 14545"/>
            </a:avLst>
          </a:prstGeom>
          <a:solidFill>
            <a:srgbClr val="7DB3E0"/>
          </a:solidFill>
          <a:ln/>
        </p:spPr>
        <p:txBody>
          <a:bodyPr wrap="square" lIns="0" tIns="0" rIns="0" bIns="0" rtlCol="0" anchor="ctr"/>
          <a:lstStyle/>
          <a:p>
            <a:pPr algn="ctr" indent="0" marL="0">
              <a:buNone/>
            </a:pPr>
            <a:r>
              <a:rPr lang="en-US" sz="1800" b="1" dirty="0">
                <a:solidFill>
                  <a:srgbClr val="1B2559"/>
                </a:solidFill>
              </a:rPr>
              <a:t>A4</a:t>
            </a:r>
            <a:endParaRPr lang="en-US" sz="1800" dirty="0"/>
          </a:p>
        </p:txBody>
      </p:sp>
      <p:sp>
        <p:nvSpPr>
          <p:cNvPr id="5" name="Shape 3"/>
          <p:cNvSpPr/>
          <p:nvPr/>
        </p:nvSpPr>
        <p:spPr>
          <a:xfrm>
            <a:off x="548640" y="1097280"/>
            <a:ext cx="5486400" cy="3017520"/>
          </a:xfrm>
          <a:prstGeom prst="roundRect">
            <a:avLst>
              <a:gd name="adj" fmla="val 2424"/>
            </a:avLst>
          </a:prstGeom>
          <a:solidFill>
            <a:srgbClr val="EEF5FC"/>
          </a:solidFill>
          <a:ln w="12700">
            <a:solidFill>
              <a:srgbClr val="7DB3E0"/>
            </a:solidFill>
            <a:prstDash val="solid"/>
          </a:ln>
        </p:spPr>
      </p:sp>
      <p:sp>
        <p:nvSpPr>
          <p:cNvPr id="6" name="Text 4"/>
          <p:cNvSpPr txBox="1"/>
          <p:nvPr/>
        </p:nvSpPr>
        <p:spPr>
          <a:xfrm>
            <a:off x="777240" y="1188720"/>
            <a:ext cx="5029200" cy="365760"/>
          </a:xfrm>
          <a:prstGeom prst="rect">
            <a:avLst/>
          </a:prstGeom>
          <a:noFill/>
          <a:ln/>
        </p:spPr>
        <p:txBody>
          <a:bodyPr wrap="square" lIns="0" tIns="0" rIns="0" bIns="0" rtlCol="0" anchor="ctr"/>
          <a:lstStyle/>
          <a:p>
            <a:pPr indent="0" marL="0">
              <a:buNone/>
            </a:pPr>
            <a:r>
              <a:rPr lang="ko-KR" altLang="en-US" sz="1600" b="1" dirty="0">
                <a:solidFill>
                  <a:srgbClr val="1B2559"/>
                </a:solidFill>
              </a:rPr>
              <a:t>INSANE 데이터셋 — 공개 자료로 확인한 내용</a:t>
            </a:r>
            <a:endParaRPr lang="ko-KR" sz="1600" dirty="0"/>
          </a:p>
        </p:txBody>
      </p:sp>
      <p:sp>
        <p:nvSpPr>
          <p:cNvPr id="7" name="Text 5"/>
          <p:cNvSpPr txBox="1"/>
          <p:nvPr/>
        </p:nvSpPr>
        <p:spPr>
          <a:xfrm>
            <a:off x="777240" y="1600200"/>
            <a:ext cx="5029200" cy="2834640"/>
          </a:xfrm>
          <a:prstGeom prst="rect">
            <a:avLst/>
          </a:prstGeom>
          <a:noFill/>
          <a:ln/>
        </p:spPr>
        <p:txBody>
          <a:bodyPr wrap="square" lIns="0" tIns="0" rIns="0" bIns="0" rtlCol="0" anchor="t"/>
          <a:lstStyle/>
          <a:p>
            <a:pPr indent="0" marL="0">
              <a:spcAft>
                <a:spcPts val="600"/>
              </a:spcAft>
              <a:buNone/>
            </a:pPr>
            <a:r>
              <a:rPr lang="ko-KR" altLang="en-US" sz="1200" dirty="0">
                <a:solidFill>
                  <a:srgbClr val="5F6878"/>
                </a:solidFill>
              </a:rPr>
              <a:t>Brommer et al., IJRR 43(8), 2024 · Univ. of Klagenfurt / NASA JPL</a:t>
            </a:r>
            <a:endParaRPr lang="ko-KR" sz="1500" dirty="0"/>
          </a:p>
          <a:p>
            <a:pPr marL="342900" indent="-342900">
              <a:spcAft>
                <a:spcPts val="600"/>
              </a:spcAft>
              <a:buSzPct val="100000"/>
              <a:buChar char="•"/>
            </a:pPr>
            <a:r>
              <a:rPr lang="ko-KR" altLang="en-US" sz="1500" dirty="0">
                <a:solidFill>
                  <a:srgbClr val="2B2F36"/>
                </a:solidFill>
              </a:rPr>
              <a:t>센서 18종: 다중 IMU, 고해상도 하향 내비게이션 카메라, 다중 GNSS, UWB 등</a:t>
            </a:r>
            <a:endParaRPr lang="ko-KR" sz="1500" dirty="0"/>
          </a:p>
          <a:p>
            <a:pPr marL="342900" indent="-342900">
              <a:spcAft>
                <a:spcPts val="600"/>
              </a:spcAft>
              <a:buSzPct val="100000"/>
              <a:buChar char="•"/>
            </a:pPr>
            <a:r>
              <a:rPr lang="ko-KR" altLang="en-US" sz="1500" dirty="0">
                <a:solidFill>
                  <a:srgbClr val="2B2F36"/>
                </a:solidFill>
              </a:rPr>
              <a:t>레이저 거리계(LRF)가 내비게이션 카메라와 같은 방향(하향)으로 장착</a:t>
            </a:r>
            <a:endParaRPr lang="ko-KR" sz="1500" dirty="0"/>
          </a:p>
          <a:p>
            <a:pPr marL="342900" indent="-342900">
              <a:spcAft>
                <a:spcPts val="600"/>
              </a:spcAft>
              <a:buSzPct val="100000"/>
              <a:buChar char="•"/>
            </a:pPr>
            <a:r>
              <a:rPr lang="ko-KR" altLang="en-US" sz="1500" dirty="0">
                <a:solidFill>
                  <a:srgbClr val="2B2F36"/>
                </a:solidFill>
              </a:rPr>
              <a:t>시나리오: 실내 모션캡처 · 실외→실내 전이 · Mars analog 실외</a:t>
            </a:r>
            <a:endParaRPr lang="ko-KR" sz="1500" dirty="0"/>
          </a:p>
          <a:p>
            <a:pPr marL="342900" indent="-342900">
              <a:spcAft>
                <a:spcPts val="600"/>
              </a:spcAft>
              <a:buSzPct val="100000"/>
              <a:buChar char="•"/>
            </a:pPr>
            <a:r>
              <a:rPr lang="ko-KR" altLang="en-US" sz="1500" b="1" dirty="0">
                <a:solidFill>
                  <a:srgbClr val="1B2559"/>
                </a:solidFill>
              </a:rPr>
              <a:t>정답: 실내 OptiTrack, 실외 dual RTK-GNSS (cm급)</a:t>
            </a:r>
            <a:endParaRPr lang="ko-KR" sz="1500" dirty="0"/>
          </a:p>
        </p:txBody>
      </p:sp>
      <p:sp>
        <p:nvSpPr>
          <p:cNvPr id="8" name="Shape 6"/>
          <p:cNvSpPr/>
          <p:nvPr/>
        </p:nvSpPr>
        <p:spPr>
          <a:xfrm>
            <a:off x="6263640" y="1097280"/>
            <a:ext cx="5379415" cy="3017520"/>
          </a:xfrm>
          <a:prstGeom prst="roundRect">
            <a:avLst>
              <a:gd name="adj" fmla="val 2424"/>
            </a:avLst>
          </a:prstGeom>
          <a:solidFill>
            <a:srgbClr val="F3F6FB"/>
          </a:solidFill>
          <a:ln w="9525">
            <a:solidFill>
              <a:srgbClr val="C9D3E3"/>
            </a:solidFill>
            <a:prstDash val="solid"/>
          </a:ln>
        </p:spPr>
      </p:sp>
      <p:sp>
        <p:nvSpPr>
          <p:cNvPr id="9" name="Text 7"/>
          <p:cNvSpPr txBox="1"/>
          <p:nvPr/>
        </p:nvSpPr>
        <p:spPr>
          <a:xfrm>
            <a:off x="6492240" y="1188720"/>
            <a:ext cx="4922215" cy="365760"/>
          </a:xfrm>
          <a:prstGeom prst="rect">
            <a:avLst/>
          </a:prstGeom>
          <a:noFill/>
          <a:ln/>
        </p:spPr>
        <p:txBody>
          <a:bodyPr wrap="square" lIns="0" tIns="0" rIns="0" bIns="0" rtlCol="0" anchor="ctr"/>
          <a:lstStyle/>
          <a:p>
            <a:pPr indent="0" marL="0">
              <a:buNone/>
            </a:pPr>
            <a:r>
              <a:rPr lang="ko-KR" altLang="en-US" sz="1600" b="1" dirty="0">
                <a:solidFill>
                  <a:srgbClr val="1B2559"/>
                </a:solidFill>
              </a:rPr>
              <a:t>10월 초 실제 파일로 확인할 항목</a:t>
            </a:r>
            <a:endParaRPr lang="ko-KR" sz="1600" dirty="0"/>
          </a:p>
        </p:txBody>
      </p:sp>
      <p:sp>
        <p:nvSpPr>
          <p:cNvPr id="10" name="Text 8"/>
          <p:cNvSpPr txBox="1"/>
          <p:nvPr/>
        </p:nvSpPr>
        <p:spPr>
          <a:xfrm>
            <a:off x="6492240" y="1645920"/>
            <a:ext cx="4922215" cy="2788920"/>
          </a:xfrm>
          <a:prstGeom prst="rect">
            <a:avLst/>
          </a:prstGeom>
          <a:noFill/>
          <a:ln/>
        </p:spPr>
        <p:txBody>
          <a:bodyPr wrap="square" lIns="0" tIns="0" rIns="0" bIns="0" rtlCol="0" anchor="t"/>
          <a:lstStyle/>
          <a:p>
            <a:pPr marL="342900" indent="-342900">
              <a:spcAft>
                <a:spcPts val="600"/>
              </a:spcAft>
              <a:buSzPct val="100000"/>
              <a:buChar char="•"/>
            </a:pPr>
            <a:r>
              <a:rPr lang="ko-KR" altLang="en-US" sz="1500" dirty="0">
                <a:solidFill>
                  <a:srgbClr val="2B2F36"/>
                </a:solidFill>
              </a:rPr>
              <a:t>하향 카메라 해상도 · 프레임률 · 노출 조건</a:t>
            </a:r>
            <a:endParaRPr lang="ko-KR" sz="1500" dirty="0"/>
          </a:p>
          <a:p>
            <a:pPr marL="342900" indent="-342900">
              <a:spcAft>
                <a:spcPts val="600"/>
              </a:spcAft>
              <a:buSzPct val="100000"/>
              <a:buChar char="•"/>
            </a:pPr>
            <a:r>
              <a:rPr lang="ko-KR" altLang="en-US" sz="1500" dirty="0">
                <a:solidFill>
                  <a:srgbClr val="2B2F36"/>
                </a:solidFill>
              </a:rPr>
              <a:t>LRF 측정 주기 · 유효 거리 · 카메라 광축과의 정렬</a:t>
            </a:r>
            <a:endParaRPr lang="ko-KR" sz="1500" dirty="0"/>
          </a:p>
          <a:p>
            <a:pPr marL="342900" indent="-342900">
              <a:spcAft>
                <a:spcPts val="600"/>
              </a:spcAft>
              <a:buSzPct val="100000"/>
              <a:buChar char="•"/>
            </a:pPr>
            <a:r>
              <a:rPr lang="ko-KR" altLang="en-US" sz="1500" dirty="0">
                <a:solidFill>
                  <a:srgbClr val="2B2F36"/>
                </a:solidFill>
              </a:rPr>
              <a:t>카메라–IMU–LRF 외부 파라미터와 시간 동기화</a:t>
            </a:r>
            <a:endParaRPr lang="ko-KR" sz="1500" dirty="0"/>
          </a:p>
          <a:p>
            <a:pPr marL="342900" indent="-342900">
              <a:spcAft>
                <a:spcPts val="600"/>
              </a:spcAft>
              <a:buSzPct val="100000"/>
              <a:buChar char="•"/>
            </a:pPr>
            <a:r>
              <a:rPr lang="ko-KR" altLang="en-US" sz="1500" dirty="0">
                <a:solidFill>
                  <a:srgbClr val="2B2F36"/>
                </a:solidFill>
              </a:rPr>
              <a:t>시퀀스별 정답 종류(OptiTrack / RTK)와 사용 가능 구간</a:t>
            </a:r>
            <a:endParaRPr lang="ko-KR" sz="1500" dirty="0"/>
          </a:p>
          <a:p>
            <a:pPr marL="342900" indent="-342900">
              <a:spcAft>
                <a:spcPts val="600"/>
              </a:spcAft>
              <a:buSzPct val="100000"/>
              <a:buChar char="•"/>
            </a:pPr>
            <a:r>
              <a:rPr lang="ko-KR" altLang="en-US" sz="1500" dirty="0">
                <a:solidFill>
                  <a:srgbClr val="2B2F36"/>
                </a:solidFill>
              </a:rPr>
              <a:t>평탄 지면 가정이 성립하는 구간 선정</a:t>
            </a:r>
            <a:endParaRPr lang="ko-KR" sz="1500" dirty="0"/>
          </a:p>
        </p:txBody>
      </p:sp>
      <p:sp>
        <p:nvSpPr>
          <p:cNvPr id="11" name="Shape 9"/>
          <p:cNvSpPr/>
          <p:nvPr/>
        </p:nvSpPr>
        <p:spPr>
          <a:xfrm>
            <a:off x="548640" y="4389120"/>
            <a:ext cx="3423818" cy="914400"/>
          </a:xfrm>
          <a:prstGeom prst="roundRect">
            <a:avLst>
              <a:gd name="adj" fmla="val 8000"/>
            </a:avLst>
          </a:prstGeom>
          <a:solidFill>
            <a:srgbClr val="FFFFFF"/>
          </a:solidFill>
          <a:ln w="15875">
            <a:solidFill>
              <a:srgbClr val="26357A"/>
            </a:solidFill>
            <a:prstDash val="solid"/>
          </a:ln>
        </p:spPr>
      </p:sp>
      <p:sp>
        <p:nvSpPr>
          <p:cNvPr id="12" name="Text 10"/>
          <p:cNvSpPr txBox="1"/>
          <p:nvPr/>
        </p:nvSpPr>
        <p:spPr>
          <a:xfrm>
            <a:off x="685800" y="4389120"/>
            <a:ext cx="3149498" cy="914400"/>
          </a:xfrm>
          <a:prstGeom prst="rect">
            <a:avLst/>
          </a:prstGeom>
          <a:noFill/>
          <a:ln/>
        </p:spPr>
        <p:txBody>
          <a:bodyPr wrap="square" lIns="0" tIns="0" rIns="0" bIns="0" rtlCol="0" anchor="ctr"/>
          <a:lstStyle/>
          <a:p>
            <a:pPr algn="ctr" indent="0" marL="0">
              <a:buNone/>
            </a:pPr>
            <a:r>
              <a:rPr lang="ko-KR" altLang="en-US" sz="1600" b="1" dirty="0">
                <a:solidFill>
                  <a:srgbClr val="1B2559"/>
                </a:solidFill>
              </a:rPr>
              <a:t>설정 구간</a:t>
            </a:r>
            <a:endParaRPr lang="ko-KR" sz="1700" dirty="0"/>
          </a:p>
          <a:p>
            <a:pPr algn="ctr" indent="0" marL="0">
              <a:buNone/>
            </a:pPr>
            <a:r>
              <a:rPr lang="ko-KR" altLang="en-US" sz="1300" dirty="0">
                <a:solidFill>
                  <a:srgbClr val="1B2559"/>
                </a:solidFill>
              </a:rPr>
              <a:t>품질 지표 · R 규칙 파라미터 결정</a:t>
            </a:r>
            <a:endParaRPr lang="ko-KR" sz="1700" dirty="0"/>
          </a:p>
        </p:txBody>
      </p:sp>
      <p:sp>
        <p:nvSpPr>
          <p:cNvPr id="13" name="Shape 11"/>
          <p:cNvSpPr/>
          <p:nvPr/>
        </p:nvSpPr>
        <p:spPr>
          <a:xfrm>
            <a:off x="4018178" y="4846320"/>
            <a:ext cx="320040" cy="914"/>
          </a:xfrm>
          <a:prstGeom prst="line">
            <a:avLst/>
          </a:prstGeom>
          <a:noFill/>
          <a:ln w="25400">
            <a:solidFill>
              <a:srgbClr val="26357A"/>
            </a:solidFill>
            <a:prstDash val="solid"/>
            <a:tailEnd type="triangle"/>
          </a:ln>
        </p:spPr>
      </p:sp>
      <p:sp>
        <p:nvSpPr>
          <p:cNvPr id="14" name="Shape 12"/>
          <p:cNvSpPr/>
          <p:nvPr/>
        </p:nvSpPr>
        <p:spPr>
          <a:xfrm>
            <a:off x="4383938" y="4389120"/>
            <a:ext cx="3423818" cy="914400"/>
          </a:xfrm>
          <a:prstGeom prst="roundRect">
            <a:avLst>
              <a:gd name="adj" fmla="val 8000"/>
            </a:avLst>
          </a:prstGeom>
          <a:solidFill>
            <a:srgbClr val="26357A"/>
          </a:solidFill>
          <a:ln w="15875">
            <a:solidFill>
              <a:srgbClr val="26357A"/>
            </a:solidFill>
            <a:prstDash val="solid"/>
          </a:ln>
        </p:spPr>
      </p:sp>
      <p:sp>
        <p:nvSpPr>
          <p:cNvPr id="15" name="Text 13"/>
          <p:cNvSpPr txBox="1"/>
          <p:nvPr/>
        </p:nvSpPr>
        <p:spPr>
          <a:xfrm>
            <a:off x="4521098" y="4389120"/>
            <a:ext cx="3149498" cy="914400"/>
          </a:xfrm>
          <a:prstGeom prst="rect">
            <a:avLst/>
          </a:prstGeom>
          <a:noFill/>
          <a:ln/>
        </p:spPr>
        <p:txBody>
          <a:bodyPr wrap="square" lIns="0" tIns="0" rIns="0" bIns="0" rtlCol="0" anchor="ctr"/>
          <a:lstStyle/>
          <a:p>
            <a:pPr algn="ctr" indent="0" marL="0">
              <a:buNone/>
            </a:pPr>
            <a:r>
              <a:rPr lang="ko-KR" altLang="en-US" sz="1600" b="1" dirty="0">
                <a:solidFill>
                  <a:srgbClr val="FFFFFF"/>
                </a:solidFill>
              </a:rPr>
              <a:t>평가 구간</a:t>
            </a:r>
            <a:endParaRPr lang="ko-KR" sz="1700" dirty="0"/>
          </a:p>
          <a:p>
            <a:pPr algn="ctr" indent="0" marL="0">
              <a:buNone/>
            </a:pPr>
            <a:r>
              <a:rPr lang="ko-KR" altLang="en-US" sz="1300" dirty="0">
                <a:solidFill>
                  <a:srgbClr val="FFFFFF"/>
                </a:solidFill>
              </a:rPr>
              <a:t>규칙 고정 후 A · B · C 동일 조건 실행</a:t>
            </a:r>
            <a:endParaRPr lang="ko-KR" sz="1700" dirty="0"/>
          </a:p>
        </p:txBody>
      </p:sp>
      <p:sp>
        <p:nvSpPr>
          <p:cNvPr id="16" name="Shape 14"/>
          <p:cNvSpPr/>
          <p:nvPr/>
        </p:nvSpPr>
        <p:spPr>
          <a:xfrm>
            <a:off x="7853477" y="4846320"/>
            <a:ext cx="320040" cy="914"/>
          </a:xfrm>
          <a:prstGeom prst="line">
            <a:avLst/>
          </a:prstGeom>
          <a:noFill/>
          <a:ln w="25400">
            <a:solidFill>
              <a:srgbClr val="26357A"/>
            </a:solidFill>
            <a:prstDash val="solid"/>
            <a:tailEnd type="triangle"/>
          </a:ln>
        </p:spPr>
      </p:sp>
      <p:sp>
        <p:nvSpPr>
          <p:cNvPr id="17" name="Shape 15"/>
          <p:cNvSpPr/>
          <p:nvPr/>
        </p:nvSpPr>
        <p:spPr>
          <a:xfrm>
            <a:off x="8219237" y="4389120"/>
            <a:ext cx="3423818" cy="914400"/>
          </a:xfrm>
          <a:prstGeom prst="roundRect">
            <a:avLst>
              <a:gd name="adj" fmla="val 8000"/>
            </a:avLst>
          </a:prstGeom>
          <a:solidFill>
            <a:srgbClr val="FFFFFF"/>
          </a:solidFill>
          <a:ln w="15875">
            <a:solidFill>
              <a:srgbClr val="26357A"/>
            </a:solidFill>
            <a:prstDash val="solid"/>
          </a:ln>
        </p:spPr>
      </p:sp>
      <p:sp>
        <p:nvSpPr>
          <p:cNvPr id="18" name="Text 16"/>
          <p:cNvSpPr txBox="1"/>
          <p:nvPr/>
        </p:nvSpPr>
        <p:spPr>
          <a:xfrm>
            <a:off x="8356397" y="4389120"/>
            <a:ext cx="3149498" cy="914400"/>
          </a:xfrm>
          <a:prstGeom prst="rect">
            <a:avLst/>
          </a:prstGeom>
          <a:noFill/>
          <a:ln/>
        </p:spPr>
        <p:txBody>
          <a:bodyPr wrap="square" lIns="0" tIns="0" rIns="0" bIns="0" rtlCol="0" anchor="ctr"/>
          <a:lstStyle/>
          <a:p>
            <a:pPr algn="ctr" indent="0" marL="0">
              <a:buNone/>
            </a:pPr>
            <a:r>
              <a:rPr lang="ko-KR" altLang="en-US" sz="1600" b="1" dirty="0">
                <a:solidFill>
                  <a:srgbClr val="1B2559"/>
                </a:solidFill>
              </a:rPr>
              <a:t>정답 비교</a:t>
            </a:r>
            <a:endParaRPr lang="ko-KR" sz="1700" dirty="0"/>
          </a:p>
          <a:p>
            <a:pPr algn="ctr" indent="0" marL="0">
              <a:buNone/>
            </a:pPr>
            <a:r>
              <a:rPr lang="ko-KR" altLang="en-US" sz="1300" dirty="0">
                <a:solidFill>
                  <a:srgbClr val="1B2559"/>
                </a:solidFill>
              </a:rPr>
              <a:t>시간 정렬 후 RMSE · 최종 오차 · 증가량</a:t>
            </a:r>
            <a:endParaRPr lang="ko-KR" sz="1700" dirty="0"/>
          </a:p>
        </p:txBody>
      </p:sp>
      <p:sp>
        <p:nvSpPr>
          <p:cNvPr id="19" name="Text 17"/>
          <p:cNvSpPr txBox="1"/>
          <p:nvPr/>
        </p:nvSpPr>
        <p:spPr>
          <a:xfrm>
            <a:off x="548640" y="5486400"/>
            <a:ext cx="11094415" cy="384048"/>
          </a:xfrm>
          <a:prstGeom prst="rect">
            <a:avLst/>
          </a:prstGeom>
          <a:noFill/>
          <a:ln/>
        </p:spPr>
        <p:txBody>
          <a:bodyPr wrap="square" lIns="0" tIns="0" rIns="0" bIns="0" rtlCol="0" anchor="t"/>
          <a:lstStyle/>
          <a:p>
            <a:pPr indent="0" marL="0">
              <a:buNone/>
            </a:pPr>
            <a:r>
              <a:rPr lang="ko-KR" altLang="en-US" sz="1150" dirty="0">
                <a:solidFill>
                  <a:srgbClr val="5F6878"/>
                </a:solidFill>
              </a:rPr>
              <a:t>해석 시 주의: flow는 수평 속도 정보를 주므로 융합 후에도 수평 위치 오차는 서서히 누적될 수 있음 → 구간 길이를 함께 보고 · 흐림 · 저조도 · 프레임 누락은 원본 영상에 인위적으로 부여</a:t>
            </a:r>
            <a:endParaRPr lang="ko-KR" sz="1150" dirty="0"/>
          </a:p>
        </p:txBody>
      </p:sp>
      <p:sp>
        <p:nvSpPr>
          <p:cNvPr id="25" name="Slide Number Placeholder 0"/>
          <p:cNvSpPr>
            <a:spLocks noGrp="1"/>
          </p:cNvSpPr>
          <p:nvPr>
            <p:ph type="sldNum" sz="quarter" idx="4294967295"/>
          </p:nvPr>
        </p:nvSpPr>
        <p:spPr>
          <a:xfrm>
            <a:off x="5641848" y="6473952"/>
            <a:ext cx="9144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26357A"/>
                </a:solidFill>
              </a:defRPr>
            </a:lvl1pPr>
          </a:lstStyle>
          <a:p>
            <a:pPr algn="ct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VDEC Navy">
  <a:themeElements>
    <a:clrScheme name="VDEC Navy">
      <a:dk1>
        <a:srgbClr val="2B2F36"/>
      </a:dk1>
      <a:lt1>
        <a:srgbClr val="FFFFFF"/>
      </a:lt1>
      <a:dk2>
        <a:srgbClr val="26357A"/>
      </a:dk2>
      <a:lt2>
        <a:srgbClr val="EEF2F8"/>
      </a:lt2>
      <a:accent1>
        <a:srgbClr val="26357A"/>
      </a:accent1>
      <a:accent2>
        <a:srgbClr val="7DB3E0"/>
      </a:accent2>
      <a:accent3>
        <a:srgbClr val="E07B39"/>
      </a:accent3>
      <a:accent4>
        <a:srgbClr val="3B5BA9"/>
      </a:accent4>
      <a:accent5>
        <a:srgbClr val="C9D3E3"/>
      </a:accent5>
      <a:accent6>
        <a:srgbClr val="5F6878"/>
      </a:accent6>
      <a:hlink>
        <a:srgbClr val="3B5BA9"/>
      </a:hlink>
      <a:folHlink>
        <a:srgbClr val="6B5BA9"/>
      </a:folHlink>
    </a:clrScheme>
    <a:fontScheme name="VDEC Navy">
      <a:majorFont>
        <a:latin typeface="Arial"/>
        <a:ea typeface="맑은 고딕"/>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맑은 고딕"/>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부산대학교 기계공학부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GPS 사용 불가 환경에서 비전 보조 항법을 위한 다중센서 융합</dc:title>
  <dc:subject>학생자율연구II 연구계획 발표</dc:subject>
  <dc:creator>박찬혁</dc:creator>
  <cp:lastModifiedBy>박찬혁</cp:lastModifiedBy>
  <cp:revision>1</cp:revision>
  <dcterms:created xsi:type="dcterms:W3CDTF">2026-10-02T06:18:05Z</dcterms:created>
  <dcterms:modified xsi:type="dcterms:W3CDTF">2026-10-02T06:18:05Z</dcterms:modified>
</cp:coreProperties>
</file>