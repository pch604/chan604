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257" r:id="rId51"/>
    <p:sldId id="259" r:id="rId53"/>
    <p:sldId id="260" r:id="rId54"/>
    <p:sldId id="261" r:id="rId55"/>
    <p:sldId id="262" r:id="rId56"/>
    <p:sldId id="265" r:id="rId17"/>
    <p:sldId id="263" r:id="rId57"/>
    <p:sldId id="264" r:id="rIdTextOnlySlide8"/>
  </p:sldIdLst>
  <p:sldSz cx="9144000" cy="6858000" type="screen4x3"/>
  <p:notesSz cx="6858000" cy="9144000"/>
  <p:defaultTextStyle>
    <a:defPPr>
      <a:defRPr lang="en-US">
        <a:latin typeface="Arial"/>
        <a:ea typeface="MS PGothic"/>
      </a:defRPr>
    </a:defPPr>
    <a:lvl1pPr algn="l" rtl="0" eaLnBrk="0" fontAlgn="base" hangingPunct="0">
      <a:spcBef>
        <a:spcPct val="0"/>
      </a:spcBef>
      <a:spcAft>
        <a:spcPct val="0"/>
      </a:spcAft>
      <a:defRPr sz="2400" kern="1200">
        <a:solidFill>
          <a:schemeClr val="tx1"/>
        </a:solidFill>
        <a:latin typeface="Arial"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Arial"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Arial"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Arial"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Arial" charset="0"/>
        <a:ea typeface="MS PGothic" pitchFamily="34" charset="-128"/>
        <a:cs typeface="+mn-cs"/>
      </a:defRPr>
    </a:lvl5pPr>
    <a:lvl6pPr marL="2286000" algn="l" defTabSz="914400" rtl="0" eaLnBrk="1" latinLnBrk="0" hangingPunct="1">
      <a:defRPr sz="2400" kern="1200">
        <a:solidFill>
          <a:schemeClr val="tx1"/>
        </a:solidFill>
        <a:latin typeface="Arial" charset="0"/>
        <a:ea typeface="MS PGothic" pitchFamily="34" charset="-128"/>
        <a:cs typeface="+mn-cs"/>
      </a:defRPr>
    </a:lvl6pPr>
    <a:lvl7pPr marL="2743200" algn="l" defTabSz="914400" rtl="0" eaLnBrk="1" latinLnBrk="0" hangingPunct="1">
      <a:defRPr sz="2400" kern="1200">
        <a:solidFill>
          <a:schemeClr val="tx1"/>
        </a:solidFill>
        <a:latin typeface="Arial" charset="0"/>
        <a:ea typeface="MS PGothic" pitchFamily="34" charset="-128"/>
        <a:cs typeface="+mn-cs"/>
      </a:defRPr>
    </a:lvl7pPr>
    <a:lvl8pPr marL="3200400" algn="l" defTabSz="914400" rtl="0" eaLnBrk="1" latinLnBrk="0" hangingPunct="1">
      <a:defRPr sz="2400" kern="1200">
        <a:solidFill>
          <a:schemeClr val="tx1"/>
        </a:solidFill>
        <a:latin typeface="Arial" charset="0"/>
        <a:ea typeface="MS PGothic" pitchFamily="34" charset="-128"/>
        <a:cs typeface="+mn-cs"/>
      </a:defRPr>
    </a:lvl8pPr>
    <a:lvl9pPr marL="3657600" algn="l" defTabSz="914400" rtl="0" eaLnBrk="1" latinLnBrk="0" hangingPunct="1">
      <a:defRPr sz="2400" kern="1200">
        <a:solidFill>
          <a:schemeClr val="tx1"/>
        </a:solidFill>
        <a:latin typeface="Arial" charset="0"/>
        <a:ea typeface="MS PGothic" pitchFamily="34" charset="-128"/>
        <a:cs typeface="+mn-cs"/>
      </a:defRPr>
    </a:lvl9pPr>
  </p:defaultTextStyle>
  <p:extLst>
    <p:ext uri="{521415D9-36F7-43E2-AB2F-B90AF26B5E84}">
      <p14:sectionLst xmlns:p14="http://schemas.microsoft.com/office/powerpoint/2010/main">
        <p14:section name="Default Section" id="{4D0A106E-F050-4475-AE74-186DD2AE9C4F}">
          <p14:sldIdLst>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CC"/>
    <a:srgbClr val="99CCFF"/>
    <a:srgbClr val="0066FF"/>
    <a:srgbClr val="3B4C97"/>
    <a:srgbClr val="000099"/>
    <a:srgbClr val="000F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5" autoAdjust="0"/>
    <p:restoredTop sz="89065" autoAdjust="0"/>
  </p:normalViewPr>
  <p:slideViewPr>
    <p:cSldViewPr>
      <p:cViewPr varScale="1">
        <p:scale>
          <a:sx n="112" d="100"/>
          <a:sy n="112" d="100"/>
        </p:scale>
        <p:origin x="94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80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TextOnlySlide8" Type="http://schemas.openxmlformats.org/officeDocument/2006/relationships/slide" Target="slides/slide8.xml"/><Relationship Id="rId1" Type="http://schemas.openxmlformats.org/officeDocument/2006/relationships/slideMaster" Target="slideMasters/slideMaster1.xml"/><Relationship Id="rId17" Type="http://schemas.openxmlformats.org/officeDocument/2006/relationships/slide" Target="slides/slide9.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openxmlformats.org/officeDocument/2006/relationships/slide" Target="slides/slide1.xml"/><Relationship Id="rId53" Type="http://schemas.openxmlformats.org/officeDocument/2006/relationships/slide" Target="slides/slide3.xml"/><Relationship Id="rId54" Type="http://schemas.openxmlformats.org/officeDocument/2006/relationships/slide" Target="slides/slide4.xml"/><Relationship Id="rId55" Type="http://schemas.openxmlformats.org/officeDocument/2006/relationships/slide" Target="slides/slide5.xml"/><Relationship Id="rId56" Type="http://schemas.openxmlformats.org/officeDocument/2006/relationships/slide" Target="slides/slide6.xml"/><Relationship Id="rId57"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gsun Ahn" userId="518abb9056612078" providerId="LiveId" clId="{26BC773D-7115-4A87-A284-8E0674A1E3A0}"/>
    <pc:docChg chg="undo custSel delSld modSld modSection">
      <pc:chgData name="Changsun Ahn" userId="518abb9056612078" providerId="LiveId" clId="{26BC773D-7115-4A87-A284-8E0674A1E3A0}" dt="2026-07-30T01:16:33.489" v="7" actId="47"/>
      <pc:docMkLst>
        <pc:docMk/>
      </pc:docMkLst>
      <pc:sldChg chg="del">
        <pc:chgData name="Changsun Ahn" userId="518abb9056612078" providerId="LiveId" clId="{26BC773D-7115-4A87-A284-8E0674A1E3A0}" dt="2026-07-30T01:16:33.489" v="7" actId="47"/>
        <pc:sldMkLst>
          <pc:docMk/>
          <pc:sldMk cId="474195226" sldId="871"/>
        </pc:sldMkLst>
      </pc:sldChg>
      <pc:sldChg chg="del">
        <pc:chgData name="Changsun Ahn" userId="518abb9056612078" providerId="LiveId" clId="{26BC773D-7115-4A87-A284-8E0674A1E3A0}" dt="2026-07-30T01:16:33.489" v="7" actId="47"/>
        <pc:sldMkLst>
          <pc:docMk/>
          <pc:sldMk cId="297504490" sldId="872"/>
        </pc:sldMkLst>
      </pc:sldChg>
      <pc:sldChg chg="modSp mod">
        <pc:chgData name="Changsun Ahn" userId="518abb9056612078" providerId="LiveId" clId="{26BC773D-7115-4A87-A284-8E0674A1E3A0}" dt="2026-07-30T01:15:31.563" v="5" actId="20577"/>
        <pc:sldMkLst>
          <pc:docMk/>
          <pc:sldMk cId="3174226046" sldId="915"/>
        </pc:sldMkLst>
        <pc:spChg chg="mod">
          <ac:chgData name="Changsun Ahn" userId="518abb9056612078" providerId="LiveId" clId="{26BC773D-7115-4A87-A284-8E0674A1E3A0}" dt="2026-07-30T01:15:31.563" v="5" actId="20577"/>
          <ac:spMkLst>
            <pc:docMk/>
            <pc:sldMk cId="3174226046" sldId="915"/>
            <ac:spMk id="19" creationId="{00000000-0000-0000-0000-000000000000}"/>
          </ac:spMkLst>
        </pc:spChg>
      </pc:sldChg>
      <pc:sldChg chg="del">
        <pc:chgData name="Changsun Ahn" userId="518abb9056612078" providerId="LiveId" clId="{26BC773D-7115-4A87-A284-8E0674A1E3A0}" dt="2026-07-30T01:16:20.971" v="6" actId="47"/>
        <pc:sldMkLst>
          <pc:docMk/>
          <pc:sldMk cId="1743384770" sldId="917"/>
        </pc:sldMkLst>
      </pc:sldChg>
      <pc:sldChg chg="del">
        <pc:chgData name="Changsun Ahn" userId="518abb9056612078" providerId="LiveId" clId="{26BC773D-7115-4A87-A284-8E0674A1E3A0}" dt="2026-07-30T01:16:20.971" v="6" actId="47"/>
        <pc:sldMkLst>
          <pc:docMk/>
          <pc:sldMk cId="2437741310" sldId="918"/>
        </pc:sldMkLst>
      </pc:sldChg>
      <pc:sldChg chg="del">
        <pc:chgData name="Changsun Ahn" userId="518abb9056612078" providerId="LiveId" clId="{26BC773D-7115-4A87-A284-8E0674A1E3A0}" dt="2026-07-30T01:16:20.971" v="6" actId="47"/>
        <pc:sldMkLst>
          <pc:docMk/>
          <pc:sldMk cId="2166412743" sldId="919"/>
        </pc:sldMkLst>
      </pc:sldChg>
      <pc:sldChg chg="del">
        <pc:chgData name="Changsun Ahn" userId="518abb9056612078" providerId="LiveId" clId="{26BC773D-7115-4A87-A284-8E0674A1E3A0}" dt="2026-07-30T01:16:20.971" v="6" actId="47"/>
        <pc:sldMkLst>
          <pc:docMk/>
          <pc:sldMk cId="1701861227" sldId="920"/>
        </pc:sldMkLst>
      </pc:sldChg>
      <pc:sldChg chg="del">
        <pc:chgData name="Changsun Ahn" userId="518abb9056612078" providerId="LiveId" clId="{26BC773D-7115-4A87-A284-8E0674A1E3A0}" dt="2026-07-30T01:16:20.971" v="6" actId="47"/>
        <pc:sldMkLst>
          <pc:docMk/>
          <pc:sldMk cId="519232037" sldId="921"/>
        </pc:sldMkLst>
      </pc:sldChg>
      <pc:sldChg chg="del">
        <pc:chgData name="Changsun Ahn" userId="518abb9056612078" providerId="LiveId" clId="{26BC773D-7115-4A87-A284-8E0674A1E3A0}" dt="2026-07-30T01:16:20.971" v="6" actId="47"/>
        <pc:sldMkLst>
          <pc:docMk/>
          <pc:sldMk cId="4136637569" sldId="922"/>
        </pc:sldMkLst>
      </pc:sldChg>
      <pc:sldChg chg="del">
        <pc:chgData name="Changsun Ahn" userId="518abb9056612078" providerId="LiveId" clId="{26BC773D-7115-4A87-A284-8E0674A1E3A0}" dt="2026-07-30T01:16:20.971" v="6" actId="47"/>
        <pc:sldMkLst>
          <pc:docMk/>
          <pc:sldMk cId="831033970" sldId="923"/>
        </pc:sldMkLst>
      </pc:sldChg>
      <pc:sldChg chg="del">
        <pc:chgData name="Changsun Ahn" userId="518abb9056612078" providerId="LiveId" clId="{26BC773D-7115-4A87-A284-8E0674A1E3A0}" dt="2026-07-30T01:16:20.971" v="6" actId="47"/>
        <pc:sldMkLst>
          <pc:docMk/>
          <pc:sldMk cId="3151416821" sldId="924"/>
        </pc:sldMkLst>
      </pc:sldChg>
      <pc:sldChg chg="del">
        <pc:chgData name="Changsun Ahn" userId="518abb9056612078" providerId="LiveId" clId="{26BC773D-7115-4A87-A284-8E0674A1E3A0}" dt="2026-07-30T01:16:20.971" v="6" actId="47"/>
        <pc:sldMkLst>
          <pc:docMk/>
          <pc:sldMk cId="1829320128" sldId="925"/>
        </pc:sldMkLst>
      </pc:sldChg>
      <pc:sldChg chg="del">
        <pc:chgData name="Changsun Ahn" userId="518abb9056612078" providerId="LiveId" clId="{26BC773D-7115-4A87-A284-8E0674A1E3A0}" dt="2026-07-30T01:16:20.971" v="6" actId="47"/>
        <pc:sldMkLst>
          <pc:docMk/>
          <pc:sldMk cId="3431485836" sldId="926"/>
        </pc:sldMkLst>
      </pc:sldChg>
      <pc:sldChg chg="del">
        <pc:chgData name="Changsun Ahn" userId="518abb9056612078" providerId="LiveId" clId="{26BC773D-7115-4A87-A284-8E0674A1E3A0}" dt="2026-07-30T01:16:20.971" v="6" actId="47"/>
        <pc:sldMkLst>
          <pc:docMk/>
          <pc:sldMk cId="3081601730" sldId="927"/>
        </pc:sldMkLst>
      </pc:sldChg>
      <pc:sldChg chg="del">
        <pc:chgData name="Changsun Ahn" userId="518abb9056612078" providerId="LiveId" clId="{26BC773D-7115-4A87-A284-8E0674A1E3A0}" dt="2026-07-30T01:16:20.971" v="6" actId="47"/>
        <pc:sldMkLst>
          <pc:docMk/>
          <pc:sldMk cId="1756593512" sldId="928"/>
        </pc:sldMkLst>
      </pc:sldChg>
    </pc:docChg>
  </pc:docChgLst>
  <pc:docChgLst>
    <pc:chgData name="Changsun Ahn" userId="518abb9056612078" providerId="LiveId" clId="{35FD0D37-7309-4F33-8079-6672F617D33C}"/>
    <pc:docChg chg="modSld">
      <pc:chgData name="Changsun Ahn" userId="518abb9056612078" providerId="LiveId" clId="{35FD0D37-7309-4F33-8079-6672F617D33C}" dt="2025-10-14T01:50:28.014" v="10"/>
      <pc:docMkLst>
        <pc:docMk/>
      </pc:docMkLst>
      <pc:sldChg chg="modSp mod">
        <pc:chgData name="Changsun Ahn" userId="518abb9056612078" providerId="LiveId" clId="{35FD0D37-7309-4F33-8079-6672F617D33C}" dt="2025-10-14T00:27:45.224" v="4" actId="20577"/>
        <pc:sldMkLst>
          <pc:docMk/>
          <pc:sldMk cId="297504490" sldId="872"/>
        </pc:sldMkLst>
        <pc:spChg chg="mod">
          <ac:chgData name="Changsun Ahn" userId="518abb9056612078" providerId="LiveId" clId="{35FD0D37-7309-4F33-8079-6672F617D33C}" dt="2025-10-14T00:27:45.224" v="4" actId="20577"/>
          <ac:spMkLst>
            <pc:docMk/>
            <pc:sldMk cId="297504490" sldId="872"/>
            <ac:spMk id="3" creationId="{00000000-0000-0000-0000-000000000000}"/>
          </ac:spMkLst>
        </pc:spChg>
      </pc:sldChg>
      <pc:sldChg chg="modSp">
        <pc:chgData name="Changsun Ahn" userId="518abb9056612078" providerId="LiveId" clId="{35FD0D37-7309-4F33-8079-6672F617D33C}" dt="2025-10-14T01:44:06.588" v="6"/>
        <pc:sldMkLst>
          <pc:docMk/>
          <pc:sldMk cId="3860292029" sldId="881"/>
        </pc:sldMkLst>
        <pc:graphicFrameChg chg="mod">
          <ac:chgData name="Changsun Ahn" userId="518abb9056612078" providerId="LiveId" clId="{35FD0D37-7309-4F33-8079-6672F617D33C}" dt="2025-10-14T01:44:06.588" v="6"/>
          <ac:graphicFrameMkLst>
            <pc:docMk/>
            <pc:sldMk cId="3860292029" sldId="881"/>
            <ac:graphicFrameMk id="19" creationId="{00000000-0000-0000-0000-000000000000}"/>
          </ac:graphicFrameMkLst>
        </pc:graphicFrameChg>
      </pc:sldChg>
      <pc:sldChg chg="addSp modSp mod">
        <pc:chgData name="Changsun Ahn" userId="518abb9056612078" providerId="LiveId" clId="{35FD0D37-7309-4F33-8079-6672F617D33C}" dt="2025-10-14T01:50:03.289" v="8" actId="1076"/>
        <pc:sldMkLst>
          <pc:docMk/>
          <pc:sldMk cId="3380350785" sldId="886"/>
        </pc:sldMkLst>
        <pc:graphicFrameChg chg="add mod">
          <ac:chgData name="Changsun Ahn" userId="518abb9056612078" providerId="LiveId" clId="{35FD0D37-7309-4F33-8079-6672F617D33C}" dt="2025-10-14T01:50:03.289" v="8" actId="1076"/>
          <ac:graphicFrameMkLst>
            <pc:docMk/>
            <pc:sldMk cId="3380350785" sldId="886"/>
            <ac:graphicFrameMk id="3" creationId="{85C9AF3D-D5DA-4ACB-8565-363D4BB568BF}"/>
          </ac:graphicFrameMkLst>
        </pc:graphicFrameChg>
      </pc:sldChg>
      <pc:sldChg chg="modSp">
        <pc:chgData name="Changsun Ahn" userId="518abb9056612078" providerId="LiveId" clId="{35FD0D37-7309-4F33-8079-6672F617D33C}" dt="2025-10-14T01:50:28.014" v="10"/>
        <pc:sldMkLst>
          <pc:docMk/>
          <pc:sldMk cId="2711729751" sldId="887"/>
        </pc:sldMkLst>
        <pc:spChg chg="mod">
          <ac:chgData name="Changsun Ahn" userId="518abb9056612078" providerId="LiveId" clId="{35FD0D37-7309-4F33-8079-6672F617D33C}" dt="2025-10-14T01:50:28.014" v="10"/>
          <ac:spMkLst>
            <pc:docMk/>
            <pc:sldMk cId="2711729751" sldId="887"/>
            <ac:spMk id="47" creationId="{00000000-0000-0000-0000-000000000000}"/>
          </ac:spMkLst>
        </pc:spChg>
        <pc:spChg chg="mod">
          <ac:chgData name="Changsun Ahn" userId="518abb9056612078" providerId="LiveId" clId="{35FD0D37-7309-4F33-8079-6672F617D33C}" dt="2025-10-14T01:50:28.014" v="10"/>
          <ac:spMkLst>
            <pc:docMk/>
            <pc:sldMk cId="2711729751" sldId="887"/>
            <ac:spMk id="52" creationId="{00000000-0000-0000-0000-000000000000}"/>
          </ac:spMkLst>
        </pc:spChg>
        <pc:grpChg chg="mod">
          <ac:chgData name="Changsun Ahn" userId="518abb9056612078" providerId="LiveId" clId="{35FD0D37-7309-4F33-8079-6672F617D33C}" dt="2025-10-14T01:50:28.014" v="10"/>
          <ac:grpSpMkLst>
            <pc:docMk/>
            <pc:sldMk cId="2711729751" sldId="887"/>
            <ac:grpSpMk id="53" creationId="{00000000-0000-0000-0000-000000000000}"/>
          </ac:grpSpMkLst>
        </pc:grpChg>
        <pc:graphicFrameChg chg="mod">
          <ac:chgData name="Changsun Ahn" userId="518abb9056612078" providerId="LiveId" clId="{35FD0D37-7309-4F33-8079-6672F617D33C}" dt="2025-10-14T01:50:28.014" v="10"/>
          <ac:graphicFrameMkLst>
            <pc:docMk/>
            <pc:sldMk cId="2711729751" sldId="887"/>
            <ac:graphicFrameMk id="46"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3"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4"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E519B566-4DAF-4B26-ADC8-A43E608533F5}"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1110100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noProof="0">
                <a:latin typeface="Arial"/>
                <a:ea typeface="MS PGothic"/>
              </a:rPr>
              <a:t>Click to edit Master text styles</a:t>
            </a:r>
          </a:p>
          <a:p>
            <a:pPr lvl="1"/>
            <a:r>
              <a:rPr lang="en-US" noProof="0">
                <a:latin typeface="Arial"/>
                <a:ea typeface="MS PGothic"/>
              </a:rPr>
              <a:t>Second level</a:t>
            </a:r>
          </a:p>
          <a:p>
            <a:pPr lvl="2"/>
            <a:r>
              <a:rPr lang="en-US" noProof="0">
                <a:latin typeface="Arial"/>
                <a:ea typeface="MS PGothic"/>
              </a:rPr>
              <a:t>Third level</a:t>
            </a:r>
          </a:p>
          <a:p>
            <a:pPr lvl="3"/>
            <a:r>
              <a:rPr lang="en-US" noProof="0">
                <a:latin typeface="Arial"/>
                <a:ea typeface="MS PGothic"/>
              </a:rPr>
              <a:t>Fourth level</a:t>
            </a:r>
          </a:p>
          <a:p>
            <a:pPr lvl="4"/>
            <a:r>
              <a:rPr lang="en-US" noProof="0">
                <a:latin typeface="Arial"/>
                <a:ea typeface="MS PGothic"/>
              </a:rPr>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5096BAED-5FB2-4DAD-92B2-076325177B4F}"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38159845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5pPr>
    <a:lvl6pPr marL="2286000" algn="l" defTabSz="914400" rtl="0" eaLnBrk="1" latinLnBrk="0" hangingPunct="1">
      <a:defRPr sz="1200" kern="1200">
        <a:solidFill>
          <a:schemeClr val="tx1"/>
        </a:solidFill>
        <a:latin typeface="Arial"/>
        <a:ea typeface="MS PGothic"/>
        <a:cs typeface="+mn-cs"/>
      </a:defRPr>
    </a:lvl6pPr>
    <a:lvl7pPr marL="2743200" algn="l" defTabSz="914400" rtl="0" eaLnBrk="1" latinLnBrk="0" hangingPunct="1">
      <a:defRPr sz="1200" kern="1200">
        <a:solidFill>
          <a:schemeClr val="tx1"/>
        </a:solidFill>
        <a:latin typeface="Arial"/>
        <a:ea typeface="MS PGothic"/>
        <a:cs typeface="+mn-cs"/>
      </a:defRPr>
    </a:lvl7pPr>
    <a:lvl8pPr marL="3200400" algn="l" defTabSz="914400" rtl="0" eaLnBrk="1" latinLnBrk="0" hangingPunct="1">
      <a:defRPr sz="1200" kern="1200">
        <a:solidFill>
          <a:schemeClr val="tx1"/>
        </a:solidFill>
        <a:latin typeface="Arial"/>
        <a:ea typeface="MS PGothic"/>
        <a:cs typeface="+mn-cs"/>
      </a:defRPr>
    </a:lvl8pPr>
    <a:lvl9pPr marL="3657600" algn="l" defTabSz="914400" rtl="0" eaLnBrk="1" latinLnBrk="0" hangingPunct="1">
      <a:defRPr sz="1200" kern="1200">
        <a:solidFill>
          <a:schemeClr val="tx1"/>
        </a:solidFill>
        <a:latin typeface="Arial"/>
        <a:ea typeface="MS PGothic"/>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charset="0"/>
                <a:ea typeface="MS PGothic" pitchFamily="18" charset="-120"/>
              </a:defRPr>
            </a:lvl1pPr>
            <a:lvl2pPr marL="742950" indent="-285750" eaLnBrk="0" hangingPunct="0">
              <a:defRPr sz="2400" b="1">
                <a:solidFill>
                  <a:schemeClr val="tx1"/>
                </a:solidFill>
                <a:latin typeface="Arial" charset="0"/>
                <a:ea typeface="MS PGothic" pitchFamily="18" charset="-120"/>
              </a:defRPr>
            </a:lvl2pPr>
            <a:lvl3pPr marL="1143000" indent="-228600" eaLnBrk="0" hangingPunct="0">
              <a:defRPr sz="2400" b="1">
                <a:solidFill>
                  <a:schemeClr val="tx1"/>
                </a:solidFill>
                <a:latin typeface="Arial" charset="0"/>
                <a:ea typeface="MS PGothic" pitchFamily="18" charset="-120"/>
              </a:defRPr>
            </a:lvl3pPr>
            <a:lvl4pPr marL="1600200" indent="-228600" eaLnBrk="0" hangingPunct="0">
              <a:defRPr sz="2400" b="1">
                <a:solidFill>
                  <a:schemeClr val="tx1"/>
                </a:solidFill>
                <a:latin typeface="Arial" charset="0"/>
                <a:ea typeface="MS PGothic" pitchFamily="18" charset="-120"/>
              </a:defRPr>
            </a:lvl4pPr>
            <a:lvl5pPr marL="2057400" indent="-228600" eaLnBrk="0" hangingPunct="0">
              <a:defRPr sz="2400" b="1">
                <a:solidFill>
                  <a:schemeClr val="tx1"/>
                </a:solidFill>
                <a:latin typeface="Arial" charset="0"/>
                <a:ea typeface="MS PGothic" pitchFamily="18" charset="-120"/>
              </a:defRPr>
            </a:lvl5pPr>
            <a:lvl6pPr marL="2514600" indent="-228600" eaLnBrk="0" fontAlgn="base" hangingPunct="0">
              <a:spcBef>
                <a:spcPct val="0"/>
              </a:spcBef>
              <a:spcAft>
                <a:spcPct val="0"/>
              </a:spcAft>
              <a:defRPr sz="2400" b="1">
                <a:solidFill>
                  <a:schemeClr val="tx1"/>
                </a:solidFill>
                <a:latin typeface="Arial" charset="0"/>
                <a:ea typeface="MS PGothic" pitchFamily="18" charset="-120"/>
              </a:defRPr>
            </a:lvl6pPr>
            <a:lvl7pPr marL="2971800" indent="-228600" eaLnBrk="0" fontAlgn="base" hangingPunct="0">
              <a:spcBef>
                <a:spcPct val="0"/>
              </a:spcBef>
              <a:spcAft>
                <a:spcPct val="0"/>
              </a:spcAft>
              <a:defRPr sz="2400" b="1">
                <a:solidFill>
                  <a:schemeClr val="tx1"/>
                </a:solidFill>
                <a:latin typeface="Arial" charset="0"/>
                <a:ea typeface="MS PGothic" pitchFamily="18" charset="-120"/>
              </a:defRPr>
            </a:lvl7pPr>
            <a:lvl8pPr marL="3429000" indent="-228600" eaLnBrk="0" fontAlgn="base" hangingPunct="0">
              <a:spcBef>
                <a:spcPct val="0"/>
              </a:spcBef>
              <a:spcAft>
                <a:spcPct val="0"/>
              </a:spcAft>
              <a:defRPr sz="2400" b="1">
                <a:solidFill>
                  <a:schemeClr val="tx1"/>
                </a:solidFill>
                <a:latin typeface="Arial" charset="0"/>
                <a:ea typeface="MS PGothic" pitchFamily="18" charset="-120"/>
              </a:defRPr>
            </a:lvl8pPr>
            <a:lvl9pPr marL="3886200" indent="-228600" eaLnBrk="0" fontAlgn="base" hangingPunct="0">
              <a:spcBef>
                <a:spcPct val="0"/>
              </a:spcBef>
              <a:spcAft>
                <a:spcPct val="0"/>
              </a:spcAft>
              <a:defRPr sz="2400" b="1">
                <a:solidFill>
                  <a:schemeClr val="tx1"/>
                </a:solidFill>
                <a:latin typeface="Arial" charset="0"/>
                <a:ea typeface="MS PGothic" pitchFamily="18" charset="-120"/>
              </a:defRPr>
            </a:lvl9pPr>
          </a:lstStyle>
          <a:p>
            <a:pPr>
              <a:defRPr>
                <a:latin typeface="Arial"/>
                <a:ea typeface="MS PGothic"/>
              </a:defRPr>
            </a:pPr>
            <a:fld id="{8A1CC2BC-5918-49F0-B63E-CBAD895B9FF1}" type="slidenum">
              <a:rPr lang="en-US" altLang="zh-TW" sz="1200" b="0" smtClean="0">
                <a:latin typeface="Arial"/>
                <a:ea typeface="MS PGothic"/>
              </a:rPr>
              <a:pPr>
                <a:defRPr>
                  <a:latin typeface="Arial"/>
                  <a:ea typeface="MS PGothic"/>
                </a:defRPr>
              </a:pPr>
              <a:t>1</a:t>
            </a:fld>
            <a:endParaRPr lang="en-US" altLang="zh-TW" sz="1200" b="0">
              <a:latin typeface="Arial"/>
              <a:ea typeface="MS PGothic"/>
            </a:endParaRPr>
          </a:p>
        </p:txBody>
      </p:sp>
      <p:sp>
        <p:nvSpPr>
          <p:cNvPr id="70659" name="Rectangle 2"/>
          <p:cNvSpPr>
            <a:spLocks noGrp="1" noRot="1" noChangeAspect="1" noChangeArrowheads="1" noTextEdit="1"/>
          </p:cNvSpPr>
          <p:nvPr>
            <p:ph type="sldImg"/>
          </p:nvPr>
        </p:nvSpPr>
        <p:spPr>
          <a:xfrm>
            <a:off x="1143000" y="685800"/>
            <a:ext cx="4572000" cy="3429000"/>
          </a:xfrm>
          <a:ln/>
        </p:spPr>
      </p:sp>
      <p:sp>
        <p:nvSpPr>
          <p:cNvPr id="70660" name="Notes Placeholder 4"/>
          <p:cNvSpPr>
            <a:spLocks noGrp="1"/>
          </p:cNvSpPr>
          <p:nvPr/>
        </p:nvSpPr>
        <p:spPr bwMode="auto">
          <a:xfrm>
            <a:off x="914508" y="4343144"/>
            <a:ext cx="5028986" cy="411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30000"/>
              </a:spcBef>
            </a:pPr>
            <a:endParaRPr kumimoji="1" lang="en-US" sz="1200" b="0">
              <a:latin typeface="Arial" pitchFamily="18" charset="0"/>
              <a:ea typeface="MS PGothic"/>
            </a:endParaRPr>
          </a:p>
        </p:txBody>
      </p:sp>
      <p:sp>
        <p:nvSpPr>
          <p:cNvPr id="2" name="Notes Placeholder 1"/>
          <p:cNvSpPr>
            <a:spLocks noGrp="1"/>
          </p:cNvSpPr>
          <p:nvPr>
            <p:ph type="body" idx="1"/>
          </p:nvPr>
        </p:nvSpPr>
        <p:spPr/>
        <p:txBody>
          <a:bodyPr/>
          <a:lstStyle/>
          <a:p>
            <a:r>
              <a:t>[10초]</a:t>
            </a:r>
          </a:p>
          <a:p>
            <a:r>
              <a:t>안녕하세요, 학생자율연구II 연구계획을 발표할 박찬혁입니다. 제 연구는 GPS를 쓰기 어려운 환경에서 카메라, IMU, 거리센서를 하나의 필터로 융합하되, 센서마다 다른 측정 시점까지 고려하는 위치·자세 추정기를 만드는 것입니다.</a:t>
            </a:r>
          </a:p>
        </p:txBody>
      </p:sp>
    </p:spTree>
    <p:extLst>
      <p:ext uri="{BB962C8B-B14F-4D97-AF65-F5344CB8AC3E}">
        <p14:creationId xmlns:p14="http://schemas.microsoft.com/office/powerpoint/2010/main" val="3421518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자동차 내비게이션은 터널에 들어가 GPS가 끊겨도 화면 속 차량이 계속 움직입니다. 마지막 위치에서 속도와 회전 정보로 위치를 이어서 계산하기 때문입니다. 이처럼 항법은 관성 정보로 움직임을 예측하고, 다른 센서로 그 예측을 보정하는 구조입니다.</a:t>
            </a:r>
          </a:p>
          <a:p>
            <a:r>
              <a:t>(위 세 칸) 이 원리는 실내 드론과 NASA의 화성 헬리콥터 인저뉴어티에도 그대로 쓰입니다.</a:t>
            </a:r>
          </a:p>
          <a:p>
            <a:r>
              <a:t>(아래 두 칸) 보정에 많이 쓰이는 센서가 카메라입니다. 옵티컬 플로우는 연속된 영상에서 점이 얼마나 움직였는지 추적하는 기법으로, 광마우스가 움직임을 읽는 것과 같은 원리입니다. VIO는 이 영상 정보를 IMU와 결합해 위치와 자세를 추정합니다. 옵티컬 플로우가 측정이라면, VIO는 그 측정을 쓰는 추정입니다.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[50초]</a:t>
            </a:r>
          </a:p>
          <a:p>
            <a:r>
              <a:t>그런데 이 구조를 실제 센서에 적용하면 두 가지 문제가 생깁니다.</a:t>
            </a:r>
          </a:p>
          <a:p>
            <a:r>
              <a:t>첫째는 개별 센서의 한계입니다. IMU만 쓰면 작은 오차가 적분되면서 계속 쌓입니다. 카메라는 영상 속 이동만 알려 주기 때문에, 실제 이동 거리로 바꾸려면 거리센서 정보가 필요합니다.</a:t>
            </a:r>
          </a:p>
          <a:p>
            <a:r>
              <a:t>둘째는 측정 시점의 차이입니다. 카메라는 IMU보다 느리고 영상 처리에도 시간이 걸려서, 지금 들어온 영상 측정은 사실 조금 전의 움직임입니다. 이런 시간 차이는 융합 성능을 크게 떨어뜨린다고 보고되어 있고, (오른쪽) 실제로 PX4 비행제어기도 옵티컬 플로우와 거리센서의 지연값을 따로 설정해 보정합니다.</a:t>
            </a:r>
          </a:p>
          <a:p>
            <a:r>
              <a:t>그래서 제 연구의 목적은 측정 주기와 지연 차이를 고려해 카메라, IMU, 거리센서를 하나의 필터로 융합하는 위치·자세 추정기를 구현하는 것입니다.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[45초]</a:t>
            </a:r>
          </a:p>
          <a:p>
            <a:r>
              <a:t>이 시간 문제는 차량 분야에서도 중요하게 다뤄졌습니다. 지도교수님 연구실의 Kim과 Ahn의 논문은 레이더와 V2X 통신처럼 도착 시점이 서로 다른 정보를 융합해 앞 차량의 상태를 추정했습니다. 저는 이 논문에서 가운데 세 가지 처리 방법을 참고하겠습니다.</a:t>
            </a:r>
          </a:p>
          <a:p>
            <a:r>
              <a:t>첫째, 지연 보상입니다. 데이터를 받은 시점과 실제로 측정한 시점을 구분합니다. 둘째, 시간 정렬입니다. 함께 쓰는 신호의 시점을 맞추고, 필요하면 앞뒤 데이터로 그 사이 값을 보간합니다. 셋째, 과거 상태 재추정입니다. 늦게 들어온 측정으로 그 시점의 추정값을 고치고, 거기서부터 현재까지 다시 계산합니다. 차량 모델을 그대로 가져오는 것이 아니라, 시간 처리 방법을 제 센서 구성에 맞게 옮기는 것이 핵심입니다.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구체적인 방법입니다. (위쪽 그림) 영상의 이동은 KLT 옵티컬 플로우로 추적하고, 융합은 확장 칼만필터, 즉 EKF를 기본 구조로 사용합니다.</a:t>
            </a:r>
          </a:p>
          <a:p>
            <a:r>
              <a:t>예측 단계에서는 IMU의 가속도와 각속도로 다음 순간의 위치와 자세를 계산합니다. 보정 단계에서는 영상 이동과 거리 정보로 예측을 바로잡는데, 자이로로 회전 성분을 빼고 거리로 실제 크기를 정합니다.</a:t>
            </a:r>
          </a:p>
          <a:p>
            <a:r>
              <a:t>(아래 세 칸) 시간 처리는 이렇게 합니다. 필터는 과거 일정 구간의 상태와 입력을 저장해 두고, 새 측정이 없을 때는 예측만 합니다. 늦게 도착한 측정이 오면 그 측정 시점으로 돌아가 보정하고, 저장해 둔 IMU 입력으로 현재까지 다시 계산합니다. 이 방식은 드론용 다중센서 필터인 MSF-EKF와 PX4 EKF2에서도 쓰는 구조입니다.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[25초]</a:t>
            </a:r>
          </a:p>
          <a:p>
            <a:r>
              <a:t>일정입니다. 10월 전반에는 선행논문을 분석하고 센서의 주기와 타임스탬프, 지연을 정리합니다. 10월 후반에는 옵티컬 플로우와 IMU 예측으로 기본 융합 구조를 만듭니다. 이 연구의 핵심인 11월에는 지연 보상과 시간 정렬, 과거 상태 재추정을 넣고, 12월에 적용 전후를 비교해 보고서로 정리하겠습니다.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[15초]</a:t>
            </a:r>
          </a:p>
          <a:p>
            <a:r>
              <a:t>정리하면, 차량 분야에서 다뤄 온 시간 처리 방법을 카메라·IMU·거리센서 기반 비전 항법에 적용하고 그 효과를 확인하는 것이 이 연구입니다. 이상으로 발표를 마치겠습니다. 의견과 질문 부탁드립니다. 감사합니다.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[45초]</a:t>
            </a:r>
          </a:p>
          <a:p>
            <a:r>
              <a:t>구현은 이렇게 하겠습니다. 데이터는 공개 드론 데이터셋인 INSANE을 사용할 계획입니다. 하향 카메라와 같은 방향의 레이저 거리계, IMU가 모두 있고, 실내 구간에는 모션캡처 정답 궤적이 있어 평가에 쓸 수 있습니다.</a:t>
            </a:r>
          </a:p>
          <a:p>
            <a:r>
              <a:t>영상 처리는 OpenCV를 쓸 수 있는 파이썬에서 KLT로 영상 이동을 구하고, 프레임마다 처리시간도 기록합니다. 필터 모델과 시간 처리, 평가는 매트랩에서 구현합니다.</a:t>
            </a:r>
          </a:p>
          <a:p>
            <a:r>
              <a:t>비교는 지연을 무시하고 도착한 값을 바로 쓰는 경우와 시간 처리를 적용한 경우입니다. 실제 처리시간에 0에서 100 ms까지 지연을 더해 가며, 위치 오차와 재추정 처리시간이 어떻게 달라지는지 보겠습니다.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latin typeface="Arial"/>
                <a:ea typeface="MS PGothic"/>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a:ea typeface="MS PGothic"/>
              </a:defRPr>
            </a:lvl1pPr>
            <a:lvl2pPr marL="457200" indent="0" algn="ctr">
              <a:buNone/>
              <a:defRPr>
                <a:latin typeface="Arial"/>
                <a:ea typeface="MS PGothic"/>
              </a:defRPr>
            </a:lvl2pPr>
            <a:lvl3pPr marL="914400" indent="0" algn="ctr">
              <a:buNone/>
              <a:defRPr>
                <a:latin typeface="Arial"/>
                <a:ea typeface="MS PGothic"/>
              </a:defRPr>
            </a:lvl3pPr>
            <a:lvl4pPr marL="1371600" indent="0" algn="ctr">
              <a:buNone/>
              <a:defRPr>
                <a:latin typeface="Arial"/>
                <a:ea typeface="MS PGothic"/>
              </a:defRPr>
            </a:lvl4pPr>
            <a:lvl5pPr marL="1828800" indent="0" algn="ctr">
              <a:buNone/>
              <a:defRPr>
                <a:latin typeface="Arial"/>
                <a:ea typeface="MS PGothic"/>
              </a:defRPr>
            </a:lvl5pPr>
            <a:lvl6pPr marL="2286000" indent="0" algn="ctr">
              <a:buNone/>
              <a:defRPr>
                <a:latin typeface="Arial"/>
                <a:ea typeface="MS PGothic"/>
              </a:defRPr>
            </a:lvl6pPr>
            <a:lvl7pPr marL="2743200" indent="0" algn="ctr">
              <a:buNone/>
              <a:defRPr>
                <a:latin typeface="Arial"/>
                <a:ea typeface="MS PGothic"/>
              </a:defRPr>
            </a:lvl7pPr>
            <a:lvl8pPr marL="3200400" indent="0" algn="ctr">
              <a:buNone/>
              <a:defRPr>
                <a:latin typeface="Arial"/>
                <a:ea typeface="MS PGothic"/>
              </a:defRPr>
            </a:lvl8pPr>
            <a:lvl9pPr marL="3657600" indent="0" algn="ctr">
              <a:buNone/>
              <a:defRPr>
                <a:latin typeface="Arial"/>
                <a:ea typeface="MS PGothic"/>
              </a:defRPr>
            </a:lvl9pPr>
          </a:lstStyle>
          <a:p>
            <a:r>
              <a:rPr lang="en-US">
                <a:latin typeface="Arial"/>
                <a:ea typeface="MS PGothic"/>
              </a:rPr>
              <a:t>Click to edit Master subtitle style</a:t>
            </a:r>
          </a:p>
        </p:txBody>
      </p:sp>
    </p:spTree>
    <p:extLst>
      <p:ext uri="{BB962C8B-B14F-4D97-AF65-F5344CB8AC3E}">
        <p14:creationId xmlns:p14="http://schemas.microsoft.com/office/powerpoint/2010/main" val="378271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3" name="Content Placeholder 2"/>
          <p:cNvSpPr>
            <a:spLocks noGrp="1"/>
          </p:cNvSpPr>
          <p:nvPr>
            <p:ph idx="1"/>
          </p:nvPr>
        </p:nvSpPr>
        <p:spPr>
          <a:xfrm>
            <a:off x="457200" y="939800"/>
            <a:ext cx="8229600" cy="5334000"/>
          </a:xfrm>
        </p:spPr>
        <p:txBody>
          <a:bodyPr/>
          <a:lstStyle>
            <a:lvl2pPr marL="742950" indent="-285750">
              <a:buFont typeface="Arial" panose="020B0604020202020204" pitchFamily="34" charset="0"/>
              <a:buChar char="-"/>
              <a:defRPr>
                <a:latin typeface="Arial"/>
                <a:ea typeface="MS PGothic"/>
              </a:defRPr>
            </a:lvl2pPr>
          </a:lstStyle>
          <a:p>
            <a:pPr lvl="0"/>
            <a:r>
              <a:rPr lang="en-US" dirty="0">
                <a:latin typeface="Arial"/>
                <a:ea typeface="MS PGothic"/>
              </a:rPr>
              <a:t>Click to edit Master text styles</a:t>
            </a:r>
          </a:p>
          <a:p>
            <a:pPr lvl="1"/>
            <a:r>
              <a:rPr lang="en-US" dirty="0">
                <a:latin typeface="Arial"/>
                <a:ea typeface="MS PGothic"/>
              </a:rPr>
              <a:t>Second level</a:t>
            </a:r>
          </a:p>
          <a:p>
            <a:pPr lvl="2"/>
            <a:r>
              <a:rPr lang="en-US" dirty="0">
                <a:latin typeface="Arial"/>
                <a:ea typeface="MS PGothic"/>
              </a:rPr>
              <a:t>Third level</a:t>
            </a:r>
          </a:p>
          <a:p>
            <a:pPr lvl="3"/>
            <a:r>
              <a:rPr lang="en-US" dirty="0">
                <a:latin typeface="Arial"/>
                <a:ea typeface="MS PGothic"/>
              </a:rPr>
              <a:t>Fourth level</a:t>
            </a:r>
          </a:p>
          <a:p>
            <a:pPr lvl="4"/>
            <a:r>
              <a:rPr lang="en-US" dirty="0">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399604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Arial"/>
                <a:ea typeface="MS PGothic"/>
              </a:defRPr>
            </a:lvl1pPr>
            <a:lvl2pPr marL="457200" indent="0">
              <a:buNone/>
              <a:defRPr sz="1800">
                <a:latin typeface="Arial"/>
                <a:ea typeface="MS PGothic"/>
              </a:defRPr>
            </a:lvl2pPr>
            <a:lvl3pPr marL="914400" indent="0">
              <a:buNone/>
              <a:defRPr sz="1600">
                <a:latin typeface="Arial"/>
                <a:ea typeface="MS PGothic"/>
              </a:defRPr>
            </a:lvl3pPr>
            <a:lvl4pPr marL="1371600" indent="0">
              <a:buNone/>
              <a:defRPr sz="1400">
                <a:latin typeface="Arial"/>
                <a:ea typeface="MS PGothic"/>
              </a:defRPr>
            </a:lvl4pPr>
            <a:lvl5pPr marL="1828800" indent="0">
              <a:buNone/>
              <a:defRPr sz="1400">
                <a:latin typeface="Arial"/>
                <a:ea typeface="MS PGothic"/>
              </a:defRPr>
            </a:lvl5pPr>
            <a:lvl6pPr marL="2286000" indent="0">
              <a:buNone/>
              <a:defRPr sz="1400">
                <a:latin typeface="Arial"/>
                <a:ea typeface="MS PGothic"/>
              </a:defRPr>
            </a:lvl6pPr>
            <a:lvl7pPr marL="2743200" indent="0">
              <a:buNone/>
              <a:defRPr sz="1400">
                <a:latin typeface="Arial"/>
                <a:ea typeface="MS PGothic"/>
              </a:defRPr>
            </a:lvl7pPr>
            <a:lvl8pPr marL="3200400" indent="0">
              <a:buNone/>
              <a:defRPr sz="1400">
                <a:latin typeface="Arial"/>
                <a:ea typeface="MS PGothic"/>
              </a:defRPr>
            </a:lvl8pPr>
            <a:lvl9pPr marL="3657600" indent="0">
              <a:buNone/>
              <a:defRPr sz="1400">
                <a:latin typeface="Arial"/>
                <a:ea typeface="MS PGothic"/>
              </a:defRPr>
            </a:lvl9pPr>
          </a:lstStyle>
          <a:p>
            <a:pPr lvl="0"/>
            <a:r>
              <a:rPr lang="en-US">
                <a:latin typeface="Arial"/>
                <a:ea typeface="MS PGothic"/>
              </a:rPr>
              <a:t>Click to edit Master text styles</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20148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ontent Placeholder 3"/>
          <p:cNvSpPr>
            <a:spLocks noGrp="1"/>
          </p:cNvSpPr>
          <p:nvPr>
            <p:ph sz="half" idx="2"/>
          </p:nvPr>
        </p:nvSpPr>
        <p:spPr>
          <a:xfrm>
            <a:off x="46482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7" name="Straight Connector 6"/>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9" name="TextBox 8"/>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857885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7"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8" name="TextBox 7"/>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52587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7" name="TextBox 6"/>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49159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3" name="TextBox 2"/>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426982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Content Placeholder 2"/>
          <p:cNvSpPr>
            <a:spLocks noGrp="1"/>
          </p:cNvSpPr>
          <p:nvPr>
            <p:ph idx="1"/>
          </p:nvPr>
        </p:nvSpPr>
        <p:spPr>
          <a:xfrm>
            <a:off x="3575051" y="273052"/>
            <a:ext cx="5111750" cy="5853113"/>
          </a:xfrm>
        </p:spPr>
        <p:txBody>
          <a:bodyPr/>
          <a:lstStyle>
            <a:lvl1pPr>
              <a:defRPr sz="3200">
                <a:latin typeface="Arial"/>
                <a:ea typeface="MS PGothic"/>
              </a:defRPr>
            </a:lvl1pPr>
            <a:lvl2pPr>
              <a:defRPr sz="2800">
                <a:latin typeface="Arial"/>
                <a:ea typeface="MS PGothic"/>
              </a:defRPr>
            </a:lvl2pPr>
            <a:lvl3pPr>
              <a:defRPr sz="2400">
                <a:latin typeface="Arial"/>
                <a:ea typeface="MS PGothic"/>
              </a:defRPr>
            </a:lvl3pPr>
            <a:lvl4pPr>
              <a:defRPr sz="2000">
                <a:latin typeface="Arial"/>
                <a:ea typeface="MS PGothic"/>
              </a:defRPr>
            </a:lvl4pPr>
            <a:lvl5pPr>
              <a:defRPr sz="2000">
                <a:latin typeface="Arial"/>
                <a:ea typeface="MS PGothic"/>
              </a:defRPr>
            </a:lvl5pPr>
            <a:lvl6pPr>
              <a:defRPr sz="2000">
                <a:latin typeface="Arial"/>
                <a:ea typeface="MS PGothic"/>
              </a:defRPr>
            </a:lvl6pPr>
            <a:lvl7pPr>
              <a:defRPr sz="2000">
                <a:latin typeface="Arial"/>
                <a:ea typeface="MS PGothic"/>
              </a:defRPr>
            </a:lvl7pPr>
            <a:lvl8pPr>
              <a:defRPr sz="2000">
                <a:latin typeface="Arial"/>
                <a:ea typeface="MS PGothic"/>
              </a:defRPr>
            </a:lvl8pPr>
            <a:lvl9pPr>
              <a:defRPr sz="20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Text Placeholder 3"/>
          <p:cNvSpPr>
            <a:spLocks noGrp="1"/>
          </p:cNvSpPr>
          <p:nvPr>
            <p:ph type="body" sz="half" idx="2"/>
          </p:nvPr>
        </p:nvSpPr>
        <p:spPr>
          <a:xfrm>
            <a:off x="457200" y="1435102"/>
            <a:ext cx="3008313" cy="4691063"/>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81182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Arial"/>
                <a:ea typeface="MS PGothic"/>
              </a:defRPr>
            </a:lvl1pPr>
            <a:lvl2pPr marL="457200" indent="0">
              <a:buNone/>
              <a:defRPr sz="2800">
                <a:latin typeface="Arial"/>
                <a:ea typeface="MS PGothic"/>
              </a:defRPr>
            </a:lvl2pPr>
            <a:lvl3pPr marL="914400" indent="0">
              <a:buNone/>
              <a:defRPr sz="2400">
                <a:latin typeface="Arial"/>
                <a:ea typeface="MS PGothic"/>
              </a:defRPr>
            </a:lvl3pPr>
            <a:lvl4pPr marL="1371600" indent="0">
              <a:buNone/>
              <a:defRPr sz="2000">
                <a:latin typeface="Arial"/>
                <a:ea typeface="MS PGothic"/>
              </a:defRPr>
            </a:lvl4pPr>
            <a:lvl5pPr marL="1828800" indent="0">
              <a:buNone/>
              <a:defRPr sz="2000">
                <a:latin typeface="Arial"/>
                <a:ea typeface="MS PGothic"/>
              </a:defRPr>
            </a:lvl5pPr>
            <a:lvl6pPr marL="2286000" indent="0">
              <a:buNone/>
              <a:defRPr sz="2000">
                <a:latin typeface="Arial"/>
                <a:ea typeface="MS PGothic"/>
              </a:defRPr>
            </a:lvl6pPr>
            <a:lvl7pPr marL="2743200" indent="0">
              <a:buNone/>
              <a:defRPr sz="2000">
                <a:latin typeface="Arial"/>
                <a:ea typeface="MS PGothic"/>
              </a:defRPr>
            </a:lvl7pPr>
            <a:lvl8pPr marL="3200400" indent="0">
              <a:buNone/>
              <a:defRPr sz="2000">
                <a:latin typeface="Arial"/>
                <a:ea typeface="MS PGothic"/>
              </a:defRPr>
            </a:lvl8pPr>
            <a:lvl9pPr marL="3657600" indent="0">
              <a:buNone/>
              <a:defRPr sz="2000">
                <a:latin typeface="Arial"/>
                <a:ea typeface="MS PGothic"/>
              </a:defRPr>
            </a:lvl9pPr>
          </a:lstStyle>
          <a:p>
            <a:pPr lvl="0"/>
            <a:endParaRPr lang="en-US" noProof="0" dirty="0">
              <a:latin typeface="Arial"/>
              <a:ea typeface="MS PGothic"/>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751233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Arial"/>
                <a:ea typeface="MS PGothic"/>
              </a:rPr>
              <a:t>Click to edit Master title style</a:t>
            </a:r>
          </a:p>
        </p:txBody>
      </p:sp>
      <p:sp>
        <p:nvSpPr>
          <p:cNvPr id="3" name="Vertical Text Placeholder 2"/>
          <p:cNvSpPr>
            <a:spLocks noGrp="1"/>
          </p:cNvSpPr>
          <p:nvPr>
            <p:ph type="body" orient="vert" idx="1"/>
          </p:nvPr>
        </p:nvSpPr>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69577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715000"/>
          </a:xfrm>
        </p:spPr>
        <p:txBody>
          <a:bodyPr vert="eaVert"/>
          <a:lstStyle/>
          <a:p>
            <a:r>
              <a:rPr lang="en-US">
                <a:latin typeface="Arial"/>
                <a:ea typeface="MS PGothic"/>
              </a:rPr>
              <a:t>Click to edit Master title style</a:t>
            </a:r>
          </a:p>
        </p:txBody>
      </p:sp>
      <p:sp>
        <p:nvSpPr>
          <p:cNvPr id="3" name="Vertical Text Placeholder 2"/>
          <p:cNvSpPr>
            <a:spLocks noGrp="1"/>
          </p:cNvSpPr>
          <p:nvPr>
            <p:ph type="body" orient="vert" idx="1"/>
          </p:nvPr>
        </p:nvSpPr>
        <p:spPr>
          <a:xfrm>
            <a:off x="685800" y="228600"/>
            <a:ext cx="5676900" cy="5715000"/>
          </a:xfrm>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4273031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latin typeface="Arial"/>
                <a:ea typeface="MS PGothic"/>
              </a:rPr>
              <a:t>Click to edit Master title style</a:t>
            </a:r>
          </a:p>
        </p:txBody>
      </p:sp>
      <p:sp>
        <p:nvSpPr>
          <p:cNvPr id="3" name="Text Placeholder 2"/>
          <p:cNvSpPr>
            <a:spLocks noGrp="1"/>
          </p:cNvSpPr>
          <p:nvPr>
            <p:ph type="body" sz="half" idx="1"/>
          </p:nvPr>
        </p:nvSpPr>
        <p:spPr>
          <a:xfrm>
            <a:off x="685800" y="1676400"/>
            <a:ext cx="3810000" cy="4267200"/>
          </a:xfrm>
        </p:spPr>
        <p:txBody>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hart Placeholder 3"/>
          <p:cNvSpPr>
            <a:spLocks noGrp="1"/>
          </p:cNvSpPr>
          <p:nvPr>
            <p:ph type="chart" sz="half" idx="2"/>
          </p:nvPr>
        </p:nvSpPr>
        <p:spPr>
          <a:xfrm>
            <a:off x="4648200" y="1676400"/>
            <a:ext cx="3810000" cy="4267200"/>
          </a:xfrm>
        </p:spPr>
        <p:txBody>
          <a:bodyPr/>
          <a:lstStyle/>
          <a:p>
            <a:pPr lvl="0"/>
            <a:endParaRPr lang="en-US" noProof="0" dirty="0">
              <a:latin typeface="Arial"/>
              <a:ea typeface="MS PGothic"/>
            </a:endParaRP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5611519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bwMode="auto">
          <a:xfrm>
            <a:off x="0" y="6315075"/>
            <a:ext cx="9144000" cy="542925"/>
          </a:xfrm>
          <a:prstGeom prst="rect">
            <a:avLst/>
          </a:prstGeom>
          <a:gradFill flip="none" rotWithShape="1">
            <a:gsLst>
              <a:gs pos="0">
                <a:schemeClr val="bg1"/>
              </a:gs>
              <a:gs pos="11664">
                <a:srgbClr val="FFFFFF"/>
              </a:gs>
              <a:gs pos="100000">
                <a:srgbClr val="3B4C97">
                  <a:shade val="100000"/>
                  <a:satMod val="115000"/>
                </a:srgbClr>
              </a:gs>
            </a:gsLst>
            <a:lin ang="0" scaled="0"/>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MS PGothic" pitchFamily="1" charset="-128"/>
            </a:endParaRPr>
          </a:p>
        </p:txBody>
      </p:sp>
      <p:sp>
        <p:nvSpPr>
          <p:cNvPr id="1027" name="Rectangle 2"/>
          <p:cNvSpPr>
            <a:spLocks noGrp="1" noChangeArrowheads="1"/>
          </p:cNvSpPr>
          <p:nvPr>
            <p:ph type="title"/>
          </p:nvPr>
        </p:nvSpPr>
        <p:spPr bwMode="auto">
          <a:xfrm>
            <a:off x="457200" y="228600"/>
            <a:ext cx="8229600" cy="822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latin typeface="Arial"/>
                <a:ea typeface="MS PGothic"/>
              </a:rPr>
              <a:t>Click to edit Master title style</a:t>
            </a:r>
          </a:p>
        </p:txBody>
      </p:sp>
      <p:sp>
        <p:nvSpPr>
          <p:cNvPr id="1028" name="Rectangle 3"/>
          <p:cNvSpPr>
            <a:spLocks noGrp="1" noChangeArrowheads="1"/>
          </p:cNvSpPr>
          <p:nvPr>
            <p:ph type="body" idx="1"/>
          </p:nvPr>
        </p:nvSpPr>
        <p:spPr bwMode="auto">
          <a:xfrm>
            <a:off x="457200" y="1185400"/>
            <a:ext cx="8229600" cy="4937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12" name="TextBox 11"/>
          <p:cNvSpPr txBox="1"/>
          <p:nvPr userDrawn="1"/>
        </p:nvSpPr>
        <p:spPr>
          <a:xfrm>
            <a:off x="1133475" y="6372438"/>
            <a:ext cx="1547537" cy="415498"/>
          </a:xfrm>
          <a:prstGeom prst="rect">
            <a:avLst/>
          </a:prstGeom>
          <a:noFill/>
        </p:spPr>
        <p:txBody>
          <a:bodyPr wrap="square" rtlCol="0">
            <a:spAutoFit/>
          </a:bodyPr>
          <a:lstStyle/>
          <a:p>
            <a:r>
              <a:rPr lang="en-US" sz="1050" dirty="0">
                <a:solidFill>
                  <a:schemeClr val="tx1"/>
                </a:solidFill>
                <a:latin typeface="Arial"/>
                <a:ea typeface="MS PGothic"/>
              </a:rPr>
              <a:t>Vehicle</a:t>
            </a:r>
            <a:r>
              <a:rPr lang="en-US" sz="1050" baseline="0" dirty="0">
                <a:solidFill>
                  <a:schemeClr val="tx1"/>
                </a:solidFill>
                <a:latin typeface="Arial"/>
                <a:ea typeface="MS PGothic"/>
              </a:rPr>
              <a:t> Dynamics and Energy Control Lab.</a:t>
            </a:r>
            <a:endParaRPr lang="en-US" sz="1050" dirty="0">
              <a:solidFill>
                <a:schemeClr val="tx1"/>
              </a:solidFill>
              <a:latin typeface="Arial"/>
              <a:ea typeface="MS PGothic"/>
            </a:endParaRPr>
          </a:p>
        </p:txBody>
      </p:sp>
      <p:pic>
        <p:nvPicPr>
          <p:cNvPr id="4" name="Picture 3"/>
          <p:cNvPicPr>
            <a:picLocks noChangeAspect="1" noChangeArrowheads="1"/>
          </p:cNvPicPr>
          <p:nvPr userDrawn="1"/>
        </p:nvPicPr>
        <p:blipFill>
          <a:blip r:embed="rId14" cstate="print">
            <a:clrChange>
              <a:clrFrom>
                <a:srgbClr val="070404"/>
              </a:clrFrom>
              <a:clrTo>
                <a:srgbClr val="070404">
                  <a:alpha val="0"/>
                </a:srgbClr>
              </a:clrTo>
            </a:clrChange>
            <a:extLst>
              <a:ext uri="{28A0092B-C50C-407E-A947-70E740481C1C}">
                <a14:useLocalDpi xmlns:a14="http://schemas.microsoft.com/office/drawing/2010/main" val="0"/>
              </a:ext>
            </a:extLst>
          </a:blip>
          <a:srcRect/>
          <a:stretch>
            <a:fillRect/>
          </a:stretch>
        </p:blipFill>
        <p:spPr bwMode="auto">
          <a:xfrm>
            <a:off x="7710488" y="6397184"/>
            <a:ext cx="1243012" cy="390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userDrawn="1"/>
        </p:nvPicPr>
        <p:blipFill rotWithShape="1">
          <a:blip r:embed="rId15" cstate="print">
            <a:extLst>
              <a:ext uri="{28A0092B-C50C-407E-A947-70E740481C1C}">
                <a14:useLocalDpi xmlns:a14="http://schemas.microsoft.com/office/drawing/2010/main" val="0"/>
              </a:ext>
            </a:extLst>
          </a:blip>
          <a:srcRect b="16120"/>
          <a:stretch/>
        </p:blipFill>
        <p:spPr bwMode="auto">
          <a:xfrm>
            <a:off x="114300" y="6372225"/>
            <a:ext cx="1047750" cy="35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200" b="1">
          <a:solidFill>
            <a:srgbClr val="000F65"/>
          </a:solidFill>
          <a:latin typeface="Arial"/>
          <a:ea typeface="MS PGothic"/>
          <a:cs typeface="+mj-cs"/>
        </a:defRPr>
      </a:lvl1pPr>
      <a:lvl2pPr algn="l" rtl="0" eaLnBrk="0" fontAlgn="base" hangingPunct="0">
        <a:spcBef>
          <a:spcPct val="0"/>
        </a:spcBef>
        <a:spcAft>
          <a:spcPct val="0"/>
        </a:spcAft>
        <a:defRPr sz="4200" b="1">
          <a:solidFill>
            <a:srgbClr val="000F65"/>
          </a:solidFill>
          <a:latin typeface="Arial" charset="0"/>
          <a:ea typeface="MS PGothic" pitchFamily="1" charset="-128"/>
        </a:defRPr>
      </a:lvl2pPr>
      <a:lvl3pPr algn="l" rtl="0" eaLnBrk="0" fontAlgn="base" hangingPunct="0">
        <a:spcBef>
          <a:spcPct val="0"/>
        </a:spcBef>
        <a:spcAft>
          <a:spcPct val="0"/>
        </a:spcAft>
        <a:defRPr sz="4200" b="1">
          <a:solidFill>
            <a:srgbClr val="000F65"/>
          </a:solidFill>
          <a:latin typeface="Arial" charset="0"/>
          <a:ea typeface="MS PGothic" pitchFamily="1" charset="-128"/>
        </a:defRPr>
      </a:lvl3pPr>
      <a:lvl4pPr algn="l" rtl="0" eaLnBrk="0" fontAlgn="base" hangingPunct="0">
        <a:spcBef>
          <a:spcPct val="0"/>
        </a:spcBef>
        <a:spcAft>
          <a:spcPct val="0"/>
        </a:spcAft>
        <a:defRPr sz="4200" b="1">
          <a:solidFill>
            <a:srgbClr val="000F65"/>
          </a:solidFill>
          <a:latin typeface="Arial" charset="0"/>
          <a:ea typeface="MS PGothic" pitchFamily="1" charset="-128"/>
        </a:defRPr>
      </a:lvl4pPr>
      <a:lvl5pPr algn="l" rtl="0" eaLnBrk="0" fontAlgn="base" hangingPunct="0">
        <a:spcBef>
          <a:spcPct val="0"/>
        </a:spcBef>
        <a:spcAft>
          <a:spcPct val="0"/>
        </a:spcAft>
        <a:defRPr sz="4200" b="1">
          <a:solidFill>
            <a:srgbClr val="000F65"/>
          </a:solidFill>
          <a:latin typeface="Arial" charset="0"/>
          <a:ea typeface="MS PGothic" pitchFamily="1" charset="-128"/>
        </a:defRPr>
      </a:lvl5pPr>
      <a:lvl6pPr marL="457200" algn="l" rtl="0" fontAlgn="base">
        <a:spcBef>
          <a:spcPct val="0"/>
        </a:spcBef>
        <a:spcAft>
          <a:spcPct val="0"/>
        </a:spcAft>
        <a:defRPr sz="4200" b="1">
          <a:solidFill>
            <a:srgbClr val="000F65"/>
          </a:solidFill>
          <a:latin typeface="Arial" charset="0"/>
          <a:ea typeface="MS PGothic" pitchFamily="1" charset="-128"/>
        </a:defRPr>
      </a:lvl6pPr>
      <a:lvl7pPr marL="914400" algn="l" rtl="0" fontAlgn="base">
        <a:spcBef>
          <a:spcPct val="0"/>
        </a:spcBef>
        <a:spcAft>
          <a:spcPct val="0"/>
        </a:spcAft>
        <a:defRPr sz="4200" b="1">
          <a:solidFill>
            <a:srgbClr val="000F65"/>
          </a:solidFill>
          <a:latin typeface="Arial" charset="0"/>
          <a:ea typeface="MS PGothic" pitchFamily="1" charset="-128"/>
        </a:defRPr>
      </a:lvl7pPr>
      <a:lvl8pPr marL="1371600" algn="l" rtl="0" fontAlgn="base">
        <a:spcBef>
          <a:spcPct val="0"/>
        </a:spcBef>
        <a:spcAft>
          <a:spcPct val="0"/>
        </a:spcAft>
        <a:defRPr sz="4200" b="1">
          <a:solidFill>
            <a:srgbClr val="000F65"/>
          </a:solidFill>
          <a:latin typeface="Arial" charset="0"/>
          <a:ea typeface="MS PGothic" pitchFamily="1" charset="-128"/>
        </a:defRPr>
      </a:lvl8pPr>
      <a:lvl9pPr marL="1828800" algn="l" rtl="0" fontAlgn="base">
        <a:spcBef>
          <a:spcPct val="0"/>
        </a:spcBef>
        <a:spcAft>
          <a:spcPct val="0"/>
        </a:spcAft>
        <a:defRPr sz="4200" b="1">
          <a:solidFill>
            <a:srgbClr val="000F65"/>
          </a:solidFill>
          <a:latin typeface="Arial" charset="0"/>
          <a:ea typeface="MS PGothic" pitchFamily="1" charset="-128"/>
        </a:defRPr>
      </a:lvl9pPr>
    </p:titleStyle>
    <p:bodyStyle>
      <a:lvl1pPr marL="342900" indent="-342900" algn="l" rtl="0" eaLnBrk="0" fontAlgn="base" hangingPunct="0">
        <a:spcBef>
          <a:spcPct val="20000"/>
        </a:spcBef>
        <a:spcAft>
          <a:spcPct val="0"/>
        </a:spcAft>
        <a:buFont typeface="Wingdings" pitchFamily="2" charset="2"/>
        <a:defRPr sz="2800">
          <a:solidFill>
            <a:srgbClr val="000F65"/>
          </a:solidFill>
          <a:latin typeface="Arial"/>
          <a:ea typeface="MS PGothic"/>
          <a:cs typeface="+mn-cs"/>
        </a:defRPr>
      </a:lvl1pPr>
      <a:lvl2pPr marL="742950" indent="-285750" algn="l" rtl="0" eaLnBrk="0" fontAlgn="base" hangingPunct="0">
        <a:spcBef>
          <a:spcPct val="20000"/>
        </a:spcBef>
        <a:spcAft>
          <a:spcPct val="0"/>
        </a:spcAft>
        <a:buFont typeface="Wingdings" pitchFamily="2" charset="2"/>
        <a:buChar char="§"/>
        <a:defRPr sz="2800">
          <a:solidFill>
            <a:srgbClr val="000F65"/>
          </a:solidFill>
          <a:latin typeface="Arial"/>
          <a:ea typeface="MS PGothic"/>
        </a:defRPr>
      </a:lvl2pPr>
      <a:lvl3pPr marL="1143000" indent="-228600" algn="l" rtl="0" eaLnBrk="0" fontAlgn="base" hangingPunct="0">
        <a:spcBef>
          <a:spcPct val="20000"/>
        </a:spcBef>
        <a:spcAft>
          <a:spcPct val="0"/>
        </a:spcAft>
        <a:buFont typeface="Wingdings" pitchFamily="2" charset="2"/>
        <a:buChar char="§"/>
        <a:defRPr sz="2400">
          <a:solidFill>
            <a:srgbClr val="000F65"/>
          </a:solidFill>
          <a:latin typeface="Arial"/>
          <a:ea typeface="MS PGothic"/>
        </a:defRPr>
      </a:lvl3pPr>
      <a:lvl4pPr marL="1600200" indent="-228600" algn="l" rtl="0" eaLnBrk="0" fontAlgn="base" hangingPunct="0">
        <a:spcBef>
          <a:spcPct val="20000"/>
        </a:spcBef>
        <a:spcAft>
          <a:spcPct val="0"/>
        </a:spcAft>
        <a:buFont typeface="Wingdings" pitchFamily="2" charset="2"/>
        <a:buChar char="§"/>
        <a:defRPr sz="2000">
          <a:solidFill>
            <a:srgbClr val="000F65"/>
          </a:solidFill>
          <a:latin typeface="Arial"/>
          <a:ea typeface="MS PGothic"/>
        </a:defRPr>
      </a:lvl4pPr>
      <a:lvl5pPr marL="2057400" indent="-228600" algn="l" rtl="0" eaLnBrk="0" fontAlgn="base" hangingPunct="0">
        <a:spcBef>
          <a:spcPct val="20000"/>
        </a:spcBef>
        <a:spcAft>
          <a:spcPct val="0"/>
        </a:spcAft>
        <a:buFont typeface="Wingdings" pitchFamily="2" charset="2"/>
        <a:defRPr sz="1400">
          <a:solidFill>
            <a:srgbClr val="000F65"/>
          </a:solidFill>
          <a:latin typeface="Arial"/>
          <a:ea typeface="MS PGothic"/>
        </a:defRPr>
      </a:lvl5pPr>
      <a:lvl6pPr marL="2514600" indent="-228600" algn="l" rtl="0" fontAlgn="base">
        <a:spcBef>
          <a:spcPct val="20000"/>
        </a:spcBef>
        <a:spcAft>
          <a:spcPct val="0"/>
        </a:spcAft>
        <a:buFont typeface="Wingdings" pitchFamily="1" charset="2"/>
        <a:defRPr sz="1400">
          <a:solidFill>
            <a:srgbClr val="000F65"/>
          </a:solidFill>
          <a:latin typeface="Arial"/>
          <a:ea typeface="MS PGothic"/>
        </a:defRPr>
      </a:lvl6pPr>
      <a:lvl7pPr marL="2971800" indent="-228600" algn="l" rtl="0" fontAlgn="base">
        <a:spcBef>
          <a:spcPct val="20000"/>
        </a:spcBef>
        <a:spcAft>
          <a:spcPct val="0"/>
        </a:spcAft>
        <a:buFont typeface="Wingdings" pitchFamily="1" charset="2"/>
        <a:defRPr sz="1400">
          <a:solidFill>
            <a:srgbClr val="000F65"/>
          </a:solidFill>
          <a:latin typeface="Arial"/>
          <a:ea typeface="MS PGothic"/>
        </a:defRPr>
      </a:lvl7pPr>
      <a:lvl8pPr marL="3429000" indent="-228600" algn="l" rtl="0" fontAlgn="base">
        <a:spcBef>
          <a:spcPct val="20000"/>
        </a:spcBef>
        <a:spcAft>
          <a:spcPct val="0"/>
        </a:spcAft>
        <a:buFont typeface="Wingdings" pitchFamily="1" charset="2"/>
        <a:defRPr sz="1400">
          <a:solidFill>
            <a:srgbClr val="000F65"/>
          </a:solidFill>
          <a:latin typeface="Arial"/>
          <a:ea typeface="MS PGothic"/>
        </a:defRPr>
      </a:lvl8pPr>
      <a:lvl9pPr marL="3886200" indent="-228600" algn="l" rtl="0" fontAlgn="base">
        <a:spcBef>
          <a:spcPct val="20000"/>
        </a:spcBef>
        <a:spcAft>
          <a:spcPct val="0"/>
        </a:spcAft>
        <a:buFont typeface="Wingdings" pitchFamily="1" charset="2"/>
        <a:defRPr sz="1400">
          <a:solidFill>
            <a:srgbClr val="000F65"/>
          </a:solidFill>
          <a:latin typeface="Arial"/>
          <a:ea typeface="MS PGothic"/>
        </a:defRPr>
      </a:lvl9pPr>
    </p:bodyStyle>
    <p:otherStyle>
      <a:defPPr>
        <a:defRPr lang="en-US">
          <a:latin typeface="Arial"/>
          <a:ea typeface="MS PGothic"/>
        </a:defRPr>
      </a:defPPr>
      <a:lvl1pPr marL="0" algn="l" defTabSz="914400" rtl="0" eaLnBrk="1" latinLnBrk="0" hangingPunct="1">
        <a:defRPr sz="1800" kern="1200">
          <a:solidFill>
            <a:schemeClr val="tx1"/>
          </a:solidFill>
          <a:latin typeface="Arial"/>
          <a:ea typeface="MS PGothic"/>
          <a:cs typeface="+mn-cs"/>
        </a:defRPr>
      </a:lvl1pPr>
      <a:lvl2pPr marL="457200" algn="l" defTabSz="914400" rtl="0" eaLnBrk="1" latinLnBrk="0" hangingPunct="1">
        <a:defRPr sz="1800" kern="1200">
          <a:solidFill>
            <a:schemeClr val="tx1"/>
          </a:solidFill>
          <a:latin typeface="Arial"/>
          <a:ea typeface="MS PGothic"/>
          <a:cs typeface="+mn-cs"/>
        </a:defRPr>
      </a:lvl2pPr>
      <a:lvl3pPr marL="914400" algn="l" defTabSz="914400" rtl="0" eaLnBrk="1" latinLnBrk="0" hangingPunct="1">
        <a:defRPr sz="1800" kern="1200">
          <a:solidFill>
            <a:schemeClr val="tx1"/>
          </a:solidFill>
          <a:latin typeface="Arial"/>
          <a:ea typeface="MS PGothic"/>
          <a:cs typeface="+mn-cs"/>
        </a:defRPr>
      </a:lvl3pPr>
      <a:lvl4pPr marL="1371600" algn="l" defTabSz="914400" rtl="0" eaLnBrk="1" latinLnBrk="0" hangingPunct="1">
        <a:defRPr sz="1800" kern="1200">
          <a:solidFill>
            <a:schemeClr val="tx1"/>
          </a:solidFill>
          <a:latin typeface="Arial"/>
          <a:ea typeface="MS PGothic"/>
          <a:cs typeface="+mn-cs"/>
        </a:defRPr>
      </a:lvl4pPr>
      <a:lvl5pPr marL="1828800" algn="l" defTabSz="914400" rtl="0" eaLnBrk="1" latinLnBrk="0" hangingPunct="1">
        <a:defRPr sz="1800" kern="1200">
          <a:solidFill>
            <a:schemeClr val="tx1"/>
          </a:solidFill>
          <a:latin typeface="Arial"/>
          <a:ea typeface="MS PGothic"/>
          <a:cs typeface="+mn-cs"/>
        </a:defRPr>
      </a:lvl5pPr>
      <a:lvl6pPr marL="2286000" algn="l" defTabSz="914400" rtl="0" eaLnBrk="1" latinLnBrk="0" hangingPunct="1">
        <a:defRPr sz="1800" kern="1200">
          <a:solidFill>
            <a:schemeClr val="tx1"/>
          </a:solidFill>
          <a:latin typeface="Arial"/>
          <a:ea typeface="MS PGothic"/>
          <a:cs typeface="+mn-cs"/>
        </a:defRPr>
      </a:lvl6pPr>
      <a:lvl7pPr marL="2743200" algn="l" defTabSz="914400" rtl="0" eaLnBrk="1" latinLnBrk="0" hangingPunct="1">
        <a:defRPr sz="1800" kern="1200">
          <a:solidFill>
            <a:schemeClr val="tx1"/>
          </a:solidFill>
          <a:latin typeface="Arial"/>
          <a:ea typeface="MS PGothic"/>
          <a:cs typeface="+mn-cs"/>
        </a:defRPr>
      </a:lvl7pPr>
      <a:lvl8pPr marL="3200400" algn="l" defTabSz="914400" rtl="0" eaLnBrk="1" latinLnBrk="0" hangingPunct="1">
        <a:defRPr sz="1800" kern="1200">
          <a:solidFill>
            <a:schemeClr val="tx1"/>
          </a:solidFill>
          <a:latin typeface="Arial"/>
          <a:ea typeface="MS PGothic"/>
          <a:cs typeface="+mn-cs"/>
        </a:defRPr>
      </a:lvl8pPr>
      <a:lvl9pPr marL="3657600" algn="l" defTabSz="914400" rtl="0" eaLnBrk="1" latinLnBrk="0" hangingPunct="1">
        <a:defRPr sz="1800" kern="1200">
          <a:solidFill>
            <a:schemeClr val="tx1"/>
          </a:solidFill>
          <a:latin typeface="Arial"/>
          <a:ea typeface="MS PGothic"/>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ctrTitle"/>
          </p:nvPr>
        </p:nvSpPr>
        <p:spPr>
          <a:xfrm>
            <a:off x="548640" y="1051560"/>
            <a:ext cx="8046720" cy="1325880"/>
          </a:xfrm>
        </p:spPr>
        <p:txBody>
          <a:bodyPr wrap="square" anchor="ctr" lIns="109728" rIns="109728" tIns="73152" bIns="73152">
            <a:normAutofit/>
          </a:bodyPr>
          <a:lstStyle/>
          <a:p>
            <a:pPr algn="ctr" marL="0" indent="0">
              <a:lnSpc>
                <a:spcPct val="112000"/>
              </a:lnSpc>
              <a:buNone/>
            </a:pPr>
            <a:r>
              <a:rPr sz="2600" b="1" i="0">
                <a:solidFill>
                  <a:srgbClr val="000F65"/>
                </a:solidFill>
                <a:latin typeface="Arial"/>
                <a:ea typeface="MS PGothic"/>
              </a:rPr>
              <a:t>GPS 사용 불가 환경에서 비전 보조 항법을 위한</a:t>
            </a:r>
          </a:p>
          <a:p>
            <a:pPr algn="ctr" marL="0" indent="0">
              <a:lnSpc>
                <a:spcPct val="112000"/>
              </a:lnSpc>
              <a:spcBef>
                <a:spcPts val="200"/>
              </a:spcBef>
              <a:buNone/>
            </a:pPr>
            <a:r>
              <a:rPr sz="2600" b="1" i="0">
                <a:solidFill>
                  <a:srgbClr val="000F65"/>
                </a:solidFill>
                <a:latin typeface="Arial"/>
                <a:ea typeface="MS PGothic"/>
              </a:rPr>
              <a:t>다중센서 융합</a:t>
            </a:r>
          </a:p>
        </p:txBody>
      </p:sp>
      <p:sp>
        <p:nvSpPr>
          <p:cNvPr id="1027" name="TextBox 1026"/>
          <p:cNvSpPr txBox="1"/>
          <p:nvPr/>
        </p:nvSpPr>
        <p:spPr>
          <a:xfrm>
            <a:off x="731520" y="2423160"/>
            <a:ext cx="7680960" cy="411480"/>
          </a:xfrm>
          <a:prstGeom prst="rect">
            <a:avLst/>
          </a:prstGeom>
          <a:noFill/>
        </p:spPr>
        <p:txBody>
          <a:bodyPr wrap="square" anchor="ctr" lIns="109728" rIns="109728" tIns="73152" bIns="73152">
            <a:spAutoFit/>
          </a:bodyPr>
          <a:lstStyle/>
          <a:p>
            <a:pPr algn="ctr" marL="0" indent="0">
              <a:lnSpc>
                <a:spcPct val="112000"/>
              </a:lnSpc>
              <a:buNone/>
            </a:pPr>
            <a:r>
              <a:rPr sz="1700" b="1" i="0">
                <a:solidFill>
                  <a:srgbClr val="333399"/>
                </a:solidFill>
                <a:latin typeface="Arial"/>
                <a:ea typeface="MS PGothic"/>
              </a:rPr>
              <a:t>측정 주기와 지연을 고려한 카메라·IMU·거리센서 융합 추정기</a:t>
            </a:r>
          </a:p>
        </p:txBody>
      </p:sp>
      <p:sp>
        <p:nvSpPr>
          <p:cNvPr id="1028" name="TextBox 1027"/>
          <p:cNvSpPr txBox="1"/>
          <p:nvPr/>
        </p:nvSpPr>
        <p:spPr>
          <a:xfrm>
            <a:off x="731520" y="2880360"/>
            <a:ext cx="7680960" cy="548640"/>
          </a:xfrm>
          <a:prstGeom prst="rect">
            <a:avLst/>
          </a:prstGeom>
          <a:noFill/>
        </p:spPr>
        <p:txBody>
          <a:bodyPr wrap="square" anchor="ctr" lIns="109728" rIns="109728" tIns="73152" bIns="73152">
            <a:spAutoFit/>
          </a:bodyPr>
          <a:lstStyle/>
          <a:p>
            <a:pPr algn="ctr" marL="0" indent="0">
              <a:lnSpc>
                <a:spcPct val="112000"/>
              </a:lnSpc>
              <a:buNone/>
            </a:pPr>
            <a:r>
              <a:rPr sz="1300" b="0" i="1">
                <a:solidFill>
                  <a:srgbClr val="333399"/>
                </a:solidFill>
                <a:latin typeface="Arial"/>
                <a:ea typeface="MS PGothic"/>
              </a:rPr>
              <a:t>Multi-Sensor Fusion for Vision-Aided Navigation in GPS-Denied Environments</a:t>
            </a:r>
          </a:p>
        </p:txBody>
      </p:sp>
      <p:sp>
        <p:nvSpPr>
          <p:cNvPr id="1029" name="TextBox 1028"/>
          <p:cNvSpPr txBox="1"/>
          <p:nvPr/>
        </p:nvSpPr>
        <p:spPr>
          <a:xfrm>
            <a:off x="914400" y="3977639"/>
            <a:ext cx="7315200" cy="1600200"/>
          </a:xfrm>
          <a:prstGeom prst="rect">
            <a:avLst/>
          </a:prstGeom>
          <a:noFill/>
        </p:spPr>
        <p:txBody>
          <a:bodyPr wrap="square" anchor="ctr" lIns="109728" rIns="109728" tIns="73152" bIns="73152">
            <a:spAutoFit/>
          </a:bodyPr>
          <a:lstStyle/>
          <a:p>
            <a:pPr algn="ctr" marL="0" indent="0">
              <a:lnSpc>
                <a:spcPct val="112000"/>
              </a:lnSpc>
              <a:buNone/>
            </a:pPr>
            <a:r>
              <a:rPr sz="1400" b="1" i="0">
                <a:solidFill>
                  <a:srgbClr val="000F65"/>
                </a:solidFill>
                <a:latin typeface="Arial"/>
                <a:ea typeface="MS PGothic"/>
              </a:rPr>
              <a:t>학생자율연구 II  연구계획 발표  |  2026학년도 2학기</a:t>
            </a:r>
          </a:p>
          <a:p>
            <a:pPr algn="ctr" marL="0" indent="0">
              <a:lnSpc>
                <a:spcPct val="112000"/>
              </a:lnSpc>
              <a:spcBef>
                <a:spcPts val="200"/>
              </a:spcBef>
              <a:buNone/>
            </a:pPr>
            <a:r>
              <a:rPr sz="1400" b="0" i="0">
                <a:solidFill>
                  <a:srgbClr val="333333"/>
                </a:solidFill>
                <a:latin typeface="Arial"/>
                <a:ea typeface="MS PGothic"/>
              </a:rPr>
              <a:t>박찬혁 (202121212)  ·  지도교수: 안창선 교수님</a:t>
            </a:r>
          </a:p>
          <a:p>
            <a:pPr algn="ctr" marL="0" indent="0">
              <a:lnSpc>
                <a:spcPct val="112000"/>
              </a:lnSpc>
              <a:spcBef>
                <a:spcPts val="200"/>
              </a:spcBef>
              <a:buNone/>
            </a:pPr>
            <a:r>
              <a:rPr sz="1300" b="0" i="0">
                <a:solidFill>
                  <a:srgbClr val="333333"/>
                </a:solidFill>
                <a:latin typeface="Arial"/>
                <a:ea typeface="MS PGothic"/>
              </a:rPr>
              <a:t>School of Mechanical Engineering</a:t>
            </a:r>
          </a:p>
          <a:p>
            <a:pPr algn="ctr" marL="0" indent="0">
              <a:lnSpc>
                <a:spcPct val="112000"/>
              </a:lnSpc>
              <a:spcBef>
                <a:spcPts val="200"/>
              </a:spcBef>
              <a:buNone/>
            </a:pPr>
            <a:r>
              <a:rPr sz="1300" b="0" i="0">
                <a:solidFill>
                  <a:srgbClr val="333333"/>
                </a:solidFill>
                <a:latin typeface="Arial"/>
                <a:ea typeface="MS PGothic"/>
              </a:rPr>
              <a:t>Pusan National University</a:t>
            </a:r>
          </a:p>
        </p:txBody>
      </p:sp>
    </p:spTree>
    <p:extLst>
      <p:ext uri="{BB962C8B-B14F-4D97-AF65-F5344CB8AC3E}">
        <p14:creationId xmlns:p14="http://schemas.microsoft.com/office/powerpoint/2010/main" val="11195965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 배경</a:t>
            </a:r>
          </a:p>
        </p:txBody>
      </p:sp>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항법은 IMU로 예측하고, 외부 센서로 보정한다</a:t>
            </a:r>
          </a:p>
        </p:txBody>
      </p:sp>
      <p:sp>
        <p:nvSpPr>
          <p:cNvPr id="4" name="Rounded Rectangle 3"/>
          <p:cNvSpPr/>
          <p:nvPr/>
        </p:nvSpPr>
        <p:spPr>
          <a:xfrm>
            <a:off x="457200" y="1691640"/>
            <a:ext cx="2286000" cy="566928"/>
          </a:xfrm>
          <a:prstGeom prst="roundRect">
            <a:avLst>
              <a:gd name="adj" fmla="val 8000"/>
            </a:avLst>
          </a:prstGeom>
          <a:solidFill>
            <a:srgbClr val="333399"/>
          </a:solidFill>
          <a:ln>
            <a:noFill/>
          </a:ln>
          <a:effectLst/>
        </p:spPr>
        <p:txBody>
          <a:bodyPr rtlCol="0" anchor="ctr" wrap="square" lIns="109728" rIns="109728" tIns="73152" bIns="73152"/>
          <a:lstStyle/>
          <a:p>
            <a:pPr algn="ctr" marL="0" indent="0">
              <a:lnSpc>
                <a:spcPct val="112000"/>
              </a:lnSpc>
              <a:buNone/>
            </a:pPr>
            <a:r>
              <a:rPr sz="1800" b="1" i="0">
                <a:solidFill>
                  <a:srgbClr val="FFFFFF"/>
                </a:solidFill>
                <a:latin typeface="Arial"/>
                <a:ea typeface="MS PGothic"/>
              </a:rPr>
              <a:t>차량</a:t>
            </a:r>
          </a:p>
        </p:txBody>
      </p:sp>
      <p:sp>
        <p:nvSpPr>
          <p:cNvPr id="5" name="TextBox 4"/>
          <p:cNvSpPr txBox="1"/>
          <p:nvPr/>
        </p:nvSpPr>
        <p:spPr>
          <a:xfrm>
            <a:off x="457200" y="2304288"/>
            <a:ext cx="2286000" cy="914400"/>
          </a:xfrm>
          <a:prstGeom prst="rect">
            <a:avLst/>
          </a:prstGeom>
          <a:noFill/>
        </p:spPr>
        <p:txBody>
          <a:bodyPr wrap="square" anchor="ctr" lIns="109728" rIns="109728" tIns="73152" bIns="73152">
            <a:spAutoFit/>
          </a:bodyPr>
          <a:lstStyle/>
          <a:p>
            <a:pPr algn="ctr" marL="0" indent="0">
              <a:lnSpc>
                <a:spcPct val="112000"/>
              </a:lnSpc>
              <a:buNone/>
            </a:pPr>
            <a:r>
              <a:rPr sz="1350" b="0" i="0">
                <a:solidFill>
                  <a:srgbClr val="333333"/>
                </a:solidFill>
                <a:latin typeface="Arial"/>
                <a:ea typeface="MS PGothic"/>
              </a:rPr>
              <a:t>터널에서 GPS가 끊겨도</a:t>
            </a:r>
          </a:p>
          <a:p>
            <a:pPr algn="ctr" marL="0" indent="0">
              <a:lnSpc>
                <a:spcPct val="112000"/>
              </a:lnSpc>
              <a:spcBef>
                <a:spcPts val="200"/>
              </a:spcBef>
              <a:buNone/>
            </a:pPr>
            <a:r>
              <a:rPr sz="1350" b="0" i="0">
                <a:solidFill>
                  <a:srgbClr val="333333"/>
                </a:solidFill>
                <a:latin typeface="Arial"/>
                <a:ea typeface="MS PGothic"/>
              </a:rPr>
              <a:t>속도·회전 정보로</a:t>
            </a:r>
          </a:p>
          <a:p>
            <a:pPr algn="ctr" marL="0" indent="0">
              <a:lnSpc>
                <a:spcPct val="112000"/>
              </a:lnSpc>
              <a:spcBef>
                <a:spcPts val="200"/>
              </a:spcBef>
              <a:buNone/>
            </a:pPr>
            <a:r>
              <a:rPr sz="1350" b="0" i="0">
                <a:solidFill>
                  <a:srgbClr val="333333"/>
                </a:solidFill>
                <a:latin typeface="Arial"/>
                <a:ea typeface="MS PGothic"/>
              </a:rPr>
              <a:t>위치를 이어서 계산</a:t>
            </a:r>
          </a:p>
        </p:txBody>
      </p:sp>
      <p:sp>
        <p:nvSpPr>
          <p:cNvPr id="6" name="Right Arrow 5"/>
          <p:cNvSpPr/>
          <p:nvPr/>
        </p:nvSpPr>
        <p:spPr>
          <a:xfrm>
            <a:off x="2926080" y="1837943"/>
            <a:ext cx="292608" cy="274320"/>
          </a:xfrm>
          <a:prstGeom prst="rightArrow">
            <a:avLst/>
          </a:prstGeom>
          <a:solidFill>
            <a:srgbClr val="333399"/>
          </a:solidFill>
          <a:ln>
            <a:noFill/>
          </a:ln>
          <a:effectLst/>
        </p:spPr>
        <p:txBody>
          <a:bodyPr rtlCol="0" anchor="ctr"/>
          <a:lstStyle/>
          <a:p>
            <a:pPr algn="ctr"/>
          </a:p>
        </p:txBody>
      </p:sp>
      <p:sp>
        <p:nvSpPr>
          <p:cNvPr id="7" name="Rounded Rectangle 6"/>
          <p:cNvSpPr/>
          <p:nvPr/>
        </p:nvSpPr>
        <p:spPr>
          <a:xfrm>
            <a:off x="3429000" y="1691640"/>
            <a:ext cx="2286000" cy="566928"/>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800" b="1" i="0">
                <a:solidFill>
                  <a:srgbClr val="FFFFFF"/>
                </a:solidFill>
                <a:latin typeface="Arial"/>
                <a:ea typeface="MS PGothic"/>
              </a:rPr>
              <a:t>드론</a:t>
            </a:r>
          </a:p>
        </p:txBody>
      </p:sp>
      <p:sp>
        <p:nvSpPr>
          <p:cNvPr id="8" name="TextBox 7"/>
          <p:cNvSpPr txBox="1"/>
          <p:nvPr/>
        </p:nvSpPr>
        <p:spPr>
          <a:xfrm>
            <a:off x="3429000" y="2304288"/>
            <a:ext cx="2286000" cy="914400"/>
          </a:xfrm>
          <a:prstGeom prst="rect">
            <a:avLst/>
          </a:prstGeom>
          <a:noFill/>
        </p:spPr>
        <p:txBody>
          <a:bodyPr wrap="square" anchor="ctr" lIns="109728" rIns="109728" tIns="73152" bIns="73152">
            <a:spAutoFit/>
          </a:bodyPr>
          <a:lstStyle/>
          <a:p>
            <a:pPr algn="ctr" marL="0" indent="0">
              <a:lnSpc>
                <a:spcPct val="112000"/>
              </a:lnSpc>
              <a:buNone/>
            </a:pPr>
            <a:r>
              <a:rPr sz="1350" b="0" i="0">
                <a:solidFill>
                  <a:srgbClr val="333333"/>
                </a:solidFill>
                <a:latin typeface="Arial"/>
                <a:ea typeface="MS PGothic"/>
              </a:rPr>
              <a:t>실내에서 하향 카메라·</a:t>
            </a:r>
          </a:p>
          <a:p>
            <a:pPr algn="ctr" marL="0" indent="0">
              <a:lnSpc>
                <a:spcPct val="112000"/>
              </a:lnSpc>
              <a:spcBef>
                <a:spcPts val="200"/>
              </a:spcBef>
              <a:buNone/>
            </a:pPr>
            <a:r>
              <a:rPr sz="1350" b="0" i="0">
                <a:solidFill>
                  <a:srgbClr val="333333"/>
                </a:solidFill>
                <a:latin typeface="Arial"/>
                <a:ea typeface="MS PGothic"/>
              </a:rPr>
              <a:t>IMU·거리센서로</a:t>
            </a:r>
          </a:p>
          <a:p>
            <a:pPr algn="ctr" marL="0" indent="0">
              <a:lnSpc>
                <a:spcPct val="112000"/>
              </a:lnSpc>
              <a:spcBef>
                <a:spcPts val="200"/>
              </a:spcBef>
              <a:buNone/>
            </a:pPr>
            <a:r>
              <a:rPr sz="1350" b="0" i="0">
                <a:solidFill>
                  <a:srgbClr val="333333"/>
                </a:solidFill>
                <a:latin typeface="Arial"/>
                <a:ea typeface="MS PGothic"/>
              </a:rPr>
              <a:t>위치 유지</a:t>
            </a:r>
          </a:p>
        </p:txBody>
      </p:sp>
      <p:sp>
        <p:nvSpPr>
          <p:cNvPr id="9" name="Right Arrow 8"/>
          <p:cNvSpPr/>
          <p:nvPr/>
        </p:nvSpPr>
        <p:spPr>
          <a:xfrm>
            <a:off x="5897880" y="1837943"/>
            <a:ext cx="292608" cy="274320"/>
          </a:xfrm>
          <a:prstGeom prst="rightArrow">
            <a:avLst/>
          </a:prstGeom>
          <a:solidFill>
            <a:srgbClr val="333399"/>
          </a:solidFill>
          <a:ln>
            <a:noFill/>
          </a:ln>
          <a:effectLst/>
        </p:spPr>
        <p:txBody>
          <a:bodyPr rtlCol="0" anchor="ctr"/>
          <a:lstStyle/>
          <a:p>
            <a:pPr algn="ctr"/>
          </a:p>
        </p:txBody>
      </p:sp>
      <p:sp>
        <p:nvSpPr>
          <p:cNvPr id="10" name="Rounded Rectangle 9"/>
          <p:cNvSpPr/>
          <p:nvPr/>
        </p:nvSpPr>
        <p:spPr>
          <a:xfrm>
            <a:off x="6400800" y="1691640"/>
            <a:ext cx="2286000" cy="566928"/>
          </a:xfrm>
          <a:prstGeom prst="roundRect">
            <a:avLst>
              <a:gd name="adj" fmla="val 8000"/>
            </a:avLst>
          </a:prstGeom>
          <a:solidFill>
            <a:srgbClr val="333399"/>
          </a:solidFill>
          <a:ln>
            <a:noFill/>
          </a:ln>
          <a:effectLst/>
        </p:spPr>
        <p:txBody>
          <a:bodyPr rtlCol="0" anchor="ctr" wrap="square" lIns="109728" rIns="109728" tIns="73152" bIns="73152"/>
          <a:lstStyle/>
          <a:p>
            <a:pPr algn="ctr" marL="0" indent="0">
              <a:lnSpc>
                <a:spcPct val="112000"/>
              </a:lnSpc>
              <a:buNone/>
            </a:pPr>
            <a:r>
              <a:rPr sz="1800" b="1" i="0">
                <a:solidFill>
                  <a:srgbClr val="FFFFFF"/>
                </a:solidFill>
                <a:latin typeface="Arial"/>
                <a:ea typeface="MS PGothic"/>
              </a:rPr>
              <a:t>항공기</a:t>
            </a:r>
          </a:p>
        </p:txBody>
      </p:sp>
      <p:sp>
        <p:nvSpPr>
          <p:cNvPr id="11" name="TextBox 10"/>
          <p:cNvSpPr txBox="1"/>
          <p:nvPr/>
        </p:nvSpPr>
        <p:spPr>
          <a:xfrm>
            <a:off x="6400800" y="2304288"/>
            <a:ext cx="2286000" cy="914400"/>
          </a:xfrm>
          <a:prstGeom prst="rect">
            <a:avLst/>
          </a:prstGeom>
          <a:noFill/>
        </p:spPr>
        <p:txBody>
          <a:bodyPr wrap="square" anchor="ctr" lIns="109728" rIns="109728" tIns="73152" bIns="73152">
            <a:spAutoFit/>
          </a:bodyPr>
          <a:lstStyle/>
          <a:p>
            <a:pPr algn="ctr" marL="0" indent="0">
              <a:lnSpc>
                <a:spcPct val="112000"/>
              </a:lnSpc>
              <a:buNone/>
            </a:pPr>
            <a:r>
              <a:rPr sz="1350" b="0" i="0">
                <a:solidFill>
                  <a:srgbClr val="333333"/>
                </a:solidFill>
                <a:latin typeface="Arial"/>
                <a:ea typeface="MS PGothic"/>
              </a:rPr>
              <a:t>화성 헬리콥터 Ingenuity</a:t>
            </a:r>
          </a:p>
          <a:p>
            <a:pPr algn="ctr" marL="0" indent="0">
              <a:lnSpc>
                <a:spcPct val="112000"/>
              </a:lnSpc>
              <a:spcBef>
                <a:spcPts val="200"/>
              </a:spcBef>
              <a:buNone/>
            </a:pPr>
            <a:r>
              <a:rPr sz="1350" b="0" i="0">
                <a:solidFill>
                  <a:srgbClr val="333333"/>
                </a:solidFill>
                <a:latin typeface="Arial"/>
                <a:ea typeface="MS PGothic"/>
              </a:rPr>
              <a:t>하향 카메라·IMU·레이저</a:t>
            </a:r>
          </a:p>
          <a:p>
            <a:pPr algn="ctr" marL="0" indent="0">
              <a:lnSpc>
                <a:spcPct val="112000"/>
              </a:lnSpc>
              <a:spcBef>
                <a:spcPts val="200"/>
              </a:spcBef>
              <a:buNone/>
            </a:pPr>
            <a:r>
              <a:rPr sz="1350" b="0" i="0">
                <a:solidFill>
                  <a:srgbClr val="333333"/>
                </a:solidFill>
                <a:latin typeface="Arial"/>
                <a:ea typeface="MS PGothic"/>
              </a:rPr>
              <a:t>고도계를 EKF로 융합</a:t>
            </a:r>
          </a:p>
        </p:txBody>
      </p:sp>
      <p:sp>
        <p:nvSpPr>
          <p:cNvPr id="12" name="TextBox 11"/>
          <p:cNvSpPr txBox="1"/>
          <p:nvPr/>
        </p:nvSpPr>
        <p:spPr>
          <a:xfrm>
            <a:off x="457200" y="3246120"/>
            <a:ext cx="8229600" cy="274320"/>
          </a:xfrm>
          <a:prstGeom prst="rect">
            <a:avLst/>
          </a:prstGeom>
          <a:noFill/>
        </p:spPr>
        <p:txBody>
          <a:bodyPr wrap="square" anchor="ctr" lIns="109728" rIns="109728" tIns="73152" bIns="73152">
            <a:spAutoFit/>
          </a:bodyPr>
          <a:lstStyle/>
          <a:p>
            <a:pPr algn="r" marL="0" indent="0">
              <a:lnSpc>
                <a:spcPct val="112000"/>
              </a:lnSpc>
              <a:buNone/>
            </a:pPr>
            <a:r>
              <a:rPr sz="1050" b="0" i="0">
                <a:solidFill>
                  <a:srgbClr val="666666"/>
                </a:solidFill>
                <a:latin typeface="Arial"/>
                <a:ea typeface="MS PGothic"/>
              </a:rPr>
              <a:t>(Bayard et al., 2019)</a:t>
            </a:r>
          </a:p>
        </p:txBody>
      </p:sp>
      <p:sp>
        <p:nvSpPr>
          <p:cNvPr id="13" name="Rounded Rectangle 12"/>
          <p:cNvSpPr/>
          <p:nvPr/>
        </p:nvSpPr>
        <p:spPr>
          <a:xfrm>
            <a:off x="457200" y="3611880"/>
            <a:ext cx="3749039" cy="114300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700" b="1" i="0">
                <a:solidFill>
                  <a:srgbClr val="000F65"/>
                </a:solidFill>
                <a:latin typeface="Arial"/>
                <a:ea typeface="MS PGothic"/>
              </a:rPr>
              <a:t>Optical Flow  =  측정</a:t>
            </a:r>
          </a:p>
          <a:p>
            <a:pPr algn="ctr" marL="0" indent="0">
              <a:lnSpc>
                <a:spcPct val="112000"/>
              </a:lnSpc>
              <a:spcBef>
                <a:spcPts val="200"/>
              </a:spcBef>
              <a:buNone/>
            </a:pPr>
            <a:r>
              <a:rPr sz="1400" b="0" i="0">
                <a:solidFill>
                  <a:srgbClr val="333333"/>
                </a:solidFill>
                <a:latin typeface="Arial"/>
                <a:ea typeface="MS PGothic"/>
              </a:rPr>
              <a:t>연속 영상에서 점의 이동을 추적해</a:t>
            </a:r>
          </a:p>
          <a:p>
            <a:pPr algn="ctr" marL="0" indent="0">
              <a:lnSpc>
                <a:spcPct val="112000"/>
              </a:lnSpc>
              <a:spcBef>
                <a:spcPts val="200"/>
              </a:spcBef>
              <a:buNone/>
            </a:pPr>
            <a:r>
              <a:rPr sz="1400" b="0" i="0">
                <a:solidFill>
                  <a:srgbClr val="333333"/>
                </a:solidFill>
                <a:latin typeface="Arial"/>
                <a:ea typeface="MS PGothic"/>
              </a:rPr>
              <a:t>영상 속 움직임을 측정</a:t>
            </a:r>
          </a:p>
          <a:p>
            <a:pPr algn="ctr" marL="0" indent="0">
              <a:lnSpc>
                <a:spcPct val="112000"/>
              </a:lnSpc>
              <a:spcBef>
                <a:spcPts val="200"/>
              </a:spcBef>
              <a:buNone/>
            </a:pPr>
            <a:r>
              <a:rPr sz="1050" b="0" i="0">
                <a:solidFill>
                  <a:srgbClr val="666666"/>
                </a:solidFill>
                <a:latin typeface="Arial"/>
                <a:ea typeface="MS PGothic"/>
              </a:rPr>
              <a:t>(Lucas and Kanade, 1981)</a:t>
            </a:r>
          </a:p>
        </p:txBody>
      </p:sp>
      <p:sp>
        <p:nvSpPr>
          <p:cNvPr id="14" name="Right Arrow 13"/>
          <p:cNvSpPr/>
          <p:nvPr/>
        </p:nvSpPr>
        <p:spPr>
          <a:xfrm>
            <a:off x="4425696" y="4041648"/>
            <a:ext cx="292608" cy="274320"/>
          </a:xfrm>
          <a:prstGeom prst="rightArrow">
            <a:avLst/>
          </a:prstGeom>
          <a:solidFill>
            <a:srgbClr val="333399"/>
          </a:solidFill>
          <a:ln>
            <a:noFill/>
          </a:ln>
          <a:effectLst/>
        </p:spPr>
        <p:txBody>
          <a:bodyPr rtlCol="0" anchor="ctr"/>
          <a:lstStyle/>
          <a:p>
            <a:pPr algn="ctr"/>
          </a:p>
        </p:txBody>
      </p:sp>
      <p:sp>
        <p:nvSpPr>
          <p:cNvPr id="15" name="Rounded Rectangle 14"/>
          <p:cNvSpPr/>
          <p:nvPr/>
        </p:nvSpPr>
        <p:spPr>
          <a:xfrm>
            <a:off x="4937760" y="3611880"/>
            <a:ext cx="3749039" cy="114300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700" b="1" i="0">
                <a:solidFill>
                  <a:srgbClr val="000F65"/>
                </a:solidFill>
                <a:latin typeface="Arial"/>
                <a:ea typeface="MS PGothic"/>
              </a:rPr>
              <a:t>VIO  =  추정</a:t>
            </a:r>
          </a:p>
          <a:p>
            <a:pPr algn="ctr" marL="0" indent="0">
              <a:lnSpc>
                <a:spcPct val="112000"/>
              </a:lnSpc>
              <a:spcBef>
                <a:spcPts val="200"/>
              </a:spcBef>
              <a:buNone/>
            </a:pPr>
            <a:r>
              <a:rPr sz="1400" b="0" i="0">
                <a:solidFill>
                  <a:srgbClr val="333333"/>
                </a:solidFill>
                <a:latin typeface="Arial"/>
                <a:ea typeface="MS PGothic"/>
              </a:rPr>
              <a:t>영상 측정을 IMU와 결합해</a:t>
            </a:r>
          </a:p>
          <a:p>
            <a:pPr algn="ctr" marL="0" indent="0">
              <a:lnSpc>
                <a:spcPct val="112000"/>
              </a:lnSpc>
              <a:spcBef>
                <a:spcPts val="200"/>
              </a:spcBef>
              <a:buNone/>
            </a:pPr>
            <a:r>
              <a:rPr sz="1400" b="0" i="0">
                <a:solidFill>
                  <a:srgbClr val="333333"/>
                </a:solidFill>
                <a:latin typeface="Arial"/>
                <a:ea typeface="MS PGothic"/>
              </a:rPr>
              <a:t>위치·자세를 추정</a:t>
            </a:r>
          </a:p>
          <a:p>
            <a:pPr algn="ctr" marL="0" indent="0">
              <a:lnSpc>
                <a:spcPct val="112000"/>
              </a:lnSpc>
              <a:spcBef>
                <a:spcPts val="200"/>
              </a:spcBef>
              <a:buNone/>
            </a:pPr>
            <a:r>
              <a:rPr sz="1050" b="0" i="0">
                <a:solidFill>
                  <a:srgbClr val="666666"/>
                </a:solidFill>
                <a:latin typeface="Arial"/>
                <a:ea typeface="MS PGothic"/>
              </a:rPr>
              <a:t>(Mourikis and Roumeliotis, 2007; Geneva et al., 2020)</a:t>
            </a:r>
          </a:p>
        </p:txBody>
      </p:sp>
      <p:sp>
        <p:nvSpPr>
          <p:cNvPr id="16" name="Rounded Rectangle 15"/>
          <p:cNvSpPr/>
          <p:nvPr/>
        </p:nvSpPr>
        <p:spPr>
          <a:xfrm>
            <a:off x="457200" y="5029200"/>
            <a:ext cx="8229600" cy="777240"/>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700" b="1" i="0">
                <a:solidFill>
                  <a:srgbClr val="FFFFFF"/>
                </a:solidFill>
                <a:latin typeface="Arial"/>
                <a:ea typeface="MS PGothic"/>
              </a:rPr>
              <a:t>플랫폼은 달라도  IMU 예측 + 카메라·거리센서 보정  구조는 같다</a:t>
            </a:r>
          </a:p>
        </p:txBody>
      </p:sp>
    </p:spTree>
    <p:extLst>
      <p:ext uri="{BB962C8B-B14F-4D97-AF65-F5344CB8AC3E}">
        <p14:creationId xmlns:p14="http://schemas.microsoft.com/office/powerpoint/2010/main" val="371350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연구의 필요성 및 목적</a:t>
            </a:r>
          </a:p>
        </p:txBody>
      </p:sp>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실제 센서 융합에서는 두 가지 문제가 생긴다</a:t>
            </a:r>
          </a:p>
        </p:txBody>
      </p:sp>
      <p:sp>
        <p:nvSpPr>
          <p:cNvPr id="4" name="Rounded Rectangle 3"/>
          <p:cNvSpPr/>
          <p:nvPr/>
        </p:nvSpPr>
        <p:spPr>
          <a:xfrm>
            <a:off x="457200" y="1645920"/>
            <a:ext cx="8229600" cy="1417320"/>
          </a:xfrm>
          <a:prstGeom prst="roundRect">
            <a:avLst>
              <a:gd name="adj" fmla="val 8000"/>
            </a:avLst>
          </a:prstGeom>
          <a:solidFill>
            <a:srgbClr val="DAEDEF"/>
          </a:solidFill>
          <a:ln>
            <a:noFill/>
          </a:ln>
          <a:effectLst/>
        </p:spPr>
        <p:txBody>
          <a:bodyPr rtlCol="0" anchor="ctr" wrap="square" lIns="182880" rIns="182880" tIns="73152" bIns="73152"/>
          <a:lstStyle/>
          <a:p>
            <a:pPr algn="l" marL="0" indent="0">
              <a:lnSpc>
                <a:spcPct val="112000"/>
              </a:lnSpc>
              <a:buNone/>
            </a:pPr>
            <a:r>
              <a:rPr sz="1600" b="1" i="0">
                <a:solidFill>
                  <a:srgbClr val="000F65"/>
                </a:solidFill>
                <a:latin typeface="Arial"/>
                <a:ea typeface="MS PGothic"/>
              </a:rPr>
              <a:t>1.  개별 센서의 한계</a:t>
            </a:r>
          </a:p>
          <a:p>
            <a:pPr algn="l" marL="256032" indent="-219456">
              <a:lnSpc>
                <a:spcPct val="112000"/>
              </a:lnSpc>
              <a:spcBef>
                <a:spcPts val="300"/>
              </a:spcBef>
              <a:buSzPct val="70000"/>
              <a:buFont typeface="MS PGothic"/>
              <a:buChar char="◆"/>
            </a:pPr>
            <a:r>
              <a:rPr sz="1400" b="0" i="0">
                <a:solidFill>
                  <a:srgbClr val="333333"/>
                </a:solidFill>
                <a:latin typeface="Arial"/>
                <a:ea typeface="MS PGothic"/>
              </a:rPr>
              <a:t>IMU만 사용하면 적분 과정에서 </a:t>
            </a:r>
            <a:r>
              <a:rPr sz="1400" b="1" i="0">
                <a:solidFill>
                  <a:srgbClr val="000F65"/>
                </a:solidFill>
                <a:latin typeface="Arial"/>
                <a:ea typeface="MS PGothic"/>
              </a:rPr>
              <a:t>작은 오차가 시간에 따라 누적</a:t>
            </a:r>
            <a:r>
              <a:rPr sz="1400" b="0" i="0">
                <a:solidFill>
                  <a:srgbClr val="333333"/>
                </a:solidFill>
                <a:latin typeface="Arial"/>
                <a:ea typeface="MS PGothic"/>
              </a:rPr>
              <a:t>됨</a:t>
            </a:r>
          </a:p>
          <a:p>
            <a:pPr algn="l" marL="256032" indent="-219456">
              <a:lnSpc>
                <a:spcPct val="112000"/>
              </a:lnSpc>
              <a:spcBef>
                <a:spcPts val="300"/>
              </a:spcBef>
              <a:buSzPct val="70000"/>
              <a:buFont typeface="MS PGothic"/>
              <a:buChar char="◆"/>
            </a:pPr>
            <a:r>
              <a:rPr sz="1400" b="0" i="0">
                <a:solidFill>
                  <a:srgbClr val="333333"/>
                </a:solidFill>
                <a:latin typeface="Arial"/>
                <a:ea typeface="MS PGothic"/>
              </a:rPr>
              <a:t>카메라는 영상 속 이동만 측정 → </a:t>
            </a:r>
            <a:r>
              <a:rPr sz="1400" b="1" i="0">
                <a:solidFill>
                  <a:srgbClr val="000F65"/>
                </a:solidFill>
                <a:latin typeface="Arial"/>
                <a:ea typeface="MS PGothic"/>
              </a:rPr>
              <a:t>실제 이동 거리로 환산하려면 거리 정보가 필요</a:t>
            </a:r>
            <a:r>
              <a:rPr sz="1400" b="0" i="0">
                <a:solidFill>
                  <a:srgbClr val="333333"/>
                </a:solidFill>
                <a:latin typeface="Arial"/>
                <a:ea typeface="MS PGothic"/>
              </a:rPr>
              <a:t>함</a:t>
            </a:r>
          </a:p>
          <a:p>
            <a:pPr algn="l" marL="256032" indent="-219456">
              <a:lnSpc>
                <a:spcPct val="112000"/>
              </a:lnSpc>
              <a:spcBef>
                <a:spcPts val="300"/>
              </a:spcBef>
              <a:buSzPct val="70000"/>
              <a:buFont typeface="MS PGothic"/>
              <a:buChar char="◆"/>
            </a:pPr>
            <a:r>
              <a:rPr sz="1400" b="0" i="0">
                <a:solidFill>
                  <a:srgbClr val="333333"/>
                </a:solidFill>
                <a:latin typeface="Arial"/>
                <a:ea typeface="MS PGothic"/>
              </a:rPr>
              <a:t>→ IMU로 예측하고 카메라·거리센서로 보정하는 </a:t>
            </a:r>
            <a:r>
              <a:rPr sz="1400" b="1" i="0">
                <a:solidFill>
                  <a:srgbClr val="000F65"/>
                </a:solidFill>
                <a:latin typeface="Arial"/>
                <a:ea typeface="MS PGothic"/>
              </a:rPr>
              <a:t>센서 융합이 필요</a:t>
            </a:r>
          </a:p>
        </p:txBody>
      </p:sp>
      <p:sp>
        <p:nvSpPr>
          <p:cNvPr id="5" name="Rounded Rectangle 4"/>
          <p:cNvSpPr/>
          <p:nvPr/>
        </p:nvSpPr>
        <p:spPr>
          <a:xfrm>
            <a:off x="457200" y="3200400"/>
            <a:ext cx="5623560" cy="1600200"/>
          </a:xfrm>
          <a:prstGeom prst="roundRect">
            <a:avLst>
              <a:gd name="adj" fmla="val 8000"/>
            </a:avLst>
          </a:prstGeom>
          <a:solidFill>
            <a:srgbClr val="DAEDEF"/>
          </a:solidFill>
          <a:ln>
            <a:noFill/>
          </a:ln>
          <a:effectLst/>
        </p:spPr>
        <p:txBody>
          <a:bodyPr rtlCol="0" anchor="ctr" wrap="square" lIns="182880" rIns="182880" tIns="73152" bIns="73152"/>
          <a:lstStyle/>
          <a:p>
            <a:pPr algn="l" marL="0" indent="0">
              <a:lnSpc>
                <a:spcPct val="112000"/>
              </a:lnSpc>
              <a:buNone/>
            </a:pPr>
            <a:r>
              <a:rPr sz="1600" b="1" i="0">
                <a:solidFill>
                  <a:srgbClr val="000F65"/>
                </a:solidFill>
                <a:latin typeface="Arial"/>
                <a:ea typeface="MS PGothic"/>
              </a:rPr>
              <a:t>2.  센서별 측정 시점의 차이</a:t>
            </a:r>
          </a:p>
          <a:p>
            <a:pPr algn="l" marL="256032" indent="-219456">
              <a:lnSpc>
                <a:spcPct val="112000"/>
              </a:lnSpc>
              <a:spcBef>
                <a:spcPts val="300"/>
              </a:spcBef>
              <a:buSzPct val="70000"/>
              <a:buFont typeface="MS PGothic"/>
              <a:buChar char="◆"/>
            </a:pPr>
            <a:r>
              <a:rPr sz="1350" b="0" i="0">
                <a:solidFill>
                  <a:srgbClr val="333333"/>
                </a:solidFill>
                <a:latin typeface="Arial"/>
                <a:ea typeface="MS PGothic"/>
              </a:rPr>
              <a:t>IMU는 빠른 주기, 카메라는 느린 주기 + </a:t>
            </a:r>
            <a:r>
              <a:rPr sz="1350" b="1" i="0">
                <a:solidFill>
                  <a:srgbClr val="000F65"/>
                </a:solidFill>
                <a:latin typeface="Arial"/>
                <a:ea typeface="MS PGothic"/>
              </a:rPr>
              <a:t>영상 처리 시간</a:t>
            </a:r>
            <a:r>
              <a:rPr sz="1350" b="0" i="0">
                <a:solidFill>
                  <a:srgbClr val="333333"/>
                </a:solidFill>
                <a:latin typeface="Arial"/>
                <a:ea typeface="MS PGothic"/>
              </a:rPr>
              <a:t> 소요</a:t>
            </a:r>
          </a:p>
          <a:p>
            <a:pPr algn="l" marL="256032" indent="-219456">
              <a:lnSpc>
                <a:spcPct val="112000"/>
              </a:lnSpc>
              <a:spcBef>
                <a:spcPts val="300"/>
              </a:spcBef>
              <a:buSzPct val="70000"/>
              <a:buFont typeface="MS PGothic"/>
              <a:buChar char="◆"/>
            </a:pPr>
            <a:r>
              <a:rPr sz="1350" b="0" i="0">
                <a:solidFill>
                  <a:srgbClr val="333333"/>
                </a:solidFill>
                <a:latin typeface="Arial"/>
                <a:ea typeface="MS PGothic"/>
              </a:rPr>
              <a:t>필터에 도착한 영상 측정은 </a:t>
            </a:r>
            <a:r>
              <a:rPr sz="1350" b="1" i="0">
                <a:solidFill>
                  <a:srgbClr val="000F65"/>
                </a:solidFill>
                <a:latin typeface="Arial"/>
                <a:ea typeface="MS PGothic"/>
              </a:rPr>
              <a:t>도착 시점보다 이전의 움직임</a:t>
            </a:r>
          </a:p>
          <a:p>
            <a:pPr algn="l" marL="256032" indent="-219456">
              <a:lnSpc>
                <a:spcPct val="112000"/>
              </a:lnSpc>
              <a:spcBef>
                <a:spcPts val="300"/>
              </a:spcBef>
              <a:buSzPct val="70000"/>
              <a:buFont typeface="MS PGothic"/>
              <a:buChar char="◆"/>
            </a:pPr>
            <a:r>
              <a:rPr sz="1350" b="0" i="0">
                <a:solidFill>
                  <a:srgbClr val="333333"/>
                </a:solidFill>
                <a:latin typeface="Arial"/>
                <a:ea typeface="MS PGothic"/>
              </a:rPr>
              <a:t>타임스탬프와 실제 측정 시점의 차이는 </a:t>
            </a:r>
            <a:r>
              <a:rPr sz="1350" b="1" i="0">
                <a:solidFill>
                  <a:srgbClr val="000F65"/>
                </a:solidFill>
                <a:latin typeface="Arial"/>
                <a:ea typeface="MS PGothic"/>
              </a:rPr>
              <a:t>융합 성능을 크게 저하</a:t>
            </a:r>
            <a:r>
              <a:rPr sz="1350" b="0" i="0">
                <a:solidFill>
                  <a:srgbClr val="333333"/>
                </a:solidFill>
                <a:latin typeface="Arial"/>
                <a:ea typeface="MS PGothic"/>
              </a:rPr>
              <a:t> (Qin and Shen, 2018)</a:t>
            </a:r>
          </a:p>
        </p:txBody>
      </p:sp>
      <p:sp>
        <p:nvSpPr>
          <p:cNvPr id="6" name="Rounded Rectangle 5"/>
          <p:cNvSpPr/>
          <p:nvPr/>
        </p:nvSpPr>
        <p:spPr>
          <a:xfrm>
            <a:off x="6217920" y="3200400"/>
            <a:ext cx="2468880" cy="1600200"/>
          </a:xfrm>
          <a:prstGeom prst="roundRect">
            <a:avLst>
              <a:gd name="adj" fmla="val 8000"/>
            </a:avLst>
          </a:prstGeom>
          <a:noFill/>
          <a:ln w="12700">
            <a:solidFill>
              <a:srgbClr val="333399"/>
            </a:solidFill>
          </a:ln>
          <a:effectLst/>
        </p:spPr>
        <p:txBody>
          <a:bodyPr rtlCol="0" anchor="ctr" wrap="square" lIns="109728" rIns="109728" tIns="73152" bIns="73152"/>
          <a:lstStyle/>
          <a:p>
            <a:pPr algn="ctr" marL="0" indent="0">
              <a:lnSpc>
                <a:spcPct val="112000"/>
              </a:lnSpc>
              <a:buNone/>
            </a:pPr>
            <a:r>
              <a:rPr sz="1200" b="1" i="0">
                <a:solidFill>
                  <a:srgbClr val="333399"/>
                </a:solidFill>
                <a:latin typeface="Arial"/>
                <a:ea typeface="MS PGothic"/>
              </a:rPr>
              <a:t>실제 비행제어기의 지연 설정</a:t>
            </a:r>
          </a:p>
          <a:p>
            <a:pPr algn="ctr" marL="0" indent="0">
              <a:lnSpc>
                <a:spcPct val="112000"/>
              </a:lnSpc>
              <a:spcBef>
                <a:spcPts val="200"/>
              </a:spcBef>
              <a:buNone/>
            </a:pPr>
            <a:r>
              <a:rPr sz="1150" b="0" i="0">
                <a:solidFill>
                  <a:srgbClr val="333333"/>
                </a:solidFill>
                <a:latin typeface="Arial"/>
                <a:ea typeface="MS PGothic"/>
              </a:rPr>
              <a:t>PX4 EKF2 기본값</a:t>
            </a:r>
          </a:p>
          <a:p>
            <a:pPr algn="ctr" marL="0" indent="0">
              <a:lnSpc>
                <a:spcPct val="112000"/>
              </a:lnSpc>
              <a:spcBef>
                <a:spcPts val="200"/>
              </a:spcBef>
              <a:buNone/>
            </a:pPr>
            <a:r>
              <a:rPr sz="1400" b="1" i="0">
                <a:solidFill>
                  <a:srgbClr val="000F65"/>
                </a:solidFill>
                <a:latin typeface="Arial"/>
                <a:ea typeface="MS PGothic"/>
              </a:rPr>
              <a:t>Optical Flow  7 ms</a:t>
            </a:r>
          </a:p>
          <a:p>
            <a:pPr algn="ctr" marL="0" indent="0">
              <a:lnSpc>
                <a:spcPct val="112000"/>
              </a:lnSpc>
              <a:spcBef>
                <a:spcPts val="200"/>
              </a:spcBef>
              <a:buNone/>
            </a:pPr>
            <a:r>
              <a:rPr sz="1400" b="1" i="0">
                <a:solidFill>
                  <a:srgbClr val="000F65"/>
                </a:solidFill>
                <a:latin typeface="Arial"/>
                <a:ea typeface="MS PGothic"/>
              </a:rPr>
              <a:t>거리센서  5 ms</a:t>
            </a:r>
          </a:p>
          <a:p>
            <a:pPr algn="ctr" marL="0" indent="0">
              <a:lnSpc>
                <a:spcPct val="112000"/>
              </a:lnSpc>
              <a:spcBef>
                <a:spcPts val="200"/>
              </a:spcBef>
              <a:buNone/>
            </a:pPr>
            <a:r>
              <a:rPr sz="1050" b="0" i="0">
                <a:solidFill>
                  <a:srgbClr val="666666"/>
                </a:solidFill>
                <a:latin typeface="Arial"/>
                <a:ea typeface="MS PGothic"/>
              </a:rPr>
              <a:t>센서별 최대 300 ms까지 설정</a:t>
            </a:r>
          </a:p>
        </p:txBody>
      </p:sp>
      <p:sp>
        <p:nvSpPr>
          <p:cNvPr id="7" name="Rounded Rectangle 6"/>
          <p:cNvSpPr/>
          <p:nvPr/>
        </p:nvSpPr>
        <p:spPr>
          <a:xfrm>
            <a:off x="457200" y="4983480"/>
            <a:ext cx="8229600" cy="1097280"/>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500" b="1" i="0">
                <a:solidFill>
                  <a:srgbClr val="C8CEEA"/>
                </a:solidFill>
                <a:latin typeface="Arial"/>
                <a:ea typeface="MS PGothic"/>
              </a:rPr>
              <a:t>연구 목적</a:t>
            </a:r>
          </a:p>
          <a:p>
            <a:pPr algn="ctr" marL="0" indent="0">
              <a:lnSpc>
                <a:spcPct val="112000"/>
              </a:lnSpc>
              <a:spcBef>
                <a:spcPts val="200"/>
              </a:spcBef>
              <a:buNone/>
            </a:pPr>
            <a:r>
              <a:rPr sz="1600" b="1" i="0">
                <a:solidFill>
                  <a:srgbClr val="FFFFFF"/>
                </a:solidFill>
                <a:latin typeface="Arial"/>
                <a:ea typeface="MS PGothic"/>
              </a:rPr>
              <a:t>측정 주기와 지연 차이를 고려하여 카메라·IMU·거리센서를</a:t>
            </a:r>
          </a:p>
          <a:p>
            <a:pPr algn="ctr" marL="0" indent="0">
              <a:lnSpc>
                <a:spcPct val="112000"/>
              </a:lnSpc>
              <a:spcBef>
                <a:spcPts val="200"/>
              </a:spcBef>
              <a:buNone/>
            </a:pPr>
            <a:r>
              <a:rPr sz="1600" b="1" i="0">
                <a:solidFill>
                  <a:srgbClr val="FFFFFF"/>
                </a:solidFill>
                <a:latin typeface="Arial"/>
                <a:ea typeface="MS PGothic"/>
              </a:rPr>
              <a:t>하나의 필터로 융합하는 위치·자세 추정기 구현</a:t>
            </a:r>
          </a:p>
        </p:txBody>
      </p:sp>
    </p:spTree>
    <p:extLst>
      <p:ext uri="{BB962C8B-B14F-4D97-AF65-F5344CB8AC3E}">
        <p14:creationId xmlns:p14="http://schemas.microsoft.com/office/powerpoint/2010/main" val="371350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선행연구와 적용 방향</a:t>
            </a:r>
          </a:p>
        </p:txBody>
      </p:sp>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차량 분야의 시간 처리 방법을 비전 항법에 적용한다</a:t>
            </a:r>
          </a:p>
        </p:txBody>
      </p:sp>
      <p:sp>
        <p:nvSpPr>
          <p:cNvPr id="4" name="Rounded Rectangle 3"/>
          <p:cNvSpPr/>
          <p:nvPr/>
        </p:nvSpPr>
        <p:spPr>
          <a:xfrm>
            <a:off x="457200" y="1645920"/>
            <a:ext cx="3566160" cy="86868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500" b="1" i="0">
                <a:solidFill>
                  <a:srgbClr val="000F65"/>
                </a:solidFill>
                <a:latin typeface="Arial"/>
                <a:ea typeface="MS PGothic"/>
              </a:rPr>
              <a:t>차량 분야 (Kim and Ahn, 2025)</a:t>
            </a:r>
          </a:p>
          <a:p>
            <a:pPr algn="ctr" marL="0" indent="0">
              <a:lnSpc>
                <a:spcPct val="112000"/>
              </a:lnSpc>
              <a:spcBef>
                <a:spcPts val="200"/>
              </a:spcBef>
              <a:buNone/>
            </a:pPr>
            <a:r>
              <a:rPr sz="1300" b="0" i="0">
                <a:solidFill>
                  <a:srgbClr val="333333"/>
                </a:solidFill>
                <a:latin typeface="Arial"/>
                <a:ea typeface="MS PGothic"/>
              </a:rPr>
              <a:t>레이더·V2X 융합 · 선행 차량 상태 추정</a:t>
            </a:r>
          </a:p>
        </p:txBody>
      </p:sp>
      <p:sp>
        <p:nvSpPr>
          <p:cNvPr id="5" name="Right Arrow 4"/>
          <p:cNvSpPr/>
          <p:nvPr/>
        </p:nvSpPr>
        <p:spPr>
          <a:xfrm>
            <a:off x="4379976" y="1938528"/>
            <a:ext cx="384048" cy="292608"/>
          </a:xfrm>
          <a:prstGeom prst="rightArrow">
            <a:avLst/>
          </a:prstGeom>
          <a:solidFill>
            <a:srgbClr val="333399"/>
          </a:solidFill>
          <a:ln>
            <a:noFill/>
          </a:ln>
          <a:effectLst/>
        </p:spPr>
        <p:txBody>
          <a:bodyPr rtlCol="0" anchor="ctr"/>
          <a:lstStyle/>
          <a:p>
            <a:pPr algn="ctr"/>
          </a:p>
        </p:txBody>
      </p:sp>
      <p:sp>
        <p:nvSpPr>
          <p:cNvPr id="6" name="Rounded Rectangle 5"/>
          <p:cNvSpPr/>
          <p:nvPr/>
        </p:nvSpPr>
        <p:spPr>
          <a:xfrm>
            <a:off x="5120640" y="1645920"/>
            <a:ext cx="3566160" cy="868680"/>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500" b="1" i="0">
                <a:solidFill>
                  <a:srgbClr val="FFFFFF"/>
                </a:solidFill>
                <a:latin typeface="Arial"/>
                <a:ea typeface="MS PGothic"/>
              </a:rPr>
              <a:t>본 연구</a:t>
            </a:r>
          </a:p>
          <a:p>
            <a:pPr algn="ctr" marL="0" indent="0">
              <a:lnSpc>
                <a:spcPct val="112000"/>
              </a:lnSpc>
              <a:spcBef>
                <a:spcPts val="200"/>
              </a:spcBef>
              <a:buNone/>
            </a:pPr>
            <a:r>
              <a:rPr sz="1300" b="0" i="0">
                <a:solidFill>
                  <a:srgbClr val="FFFFFF"/>
                </a:solidFill>
                <a:latin typeface="Arial"/>
                <a:ea typeface="MS PGothic"/>
              </a:rPr>
              <a:t>카메라·IMU·거리센서 융합 · 위치·자세 추정</a:t>
            </a:r>
          </a:p>
        </p:txBody>
      </p:sp>
      <p:sp>
        <p:nvSpPr>
          <p:cNvPr id="7" name="TextBox 6"/>
          <p:cNvSpPr txBox="1"/>
          <p:nvPr/>
        </p:nvSpPr>
        <p:spPr>
          <a:xfrm>
            <a:off x="457200" y="2670048"/>
            <a:ext cx="8229600" cy="320040"/>
          </a:xfrm>
          <a:prstGeom prst="rect">
            <a:avLst/>
          </a:prstGeom>
          <a:noFill/>
        </p:spPr>
        <p:txBody>
          <a:bodyPr wrap="square" anchor="ctr" lIns="109728" rIns="109728" tIns="73152" bIns="73152">
            <a:spAutoFit/>
          </a:bodyPr>
          <a:lstStyle/>
          <a:p>
            <a:pPr algn="ctr" marL="0" indent="0">
              <a:lnSpc>
                <a:spcPct val="112000"/>
              </a:lnSpc>
              <a:buNone/>
            </a:pPr>
            <a:r>
              <a:rPr sz="1500" b="1" i="0">
                <a:solidFill>
                  <a:srgbClr val="333399"/>
                </a:solidFill>
                <a:latin typeface="Arial"/>
                <a:ea typeface="MS PGothic"/>
              </a:rPr>
              <a:t>참고할 시간 처리 방법</a:t>
            </a:r>
          </a:p>
        </p:txBody>
      </p:sp>
      <p:sp>
        <p:nvSpPr>
          <p:cNvPr id="8" name="Rounded Rectangle 7"/>
          <p:cNvSpPr/>
          <p:nvPr/>
        </p:nvSpPr>
        <p:spPr>
          <a:xfrm>
            <a:off x="457200" y="3035808"/>
            <a:ext cx="2651760" cy="11887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600" b="1" i="0">
                <a:solidFill>
                  <a:srgbClr val="000F65"/>
                </a:solidFill>
                <a:latin typeface="Arial"/>
                <a:ea typeface="MS PGothic"/>
              </a:rPr>
              <a:t>지연 보상</a:t>
            </a:r>
          </a:p>
          <a:p>
            <a:pPr algn="ctr" marL="0" indent="0">
              <a:lnSpc>
                <a:spcPct val="112000"/>
              </a:lnSpc>
              <a:spcBef>
                <a:spcPts val="200"/>
              </a:spcBef>
              <a:buNone/>
            </a:pPr>
            <a:r>
              <a:rPr sz="1350" b="0" i="0">
                <a:solidFill>
                  <a:srgbClr val="333333"/>
                </a:solidFill>
                <a:latin typeface="Arial"/>
                <a:ea typeface="MS PGothic"/>
              </a:rPr>
              <a:t>수신 시점과 실제</a:t>
            </a:r>
          </a:p>
          <a:p>
            <a:pPr algn="ctr" marL="0" indent="0">
              <a:lnSpc>
                <a:spcPct val="112000"/>
              </a:lnSpc>
              <a:spcBef>
                <a:spcPts val="200"/>
              </a:spcBef>
              <a:buNone/>
            </a:pPr>
            <a:r>
              <a:rPr sz="1350" b="0" i="0">
                <a:solidFill>
                  <a:srgbClr val="333333"/>
                </a:solidFill>
                <a:latin typeface="Arial"/>
                <a:ea typeface="MS PGothic"/>
              </a:rPr>
              <a:t>측정 시점을 구분</a:t>
            </a:r>
          </a:p>
        </p:txBody>
      </p:sp>
      <p:sp>
        <p:nvSpPr>
          <p:cNvPr id="9" name="Rounded Rectangle 8"/>
          <p:cNvSpPr/>
          <p:nvPr/>
        </p:nvSpPr>
        <p:spPr>
          <a:xfrm>
            <a:off x="3246120" y="3035808"/>
            <a:ext cx="2651760" cy="11887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600" b="1" i="0">
                <a:solidFill>
                  <a:srgbClr val="000F65"/>
                </a:solidFill>
                <a:latin typeface="Arial"/>
                <a:ea typeface="MS PGothic"/>
              </a:rPr>
              <a:t>시간 정렬</a:t>
            </a:r>
          </a:p>
          <a:p>
            <a:pPr algn="ctr" marL="0" indent="0">
              <a:lnSpc>
                <a:spcPct val="112000"/>
              </a:lnSpc>
              <a:spcBef>
                <a:spcPts val="200"/>
              </a:spcBef>
              <a:buNone/>
            </a:pPr>
            <a:r>
              <a:rPr sz="1350" b="0" i="0">
                <a:solidFill>
                  <a:srgbClr val="333333"/>
                </a:solidFill>
                <a:latin typeface="Arial"/>
                <a:ea typeface="MS PGothic"/>
              </a:rPr>
              <a:t>함께 쓰는 신호의 시점을</a:t>
            </a:r>
          </a:p>
          <a:p>
            <a:pPr algn="ctr" marL="0" indent="0">
              <a:lnSpc>
                <a:spcPct val="112000"/>
              </a:lnSpc>
              <a:spcBef>
                <a:spcPts val="200"/>
              </a:spcBef>
              <a:buNone/>
            </a:pPr>
            <a:r>
              <a:rPr sz="1350" b="0" i="0">
                <a:solidFill>
                  <a:srgbClr val="333333"/>
                </a:solidFill>
                <a:latin typeface="Arial"/>
                <a:ea typeface="MS PGothic"/>
              </a:rPr>
              <a:t>맞추고 필요 시 보간</a:t>
            </a:r>
          </a:p>
        </p:txBody>
      </p:sp>
      <p:sp>
        <p:nvSpPr>
          <p:cNvPr id="10" name="Rounded Rectangle 9"/>
          <p:cNvSpPr/>
          <p:nvPr/>
        </p:nvSpPr>
        <p:spPr>
          <a:xfrm>
            <a:off x="6035040" y="3035808"/>
            <a:ext cx="2651760" cy="11887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600" b="1" i="0">
                <a:solidFill>
                  <a:srgbClr val="000F65"/>
                </a:solidFill>
                <a:latin typeface="Arial"/>
                <a:ea typeface="MS PGothic"/>
              </a:rPr>
              <a:t>과거 상태 재추정</a:t>
            </a:r>
          </a:p>
          <a:p>
            <a:pPr algn="ctr" marL="0" indent="0">
              <a:lnSpc>
                <a:spcPct val="112000"/>
              </a:lnSpc>
              <a:spcBef>
                <a:spcPts val="200"/>
              </a:spcBef>
              <a:buNone/>
            </a:pPr>
            <a:r>
              <a:rPr sz="1350" b="0" i="0">
                <a:solidFill>
                  <a:srgbClr val="333333"/>
                </a:solidFill>
                <a:latin typeface="Arial"/>
                <a:ea typeface="MS PGothic"/>
              </a:rPr>
              <a:t>지연된 측정으로 과거를</a:t>
            </a:r>
          </a:p>
          <a:p>
            <a:pPr algn="ctr" marL="0" indent="0">
              <a:lnSpc>
                <a:spcPct val="112000"/>
              </a:lnSpc>
              <a:spcBef>
                <a:spcPts val="200"/>
              </a:spcBef>
              <a:buNone/>
            </a:pPr>
            <a:r>
              <a:rPr sz="1350" b="0" i="0">
                <a:solidFill>
                  <a:srgbClr val="333333"/>
                </a:solidFill>
                <a:latin typeface="Arial"/>
                <a:ea typeface="MS PGothic"/>
              </a:rPr>
              <a:t>보정한 후 현재까지 재추정</a:t>
            </a:r>
          </a:p>
        </p:txBody>
      </p:sp>
      <p:sp>
        <p:nvSpPr>
          <p:cNvPr id="11" name="Rounded Rectangle 10"/>
          <p:cNvSpPr/>
          <p:nvPr/>
        </p:nvSpPr>
        <p:spPr>
          <a:xfrm>
            <a:off x="457200" y="4389120"/>
            <a:ext cx="8229600" cy="777240"/>
          </a:xfrm>
          <a:prstGeom prst="roundRect">
            <a:avLst>
              <a:gd name="adj" fmla="val 8000"/>
            </a:avLst>
          </a:prstGeom>
          <a:noFill/>
          <a:ln w="12700">
            <a:solidFill>
              <a:srgbClr val="333399"/>
            </a:solidFill>
          </a:ln>
          <a:effectLst/>
        </p:spPr>
        <p:txBody>
          <a:bodyPr rtlCol="0" anchor="ctr" wrap="square" lIns="109728" rIns="109728" tIns="73152" bIns="73152"/>
          <a:lstStyle/>
          <a:p>
            <a:pPr algn="ctr" marL="0" indent="0">
              <a:lnSpc>
                <a:spcPct val="112000"/>
              </a:lnSpc>
              <a:buNone/>
            </a:pPr>
            <a:r>
              <a:rPr sz="1400" b="0" i="0">
                <a:solidFill>
                  <a:srgbClr val="333333"/>
                </a:solidFill>
                <a:latin typeface="Arial"/>
                <a:ea typeface="MS PGothic"/>
              </a:rPr>
              <a:t>비전 항법 참고 구조:  MSCKF·OpenVINS는 </a:t>
            </a:r>
            <a:r>
              <a:rPr sz="1400" b="1" i="0">
                <a:solidFill>
                  <a:srgbClr val="333333"/>
                </a:solidFill>
                <a:latin typeface="Arial"/>
                <a:ea typeface="MS PGothic"/>
              </a:rPr>
              <a:t>과거 카메라 자세를 상태에 유지</a:t>
            </a:r>
            <a:r>
              <a:rPr sz="1400" b="0" i="0">
                <a:solidFill>
                  <a:srgbClr val="333333"/>
                </a:solidFill>
                <a:latin typeface="Arial"/>
                <a:ea typeface="MS PGothic"/>
              </a:rPr>
              <a:t>하며 추정</a:t>
            </a:r>
          </a:p>
          <a:p>
            <a:pPr algn="ctr" marL="0" indent="0">
              <a:lnSpc>
                <a:spcPct val="112000"/>
              </a:lnSpc>
              <a:spcBef>
                <a:spcPts val="200"/>
              </a:spcBef>
              <a:buNone/>
            </a:pPr>
            <a:r>
              <a:rPr sz="1050" b="0" i="0">
                <a:solidFill>
                  <a:srgbClr val="666666"/>
                </a:solidFill>
                <a:latin typeface="Arial"/>
                <a:ea typeface="MS PGothic"/>
              </a:rPr>
              <a:t>(Mourikis and Roumeliotis, 2007; Geneva et al., 2020)</a:t>
            </a:r>
          </a:p>
        </p:txBody>
      </p:sp>
      <p:sp>
        <p:nvSpPr>
          <p:cNvPr id="12" name="Rounded Rectangle 11"/>
          <p:cNvSpPr/>
          <p:nvPr/>
        </p:nvSpPr>
        <p:spPr>
          <a:xfrm>
            <a:off x="457200" y="5321808"/>
            <a:ext cx="8229600" cy="758952"/>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500" b="1" i="0">
                <a:solidFill>
                  <a:srgbClr val="FFFFFF"/>
                </a:solidFill>
                <a:latin typeface="Arial"/>
                <a:ea typeface="MS PGothic"/>
              </a:rPr>
              <a:t>차량 모델이 아닌 시간 처리 방법을 센서 구성에 맞게 적용하고, 적용 전·후 차이를 확인</a:t>
            </a:r>
          </a:p>
        </p:txBody>
      </p:sp>
    </p:spTree>
    <p:extLst>
      <p:ext uri="{BB962C8B-B14F-4D97-AF65-F5344CB8AC3E}">
        <p14:creationId xmlns:p14="http://schemas.microsoft.com/office/powerpoint/2010/main" val="37135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연구방법</a:t>
            </a:r>
          </a:p>
        </p:txBody>
      </p:sp>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EKF로 융합하고, 늦게 도착한 측정은 측정 시점에 반영한다</a:t>
            </a:r>
          </a:p>
        </p:txBody>
      </p:sp>
      <p:sp>
        <p:nvSpPr>
          <p:cNvPr id="4" name="Rounded Rectangle 3"/>
          <p:cNvSpPr/>
          <p:nvPr/>
        </p:nvSpPr>
        <p:spPr>
          <a:xfrm>
            <a:off x="457200" y="1664208"/>
            <a:ext cx="2971800" cy="548640"/>
          </a:xfrm>
          <a:prstGeom prst="roundRect">
            <a:avLst>
              <a:gd name="adj" fmla="val 8000"/>
            </a:avLst>
          </a:prstGeom>
          <a:solidFill>
            <a:srgbClr val="DAEDEF"/>
          </a:solidFill>
          <a:ln>
            <a:noFill/>
          </a:ln>
          <a:effectLst/>
        </p:spPr>
        <p:txBody>
          <a:bodyPr rtlCol="0" anchor="ctr" wrap="square" lIns="109728" rIns="109728" tIns="73152" bIns="73152"/>
          <a:lstStyle/>
          <a:p>
            <a:pPr algn="l" marL="0" indent="0">
              <a:lnSpc>
                <a:spcPct val="112000"/>
              </a:lnSpc>
              <a:buNone/>
            </a:pPr>
            <a:r>
              <a:rPr sz="1350" b="1" i="0">
                <a:solidFill>
                  <a:srgbClr val="333333"/>
                </a:solidFill>
                <a:latin typeface="Arial"/>
                <a:ea typeface="MS PGothic"/>
              </a:rPr>
              <a:t>IMU</a:t>
            </a:r>
            <a:r>
              <a:rPr sz="1350" b="0" i="0">
                <a:solidFill>
                  <a:srgbClr val="333333"/>
                </a:solidFill>
                <a:latin typeface="Arial"/>
                <a:ea typeface="MS PGothic"/>
              </a:rPr>
              <a:t>   가속도·각속도 → 예측</a:t>
            </a:r>
          </a:p>
        </p:txBody>
      </p:sp>
      <p:sp>
        <p:nvSpPr>
          <p:cNvPr id="5" name="Right Arrow 4"/>
          <p:cNvSpPr/>
          <p:nvPr/>
        </p:nvSpPr>
        <p:spPr>
          <a:xfrm>
            <a:off x="3502152" y="1810512"/>
            <a:ext cx="256032" cy="256032"/>
          </a:xfrm>
          <a:prstGeom prst="rightArrow">
            <a:avLst/>
          </a:prstGeom>
          <a:solidFill>
            <a:srgbClr val="333399"/>
          </a:solidFill>
          <a:ln>
            <a:noFill/>
          </a:ln>
          <a:effectLst/>
        </p:spPr>
        <p:txBody>
          <a:bodyPr rtlCol="0" anchor="ctr"/>
          <a:lstStyle/>
          <a:p>
            <a:pPr algn="ctr"/>
          </a:p>
        </p:txBody>
      </p:sp>
      <p:sp>
        <p:nvSpPr>
          <p:cNvPr id="6" name="Rounded Rectangle 5"/>
          <p:cNvSpPr/>
          <p:nvPr/>
        </p:nvSpPr>
        <p:spPr>
          <a:xfrm>
            <a:off x="457200" y="2304288"/>
            <a:ext cx="2971800" cy="548640"/>
          </a:xfrm>
          <a:prstGeom prst="roundRect">
            <a:avLst>
              <a:gd name="adj" fmla="val 8000"/>
            </a:avLst>
          </a:prstGeom>
          <a:solidFill>
            <a:srgbClr val="DAEDEF"/>
          </a:solidFill>
          <a:ln>
            <a:noFill/>
          </a:ln>
          <a:effectLst/>
        </p:spPr>
        <p:txBody>
          <a:bodyPr rtlCol="0" anchor="ctr" wrap="square" lIns="109728" rIns="109728" tIns="73152" bIns="73152"/>
          <a:lstStyle/>
          <a:p>
            <a:pPr algn="l" marL="0" indent="0">
              <a:lnSpc>
                <a:spcPct val="112000"/>
              </a:lnSpc>
              <a:buNone/>
            </a:pPr>
            <a:r>
              <a:rPr sz="1350" b="1" i="0">
                <a:solidFill>
                  <a:srgbClr val="333333"/>
                </a:solidFill>
                <a:latin typeface="Arial"/>
                <a:ea typeface="MS PGothic"/>
              </a:rPr>
              <a:t>카메라</a:t>
            </a:r>
            <a:r>
              <a:rPr sz="1350" b="0" i="0">
                <a:solidFill>
                  <a:srgbClr val="333333"/>
                </a:solidFill>
                <a:latin typeface="Arial"/>
                <a:ea typeface="MS PGothic"/>
              </a:rPr>
              <a:t>   KLT로 영상 이동 추적</a:t>
            </a:r>
          </a:p>
        </p:txBody>
      </p:sp>
      <p:sp>
        <p:nvSpPr>
          <p:cNvPr id="7" name="Right Arrow 6"/>
          <p:cNvSpPr/>
          <p:nvPr/>
        </p:nvSpPr>
        <p:spPr>
          <a:xfrm>
            <a:off x="3502152" y="2450592"/>
            <a:ext cx="256032" cy="256032"/>
          </a:xfrm>
          <a:prstGeom prst="rightArrow">
            <a:avLst/>
          </a:prstGeom>
          <a:solidFill>
            <a:srgbClr val="333399"/>
          </a:solidFill>
          <a:ln>
            <a:noFill/>
          </a:ln>
          <a:effectLst/>
        </p:spPr>
        <p:txBody>
          <a:bodyPr rtlCol="0" anchor="ctr"/>
          <a:lstStyle/>
          <a:p>
            <a:pPr algn="ctr"/>
          </a:p>
        </p:txBody>
      </p:sp>
      <p:sp>
        <p:nvSpPr>
          <p:cNvPr id="8" name="Rounded Rectangle 7"/>
          <p:cNvSpPr/>
          <p:nvPr/>
        </p:nvSpPr>
        <p:spPr>
          <a:xfrm>
            <a:off x="457200" y="2944368"/>
            <a:ext cx="2971800" cy="548640"/>
          </a:xfrm>
          <a:prstGeom prst="roundRect">
            <a:avLst>
              <a:gd name="adj" fmla="val 8000"/>
            </a:avLst>
          </a:prstGeom>
          <a:solidFill>
            <a:srgbClr val="DAEDEF"/>
          </a:solidFill>
          <a:ln>
            <a:noFill/>
          </a:ln>
          <a:effectLst/>
        </p:spPr>
        <p:txBody>
          <a:bodyPr rtlCol="0" anchor="ctr" wrap="square" lIns="109728" rIns="109728" tIns="73152" bIns="73152"/>
          <a:lstStyle/>
          <a:p>
            <a:pPr algn="l" marL="0" indent="0">
              <a:lnSpc>
                <a:spcPct val="112000"/>
              </a:lnSpc>
              <a:buNone/>
            </a:pPr>
            <a:r>
              <a:rPr sz="1350" b="1" i="0">
                <a:solidFill>
                  <a:srgbClr val="333333"/>
                </a:solidFill>
                <a:latin typeface="Arial"/>
                <a:ea typeface="MS PGothic"/>
              </a:rPr>
              <a:t>거리센서</a:t>
            </a:r>
            <a:r>
              <a:rPr sz="1350" b="0" i="0">
                <a:solidFill>
                  <a:srgbClr val="333333"/>
                </a:solidFill>
                <a:latin typeface="Arial"/>
                <a:ea typeface="MS PGothic"/>
              </a:rPr>
              <a:t>   지면까지 거리 → 실제 크기</a:t>
            </a:r>
          </a:p>
        </p:txBody>
      </p:sp>
      <p:sp>
        <p:nvSpPr>
          <p:cNvPr id="9" name="Right Arrow 8"/>
          <p:cNvSpPr/>
          <p:nvPr/>
        </p:nvSpPr>
        <p:spPr>
          <a:xfrm>
            <a:off x="3502152" y="3090672"/>
            <a:ext cx="256032" cy="256032"/>
          </a:xfrm>
          <a:prstGeom prst="rightArrow">
            <a:avLst/>
          </a:prstGeom>
          <a:solidFill>
            <a:srgbClr val="333399"/>
          </a:solidFill>
          <a:ln>
            <a:noFill/>
          </a:ln>
          <a:effectLst/>
        </p:spPr>
        <p:txBody>
          <a:bodyPr rtlCol="0" anchor="ctr"/>
          <a:lstStyle/>
          <a:p>
            <a:pPr algn="ctr"/>
          </a:p>
        </p:txBody>
      </p:sp>
      <p:sp>
        <p:nvSpPr>
          <p:cNvPr id="10" name="Rounded Rectangle 9"/>
          <p:cNvSpPr/>
          <p:nvPr/>
        </p:nvSpPr>
        <p:spPr>
          <a:xfrm>
            <a:off x="3794760" y="1664208"/>
            <a:ext cx="2011680" cy="1828799"/>
          </a:xfrm>
          <a:prstGeom prst="roundRect">
            <a:avLst>
              <a:gd name="adj" fmla="val 8000"/>
            </a:avLst>
          </a:prstGeom>
          <a:solidFill>
            <a:srgbClr val="333399"/>
          </a:solidFill>
          <a:ln>
            <a:noFill/>
          </a:ln>
          <a:effectLst/>
        </p:spPr>
        <p:txBody>
          <a:bodyPr rtlCol="0" anchor="ctr" wrap="square" lIns="109728" rIns="109728" tIns="73152" bIns="73152"/>
          <a:lstStyle/>
          <a:p>
            <a:pPr algn="ctr" marL="0" indent="0">
              <a:lnSpc>
                <a:spcPct val="112000"/>
              </a:lnSpc>
              <a:buNone/>
            </a:pPr>
            <a:r>
              <a:rPr sz="2200" b="1" i="0">
                <a:solidFill>
                  <a:srgbClr val="FFFFFF"/>
                </a:solidFill>
                <a:latin typeface="Arial"/>
                <a:ea typeface="MS PGothic"/>
              </a:rPr>
              <a:t>EKF</a:t>
            </a:r>
          </a:p>
          <a:p>
            <a:pPr algn="ctr" marL="0" indent="0">
              <a:lnSpc>
                <a:spcPct val="112000"/>
              </a:lnSpc>
              <a:spcBef>
                <a:spcPts val="200"/>
              </a:spcBef>
              <a:buNone/>
            </a:pPr>
            <a:r>
              <a:rPr sz="1100" b="0" i="0">
                <a:solidFill>
                  <a:srgbClr val="C8CEEA"/>
                </a:solidFill>
                <a:latin typeface="Arial"/>
                <a:ea typeface="MS PGothic"/>
              </a:rPr>
              <a:t>확장 칼만필터</a:t>
            </a:r>
          </a:p>
          <a:p>
            <a:pPr algn="ctr" marL="0" indent="0">
              <a:lnSpc>
                <a:spcPct val="112000"/>
              </a:lnSpc>
              <a:spcBef>
                <a:spcPts val="200"/>
              </a:spcBef>
              <a:buNone/>
            </a:pPr>
            <a:r>
              <a:rPr sz="1350" b="0" i="0">
                <a:solidFill>
                  <a:srgbClr val="FFFFFF"/>
                </a:solidFill>
                <a:latin typeface="Arial"/>
                <a:ea typeface="MS PGothic"/>
              </a:rPr>
              <a:t>예측: IMU</a:t>
            </a:r>
          </a:p>
          <a:p>
            <a:pPr algn="ctr" marL="0" indent="0">
              <a:lnSpc>
                <a:spcPct val="112000"/>
              </a:lnSpc>
              <a:spcBef>
                <a:spcPts val="200"/>
              </a:spcBef>
              <a:buNone/>
            </a:pPr>
            <a:r>
              <a:rPr sz="1350" b="0" i="0">
                <a:solidFill>
                  <a:srgbClr val="FFFFFF"/>
                </a:solidFill>
                <a:latin typeface="Arial"/>
                <a:ea typeface="MS PGothic"/>
              </a:rPr>
              <a:t>보정: 영상 이동·거리</a:t>
            </a:r>
          </a:p>
          <a:p>
            <a:pPr algn="ctr" marL="0" indent="0">
              <a:lnSpc>
                <a:spcPct val="112000"/>
              </a:lnSpc>
              <a:spcBef>
                <a:spcPts val="200"/>
              </a:spcBef>
              <a:buNone/>
            </a:pPr>
            <a:r>
              <a:rPr sz="1050" b="0" i="0">
                <a:solidFill>
                  <a:srgbClr val="C8CEEA"/>
                </a:solidFill>
                <a:latin typeface="Arial"/>
                <a:ea typeface="MS PGothic"/>
              </a:rPr>
              <a:t>(자이로로 회전 성분 제거)</a:t>
            </a:r>
          </a:p>
        </p:txBody>
      </p:sp>
      <p:sp>
        <p:nvSpPr>
          <p:cNvPr id="11" name="Right Arrow 10"/>
          <p:cNvSpPr/>
          <p:nvPr/>
        </p:nvSpPr>
        <p:spPr>
          <a:xfrm>
            <a:off x="5879592" y="2441448"/>
            <a:ext cx="274320" cy="274320"/>
          </a:xfrm>
          <a:prstGeom prst="rightArrow">
            <a:avLst/>
          </a:prstGeom>
          <a:solidFill>
            <a:srgbClr val="333399"/>
          </a:solidFill>
          <a:ln>
            <a:noFill/>
          </a:ln>
          <a:effectLst/>
        </p:spPr>
        <p:txBody>
          <a:bodyPr rtlCol="0" anchor="ctr"/>
          <a:lstStyle/>
          <a:p>
            <a:pPr algn="ctr"/>
          </a:p>
        </p:txBody>
      </p:sp>
      <p:sp>
        <p:nvSpPr>
          <p:cNvPr id="12" name="Rounded Rectangle 11"/>
          <p:cNvSpPr/>
          <p:nvPr/>
        </p:nvSpPr>
        <p:spPr>
          <a:xfrm>
            <a:off x="6245352" y="1664208"/>
            <a:ext cx="2441448" cy="1828799"/>
          </a:xfrm>
          <a:prstGeom prst="roundRect">
            <a:avLst>
              <a:gd name="adj" fmla="val 8000"/>
            </a:avLst>
          </a:prstGeom>
          <a:noFill/>
          <a:ln w="12700">
            <a:solidFill>
              <a:srgbClr val="333399"/>
            </a:solidFill>
          </a:ln>
          <a:effectLst/>
        </p:spPr>
        <p:txBody>
          <a:bodyPr rtlCol="0" anchor="ctr" wrap="square" lIns="109728" rIns="109728" tIns="73152" bIns="73152"/>
          <a:lstStyle/>
          <a:p>
            <a:pPr algn="ctr" marL="0" indent="0">
              <a:lnSpc>
                <a:spcPct val="112000"/>
              </a:lnSpc>
              <a:buNone/>
            </a:pPr>
            <a:r>
              <a:rPr sz="1800" b="1" i="0">
                <a:solidFill>
                  <a:srgbClr val="000F65"/>
                </a:solidFill>
                <a:latin typeface="Arial"/>
                <a:ea typeface="MS PGothic"/>
              </a:rPr>
              <a:t>위치·자세</a:t>
            </a:r>
          </a:p>
          <a:p>
            <a:pPr algn="ctr" marL="0" indent="0">
              <a:lnSpc>
                <a:spcPct val="112000"/>
              </a:lnSpc>
              <a:spcBef>
                <a:spcPts val="200"/>
              </a:spcBef>
              <a:buNone/>
            </a:pPr>
            <a:r>
              <a:rPr sz="1500" b="0" i="0">
                <a:solidFill>
                  <a:srgbClr val="333333"/>
                </a:solidFill>
                <a:latin typeface="Arial"/>
                <a:ea typeface="MS PGothic"/>
              </a:rPr>
              <a:t>추정값</a:t>
            </a:r>
          </a:p>
        </p:txBody>
      </p:sp>
      <p:sp>
        <p:nvSpPr>
          <p:cNvPr id="13" name="TextBox 12"/>
          <p:cNvSpPr txBox="1"/>
          <p:nvPr/>
        </p:nvSpPr>
        <p:spPr>
          <a:xfrm>
            <a:off x="457200" y="3675887"/>
            <a:ext cx="8229600" cy="320040"/>
          </a:xfrm>
          <a:prstGeom prst="rect">
            <a:avLst/>
          </a:prstGeom>
          <a:noFill/>
        </p:spPr>
        <p:txBody>
          <a:bodyPr wrap="square" anchor="ctr" lIns="109728" rIns="109728" tIns="73152" bIns="73152">
            <a:spAutoFit/>
          </a:bodyPr>
          <a:lstStyle/>
          <a:p>
            <a:pPr algn="ctr" marL="0" indent="0">
              <a:lnSpc>
                <a:spcPct val="112000"/>
              </a:lnSpc>
              <a:buNone/>
            </a:pPr>
            <a:r>
              <a:rPr sz="1500" b="1" i="0">
                <a:solidFill>
                  <a:srgbClr val="333399"/>
                </a:solidFill>
                <a:latin typeface="Arial"/>
                <a:ea typeface="MS PGothic"/>
              </a:rPr>
              <a:t>시간 처리</a:t>
            </a:r>
          </a:p>
        </p:txBody>
      </p:sp>
      <p:sp>
        <p:nvSpPr>
          <p:cNvPr id="14" name="Rounded Rectangle 13"/>
          <p:cNvSpPr/>
          <p:nvPr/>
        </p:nvSpPr>
        <p:spPr>
          <a:xfrm>
            <a:off x="457200" y="4023360"/>
            <a:ext cx="2423160" cy="9601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500" b="1" i="0">
                <a:solidFill>
                  <a:srgbClr val="000F65"/>
                </a:solidFill>
                <a:latin typeface="Arial"/>
                <a:ea typeface="MS PGothic"/>
              </a:rPr>
              <a:t>①  확인</a:t>
            </a:r>
          </a:p>
          <a:p>
            <a:pPr algn="ctr" marL="0" indent="0">
              <a:lnSpc>
                <a:spcPct val="112000"/>
              </a:lnSpc>
              <a:spcBef>
                <a:spcPts val="200"/>
              </a:spcBef>
              <a:buNone/>
            </a:pPr>
            <a:r>
              <a:rPr sz="1250" b="0" i="0">
                <a:solidFill>
                  <a:srgbClr val="333333"/>
                </a:solidFill>
                <a:latin typeface="Arial"/>
                <a:ea typeface="MS PGothic"/>
              </a:rPr>
              <a:t>센서별 주기·</a:t>
            </a:r>
          </a:p>
          <a:p>
            <a:pPr algn="ctr" marL="0" indent="0">
              <a:lnSpc>
                <a:spcPct val="112000"/>
              </a:lnSpc>
              <a:spcBef>
                <a:spcPts val="200"/>
              </a:spcBef>
              <a:buNone/>
            </a:pPr>
            <a:r>
              <a:rPr sz="1250" b="0" i="0">
                <a:solidFill>
                  <a:srgbClr val="333333"/>
                </a:solidFill>
                <a:latin typeface="Arial"/>
                <a:ea typeface="MS PGothic"/>
              </a:rPr>
              <a:t>타임스탬프·지연</a:t>
            </a:r>
          </a:p>
        </p:txBody>
      </p:sp>
      <p:sp>
        <p:nvSpPr>
          <p:cNvPr id="15" name="Right Arrow 14"/>
          <p:cNvSpPr/>
          <p:nvPr/>
        </p:nvSpPr>
        <p:spPr>
          <a:xfrm>
            <a:off x="2971800" y="4370832"/>
            <a:ext cx="292608" cy="274320"/>
          </a:xfrm>
          <a:prstGeom prst="rightArrow">
            <a:avLst/>
          </a:prstGeom>
          <a:solidFill>
            <a:srgbClr val="333399"/>
          </a:solidFill>
          <a:ln>
            <a:noFill/>
          </a:ln>
          <a:effectLst/>
        </p:spPr>
        <p:txBody>
          <a:bodyPr rtlCol="0" anchor="ctr"/>
          <a:lstStyle/>
          <a:p>
            <a:pPr algn="ctr"/>
          </a:p>
        </p:txBody>
      </p:sp>
      <p:sp>
        <p:nvSpPr>
          <p:cNvPr id="16" name="Rounded Rectangle 15"/>
          <p:cNvSpPr/>
          <p:nvPr/>
        </p:nvSpPr>
        <p:spPr>
          <a:xfrm>
            <a:off x="3355848" y="4023360"/>
            <a:ext cx="2423160" cy="9601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500" b="1" i="0">
                <a:solidFill>
                  <a:srgbClr val="000F65"/>
                </a:solidFill>
                <a:latin typeface="Arial"/>
                <a:ea typeface="MS PGothic"/>
              </a:rPr>
              <a:t>②  저장</a:t>
            </a:r>
          </a:p>
          <a:p>
            <a:pPr algn="ctr" marL="0" indent="0">
              <a:lnSpc>
                <a:spcPct val="112000"/>
              </a:lnSpc>
              <a:spcBef>
                <a:spcPts val="200"/>
              </a:spcBef>
              <a:buNone/>
            </a:pPr>
            <a:r>
              <a:rPr sz="1250" b="0" i="0">
                <a:solidFill>
                  <a:srgbClr val="333333"/>
                </a:solidFill>
                <a:latin typeface="Arial"/>
                <a:ea typeface="MS PGothic"/>
              </a:rPr>
              <a:t>과거 상태·IMU 입력·</a:t>
            </a:r>
          </a:p>
          <a:p>
            <a:pPr algn="ctr" marL="0" indent="0">
              <a:lnSpc>
                <a:spcPct val="112000"/>
              </a:lnSpc>
              <a:spcBef>
                <a:spcPts val="200"/>
              </a:spcBef>
              <a:buNone/>
            </a:pPr>
            <a:r>
              <a:rPr sz="1250" b="0" i="0">
                <a:solidFill>
                  <a:srgbClr val="333333"/>
                </a:solidFill>
                <a:latin typeface="Arial"/>
                <a:ea typeface="MS PGothic"/>
              </a:rPr>
              <a:t>측정값 보관</a:t>
            </a:r>
          </a:p>
        </p:txBody>
      </p:sp>
      <p:sp>
        <p:nvSpPr>
          <p:cNvPr id="17" name="Right Arrow 16"/>
          <p:cNvSpPr/>
          <p:nvPr/>
        </p:nvSpPr>
        <p:spPr>
          <a:xfrm>
            <a:off x="5870448" y="4370832"/>
            <a:ext cx="292608" cy="274320"/>
          </a:xfrm>
          <a:prstGeom prst="rightArrow">
            <a:avLst/>
          </a:prstGeom>
          <a:solidFill>
            <a:srgbClr val="333399"/>
          </a:solidFill>
          <a:ln>
            <a:noFill/>
          </a:ln>
          <a:effectLst/>
        </p:spPr>
        <p:txBody>
          <a:bodyPr rtlCol="0" anchor="ctr"/>
          <a:lstStyle/>
          <a:p>
            <a:pPr algn="ctr"/>
          </a:p>
        </p:txBody>
      </p:sp>
      <p:sp>
        <p:nvSpPr>
          <p:cNvPr id="18" name="Rounded Rectangle 17"/>
          <p:cNvSpPr/>
          <p:nvPr/>
        </p:nvSpPr>
        <p:spPr>
          <a:xfrm>
            <a:off x="6254496" y="4023360"/>
            <a:ext cx="2423160" cy="960120"/>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500" b="1" i="0">
                <a:solidFill>
                  <a:srgbClr val="FFFFFF"/>
                </a:solidFill>
                <a:latin typeface="Arial"/>
                <a:ea typeface="MS PGothic"/>
              </a:rPr>
              <a:t>③  재추정</a:t>
            </a:r>
          </a:p>
          <a:p>
            <a:pPr algn="ctr" marL="0" indent="0">
              <a:lnSpc>
                <a:spcPct val="112000"/>
              </a:lnSpc>
              <a:spcBef>
                <a:spcPts val="200"/>
              </a:spcBef>
              <a:buNone/>
            </a:pPr>
            <a:r>
              <a:rPr sz="1250" b="0" i="0">
                <a:solidFill>
                  <a:srgbClr val="FFFFFF"/>
                </a:solidFill>
                <a:latin typeface="Arial"/>
                <a:ea typeface="MS PGothic"/>
              </a:rPr>
              <a:t>늦은 측정은 측정 시점에서</a:t>
            </a:r>
          </a:p>
          <a:p>
            <a:pPr algn="ctr" marL="0" indent="0">
              <a:lnSpc>
                <a:spcPct val="112000"/>
              </a:lnSpc>
              <a:spcBef>
                <a:spcPts val="200"/>
              </a:spcBef>
              <a:buNone/>
            </a:pPr>
            <a:r>
              <a:rPr sz="1250" b="0" i="0">
                <a:solidFill>
                  <a:srgbClr val="FFFFFF"/>
                </a:solidFill>
                <a:latin typeface="Arial"/>
                <a:ea typeface="MS PGothic"/>
              </a:rPr>
              <a:t>보정 후 현재까지 재추정</a:t>
            </a:r>
          </a:p>
        </p:txBody>
      </p:sp>
      <p:sp>
        <p:nvSpPr>
          <p:cNvPr id="19" name="Rounded Rectangle 18"/>
          <p:cNvSpPr/>
          <p:nvPr/>
        </p:nvSpPr>
        <p:spPr>
          <a:xfrm>
            <a:off x="457200" y="5166360"/>
            <a:ext cx="8229600" cy="914400"/>
          </a:xfrm>
          <a:prstGeom prst="roundRect">
            <a:avLst>
              <a:gd name="adj" fmla="val 8000"/>
            </a:avLst>
          </a:prstGeom>
          <a:noFill/>
          <a:ln w="12700">
            <a:solidFill>
              <a:srgbClr val="333399"/>
            </a:solidFill>
          </a:ln>
          <a:effectLst/>
        </p:spPr>
        <p:txBody>
          <a:bodyPr rtlCol="0" anchor="ctr" wrap="square" lIns="109728" rIns="109728" tIns="73152" bIns="73152"/>
          <a:lstStyle/>
          <a:p>
            <a:pPr algn="ctr" marL="0" indent="0">
              <a:lnSpc>
                <a:spcPct val="112000"/>
              </a:lnSpc>
              <a:buNone/>
            </a:pPr>
            <a:r>
              <a:rPr sz="1350" b="1" i="0">
                <a:solidFill>
                  <a:srgbClr val="333399"/>
                </a:solidFill>
                <a:latin typeface="Arial"/>
                <a:ea typeface="MS PGothic"/>
              </a:rPr>
              <a:t>참고한 처리 구조</a:t>
            </a:r>
          </a:p>
          <a:p>
            <a:pPr algn="ctr" marL="0" indent="0">
              <a:lnSpc>
                <a:spcPct val="112000"/>
              </a:lnSpc>
              <a:spcBef>
                <a:spcPts val="200"/>
              </a:spcBef>
              <a:buNone/>
            </a:pPr>
            <a:r>
              <a:rPr sz="1300" b="0" i="0">
                <a:solidFill>
                  <a:srgbClr val="333333"/>
                </a:solidFill>
                <a:latin typeface="Arial"/>
                <a:ea typeface="MS PGothic"/>
              </a:rPr>
              <a:t>지연 측정이 오면 과거 상태에서 다시 예측해 반영 (Lynen et al., 2013)</a:t>
            </a:r>
          </a:p>
          <a:p>
            <a:pPr algn="ctr" marL="0" indent="0">
              <a:lnSpc>
                <a:spcPct val="112000"/>
              </a:lnSpc>
              <a:spcBef>
                <a:spcPts val="200"/>
              </a:spcBef>
              <a:buNone/>
            </a:pPr>
            <a:r>
              <a:rPr sz="1300" b="0" i="0">
                <a:solidFill>
                  <a:srgbClr val="333333"/>
                </a:solidFill>
                <a:latin typeface="Arial"/>
                <a:ea typeface="MS PGothic"/>
              </a:rPr>
              <a:t>센서별 버퍼에 저장하고 지연을 반영한 시점에서 융합 (PX4 EKF2)</a:t>
            </a:r>
          </a:p>
        </p:txBody>
      </p:sp>
    </p:spTree>
    <p:extLst>
      <p:ext uri="{BB962C8B-B14F-4D97-AF65-F5344CB8AC3E}">
        <p14:creationId xmlns:p14="http://schemas.microsoft.com/office/powerpoint/2010/main" val="371350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연구계획</a:t>
            </a:r>
          </a:p>
        </p:txBody>
      </p:sp>
      <p:nvGrpSpPr>
        <p:cNvPr id="1" name=""/>
        <p:cNvGrpSpPr/>
        <p:nvPr/>
      </p:nvGrpSpPr>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10월 ~ 12월, 기본 융합 → 시간 처리 → 비교 검증</a:t>
            </a:r>
          </a:p>
        </p:txBody>
      </p:sp>
      <p:sp>
        <p:nvSpPr>
          <p:cNvPr id="4" name="TextBox 3"/>
          <p:cNvSpPr txBox="1"/>
          <p:nvPr/>
        </p:nvSpPr>
        <p:spPr>
          <a:xfrm>
            <a:off x="4572000" y="1536192"/>
            <a:ext cx="1371600" cy="256032"/>
          </a:xfrm>
          <a:prstGeom prst="rect">
            <a:avLst/>
          </a:prstGeom>
          <a:noFill/>
        </p:spPr>
        <p:txBody>
          <a:bodyPr wrap="square" anchor="ctr" lIns="109728" rIns="109728" tIns="73152" bIns="73152">
            <a:spAutoFit/>
          </a:bodyPr>
          <a:lstStyle/>
          <a:p>
            <a:pPr algn="ctr" marL="0" indent="0">
              <a:lnSpc>
                <a:spcPct val="112000"/>
              </a:lnSpc>
              <a:buNone/>
            </a:pPr>
            <a:r>
              <a:rPr sz="1250" b="1" i="0">
                <a:solidFill>
                  <a:srgbClr val="000F65"/>
                </a:solidFill>
                <a:latin typeface="Arial"/>
                <a:ea typeface="MS PGothic"/>
              </a:rPr>
              <a:t>10월</a:t>
            </a:r>
          </a:p>
        </p:txBody>
      </p:sp>
      <p:sp>
        <p:nvSpPr>
          <p:cNvPr id="5" name="TextBox 4"/>
          <p:cNvSpPr txBox="1"/>
          <p:nvPr/>
        </p:nvSpPr>
        <p:spPr>
          <a:xfrm>
            <a:off x="5943600" y="1536192"/>
            <a:ext cx="1371600" cy="256032"/>
          </a:xfrm>
          <a:prstGeom prst="rect">
            <a:avLst/>
          </a:prstGeom>
          <a:noFill/>
        </p:spPr>
        <p:txBody>
          <a:bodyPr wrap="square" anchor="ctr" lIns="109728" rIns="109728" tIns="73152" bIns="73152">
            <a:spAutoFit/>
          </a:bodyPr>
          <a:lstStyle/>
          <a:p>
            <a:pPr algn="ctr" marL="0" indent="0">
              <a:lnSpc>
                <a:spcPct val="112000"/>
              </a:lnSpc>
              <a:buNone/>
            </a:pPr>
            <a:r>
              <a:rPr sz="1250" b="1" i="0">
                <a:solidFill>
                  <a:srgbClr val="000F65"/>
                </a:solidFill>
                <a:latin typeface="Arial"/>
                <a:ea typeface="MS PGothic"/>
              </a:rPr>
              <a:t>11월</a:t>
            </a:r>
          </a:p>
        </p:txBody>
      </p:sp>
      <p:sp>
        <p:nvSpPr>
          <p:cNvPr id="6" name="TextBox 5"/>
          <p:cNvSpPr txBox="1"/>
          <p:nvPr/>
        </p:nvSpPr>
        <p:spPr>
          <a:xfrm>
            <a:off x="7315200" y="1536192"/>
            <a:ext cx="1371600" cy="256032"/>
          </a:xfrm>
          <a:prstGeom prst="rect">
            <a:avLst/>
          </a:prstGeom>
          <a:noFill/>
        </p:spPr>
        <p:txBody>
          <a:bodyPr wrap="square" anchor="ctr" lIns="109728" rIns="109728" tIns="73152" bIns="73152">
            <a:spAutoFit/>
          </a:bodyPr>
          <a:lstStyle/>
          <a:p>
            <a:pPr algn="ctr" marL="0" indent="0">
              <a:lnSpc>
                <a:spcPct val="112000"/>
              </a:lnSpc>
              <a:buNone/>
            </a:pPr>
            <a:r>
              <a:rPr sz="1250" b="1" i="0">
                <a:solidFill>
                  <a:srgbClr val="000F65"/>
                </a:solidFill>
                <a:latin typeface="Arial"/>
                <a:ea typeface="MS PGothic"/>
              </a:rPr>
              <a:t>12월</a:t>
            </a:r>
          </a:p>
        </p:txBody>
      </p:sp>
      <p:sp>
        <p:nvSpPr>
          <p:cNvPr id="7" name="TextBox 6"/>
          <p:cNvSpPr txBox="1"/>
          <p:nvPr/>
        </p:nvSpPr>
        <p:spPr>
          <a:xfrm>
            <a:off x="4572000" y="1773936"/>
            <a:ext cx="685800" cy="219456"/>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전반</a:t>
            </a:r>
          </a:p>
        </p:txBody>
      </p:sp>
      <p:sp>
        <p:nvSpPr>
          <p:cNvPr id="8" name="TextBox 7"/>
          <p:cNvSpPr txBox="1"/>
          <p:nvPr/>
        </p:nvSpPr>
        <p:spPr>
          <a:xfrm>
            <a:off x="5257800" y="1773936"/>
            <a:ext cx="685800" cy="219456"/>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후반</a:t>
            </a:r>
          </a:p>
        </p:txBody>
      </p:sp>
      <p:sp>
        <p:nvSpPr>
          <p:cNvPr id="9" name="TextBox 8"/>
          <p:cNvSpPr txBox="1"/>
          <p:nvPr/>
        </p:nvSpPr>
        <p:spPr>
          <a:xfrm>
            <a:off x="5943600" y="1773936"/>
            <a:ext cx="685800" cy="219456"/>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전반</a:t>
            </a:r>
          </a:p>
        </p:txBody>
      </p:sp>
      <p:sp>
        <p:nvSpPr>
          <p:cNvPr id="10" name="TextBox 9"/>
          <p:cNvSpPr txBox="1"/>
          <p:nvPr/>
        </p:nvSpPr>
        <p:spPr>
          <a:xfrm>
            <a:off x="6629400" y="1773936"/>
            <a:ext cx="685800" cy="219456"/>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후반</a:t>
            </a:r>
          </a:p>
        </p:txBody>
      </p:sp>
      <p:sp>
        <p:nvSpPr>
          <p:cNvPr id="11" name="TextBox 10"/>
          <p:cNvSpPr txBox="1"/>
          <p:nvPr/>
        </p:nvSpPr>
        <p:spPr>
          <a:xfrm>
            <a:off x="7315200" y="1773936"/>
            <a:ext cx="685800" cy="219456"/>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전반</a:t>
            </a:r>
          </a:p>
        </p:txBody>
      </p:sp>
      <p:sp>
        <p:nvSpPr>
          <p:cNvPr id="12" name="TextBox 11"/>
          <p:cNvSpPr txBox="1"/>
          <p:nvPr/>
        </p:nvSpPr>
        <p:spPr>
          <a:xfrm>
            <a:off x="8001000" y="1773936"/>
            <a:ext cx="685800" cy="219456"/>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후반</a:t>
            </a:r>
          </a:p>
        </p:txBody>
      </p:sp>
      <p:sp>
        <p:nvSpPr>
          <p:cNvPr id="13" name="Rectangle 12"/>
          <p:cNvSpPr/>
          <p:nvPr/>
        </p:nvSpPr>
        <p:spPr>
          <a:xfrm>
            <a:off x="457200" y="2029968"/>
            <a:ext cx="8229600" cy="786384"/>
          </a:xfrm>
          <a:prstGeom prst="rect">
            <a:avLst/>
          </a:prstGeom>
          <a:solidFill>
            <a:srgbClr val="DAEDEF"/>
          </a:solidFill>
          <a:ln>
            <a:noFill/>
          </a:ln>
          <a:effectLst/>
        </p:spPr>
        <p:txBody>
          <a:bodyPr rtlCol="0" anchor="ctr"/>
          <a:lstStyle/>
          <a:p>
            <a:pPr algn="ctr"/>
          </a:p>
        </p:txBody>
      </p:sp>
      <p:sp>
        <p:nvSpPr>
          <p:cNvPr id="14" name="TextBox 13"/>
          <p:cNvSpPr txBox="1"/>
          <p:nvPr/>
        </p:nvSpPr>
        <p:spPr>
          <a:xfrm>
            <a:off x="502920" y="2029968"/>
            <a:ext cx="4023360" cy="786384"/>
          </a:xfrm>
          <a:prstGeom prst="rect">
            <a:avLst/>
          </a:prstGeom>
          <a:noFill/>
        </p:spPr>
        <p:txBody>
          <a:bodyPr wrap="square" anchor="ctr" lIns="109728" rIns="109728" tIns="73152" bIns="73152">
            <a:spAutoFit/>
          </a:bodyPr>
          <a:lstStyle/>
          <a:p>
            <a:pPr algn="l" marL="0" indent="0">
              <a:lnSpc>
                <a:spcPct val="112000"/>
              </a:lnSpc>
              <a:buNone/>
            </a:pPr>
            <a:r>
              <a:rPr sz="1400" b="1" i="0">
                <a:solidFill>
                  <a:srgbClr val="000F65"/>
                </a:solidFill>
                <a:latin typeface="Arial"/>
                <a:ea typeface="MS PGothic"/>
              </a:rPr>
              <a:t>선행논문 분석 및 센서 데이터 확인</a:t>
            </a:r>
          </a:p>
          <a:p>
            <a:pPr algn="l" marL="0" indent="0">
              <a:lnSpc>
                <a:spcPct val="112000"/>
              </a:lnSpc>
              <a:spcBef>
                <a:spcPts val="200"/>
              </a:spcBef>
              <a:buNone/>
            </a:pPr>
            <a:r>
              <a:rPr sz="1150" b="0" i="0">
                <a:solidFill>
                  <a:srgbClr val="333333"/>
                </a:solidFill>
                <a:latin typeface="Arial"/>
                <a:ea typeface="MS PGothic"/>
              </a:rPr>
              <a:t>측정 주기·타임스탬프·지연 정리</a:t>
            </a:r>
          </a:p>
          <a:p>
            <a:pPr algn="l" marL="0" indent="0">
              <a:lnSpc>
                <a:spcPct val="112000"/>
              </a:lnSpc>
              <a:spcBef>
                <a:spcPts val="200"/>
              </a:spcBef>
              <a:buNone/>
            </a:pPr>
            <a:r>
              <a:rPr sz="1050" b="0" i="0">
                <a:solidFill>
                  <a:srgbClr val="666666"/>
                </a:solidFill>
                <a:latin typeface="Arial"/>
                <a:ea typeface="MS PGothic"/>
              </a:rPr>
              <a:t>→ 시간 처리 절차 정리 · 센서 데이터 특성 파악</a:t>
            </a:r>
          </a:p>
        </p:txBody>
      </p:sp>
      <p:sp>
        <p:nvSpPr>
          <p:cNvPr id="15" name="TextBox 14"/>
          <p:cNvSpPr txBox="1"/>
          <p:nvPr/>
        </p:nvSpPr>
        <p:spPr>
          <a:xfrm>
            <a:off x="502920" y="2816352"/>
            <a:ext cx="4023360" cy="786384"/>
          </a:xfrm>
          <a:prstGeom prst="rect">
            <a:avLst/>
          </a:prstGeom>
          <a:noFill/>
        </p:spPr>
        <p:txBody>
          <a:bodyPr wrap="square" anchor="ctr" lIns="109728" rIns="109728" tIns="73152" bIns="73152">
            <a:spAutoFit/>
          </a:bodyPr>
          <a:lstStyle/>
          <a:p>
            <a:pPr algn="l" marL="0" indent="0">
              <a:lnSpc>
                <a:spcPct val="112000"/>
              </a:lnSpc>
              <a:buNone/>
            </a:pPr>
            <a:r>
              <a:rPr sz="1400" b="1" i="0">
                <a:solidFill>
                  <a:srgbClr val="000F65"/>
                </a:solidFill>
                <a:latin typeface="Arial"/>
                <a:ea typeface="MS PGothic"/>
              </a:rPr>
              <a:t>영상 이동 추적 및 IMU 예측 구현</a:t>
            </a:r>
          </a:p>
          <a:p>
            <a:pPr algn="l" marL="0" indent="0">
              <a:lnSpc>
                <a:spcPct val="112000"/>
              </a:lnSpc>
              <a:spcBef>
                <a:spcPts val="200"/>
              </a:spcBef>
              <a:buNone/>
            </a:pPr>
            <a:r>
              <a:rPr sz="1150" b="0" i="0">
                <a:solidFill>
                  <a:srgbClr val="333333"/>
                </a:solidFill>
                <a:latin typeface="Arial"/>
                <a:ea typeface="MS PGothic"/>
              </a:rPr>
              <a:t>기본 센서 융합 구조 구성</a:t>
            </a:r>
          </a:p>
          <a:p>
            <a:pPr algn="l" marL="0" indent="0">
              <a:lnSpc>
                <a:spcPct val="112000"/>
              </a:lnSpc>
              <a:spcBef>
                <a:spcPts val="200"/>
              </a:spcBef>
              <a:buNone/>
            </a:pPr>
            <a:r>
              <a:rPr sz="1050" b="0" i="0">
                <a:solidFill>
                  <a:srgbClr val="666666"/>
                </a:solidFill>
                <a:latin typeface="Arial"/>
                <a:ea typeface="MS PGothic"/>
              </a:rPr>
              <a:t>→ 센서별 처리 결과 · 기본 추정기 동작</a:t>
            </a:r>
          </a:p>
        </p:txBody>
      </p:sp>
      <p:sp>
        <p:nvSpPr>
          <p:cNvPr id="16" name="Rectangle 15"/>
          <p:cNvSpPr/>
          <p:nvPr/>
        </p:nvSpPr>
        <p:spPr>
          <a:xfrm>
            <a:off x="457200" y="3602736"/>
            <a:ext cx="8229600" cy="786384"/>
          </a:xfrm>
          <a:prstGeom prst="rect">
            <a:avLst/>
          </a:prstGeom>
          <a:solidFill>
            <a:srgbClr val="DAEDEF"/>
          </a:solidFill>
          <a:ln>
            <a:noFill/>
          </a:ln>
          <a:effectLst/>
        </p:spPr>
        <p:txBody>
          <a:bodyPr rtlCol="0" anchor="ctr"/>
          <a:lstStyle/>
          <a:p>
            <a:pPr algn="ctr"/>
          </a:p>
        </p:txBody>
      </p:sp>
      <p:sp>
        <p:nvSpPr>
          <p:cNvPr id="17" name="TextBox 16"/>
          <p:cNvSpPr txBox="1"/>
          <p:nvPr/>
        </p:nvSpPr>
        <p:spPr>
          <a:xfrm>
            <a:off x="502920" y="3602736"/>
            <a:ext cx="4023360" cy="786384"/>
          </a:xfrm>
          <a:prstGeom prst="rect">
            <a:avLst/>
          </a:prstGeom>
          <a:noFill/>
        </p:spPr>
        <p:txBody>
          <a:bodyPr wrap="square" anchor="ctr" lIns="109728" rIns="109728" tIns="73152" bIns="73152">
            <a:spAutoFit/>
          </a:bodyPr>
          <a:lstStyle/>
          <a:p>
            <a:pPr algn="l" marL="0" indent="0">
              <a:lnSpc>
                <a:spcPct val="112000"/>
              </a:lnSpc>
              <a:buNone/>
            </a:pPr>
            <a:r>
              <a:rPr sz="1400" b="1" i="0">
                <a:solidFill>
                  <a:srgbClr val="000F65"/>
                </a:solidFill>
                <a:latin typeface="Arial"/>
                <a:ea typeface="MS PGothic"/>
              </a:rPr>
              <a:t>지연 보상·시간 정렬 구현</a:t>
            </a:r>
          </a:p>
          <a:p>
            <a:pPr algn="l" marL="0" indent="0">
              <a:lnSpc>
                <a:spcPct val="112000"/>
              </a:lnSpc>
              <a:spcBef>
                <a:spcPts val="200"/>
              </a:spcBef>
              <a:buNone/>
            </a:pPr>
            <a:r>
              <a:rPr sz="1150" b="0" i="0">
                <a:solidFill>
                  <a:srgbClr val="333333"/>
                </a:solidFill>
                <a:latin typeface="Arial"/>
                <a:ea typeface="MS PGothic"/>
              </a:rPr>
              <a:t>과거 상태 보정 및 재추정 적용</a:t>
            </a:r>
          </a:p>
          <a:p>
            <a:pPr algn="l" marL="0" indent="0">
              <a:lnSpc>
                <a:spcPct val="112000"/>
              </a:lnSpc>
              <a:spcBef>
                <a:spcPts val="200"/>
              </a:spcBef>
              <a:buNone/>
            </a:pPr>
            <a:r>
              <a:rPr sz="1050" b="0" i="0">
                <a:solidFill>
                  <a:srgbClr val="666666"/>
                </a:solidFill>
                <a:latin typeface="Arial"/>
                <a:ea typeface="MS PGothic"/>
              </a:rPr>
              <a:t>→ 시간 처리를 포함한 · 다중센서 융합 추정기</a:t>
            </a:r>
          </a:p>
        </p:txBody>
      </p:sp>
      <p:sp>
        <p:nvSpPr>
          <p:cNvPr id="18" name="TextBox 17"/>
          <p:cNvSpPr txBox="1"/>
          <p:nvPr/>
        </p:nvSpPr>
        <p:spPr>
          <a:xfrm>
            <a:off x="502920" y="4389120"/>
            <a:ext cx="4023360" cy="786384"/>
          </a:xfrm>
          <a:prstGeom prst="rect">
            <a:avLst/>
          </a:prstGeom>
          <a:noFill/>
        </p:spPr>
        <p:txBody>
          <a:bodyPr wrap="square" anchor="ctr" lIns="109728" rIns="109728" tIns="73152" bIns="73152">
            <a:spAutoFit/>
          </a:bodyPr>
          <a:lstStyle/>
          <a:p>
            <a:pPr algn="l" marL="0" indent="0">
              <a:lnSpc>
                <a:spcPct val="112000"/>
              </a:lnSpc>
              <a:buNone/>
            </a:pPr>
            <a:r>
              <a:rPr sz="1400" b="1" i="0">
                <a:solidFill>
                  <a:srgbClr val="000F65"/>
                </a:solidFill>
                <a:latin typeface="Arial"/>
                <a:ea typeface="MS PGothic"/>
              </a:rPr>
              <a:t>시간 처리 적용 전·후 비교</a:t>
            </a:r>
          </a:p>
          <a:p>
            <a:pPr algn="l" marL="0" indent="0">
              <a:lnSpc>
                <a:spcPct val="112000"/>
              </a:lnSpc>
              <a:spcBef>
                <a:spcPts val="200"/>
              </a:spcBef>
              <a:buNone/>
            </a:pPr>
            <a:r>
              <a:rPr sz="1150" b="0" i="0">
                <a:solidFill>
                  <a:srgbClr val="333333"/>
                </a:solidFill>
                <a:latin typeface="Arial"/>
                <a:ea typeface="MS PGothic"/>
              </a:rPr>
              <a:t>추정 오차·처리시간 분석</a:t>
            </a:r>
          </a:p>
          <a:p>
            <a:pPr algn="l" marL="0" indent="0">
              <a:lnSpc>
                <a:spcPct val="112000"/>
              </a:lnSpc>
              <a:spcBef>
                <a:spcPts val="200"/>
              </a:spcBef>
              <a:buNone/>
            </a:pPr>
            <a:r>
              <a:rPr sz="1050" b="0" i="0">
                <a:solidFill>
                  <a:srgbClr val="666666"/>
                </a:solidFill>
                <a:latin typeface="Arial"/>
                <a:ea typeface="MS PGothic"/>
              </a:rPr>
              <a:t>→ 효과와 적용 한계 정리 · 최종 보고서 및 발표</a:t>
            </a:r>
          </a:p>
        </p:txBody>
      </p:sp>
      <p:cxnSp>
        <p:nvCxnSpPr>
          <p:cNvPr id="19" name="Connector 18"/>
          <p:cNvCxnSpPr/>
          <p:nvPr/>
        </p:nvCxnSpPr>
        <p:spPr>
          <a:xfrm>
            <a:off x="4572000" y="1773936"/>
            <a:ext cx="0" cy="3401568"/>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257800" y="1773936"/>
            <a:ext cx="0" cy="3401568"/>
          </a:xfrm>
          <a:prstGeom prst="line">
            <a:avLst/>
          </a:prstGeom>
          <a:ln w="6350">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43600" y="1773936"/>
            <a:ext cx="0" cy="3401568"/>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629400" y="1773936"/>
            <a:ext cx="0" cy="3401568"/>
          </a:xfrm>
          <a:prstGeom prst="line">
            <a:avLst/>
          </a:prstGeom>
          <a:ln w="6350">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1773936"/>
            <a:ext cx="0" cy="3401568"/>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001000" y="1773936"/>
            <a:ext cx="0" cy="3401568"/>
          </a:xfrm>
          <a:prstGeom prst="line">
            <a:avLst/>
          </a:prstGeom>
          <a:ln w="6350">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1773936"/>
            <a:ext cx="0" cy="3401568"/>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608576" y="2286000"/>
            <a:ext cx="612648" cy="274320"/>
          </a:xfrm>
          <a:prstGeom prst="rect">
            <a:avLst/>
          </a:prstGeom>
          <a:solidFill>
            <a:srgbClr val="8C96C9"/>
          </a:solidFill>
          <a:ln>
            <a:noFill/>
          </a:ln>
          <a:effectLst/>
        </p:spPr>
        <p:txBody>
          <a:bodyPr rtlCol="0" anchor="ctr"/>
          <a:lstStyle/>
          <a:p>
            <a:pPr algn="ctr"/>
          </a:p>
        </p:txBody>
      </p:sp>
      <p:sp>
        <p:nvSpPr>
          <p:cNvPr id="27" name="Rectangle 26"/>
          <p:cNvSpPr/>
          <p:nvPr/>
        </p:nvSpPr>
        <p:spPr>
          <a:xfrm>
            <a:off x="5294376" y="3072384"/>
            <a:ext cx="612648" cy="274320"/>
          </a:xfrm>
          <a:prstGeom prst="rect">
            <a:avLst/>
          </a:prstGeom>
          <a:solidFill>
            <a:srgbClr val="8C96C9"/>
          </a:solidFill>
          <a:ln>
            <a:noFill/>
          </a:ln>
          <a:effectLst/>
        </p:spPr>
        <p:txBody>
          <a:bodyPr rtlCol="0" anchor="ctr"/>
          <a:lstStyle/>
          <a:p>
            <a:pPr algn="ctr"/>
          </a:p>
        </p:txBody>
      </p:sp>
      <p:sp>
        <p:nvSpPr>
          <p:cNvPr id="28" name="Rectangle 27"/>
          <p:cNvSpPr/>
          <p:nvPr/>
        </p:nvSpPr>
        <p:spPr>
          <a:xfrm>
            <a:off x="5980176" y="3858768"/>
            <a:ext cx="1298448" cy="274320"/>
          </a:xfrm>
          <a:prstGeom prst="rect">
            <a:avLst/>
          </a:prstGeom>
          <a:solidFill>
            <a:srgbClr val="000F65"/>
          </a:solidFill>
          <a:ln>
            <a:noFill/>
          </a:ln>
          <a:effectLst/>
        </p:spPr>
        <p:txBody>
          <a:bodyPr rtlCol="0" anchor="ctr"/>
          <a:lstStyle/>
          <a:p>
            <a:pPr algn="ctr"/>
          </a:p>
        </p:txBody>
      </p:sp>
      <p:sp>
        <p:nvSpPr>
          <p:cNvPr id="29" name="Rectangle 28"/>
          <p:cNvSpPr/>
          <p:nvPr/>
        </p:nvSpPr>
        <p:spPr>
          <a:xfrm>
            <a:off x="7351775" y="4645152"/>
            <a:ext cx="1298448" cy="274320"/>
          </a:xfrm>
          <a:prstGeom prst="rect">
            <a:avLst/>
          </a:prstGeom>
          <a:solidFill>
            <a:srgbClr val="8C96C9"/>
          </a:solidFill>
          <a:ln>
            <a:noFill/>
          </a:ln>
          <a:effectLst/>
        </p:spPr>
        <p:txBody>
          <a:bodyPr rtlCol="0" anchor="ctr"/>
          <a:lstStyle/>
          <a:p>
            <a:pPr algn="ctr"/>
          </a:p>
        </p:txBody>
      </p:sp>
      <p:sp>
        <p:nvSpPr>
          <p:cNvPr id="30" name="Rounded Rectangle 29"/>
          <p:cNvSpPr/>
          <p:nvPr/>
        </p:nvSpPr>
        <p:spPr>
          <a:xfrm>
            <a:off x="457200" y="5349240"/>
            <a:ext cx="8229600" cy="658368"/>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600" b="1" i="0">
                <a:solidFill>
                  <a:srgbClr val="FFFFFF"/>
                </a:solidFill>
                <a:latin typeface="Arial"/>
                <a:ea typeface="MS PGothic"/>
              </a:rPr>
              <a:t>최종 목표:  시간 처리를 포함한 다중센서 융합 추정기 구현과 효과 검증</a:t>
            </a:r>
          </a:p>
        </p:txBody>
      </p:sp>
    </p:spTree>
    <p:extLst>
      <p:ext uri="{BB962C8B-B14F-4D97-AF65-F5344CB8AC3E}">
        <p14:creationId xmlns:p14="http://schemas.microsoft.com/office/powerpoint/2010/main" val="371350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참고문헌</a:t>
            </a:r>
          </a:p>
        </p:txBody>
      </p:sp>
      <p:nvGrpSpPr>
        <p:cNvPr id="1" name=""/>
        <p:cNvGrpSpPr/>
        <p:nvPr/>
      </p:nvGrpSpPr>
      <p:sp>
        <p:nvSpPr>
          <p:cNvPr id="3" name="Rectangle 2"/>
          <p:cNvSpPr/>
          <p:nvPr/>
        </p:nvSpPr>
        <p:spPr>
          <a:xfrm>
            <a:off x="457200" y="1051560"/>
            <a:ext cx="411480" cy="457200"/>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1</a:t>
            </a:r>
          </a:p>
        </p:txBody>
      </p:sp>
      <p:sp>
        <p:nvSpPr>
          <p:cNvPr id="4" name="Rectangle 3"/>
          <p:cNvSpPr/>
          <p:nvPr/>
        </p:nvSpPr>
        <p:spPr>
          <a:xfrm>
            <a:off x="932688" y="1051560"/>
            <a:ext cx="7754112" cy="457200"/>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M. Kim and C. Ahn, “State Estimation of Preceding Target Vehicle Using Radar and V2X,” IEEE Access, vol. 13, pp. 198482–198495, 2025.</a:t>
            </a:r>
          </a:p>
        </p:txBody>
      </p:sp>
      <p:sp>
        <p:nvSpPr>
          <p:cNvPr id="5" name="Rectangle 4"/>
          <p:cNvSpPr/>
          <p:nvPr/>
        </p:nvSpPr>
        <p:spPr>
          <a:xfrm>
            <a:off x="457200" y="1559052"/>
            <a:ext cx="411480" cy="457200"/>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2</a:t>
            </a:r>
          </a:p>
        </p:txBody>
      </p:sp>
      <p:sp>
        <p:nvSpPr>
          <p:cNvPr id="6" name="Rectangle 5"/>
          <p:cNvSpPr/>
          <p:nvPr/>
        </p:nvSpPr>
        <p:spPr>
          <a:xfrm>
            <a:off x="932688" y="1559052"/>
            <a:ext cx="7754112" cy="457200"/>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A. I. Mourikis and S. I. Roumeliotis, “A Multi-State Constraint Kalman Filter for Vision-aided Inertial Navigation,” IEEE ICRA, pp. 3565–3572, 2007.</a:t>
            </a:r>
          </a:p>
        </p:txBody>
      </p:sp>
      <p:sp>
        <p:nvSpPr>
          <p:cNvPr id="7" name="Rectangle 6"/>
          <p:cNvSpPr/>
          <p:nvPr/>
        </p:nvSpPr>
        <p:spPr>
          <a:xfrm>
            <a:off x="457200" y="2066543"/>
            <a:ext cx="411480" cy="457200"/>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3</a:t>
            </a:r>
          </a:p>
        </p:txBody>
      </p:sp>
      <p:sp>
        <p:nvSpPr>
          <p:cNvPr id="8" name="Rectangle 7"/>
          <p:cNvSpPr/>
          <p:nvPr/>
        </p:nvSpPr>
        <p:spPr>
          <a:xfrm>
            <a:off x="932688" y="2066543"/>
            <a:ext cx="7754112" cy="457200"/>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P. Geneva et al., “OpenVINS: A Research Platform for Visual-Inertial Estimation,” IEEE ICRA, pp. 4666–4672, 2020.</a:t>
            </a:r>
          </a:p>
        </p:txBody>
      </p:sp>
      <p:sp>
        <p:nvSpPr>
          <p:cNvPr id="9" name="Rectangle 8"/>
          <p:cNvSpPr/>
          <p:nvPr/>
        </p:nvSpPr>
        <p:spPr>
          <a:xfrm>
            <a:off x="457200" y="2574036"/>
            <a:ext cx="411480" cy="457200"/>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4</a:t>
            </a:r>
          </a:p>
        </p:txBody>
      </p:sp>
      <p:sp>
        <p:nvSpPr>
          <p:cNvPr id="10" name="Rectangle 9"/>
          <p:cNvSpPr/>
          <p:nvPr/>
        </p:nvSpPr>
        <p:spPr>
          <a:xfrm>
            <a:off x="932688" y="2574036"/>
            <a:ext cx="7754112" cy="457200"/>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D. S. Bayard et al., “Vision-Based Navigation for the NASA Mars Helicopter,” AIAA SciTech Forum, 2019.</a:t>
            </a:r>
          </a:p>
        </p:txBody>
      </p:sp>
      <p:sp>
        <p:nvSpPr>
          <p:cNvPr id="11" name="Rectangle 10"/>
          <p:cNvSpPr/>
          <p:nvPr/>
        </p:nvSpPr>
        <p:spPr>
          <a:xfrm>
            <a:off x="457200" y="3081528"/>
            <a:ext cx="411480" cy="457200"/>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5</a:t>
            </a:r>
          </a:p>
        </p:txBody>
      </p:sp>
      <p:sp>
        <p:nvSpPr>
          <p:cNvPr id="12" name="Rectangle 11"/>
          <p:cNvSpPr/>
          <p:nvPr/>
        </p:nvSpPr>
        <p:spPr>
          <a:xfrm>
            <a:off x="932688" y="3081528"/>
            <a:ext cx="7754112" cy="457200"/>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B. D. Lucas and T. Kanade, “An Iterative Image Registration Technique with an Application to Stereo Vision,” IJCAI, 1981.</a:t>
            </a:r>
          </a:p>
        </p:txBody>
      </p:sp>
      <p:sp>
        <p:nvSpPr>
          <p:cNvPr id="13" name="Rectangle 12"/>
          <p:cNvSpPr/>
          <p:nvPr/>
        </p:nvSpPr>
        <p:spPr>
          <a:xfrm>
            <a:off x="457200" y="3589020"/>
            <a:ext cx="411480" cy="457200"/>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6</a:t>
            </a:r>
          </a:p>
        </p:txBody>
      </p:sp>
      <p:sp>
        <p:nvSpPr>
          <p:cNvPr id="14" name="Rectangle 13"/>
          <p:cNvSpPr/>
          <p:nvPr/>
        </p:nvSpPr>
        <p:spPr>
          <a:xfrm>
            <a:off x="932688" y="3589020"/>
            <a:ext cx="7754112" cy="457200"/>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T. Qin and S. Shen, “Online Temporal Calibration for Monocular Visual-Inertial Systems,” IEEE/RSJ IROS, 2018.</a:t>
            </a:r>
          </a:p>
        </p:txBody>
      </p:sp>
      <p:sp>
        <p:nvSpPr>
          <p:cNvPr id="15" name="Rectangle 14"/>
          <p:cNvSpPr/>
          <p:nvPr/>
        </p:nvSpPr>
        <p:spPr>
          <a:xfrm>
            <a:off x="457200" y="4096512"/>
            <a:ext cx="411480" cy="457200"/>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7</a:t>
            </a:r>
          </a:p>
        </p:txBody>
      </p:sp>
      <p:sp>
        <p:nvSpPr>
          <p:cNvPr id="16" name="Rectangle 15"/>
          <p:cNvSpPr/>
          <p:nvPr/>
        </p:nvSpPr>
        <p:spPr>
          <a:xfrm>
            <a:off x="932688" y="4096512"/>
            <a:ext cx="7754112" cy="457200"/>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S. Lynen et al., “A Robust and Modular Multi-Sensor Fusion Approach Applied to MAV Navigation,” IEEE/RSJ IROS, 2013.</a:t>
            </a:r>
          </a:p>
        </p:txBody>
      </p:sp>
      <p:sp>
        <p:nvSpPr>
          <p:cNvPr id="17" name="Rectangle 16"/>
          <p:cNvSpPr/>
          <p:nvPr/>
        </p:nvSpPr>
        <p:spPr>
          <a:xfrm>
            <a:off x="457200" y="4604004"/>
            <a:ext cx="411480" cy="457200"/>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8</a:t>
            </a:r>
          </a:p>
        </p:txBody>
      </p:sp>
      <p:sp>
        <p:nvSpPr>
          <p:cNvPr id="18" name="Rectangle 17"/>
          <p:cNvSpPr/>
          <p:nvPr/>
        </p:nvSpPr>
        <p:spPr>
          <a:xfrm>
            <a:off x="932688" y="4604004"/>
            <a:ext cx="7754112" cy="457200"/>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Z. Zhang and D. Scaramuzza, “A Tutorial on Quantitative Trajectory Evaluation for Visual(-Inertial) Odometry,” IEEE/RSJ IROS, 2018.</a:t>
            </a:r>
          </a:p>
        </p:txBody>
      </p:sp>
      <p:sp>
        <p:nvSpPr>
          <p:cNvPr id="19" name="Rectangle 18"/>
          <p:cNvSpPr/>
          <p:nvPr/>
        </p:nvSpPr>
        <p:spPr>
          <a:xfrm>
            <a:off x="457200" y="5111496"/>
            <a:ext cx="411480" cy="457200"/>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9</a:t>
            </a:r>
          </a:p>
        </p:txBody>
      </p:sp>
      <p:sp>
        <p:nvSpPr>
          <p:cNvPr id="20" name="Rectangle 19"/>
          <p:cNvSpPr/>
          <p:nvPr/>
        </p:nvSpPr>
        <p:spPr>
          <a:xfrm>
            <a:off x="932688" y="5111496"/>
            <a:ext cx="7754112" cy="457200"/>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C. Brommer et al., “The INSANE Dataset: Large Number of Sensors for Challenging UAV Flights in Mars Analog, Outdoor, and Out-/Indoor Transition Scenarios,” IJRR, vol. 43, no. 8, 2024.</a:t>
            </a:r>
          </a:p>
        </p:txBody>
      </p:sp>
      <p:sp>
        <p:nvSpPr>
          <p:cNvPr id="21" name="TextBox 20"/>
          <p:cNvSpPr txBox="1"/>
          <p:nvPr/>
        </p:nvSpPr>
        <p:spPr>
          <a:xfrm>
            <a:off x="457200" y="5650992"/>
            <a:ext cx="8229600" cy="457200"/>
          </a:xfrm>
          <a:prstGeom prst="rect">
            <a:avLst/>
          </a:prstGeom>
          <a:noFill/>
        </p:spPr>
        <p:txBody>
          <a:bodyPr wrap="square" anchor="ctr" lIns="109728" rIns="109728" tIns="73152" bIns="73152">
            <a:spAutoFit/>
          </a:bodyPr>
          <a:lstStyle/>
          <a:p>
            <a:pPr algn="ctr" marL="0" indent="0">
              <a:lnSpc>
                <a:spcPct val="112000"/>
              </a:lnSpc>
              <a:buNone/>
            </a:pPr>
            <a:r>
              <a:rPr sz="2000" b="1" i="0">
                <a:solidFill>
                  <a:srgbClr val="000F65"/>
                </a:solidFill>
                <a:latin typeface="Arial"/>
                <a:ea typeface="MS PGothic"/>
              </a:rPr>
              <a:t>감사합니다  </a:t>
            </a:r>
          </a:p>
        </p:txBody>
      </p:sp>
    </p:spTree>
    <p:extLst>
      <p:ext uri="{BB962C8B-B14F-4D97-AF65-F5344CB8AC3E}">
        <p14:creationId xmlns:p14="http://schemas.microsoft.com/office/powerpoint/2010/main" val="371350854"/>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S PGothic"/>
              </a:rPr>
              <a:t>구현 및 평가 계획</a:t>
            </a:r>
          </a:p>
        </p:txBody>
      </p:sp>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드론 공개 데이터로 영상 처리는 Python, 융합·평가는 MATLAB에서 수행</a:t>
            </a:r>
          </a:p>
        </p:txBody>
      </p:sp>
      <p:sp>
        <p:nvSpPr>
          <p:cNvPr id="4" name="Rounded Rectangle 3"/>
          <p:cNvSpPr/>
          <p:nvPr/>
        </p:nvSpPr>
        <p:spPr>
          <a:xfrm>
            <a:off x="457200" y="1627632"/>
            <a:ext cx="2560320" cy="45720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500" b="1" i="0">
                <a:solidFill>
                  <a:srgbClr val="000F65"/>
                </a:solidFill>
                <a:latin typeface="Arial"/>
                <a:ea typeface="MS PGothic"/>
              </a:rPr>
              <a:t>데이터  INSANE</a:t>
            </a:r>
          </a:p>
        </p:txBody>
      </p:sp>
      <p:sp>
        <p:nvSpPr>
          <p:cNvPr id="5" name="Rounded Rectangle 4"/>
          <p:cNvSpPr/>
          <p:nvPr/>
        </p:nvSpPr>
        <p:spPr>
          <a:xfrm>
            <a:off x="457200" y="2139696"/>
            <a:ext cx="2560320" cy="1572768"/>
          </a:xfrm>
          <a:prstGeom prst="roundRect">
            <a:avLst>
              <a:gd name="adj" fmla="val 8000"/>
            </a:avLst>
          </a:prstGeom>
          <a:noFill/>
          <a:ln w="12700">
            <a:solidFill>
              <a:srgbClr val="8C96C9"/>
            </a:solidFill>
          </a:ln>
          <a:effectLst/>
        </p:spPr>
        <p:txBody>
          <a:bodyPr rtlCol="0" anchor="t" wrap="square" lIns="73152" rIns="73152" tIns="73152" bIns="73152"/>
          <a:lstStyle/>
          <a:p>
            <a:pPr algn="l" marL="256032" indent="-219456">
              <a:lnSpc>
                <a:spcPct val="112000"/>
              </a:lnSpc>
              <a:spcBef>
                <a:spcPts val="300"/>
              </a:spcBef>
              <a:buSzPct val="70000"/>
              <a:buFont typeface="MS PGothic"/>
              <a:buChar char="◆"/>
            </a:pPr>
            <a:r>
              <a:rPr sz="1200" b="0" i="0">
                <a:solidFill>
                  <a:srgbClr val="333333"/>
                </a:solidFill>
                <a:latin typeface="Arial"/>
                <a:ea typeface="MS PGothic"/>
              </a:rPr>
              <a:t>하향 카메라 20 Hz</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레이저 거리계 30 Hz</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IMU 200 Hz 이상 (복수)</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CSV + PNG, 타임스탬프 포함</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실내 구간: OptiTrack 정답 궤적</a:t>
            </a:r>
          </a:p>
        </p:txBody>
      </p:sp>
      <p:sp>
        <p:nvSpPr>
          <p:cNvPr id="6" name="Right Arrow 5"/>
          <p:cNvSpPr/>
          <p:nvPr/>
        </p:nvSpPr>
        <p:spPr>
          <a:xfrm>
            <a:off x="3035808" y="1719072"/>
            <a:ext cx="237744" cy="274320"/>
          </a:xfrm>
          <a:prstGeom prst="rightArrow">
            <a:avLst/>
          </a:prstGeom>
          <a:solidFill>
            <a:srgbClr val="333399"/>
          </a:solidFill>
          <a:ln>
            <a:noFill/>
          </a:ln>
          <a:effectLst/>
        </p:spPr>
        <p:txBody>
          <a:bodyPr rtlCol="0" anchor="ctr"/>
          <a:lstStyle/>
          <a:p>
            <a:pPr algn="ctr"/>
          </a:p>
        </p:txBody>
      </p:sp>
      <p:sp>
        <p:nvSpPr>
          <p:cNvPr id="7" name="Rounded Rectangle 6"/>
          <p:cNvSpPr/>
          <p:nvPr/>
        </p:nvSpPr>
        <p:spPr>
          <a:xfrm>
            <a:off x="3291839" y="1627632"/>
            <a:ext cx="2560320" cy="457200"/>
          </a:xfrm>
          <a:prstGeom prst="roundRect">
            <a:avLst>
              <a:gd name="adj" fmla="val 8000"/>
            </a:avLst>
          </a:prstGeom>
          <a:solidFill>
            <a:srgbClr val="333399"/>
          </a:solidFill>
          <a:ln>
            <a:noFill/>
          </a:ln>
          <a:effectLst/>
        </p:spPr>
        <p:txBody>
          <a:bodyPr rtlCol="0" anchor="ctr" wrap="square" lIns="109728" rIns="109728" tIns="73152" bIns="73152"/>
          <a:lstStyle/>
          <a:p>
            <a:pPr algn="ctr" marL="0" indent="0">
              <a:lnSpc>
                <a:spcPct val="112000"/>
              </a:lnSpc>
              <a:buNone/>
            </a:pPr>
            <a:r>
              <a:rPr sz="1500" b="1" i="0">
                <a:solidFill>
                  <a:srgbClr val="FFFFFF"/>
                </a:solidFill>
                <a:latin typeface="Arial"/>
                <a:ea typeface="MS PGothic"/>
              </a:rPr>
              <a:t>Python  ·  OpenCV</a:t>
            </a:r>
          </a:p>
        </p:txBody>
      </p:sp>
      <p:sp>
        <p:nvSpPr>
          <p:cNvPr id="8" name="Rounded Rectangle 7"/>
          <p:cNvSpPr/>
          <p:nvPr/>
        </p:nvSpPr>
        <p:spPr>
          <a:xfrm>
            <a:off x="3291839" y="2139696"/>
            <a:ext cx="2560320" cy="1572768"/>
          </a:xfrm>
          <a:prstGeom prst="roundRect">
            <a:avLst>
              <a:gd name="adj" fmla="val 8000"/>
            </a:avLst>
          </a:prstGeom>
          <a:noFill/>
          <a:ln w="12700">
            <a:solidFill>
              <a:srgbClr val="8C96C9"/>
            </a:solidFill>
          </a:ln>
          <a:effectLst/>
        </p:spPr>
        <p:txBody>
          <a:bodyPr rtlCol="0" anchor="t" wrap="square" lIns="73152" rIns="73152" tIns="73152" bIns="73152"/>
          <a:lstStyle/>
          <a:p>
            <a:pPr algn="l" marL="256032" indent="-219456">
              <a:lnSpc>
                <a:spcPct val="112000"/>
              </a:lnSpc>
              <a:spcBef>
                <a:spcPts val="300"/>
              </a:spcBef>
              <a:buSzPct val="70000"/>
              <a:buFont typeface="MS PGothic"/>
              <a:buChar char="◆"/>
            </a:pPr>
            <a:r>
              <a:rPr sz="1200" b="0" i="0">
                <a:solidFill>
                  <a:srgbClr val="333333"/>
                </a:solidFill>
                <a:latin typeface="Arial"/>
                <a:ea typeface="MS PGothic"/>
              </a:rPr>
              <a:t>Shi–Tomasi + KLT 추적</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프레임별 영상 이동 계산</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프레임별 처리시간 기록</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CSV 저장 (시간 단위 s)</a:t>
            </a:r>
          </a:p>
        </p:txBody>
      </p:sp>
      <p:sp>
        <p:nvSpPr>
          <p:cNvPr id="9" name="Right Arrow 8"/>
          <p:cNvSpPr/>
          <p:nvPr/>
        </p:nvSpPr>
        <p:spPr>
          <a:xfrm>
            <a:off x="5870447" y="1719072"/>
            <a:ext cx="237744" cy="274320"/>
          </a:xfrm>
          <a:prstGeom prst="rightArrow">
            <a:avLst/>
          </a:prstGeom>
          <a:solidFill>
            <a:srgbClr val="333399"/>
          </a:solidFill>
          <a:ln>
            <a:noFill/>
          </a:ln>
          <a:effectLst/>
        </p:spPr>
        <p:txBody>
          <a:bodyPr rtlCol="0" anchor="ctr"/>
          <a:lstStyle/>
          <a:p>
            <a:pPr algn="ctr"/>
          </a:p>
        </p:txBody>
      </p:sp>
      <p:sp>
        <p:nvSpPr>
          <p:cNvPr id="10" name="Rounded Rectangle 9"/>
          <p:cNvSpPr/>
          <p:nvPr/>
        </p:nvSpPr>
        <p:spPr>
          <a:xfrm>
            <a:off x="6126479" y="1627632"/>
            <a:ext cx="2560320" cy="457200"/>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500" b="1" i="0">
                <a:solidFill>
                  <a:srgbClr val="FFFFFF"/>
                </a:solidFill>
                <a:latin typeface="Arial"/>
                <a:ea typeface="MS PGothic"/>
              </a:rPr>
              <a:t>MATLAB</a:t>
            </a:r>
          </a:p>
        </p:txBody>
      </p:sp>
      <p:sp>
        <p:nvSpPr>
          <p:cNvPr id="11" name="Rounded Rectangle 10"/>
          <p:cNvSpPr/>
          <p:nvPr/>
        </p:nvSpPr>
        <p:spPr>
          <a:xfrm>
            <a:off x="6126479" y="2139696"/>
            <a:ext cx="2560320" cy="1572768"/>
          </a:xfrm>
          <a:prstGeom prst="roundRect">
            <a:avLst>
              <a:gd name="adj" fmla="val 8000"/>
            </a:avLst>
          </a:prstGeom>
          <a:noFill/>
          <a:ln w="12700">
            <a:solidFill>
              <a:srgbClr val="8C96C9"/>
            </a:solidFill>
          </a:ln>
          <a:effectLst/>
        </p:spPr>
        <p:txBody>
          <a:bodyPr rtlCol="0" anchor="t" wrap="square" lIns="73152" rIns="73152" tIns="73152" bIns="73152"/>
          <a:lstStyle/>
          <a:p>
            <a:pPr algn="l" marL="256032" indent="-219456">
              <a:lnSpc>
                <a:spcPct val="112000"/>
              </a:lnSpc>
              <a:spcBef>
                <a:spcPts val="300"/>
              </a:spcBef>
              <a:buSzPct val="70000"/>
              <a:buFont typeface="MS PGothic"/>
              <a:buChar char="◆"/>
            </a:pPr>
            <a:r>
              <a:rPr sz="1200" b="0" i="0">
                <a:solidFill>
                  <a:srgbClr val="333333"/>
                </a:solidFill>
                <a:latin typeface="Arial"/>
                <a:ea typeface="MS PGothic"/>
              </a:rPr>
              <a:t>EKF 상태·측정 모델</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버퍼 저장·재추정 시간 처리</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오차 계산·결과 그래프</a:t>
            </a:r>
          </a:p>
        </p:txBody>
      </p:sp>
      <p:sp>
        <p:nvSpPr>
          <p:cNvPr id="12" name="Rounded Rectangle 11"/>
          <p:cNvSpPr/>
          <p:nvPr/>
        </p:nvSpPr>
        <p:spPr>
          <a:xfrm>
            <a:off x="457200" y="3886200"/>
            <a:ext cx="4023360" cy="1417320"/>
          </a:xfrm>
          <a:prstGeom prst="roundRect">
            <a:avLst>
              <a:gd name="adj" fmla="val 8000"/>
            </a:avLst>
          </a:prstGeom>
          <a:solidFill>
            <a:srgbClr val="DAEDEF"/>
          </a:solidFill>
          <a:ln>
            <a:noFill/>
          </a:ln>
          <a:effectLst/>
        </p:spPr>
        <p:txBody>
          <a:bodyPr rtlCol="0" anchor="ctr" wrap="square" lIns="164592" rIns="164592" tIns="73152" bIns="73152"/>
          <a:lstStyle/>
          <a:p>
            <a:pPr algn="l" marL="0" indent="0">
              <a:lnSpc>
                <a:spcPct val="112000"/>
              </a:lnSpc>
              <a:buNone/>
            </a:pPr>
            <a:r>
              <a:rPr sz="1450" b="1" i="0">
                <a:solidFill>
                  <a:srgbClr val="000F65"/>
                </a:solidFill>
                <a:latin typeface="Arial"/>
                <a:ea typeface="MS PGothic"/>
              </a:rPr>
              <a:t>비교 조건</a:t>
            </a:r>
          </a:p>
          <a:p>
            <a:pPr algn="l" marL="256032" indent="-219456">
              <a:lnSpc>
                <a:spcPct val="112000"/>
              </a:lnSpc>
              <a:spcBef>
                <a:spcPts val="300"/>
              </a:spcBef>
              <a:buSzPct val="70000"/>
              <a:buFont typeface="MS PGothic"/>
              <a:buChar char="◆"/>
            </a:pPr>
            <a:r>
              <a:rPr sz="1250" b="1" i="0">
                <a:solidFill>
                  <a:srgbClr val="000F65"/>
                </a:solidFill>
                <a:latin typeface="Arial"/>
                <a:ea typeface="MS PGothic"/>
              </a:rPr>
              <a:t>A. 지연 무시</a:t>
            </a:r>
            <a:r>
              <a:rPr sz="1250" b="0" i="0">
                <a:solidFill>
                  <a:srgbClr val="333333"/>
                </a:solidFill>
                <a:latin typeface="Arial"/>
                <a:ea typeface="MS PGothic"/>
              </a:rPr>
              <a:t>: 도착한 측정을 바로 보정</a:t>
            </a:r>
          </a:p>
          <a:p>
            <a:pPr algn="l" marL="256032" indent="-219456">
              <a:lnSpc>
                <a:spcPct val="112000"/>
              </a:lnSpc>
              <a:spcBef>
                <a:spcPts val="300"/>
              </a:spcBef>
              <a:buSzPct val="70000"/>
              <a:buFont typeface="MS PGothic"/>
              <a:buChar char="◆"/>
            </a:pPr>
            <a:r>
              <a:rPr sz="1250" b="1" i="0">
                <a:solidFill>
                  <a:srgbClr val="000F65"/>
                </a:solidFill>
                <a:latin typeface="Arial"/>
                <a:ea typeface="MS PGothic"/>
              </a:rPr>
              <a:t>B. 시간 처리</a:t>
            </a:r>
            <a:r>
              <a:rPr sz="1250" b="0" i="0">
                <a:solidFill>
                  <a:srgbClr val="333333"/>
                </a:solidFill>
                <a:latin typeface="Arial"/>
                <a:ea typeface="MS PGothic"/>
              </a:rPr>
              <a:t>: 측정 시점 보정 후 재추정</a:t>
            </a:r>
          </a:p>
          <a:p>
            <a:pPr algn="l" marL="256032" indent="-219456">
              <a:lnSpc>
                <a:spcPct val="112000"/>
              </a:lnSpc>
              <a:spcBef>
                <a:spcPts val="300"/>
              </a:spcBef>
              <a:buSzPct val="70000"/>
              <a:buFont typeface="MS PGothic"/>
              <a:buChar char="◆"/>
            </a:pPr>
            <a:r>
              <a:rPr sz="1250" b="0" i="0">
                <a:solidFill>
                  <a:srgbClr val="333333"/>
                </a:solidFill>
                <a:latin typeface="Arial"/>
                <a:ea typeface="MS PGothic"/>
              </a:rPr>
              <a:t>지연 = 실측 처리시간 + 추가 0·25·50·100 ms</a:t>
            </a:r>
          </a:p>
        </p:txBody>
      </p:sp>
      <p:sp>
        <p:nvSpPr>
          <p:cNvPr id="13" name="Rounded Rectangle 12"/>
          <p:cNvSpPr/>
          <p:nvPr/>
        </p:nvSpPr>
        <p:spPr>
          <a:xfrm>
            <a:off x="4663440" y="3886200"/>
            <a:ext cx="4023360" cy="1417320"/>
          </a:xfrm>
          <a:prstGeom prst="roundRect">
            <a:avLst>
              <a:gd name="adj" fmla="val 8000"/>
            </a:avLst>
          </a:prstGeom>
          <a:solidFill>
            <a:srgbClr val="DAEDEF"/>
          </a:solidFill>
          <a:ln>
            <a:noFill/>
          </a:ln>
          <a:effectLst/>
        </p:spPr>
        <p:txBody>
          <a:bodyPr rtlCol="0" anchor="ctr" wrap="square" lIns="164592" rIns="164592" tIns="73152" bIns="73152"/>
          <a:lstStyle/>
          <a:p>
            <a:pPr algn="l" marL="0" indent="0">
              <a:lnSpc>
                <a:spcPct val="112000"/>
              </a:lnSpc>
              <a:buNone/>
            </a:pPr>
            <a:r>
              <a:rPr sz="1450" b="1" i="0">
                <a:solidFill>
                  <a:srgbClr val="000F65"/>
                </a:solidFill>
                <a:latin typeface="Arial"/>
                <a:ea typeface="MS PGothic"/>
              </a:rPr>
              <a:t>평가 지표</a:t>
            </a:r>
          </a:p>
          <a:p>
            <a:pPr algn="l" marL="256032" indent="-219456">
              <a:lnSpc>
                <a:spcPct val="112000"/>
              </a:lnSpc>
              <a:spcBef>
                <a:spcPts val="300"/>
              </a:spcBef>
              <a:buSzPct val="70000"/>
              <a:buFont typeface="MS PGothic"/>
              <a:buChar char="◆"/>
            </a:pPr>
            <a:r>
              <a:rPr sz="1250" b="1" i="0">
                <a:solidFill>
                  <a:srgbClr val="000F65"/>
                </a:solidFill>
                <a:latin typeface="Arial"/>
                <a:ea typeface="MS PGothic"/>
              </a:rPr>
              <a:t>ATE</a:t>
            </a:r>
            <a:r>
              <a:rPr sz="1250" b="0" i="0">
                <a:solidFill>
                  <a:srgbClr val="333333"/>
                </a:solidFill>
                <a:latin typeface="Arial"/>
                <a:ea typeface="MS PGothic"/>
              </a:rPr>
              <a:t>: 위치 RMSE (위치+yaw 4자유도 정렬)</a:t>
            </a:r>
          </a:p>
          <a:p>
            <a:pPr algn="l" marL="256032" indent="-219456">
              <a:lnSpc>
                <a:spcPct val="112000"/>
              </a:lnSpc>
              <a:spcBef>
                <a:spcPts val="300"/>
              </a:spcBef>
              <a:buSzPct val="70000"/>
              <a:buFont typeface="MS PGothic"/>
              <a:buChar char="◆"/>
            </a:pPr>
            <a:r>
              <a:rPr sz="1250" b="1" i="0">
                <a:solidFill>
                  <a:srgbClr val="000F65"/>
                </a:solidFill>
                <a:latin typeface="Arial"/>
                <a:ea typeface="MS PGothic"/>
              </a:rPr>
              <a:t>RE</a:t>
            </a:r>
            <a:r>
              <a:rPr sz="1250" b="0" i="0">
                <a:solidFill>
                  <a:srgbClr val="333333"/>
                </a:solidFill>
                <a:latin typeface="Arial"/>
                <a:ea typeface="MS PGothic"/>
              </a:rPr>
              <a:t>: 이동 구간 길이별 상대 오차</a:t>
            </a:r>
          </a:p>
          <a:p>
            <a:pPr algn="l" marL="256032" indent="-219456">
              <a:lnSpc>
                <a:spcPct val="112000"/>
              </a:lnSpc>
              <a:spcBef>
                <a:spcPts val="300"/>
              </a:spcBef>
              <a:buSzPct val="70000"/>
              <a:buFont typeface="MS PGothic"/>
              <a:buChar char="◆"/>
            </a:pPr>
            <a:r>
              <a:rPr sz="1250" b="1" i="0">
                <a:solidFill>
                  <a:srgbClr val="000F65"/>
                </a:solidFill>
                <a:latin typeface="Arial"/>
                <a:ea typeface="MS PGothic"/>
              </a:rPr>
              <a:t>처리시간</a:t>
            </a:r>
            <a:r>
              <a:rPr sz="1250" b="0" i="0">
                <a:solidFill>
                  <a:srgbClr val="333333"/>
                </a:solidFill>
                <a:latin typeface="Arial"/>
                <a:ea typeface="MS PGothic"/>
              </a:rPr>
              <a:t>: 재추정에 드는 계산 비용</a:t>
            </a:r>
          </a:p>
        </p:txBody>
      </p:sp>
      <p:sp>
        <p:nvSpPr>
          <p:cNvPr id="14" name="TextBox 13"/>
          <p:cNvSpPr txBox="1"/>
          <p:nvPr/>
        </p:nvSpPr>
        <p:spPr>
          <a:xfrm>
            <a:off x="457200" y="5376672"/>
            <a:ext cx="8229600" cy="457200"/>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데이터: Brommer et al. (2024) · 평가 방법: Zhang and Scaramuzza (2018) · 정답 궤적은 평가에만 사용</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27475</TotalTime>
  <Words>1597</Words>
  <Application>Microsoft Office PowerPoint</Application>
  <PresentationFormat>On-screen Show (4:3)</PresentationFormat>
  <Paragraphs>393</Paragraphs>
  <Slides>7</Slides>
  <Notes>23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0" baseType="lpstr">
      <vt:lpstr>ＭＳ Ｐゴシック</vt:lpstr>
      <vt:lpstr>Arial</vt:lpstr>
      <vt:lpstr>Courier New</vt:lpstr>
      <vt:lpstr>Times New Roman</vt:lpstr>
      <vt:lpstr>Wingdings</vt:lpstr>
      <vt:lpstr>Wingdings 2</vt:lpstr>
      <vt:lpstr>Blank Presentation</vt:lpstr>
      <vt:lpstr>Equation</vt:lpstr>
      <vt:lpstr>Lecture 3 Control and Estimation</vt:lpstr>
      <vt:lpstr>Outline</vt:lpstr>
      <vt:lpstr>PowerPoint Presentation</vt:lpstr>
      <vt:lpstr>PID Controller</vt:lpstr>
      <vt:lpstr>Proportional Feedback  (P-Control, 비례제어)</vt:lpstr>
      <vt:lpstr>Proportional Differential Feedback  (PD-Control, 비례미분제어)</vt:lpstr>
      <vt:lpstr>Proportional Integral Feedback  (PI-Control, 비례적분 제어)</vt:lpstr>
      <vt:lpstr>Proportional Integral Differential Feedback  (PID-Control, 비례적분미분 제어)</vt:lpstr>
      <vt:lpstr>PowerPoint Presentation</vt:lpstr>
      <vt:lpstr>State Feedback Controller</vt:lpstr>
      <vt:lpstr>Linear Quadratic Regulator</vt:lpstr>
      <vt:lpstr>Linear Quadratic Regulator</vt:lpstr>
      <vt:lpstr>PowerPoint Presentation</vt:lpstr>
      <vt:lpstr>MPC (Model Predictive Control) 작동 개념</vt:lpstr>
      <vt:lpstr>MPC Formulation</vt:lpstr>
      <vt:lpstr>MPC 제어시스템 구조</vt:lpstr>
      <vt:lpstr>MPC 특성</vt:lpstr>
      <vt:lpstr>Model Predictive Control</vt:lpstr>
      <vt:lpstr>PowerPoint Presentation</vt:lpstr>
      <vt:lpstr>PowerPoint Presentation</vt:lpstr>
      <vt:lpstr>Dynamic System</vt:lpstr>
      <vt:lpstr>Representation of Dynamic System</vt:lpstr>
      <vt:lpstr>State Estimation</vt:lpstr>
      <vt:lpstr>State Estimation</vt:lpstr>
      <vt:lpstr>State Estimation</vt:lpstr>
      <vt:lpstr>State Estimation</vt:lpstr>
      <vt:lpstr>Luenberger Observer</vt:lpstr>
      <vt:lpstr>Noise!</vt:lpstr>
      <vt:lpstr>PowerPoint Presentation</vt:lpstr>
      <vt:lpstr>Noise as a Random Variable</vt:lpstr>
      <vt:lpstr>Noise as a Random Variable</vt:lpstr>
      <vt:lpstr>Optimal State Estimation</vt:lpstr>
      <vt:lpstr>Optimal State Estimation</vt:lpstr>
      <vt:lpstr>Kalman Filter</vt:lpstr>
      <vt:lpstr>Luenberger Observer and Kalman Filter</vt:lpstr>
      <vt:lpstr>Kalman Filter and Nonlinearity</vt:lpstr>
      <vt:lpstr>Kalman Filter Family</vt:lpstr>
      <vt:lpstr>Extended Kalman Filter</vt:lpstr>
      <vt:lpstr>Unscented Kalman Filter</vt:lpstr>
      <vt:lpstr>Unscented Kalman Filter</vt:lpstr>
      <vt:lpstr>Particle Filter</vt:lpstr>
      <vt:lpstr>Kalman Filter Summary</vt:lpstr>
    </vt:vector>
  </TitlesOfParts>
  <Company>soe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Changsun Ahn</dc:creator>
  <cp:lastModifiedBy>Changsun Ahn</cp:lastModifiedBy>
  <cp:revision>984</cp:revision>
  <cp:lastPrinted>2007-07-10T13:49:16Z</cp:lastPrinted>
  <dcterms:created xsi:type="dcterms:W3CDTF">2007-07-10T12:52:37Z</dcterms:created>
  <dcterms:modified xsi:type="dcterms:W3CDTF">2026-07-30T01:16:46Z</dcterms:modified>
</cp:coreProperties>
</file>