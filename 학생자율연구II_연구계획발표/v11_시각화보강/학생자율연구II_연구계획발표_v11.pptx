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57" r:id="rId51"/>
    <p:sldId id="259" r:id="rId53"/>
    <p:sldId id="260" r:id="rId54"/>
    <p:sldId id="261" r:id="rId55"/>
    <p:sldId id="262" r:id="rId56"/>
    <p:sldId id="265" r:id="rId17"/>
    <p:sldId id="263" r:id="rId57"/>
    <p:sldId id="264" r:id="rIdTextOnlySlide8"/>
  </p:sldIdLst>
  <p:sldSz cx="9144000" cy="6858000" type="screen4x3"/>
  <p:notesSz cx="6858000" cy="9144000"/>
  <p:defaultTextStyle>
    <a:defPPr>
      <a:defRPr lang="en-US">
        <a:latin typeface="Arial"/>
        <a:ea typeface="MS PGothic"/>
      </a:defRPr>
    </a:defPPr>
    <a:lvl1pPr algn="l" rtl="0" eaLnBrk="0" fontAlgn="base" hangingPunct="0">
      <a:spcBef>
        <a:spcPct val="0"/>
      </a:spcBef>
      <a:spcAft>
        <a:spcPct val="0"/>
      </a:spcAft>
      <a:defRPr sz="2400" kern="1200">
        <a:solidFill>
          <a:schemeClr val="tx1"/>
        </a:solidFill>
        <a:latin typeface="Arial"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Arial"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MS PGothic" pitchFamily="34" charset="-128"/>
        <a:cs typeface="+mn-cs"/>
      </a:defRPr>
    </a:lvl5pPr>
    <a:lvl6pPr marL="2286000" algn="l" defTabSz="914400" rtl="0" eaLnBrk="1" latinLnBrk="0" hangingPunct="1">
      <a:defRPr sz="2400" kern="1200">
        <a:solidFill>
          <a:schemeClr val="tx1"/>
        </a:solidFill>
        <a:latin typeface="Arial" charset="0"/>
        <a:ea typeface="MS PGothic" pitchFamily="34" charset="-128"/>
        <a:cs typeface="+mn-cs"/>
      </a:defRPr>
    </a:lvl6pPr>
    <a:lvl7pPr marL="2743200" algn="l" defTabSz="914400" rtl="0" eaLnBrk="1" latinLnBrk="0" hangingPunct="1">
      <a:defRPr sz="2400" kern="1200">
        <a:solidFill>
          <a:schemeClr val="tx1"/>
        </a:solidFill>
        <a:latin typeface="Arial" charset="0"/>
        <a:ea typeface="MS PGothic" pitchFamily="34" charset="-128"/>
        <a:cs typeface="+mn-cs"/>
      </a:defRPr>
    </a:lvl7pPr>
    <a:lvl8pPr marL="3200400" algn="l" defTabSz="914400" rtl="0" eaLnBrk="1" latinLnBrk="0" hangingPunct="1">
      <a:defRPr sz="2400" kern="1200">
        <a:solidFill>
          <a:schemeClr val="tx1"/>
        </a:solidFill>
        <a:latin typeface="Arial" charset="0"/>
        <a:ea typeface="MS PGothic" pitchFamily="34" charset="-128"/>
        <a:cs typeface="+mn-cs"/>
      </a:defRPr>
    </a:lvl8pPr>
    <a:lvl9pPr marL="3657600" algn="l" defTabSz="914400" rtl="0" eaLnBrk="1" latinLnBrk="0" hangingPunct="1">
      <a:defRPr sz="2400" kern="1200">
        <a:solidFill>
          <a:schemeClr val="tx1"/>
        </a:solidFill>
        <a:latin typeface="Arial" charset="0"/>
        <a:ea typeface="MS PGothic" pitchFamily="34" charset="-128"/>
        <a:cs typeface="+mn-cs"/>
      </a:defRPr>
    </a:lvl9pPr>
  </p:defaultTextStyle>
  <p:extLst>
    <p:ext uri="{521415D9-36F7-43E2-AB2F-B90AF26B5E84}">
      <p14:sectionLst xmlns:p14="http://schemas.microsoft.com/office/powerpoint/2010/main">
        <p14:section name="Default Section" id="{4D0A106E-F050-4475-AE74-186DD2AE9C4F}">
          <p14:sldIdLst>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CC"/>
    <a:srgbClr val="99CCFF"/>
    <a:srgbClr val="0066FF"/>
    <a:srgbClr val="3B4C97"/>
    <a:srgbClr val="000099"/>
    <a:srgbClr val="000F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5" autoAdjust="0"/>
    <p:restoredTop sz="89065" autoAdjust="0"/>
  </p:normalViewPr>
  <p:slideViewPr>
    <p:cSldViewPr>
      <p:cViewPr varScale="1">
        <p:scale>
          <a:sx n="112" d="100"/>
          <a:sy n="112" d="100"/>
        </p:scale>
        <p:origin x="94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80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TextOnlySlide8" Type="http://schemas.openxmlformats.org/officeDocument/2006/relationships/slide" Target="slides/slide8.xml"/><Relationship Id="rId1" Type="http://schemas.openxmlformats.org/officeDocument/2006/relationships/slideMaster" Target="slideMasters/slideMaster1.xml"/><Relationship Id="rId17" Type="http://schemas.openxmlformats.org/officeDocument/2006/relationships/slide" Target="slides/slide9.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openxmlformats.org/officeDocument/2006/relationships/slide" Target="slides/slide1.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sun Ahn" userId="518abb9056612078" providerId="LiveId" clId="{26BC773D-7115-4A87-A284-8E0674A1E3A0}"/>
    <pc:docChg chg="undo custSel delSld modSld modSection">
      <pc:chgData name="Changsun Ahn" userId="518abb9056612078" providerId="LiveId" clId="{26BC773D-7115-4A87-A284-8E0674A1E3A0}" dt="2026-07-30T01:16:33.489" v="7" actId="47"/>
      <pc:docMkLst>
        <pc:docMk/>
      </pc:docMkLst>
      <pc:sldChg chg="del">
        <pc:chgData name="Changsun Ahn" userId="518abb9056612078" providerId="LiveId" clId="{26BC773D-7115-4A87-A284-8E0674A1E3A0}" dt="2026-07-30T01:16:33.489" v="7" actId="47"/>
        <pc:sldMkLst>
          <pc:docMk/>
          <pc:sldMk cId="474195226" sldId="871"/>
        </pc:sldMkLst>
      </pc:sldChg>
      <pc:sldChg chg="del">
        <pc:chgData name="Changsun Ahn" userId="518abb9056612078" providerId="LiveId" clId="{26BC773D-7115-4A87-A284-8E0674A1E3A0}" dt="2026-07-30T01:16:33.489" v="7" actId="47"/>
        <pc:sldMkLst>
          <pc:docMk/>
          <pc:sldMk cId="297504490" sldId="872"/>
        </pc:sldMkLst>
      </pc:sldChg>
      <pc:sldChg chg="modSp mod">
        <pc:chgData name="Changsun Ahn" userId="518abb9056612078" providerId="LiveId" clId="{26BC773D-7115-4A87-A284-8E0674A1E3A0}" dt="2026-07-30T01:15:31.563" v="5" actId="20577"/>
        <pc:sldMkLst>
          <pc:docMk/>
          <pc:sldMk cId="3174226046" sldId="915"/>
        </pc:sldMkLst>
        <pc:spChg chg="mod">
          <ac:chgData name="Changsun Ahn" userId="518abb9056612078" providerId="LiveId" clId="{26BC773D-7115-4A87-A284-8E0674A1E3A0}" dt="2026-07-30T01:15:31.563" v="5" actId="20577"/>
          <ac:spMkLst>
            <pc:docMk/>
            <pc:sldMk cId="3174226046" sldId="915"/>
            <ac:spMk id="19" creationId="{00000000-0000-0000-0000-000000000000}"/>
          </ac:spMkLst>
        </pc:spChg>
      </pc:sldChg>
      <pc:sldChg chg="del">
        <pc:chgData name="Changsun Ahn" userId="518abb9056612078" providerId="LiveId" clId="{26BC773D-7115-4A87-A284-8E0674A1E3A0}" dt="2026-07-30T01:16:20.971" v="6" actId="47"/>
        <pc:sldMkLst>
          <pc:docMk/>
          <pc:sldMk cId="1743384770" sldId="917"/>
        </pc:sldMkLst>
      </pc:sldChg>
      <pc:sldChg chg="del">
        <pc:chgData name="Changsun Ahn" userId="518abb9056612078" providerId="LiveId" clId="{26BC773D-7115-4A87-A284-8E0674A1E3A0}" dt="2026-07-30T01:16:20.971" v="6" actId="47"/>
        <pc:sldMkLst>
          <pc:docMk/>
          <pc:sldMk cId="2437741310" sldId="918"/>
        </pc:sldMkLst>
      </pc:sldChg>
      <pc:sldChg chg="del">
        <pc:chgData name="Changsun Ahn" userId="518abb9056612078" providerId="LiveId" clId="{26BC773D-7115-4A87-A284-8E0674A1E3A0}" dt="2026-07-30T01:16:20.971" v="6" actId="47"/>
        <pc:sldMkLst>
          <pc:docMk/>
          <pc:sldMk cId="2166412743" sldId="919"/>
        </pc:sldMkLst>
      </pc:sldChg>
      <pc:sldChg chg="del">
        <pc:chgData name="Changsun Ahn" userId="518abb9056612078" providerId="LiveId" clId="{26BC773D-7115-4A87-A284-8E0674A1E3A0}" dt="2026-07-30T01:16:20.971" v="6" actId="47"/>
        <pc:sldMkLst>
          <pc:docMk/>
          <pc:sldMk cId="1701861227" sldId="920"/>
        </pc:sldMkLst>
      </pc:sldChg>
      <pc:sldChg chg="del">
        <pc:chgData name="Changsun Ahn" userId="518abb9056612078" providerId="LiveId" clId="{26BC773D-7115-4A87-A284-8E0674A1E3A0}" dt="2026-07-30T01:16:20.971" v="6" actId="47"/>
        <pc:sldMkLst>
          <pc:docMk/>
          <pc:sldMk cId="519232037" sldId="921"/>
        </pc:sldMkLst>
      </pc:sldChg>
      <pc:sldChg chg="del">
        <pc:chgData name="Changsun Ahn" userId="518abb9056612078" providerId="LiveId" clId="{26BC773D-7115-4A87-A284-8E0674A1E3A0}" dt="2026-07-30T01:16:20.971" v="6" actId="47"/>
        <pc:sldMkLst>
          <pc:docMk/>
          <pc:sldMk cId="4136637569" sldId="922"/>
        </pc:sldMkLst>
      </pc:sldChg>
      <pc:sldChg chg="del">
        <pc:chgData name="Changsun Ahn" userId="518abb9056612078" providerId="LiveId" clId="{26BC773D-7115-4A87-A284-8E0674A1E3A0}" dt="2026-07-30T01:16:20.971" v="6" actId="47"/>
        <pc:sldMkLst>
          <pc:docMk/>
          <pc:sldMk cId="831033970" sldId="923"/>
        </pc:sldMkLst>
      </pc:sldChg>
      <pc:sldChg chg="del">
        <pc:chgData name="Changsun Ahn" userId="518abb9056612078" providerId="LiveId" clId="{26BC773D-7115-4A87-A284-8E0674A1E3A0}" dt="2026-07-30T01:16:20.971" v="6" actId="47"/>
        <pc:sldMkLst>
          <pc:docMk/>
          <pc:sldMk cId="3151416821" sldId="924"/>
        </pc:sldMkLst>
      </pc:sldChg>
      <pc:sldChg chg="del">
        <pc:chgData name="Changsun Ahn" userId="518abb9056612078" providerId="LiveId" clId="{26BC773D-7115-4A87-A284-8E0674A1E3A0}" dt="2026-07-30T01:16:20.971" v="6" actId="47"/>
        <pc:sldMkLst>
          <pc:docMk/>
          <pc:sldMk cId="1829320128" sldId="925"/>
        </pc:sldMkLst>
      </pc:sldChg>
      <pc:sldChg chg="del">
        <pc:chgData name="Changsun Ahn" userId="518abb9056612078" providerId="LiveId" clId="{26BC773D-7115-4A87-A284-8E0674A1E3A0}" dt="2026-07-30T01:16:20.971" v="6" actId="47"/>
        <pc:sldMkLst>
          <pc:docMk/>
          <pc:sldMk cId="3431485836" sldId="926"/>
        </pc:sldMkLst>
      </pc:sldChg>
      <pc:sldChg chg="del">
        <pc:chgData name="Changsun Ahn" userId="518abb9056612078" providerId="LiveId" clId="{26BC773D-7115-4A87-A284-8E0674A1E3A0}" dt="2026-07-30T01:16:20.971" v="6" actId="47"/>
        <pc:sldMkLst>
          <pc:docMk/>
          <pc:sldMk cId="3081601730" sldId="927"/>
        </pc:sldMkLst>
      </pc:sldChg>
      <pc:sldChg chg="del">
        <pc:chgData name="Changsun Ahn" userId="518abb9056612078" providerId="LiveId" clId="{26BC773D-7115-4A87-A284-8E0674A1E3A0}" dt="2026-07-30T01:16:20.971" v="6" actId="47"/>
        <pc:sldMkLst>
          <pc:docMk/>
          <pc:sldMk cId="1756593512" sldId="928"/>
        </pc:sldMkLst>
      </pc:sldChg>
    </pc:docChg>
  </pc:docChgLst>
  <pc:docChgLst>
    <pc:chgData name="Changsun Ahn" userId="518abb9056612078" providerId="LiveId" clId="{35FD0D37-7309-4F33-8079-6672F617D33C}"/>
    <pc:docChg chg="modSld">
      <pc:chgData name="Changsun Ahn" userId="518abb9056612078" providerId="LiveId" clId="{35FD0D37-7309-4F33-8079-6672F617D33C}" dt="2025-10-14T01:50:28.014" v="10"/>
      <pc:docMkLst>
        <pc:docMk/>
      </pc:docMkLst>
      <pc:sldChg chg="modSp mod">
        <pc:chgData name="Changsun Ahn" userId="518abb9056612078" providerId="LiveId" clId="{35FD0D37-7309-4F33-8079-6672F617D33C}" dt="2025-10-14T00:27:45.224" v="4" actId="20577"/>
        <pc:sldMkLst>
          <pc:docMk/>
          <pc:sldMk cId="297504490" sldId="872"/>
        </pc:sldMkLst>
        <pc:spChg chg="mod">
          <ac:chgData name="Changsun Ahn" userId="518abb9056612078" providerId="LiveId" clId="{35FD0D37-7309-4F33-8079-6672F617D33C}" dt="2025-10-14T00:27:45.224" v="4" actId="20577"/>
          <ac:spMkLst>
            <pc:docMk/>
            <pc:sldMk cId="297504490" sldId="872"/>
            <ac:spMk id="3" creationId="{00000000-0000-0000-0000-000000000000}"/>
          </ac:spMkLst>
        </pc:spChg>
      </pc:sldChg>
      <pc:sldChg chg="modSp">
        <pc:chgData name="Changsun Ahn" userId="518abb9056612078" providerId="LiveId" clId="{35FD0D37-7309-4F33-8079-6672F617D33C}" dt="2025-10-14T01:44:06.588" v="6"/>
        <pc:sldMkLst>
          <pc:docMk/>
          <pc:sldMk cId="3860292029" sldId="881"/>
        </pc:sldMkLst>
        <pc:graphicFrameChg chg="mod">
          <ac:chgData name="Changsun Ahn" userId="518abb9056612078" providerId="LiveId" clId="{35FD0D37-7309-4F33-8079-6672F617D33C}" dt="2025-10-14T01:44:06.588" v="6"/>
          <ac:graphicFrameMkLst>
            <pc:docMk/>
            <pc:sldMk cId="3860292029" sldId="881"/>
            <ac:graphicFrameMk id="19" creationId="{00000000-0000-0000-0000-000000000000}"/>
          </ac:graphicFrameMkLst>
        </pc:graphicFrameChg>
      </pc:sldChg>
      <pc:sldChg chg="addSp modSp mod">
        <pc:chgData name="Changsun Ahn" userId="518abb9056612078" providerId="LiveId" clId="{35FD0D37-7309-4F33-8079-6672F617D33C}" dt="2025-10-14T01:50:03.289" v="8" actId="1076"/>
        <pc:sldMkLst>
          <pc:docMk/>
          <pc:sldMk cId="3380350785" sldId="886"/>
        </pc:sldMkLst>
        <pc:graphicFrameChg chg="add mod">
          <ac:chgData name="Changsun Ahn" userId="518abb9056612078" providerId="LiveId" clId="{35FD0D37-7309-4F33-8079-6672F617D33C}" dt="2025-10-14T01:50:03.289" v="8" actId="1076"/>
          <ac:graphicFrameMkLst>
            <pc:docMk/>
            <pc:sldMk cId="3380350785" sldId="886"/>
            <ac:graphicFrameMk id="3" creationId="{85C9AF3D-D5DA-4ACB-8565-363D4BB568BF}"/>
          </ac:graphicFrameMkLst>
        </pc:graphicFrameChg>
      </pc:sldChg>
      <pc:sldChg chg="modSp">
        <pc:chgData name="Changsun Ahn" userId="518abb9056612078" providerId="LiveId" clId="{35FD0D37-7309-4F33-8079-6672F617D33C}" dt="2025-10-14T01:50:28.014" v="10"/>
        <pc:sldMkLst>
          <pc:docMk/>
          <pc:sldMk cId="2711729751" sldId="887"/>
        </pc:sldMkLst>
        <pc:spChg chg="mod">
          <ac:chgData name="Changsun Ahn" userId="518abb9056612078" providerId="LiveId" clId="{35FD0D37-7309-4F33-8079-6672F617D33C}" dt="2025-10-14T01:50:28.014" v="10"/>
          <ac:spMkLst>
            <pc:docMk/>
            <pc:sldMk cId="2711729751" sldId="887"/>
            <ac:spMk id="47" creationId="{00000000-0000-0000-0000-000000000000}"/>
          </ac:spMkLst>
        </pc:spChg>
        <pc:spChg chg="mod">
          <ac:chgData name="Changsun Ahn" userId="518abb9056612078" providerId="LiveId" clId="{35FD0D37-7309-4F33-8079-6672F617D33C}" dt="2025-10-14T01:50:28.014" v="10"/>
          <ac:spMkLst>
            <pc:docMk/>
            <pc:sldMk cId="2711729751" sldId="887"/>
            <ac:spMk id="52" creationId="{00000000-0000-0000-0000-000000000000}"/>
          </ac:spMkLst>
        </pc:spChg>
        <pc:grpChg chg="mod">
          <ac:chgData name="Changsun Ahn" userId="518abb9056612078" providerId="LiveId" clId="{35FD0D37-7309-4F33-8079-6672F617D33C}" dt="2025-10-14T01:50:28.014" v="10"/>
          <ac:grpSpMkLst>
            <pc:docMk/>
            <pc:sldMk cId="2711729751" sldId="887"/>
            <ac:grpSpMk id="53" creationId="{00000000-0000-0000-0000-000000000000}"/>
          </ac:grpSpMkLst>
        </pc:grpChg>
        <pc:graphicFrameChg chg="mod">
          <ac:chgData name="Changsun Ahn" userId="518abb9056612078" providerId="LiveId" clId="{35FD0D37-7309-4F33-8079-6672F617D33C}" dt="2025-10-14T01:50:28.014" v="10"/>
          <ac:graphicFrameMkLst>
            <pc:docMk/>
            <pc:sldMk cId="2711729751" sldId="887"/>
            <ac:graphicFrameMk id="46"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3"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4"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E519B566-4DAF-4B26-ADC8-A43E608533F5}"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1110100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noProof="0">
                <a:latin typeface="Arial"/>
                <a:ea typeface="MS PGothic"/>
              </a:rPr>
              <a:t>Click to edit Master text styles</a:t>
            </a:r>
          </a:p>
          <a:p>
            <a:pPr lvl="1"/>
            <a:r>
              <a:rPr lang="en-US" noProof="0">
                <a:latin typeface="Arial"/>
                <a:ea typeface="MS PGothic"/>
              </a:rPr>
              <a:t>Second level</a:t>
            </a:r>
          </a:p>
          <a:p>
            <a:pPr lvl="2"/>
            <a:r>
              <a:rPr lang="en-US" noProof="0">
                <a:latin typeface="Arial"/>
                <a:ea typeface="MS PGothic"/>
              </a:rPr>
              <a:t>Third level</a:t>
            </a:r>
          </a:p>
          <a:p>
            <a:pPr lvl="3"/>
            <a:r>
              <a:rPr lang="en-US" noProof="0">
                <a:latin typeface="Arial"/>
                <a:ea typeface="MS PGothic"/>
              </a:rPr>
              <a:t>Fourth level</a:t>
            </a:r>
          </a:p>
          <a:p>
            <a:pPr lvl="4"/>
            <a:r>
              <a:rPr lang="en-US" noProof="0">
                <a:latin typeface="Arial"/>
                <a:ea typeface="MS PGothic"/>
              </a:rPr>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5096BAED-5FB2-4DAD-92B2-076325177B4F}"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38159845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5pPr>
    <a:lvl6pPr marL="2286000" algn="l" defTabSz="914400" rtl="0" eaLnBrk="1" latinLnBrk="0" hangingPunct="1">
      <a:defRPr sz="1200" kern="1200">
        <a:solidFill>
          <a:schemeClr val="tx1"/>
        </a:solidFill>
        <a:latin typeface="Arial"/>
        <a:ea typeface="MS PGothic"/>
        <a:cs typeface="+mn-cs"/>
      </a:defRPr>
    </a:lvl6pPr>
    <a:lvl7pPr marL="2743200" algn="l" defTabSz="914400" rtl="0" eaLnBrk="1" latinLnBrk="0" hangingPunct="1">
      <a:defRPr sz="1200" kern="1200">
        <a:solidFill>
          <a:schemeClr val="tx1"/>
        </a:solidFill>
        <a:latin typeface="Arial"/>
        <a:ea typeface="MS PGothic"/>
        <a:cs typeface="+mn-cs"/>
      </a:defRPr>
    </a:lvl7pPr>
    <a:lvl8pPr marL="3200400" algn="l" defTabSz="914400" rtl="0" eaLnBrk="1" latinLnBrk="0" hangingPunct="1">
      <a:defRPr sz="1200" kern="1200">
        <a:solidFill>
          <a:schemeClr val="tx1"/>
        </a:solidFill>
        <a:latin typeface="Arial"/>
        <a:ea typeface="MS PGothic"/>
        <a:cs typeface="+mn-cs"/>
      </a:defRPr>
    </a:lvl8pPr>
    <a:lvl9pPr marL="3657600" algn="l" defTabSz="914400" rtl="0" eaLnBrk="1" latinLnBrk="0" hangingPunct="1">
      <a:defRPr sz="1200" kern="1200">
        <a:solidFill>
          <a:schemeClr val="tx1"/>
        </a:solidFill>
        <a:latin typeface="Arial"/>
        <a:ea typeface="MS PGothic"/>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ea typeface="MS PGothic" pitchFamily="18" charset="-120"/>
              </a:defRPr>
            </a:lvl1pPr>
            <a:lvl2pPr marL="742950" indent="-285750" eaLnBrk="0" hangingPunct="0">
              <a:defRPr sz="2400" b="1">
                <a:solidFill>
                  <a:schemeClr val="tx1"/>
                </a:solidFill>
                <a:latin typeface="Arial" charset="0"/>
                <a:ea typeface="MS PGothic" pitchFamily="18" charset="-120"/>
              </a:defRPr>
            </a:lvl2pPr>
            <a:lvl3pPr marL="1143000" indent="-228600" eaLnBrk="0" hangingPunct="0">
              <a:defRPr sz="2400" b="1">
                <a:solidFill>
                  <a:schemeClr val="tx1"/>
                </a:solidFill>
                <a:latin typeface="Arial" charset="0"/>
                <a:ea typeface="MS PGothic" pitchFamily="18" charset="-120"/>
              </a:defRPr>
            </a:lvl3pPr>
            <a:lvl4pPr marL="1600200" indent="-228600" eaLnBrk="0" hangingPunct="0">
              <a:defRPr sz="2400" b="1">
                <a:solidFill>
                  <a:schemeClr val="tx1"/>
                </a:solidFill>
                <a:latin typeface="Arial" charset="0"/>
                <a:ea typeface="MS PGothic" pitchFamily="18" charset="-120"/>
              </a:defRPr>
            </a:lvl4pPr>
            <a:lvl5pPr marL="2057400" indent="-228600" eaLnBrk="0" hangingPunct="0">
              <a:defRPr sz="2400" b="1">
                <a:solidFill>
                  <a:schemeClr val="tx1"/>
                </a:solidFill>
                <a:latin typeface="Arial" charset="0"/>
                <a:ea typeface="MS PGothic" pitchFamily="18" charset="-120"/>
              </a:defRPr>
            </a:lvl5pPr>
            <a:lvl6pPr marL="2514600" indent="-228600" eaLnBrk="0" fontAlgn="base" hangingPunct="0">
              <a:spcBef>
                <a:spcPct val="0"/>
              </a:spcBef>
              <a:spcAft>
                <a:spcPct val="0"/>
              </a:spcAft>
              <a:defRPr sz="2400" b="1">
                <a:solidFill>
                  <a:schemeClr val="tx1"/>
                </a:solidFill>
                <a:latin typeface="Arial" charset="0"/>
                <a:ea typeface="MS PGothic" pitchFamily="18" charset="-120"/>
              </a:defRPr>
            </a:lvl6pPr>
            <a:lvl7pPr marL="2971800" indent="-228600" eaLnBrk="0" fontAlgn="base" hangingPunct="0">
              <a:spcBef>
                <a:spcPct val="0"/>
              </a:spcBef>
              <a:spcAft>
                <a:spcPct val="0"/>
              </a:spcAft>
              <a:defRPr sz="2400" b="1">
                <a:solidFill>
                  <a:schemeClr val="tx1"/>
                </a:solidFill>
                <a:latin typeface="Arial" charset="0"/>
                <a:ea typeface="MS PGothic" pitchFamily="18" charset="-120"/>
              </a:defRPr>
            </a:lvl7pPr>
            <a:lvl8pPr marL="3429000" indent="-228600" eaLnBrk="0" fontAlgn="base" hangingPunct="0">
              <a:spcBef>
                <a:spcPct val="0"/>
              </a:spcBef>
              <a:spcAft>
                <a:spcPct val="0"/>
              </a:spcAft>
              <a:defRPr sz="2400" b="1">
                <a:solidFill>
                  <a:schemeClr val="tx1"/>
                </a:solidFill>
                <a:latin typeface="Arial" charset="0"/>
                <a:ea typeface="MS PGothic" pitchFamily="18" charset="-120"/>
              </a:defRPr>
            </a:lvl8pPr>
            <a:lvl9pPr marL="3886200" indent="-228600" eaLnBrk="0" fontAlgn="base" hangingPunct="0">
              <a:spcBef>
                <a:spcPct val="0"/>
              </a:spcBef>
              <a:spcAft>
                <a:spcPct val="0"/>
              </a:spcAft>
              <a:defRPr sz="2400" b="1">
                <a:solidFill>
                  <a:schemeClr val="tx1"/>
                </a:solidFill>
                <a:latin typeface="Arial" charset="0"/>
                <a:ea typeface="MS PGothic" pitchFamily="18" charset="-120"/>
              </a:defRPr>
            </a:lvl9pPr>
          </a:lstStyle>
          <a:p>
            <a:pPr>
              <a:defRPr>
                <a:latin typeface="Arial"/>
                <a:ea typeface="MS PGothic"/>
              </a:defRPr>
            </a:pPr>
            <a:fld id="{8A1CC2BC-5918-49F0-B63E-CBAD895B9FF1}" type="slidenum">
              <a:rPr lang="en-US" altLang="zh-TW" sz="1200" b="0" smtClean="0">
                <a:latin typeface="Arial"/>
                <a:ea typeface="MS PGothic"/>
              </a:rPr>
              <a:pPr>
                <a:defRPr>
                  <a:latin typeface="Arial"/>
                  <a:ea typeface="MS PGothic"/>
                </a:defRPr>
              </a:pPr>
              <a:t>1</a:t>
            </a:fld>
            <a:endParaRPr lang="en-US" altLang="zh-TW" sz="1200" b="0">
              <a:latin typeface="Arial"/>
              <a:ea typeface="MS PGothic"/>
            </a:endParaRPr>
          </a:p>
        </p:txBody>
      </p:sp>
      <p:sp>
        <p:nvSpPr>
          <p:cNvPr id="70659" name="Rectangle 2"/>
          <p:cNvSpPr>
            <a:spLocks noGrp="1" noRot="1" noChangeAspect="1" noChangeArrowheads="1" noTextEdit="1"/>
          </p:cNvSpPr>
          <p:nvPr>
            <p:ph type="sldImg"/>
          </p:nvPr>
        </p:nvSpPr>
        <p:spPr>
          <a:xfrm>
            <a:off x="1143000" y="685800"/>
            <a:ext cx="4572000" cy="3429000"/>
          </a:xfrm>
          <a:ln/>
        </p:spPr>
      </p:sp>
      <p:sp>
        <p:nvSpPr>
          <p:cNvPr id="70660" name="Notes Placeholder 4"/>
          <p:cNvSpPr>
            <a:spLocks noGrp="1"/>
          </p:cNvSpPr>
          <p:nvPr/>
        </p:nvSpPr>
        <p:spPr bwMode="auto">
          <a:xfrm>
            <a:off x="914508" y="4343144"/>
            <a:ext cx="5028986" cy="411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30000"/>
              </a:spcBef>
            </a:pPr>
            <a:endParaRPr kumimoji="1" lang="en-US" sz="1200" b="0">
              <a:latin typeface="Arial" pitchFamily="18" charset="0"/>
              <a:ea typeface="MS PGothic"/>
            </a:endParaRPr>
          </a:p>
        </p:txBody>
      </p:sp>
      <p:sp>
        <p:nvSpPr>
          <p:cNvPr id="2" name="Notes Placeholder 1"/>
          <p:cNvSpPr>
            <a:spLocks noGrp="1"/>
          </p:cNvSpPr>
          <p:nvPr>
            <p:ph type="body" idx="1"/>
          </p:nvPr>
        </p:nvSpPr>
        <p:spPr/>
        <p:txBody>
          <a:bodyPr/>
          <a:lstStyle/>
          <a:p>
            <a:r>
              <a:t>[10초]</a:t>
            </a:r>
          </a:p>
          <a:p>
            <a:r>
              <a:t>안녕하세요, 학생자율연구II 연구계획을 발표할 박찬혁입니다. 제 연구는 GPS를 쓰기 어려운 환경에서 카메라, IMU, 거리센서를 하나의 필터로 융합하되, 센서마다 다른 측정 시점까지 고려하는 위치·자세 추정기를 만드는 것입니다.</a:t>
            </a:r>
          </a:p>
        </p:txBody>
      </p:sp>
    </p:spTree>
    <p:extLst>
      <p:ext uri="{BB962C8B-B14F-4D97-AF65-F5344CB8AC3E}">
        <p14:creationId xmlns:p14="http://schemas.microsoft.com/office/powerpoint/2010/main" val="3421518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자동차 내비게이션은 터널처럼 GPS가 끊기는 구간에서도 관성 정보로 위치를 이어서 계산합니다. 하지만 가속도를 적분하는 방식이라 시간이 지날수록 오차가 쌓입니다. 하늘에서도 같은 문제를 풀어야 하는데, NASA의 화성 헬리콥터 인저뉴어티는 아래를 보는 카메라, IMU, 레이저 고도계를 결합해 위성항법이 없는 화성에서 비행했습니다.</a:t>
            </a:r>
          </a:p>
          <a:p>
            <a:r>
              <a:t>이런 방식의 핵심은 두 가지입니다. IMU는 가속도와 각속도로 움직임을 예측하고, 옵티컬 플로우는 연속된 영상에서 화면이 얼마나 움직였는지를 구합니다. 다만 영상 이동은 픽셀 단위라서, 거리센서로 지면까지의 거리를 알아야 실제 속도가 됩니다.</a:t>
            </a:r>
          </a:p>
          <a:p>
            <a:r>
              <a:t>그래서 본 연구는 이 세 센서로 드론의 위치, 속도, 자세를 추정합니다. 다만 수평 위치는 오차가 쌓일 수 있다는 한계도 함께 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세 센서를 함께 쓰는 이유는 각자 한계가 있기 때문입니다. IMU는 오차가 쌓이고, 카메라만으로는 실제로 몇 미터 움직였는지 알 수 없습니다.</a:t>
            </a:r>
          </a:p>
          <a:p>
            <a:r>
              <a:t>그런데 융합할 때 문제가 생깁니다. (아래 그림) 이 그림은 Qin과 Shen 논문의 표현 방식을 따른 것입니다. 맨 위 IMU는 1초에 200번으로 촘촘하게, 카메라는 20번, 거리센서는 30번 측정합니다. 그리고 카메라는 찍은 순간이 아니라 영상 처리를 마친 뒤, 빨간 칸처럼 d만큼 늦게 도착합니다. 이 값을 도착한 순간의 값으로 쓰면, d만큼 이전의 움직임을 현재로 잘못 반영하게 됩니다.</a:t>
            </a:r>
          </a:p>
          <a:p>
            <a:r>
              <a:t>그래서 연구 목적은 측정 주기와 지연이 다른 세 센서를 하나의 EKF, 즉 IMU로 예측하고 측정값으로 고쳐 나가는 필터로 융합하고, 시간 처리의 효과를 정량적으로 확인하는 것입니다.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[50초]</a:t>
            </a:r>
          </a:p>
          <a:p>
            <a:r>
              <a:t>늦게 온 측정을 처리하는 방법은 세 가지로 정리할 수 있습니다. 시간 처리 절차는 지도교수님 연구실의 Kim과 Ahn의 논문을 참고하는데, 레이더와 V2X처럼 도착 시점이 다른 정보를 지연 보상, 시간 정렬, 과거 상태 재추정 순서로 처리했습니다.</a:t>
            </a:r>
          </a:p>
          <a:p>
            <a:r>
              <a:t>(아래 그림) A는 늦게 온 측정을 도착한 순간의 값으로 바로 쓰는 방식으로, 비교 기준입니다. B는 PX4처럼 필터 자체를 늦은 시점에서 돌리고 현재 값은 예측으로 따라갑니다. C는 측정 시점으로 되돌아가 보정한 뒤 현재까지 다시 계산하는 방식으로, Kim과 Ahn, 그리고 MSF-EKF의 방식이며 제가 구현할 핵심입니다.</a:t>
            </a:r>
          </a:p>
          <a:p>
            <a:r>
              <a:t>저는 이 세 방식을 같은 EKF에 구현해 정확도와 처리시간을 같은 데이터에서 비교하겠습니다.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방법입니다. 상태는 위치, 속도, 자세와 IMU 바이어스입니다. (위쪽 그림) IMU의 가속도와 각속도로 움직임을 예측하고, 영상 이동과 거리로 보정합니다. 영상 이동은 KLT로 구하는데, 기체가 기울기만 해도 영상이 움직이기 때문에 자이로로 회전 성분을 빼고, 추정한 고도를 이용해 실제 속도와 연결합니다. 거리센서는 기울기를 보정해 고도 측정으로 씁니다.</a:t>
            </a:r>
          </a:p>
          <a:p>
            <a:r>
              <a:t>(아래 빨간 상자) 이 연구의 핵심인 늦은 측정 처리입니다. 늦게 도착한 측정은 저장해 둔 이력에서 그 측정이 찍힌 시점의 상태를 꺼내 보정하고, 그 이후의 IMU 입력과 그 사이에 들어온 측정을 다시 적용해 현재까지 계산합니다. 그래서 버퍼는 최대 지연보다 길게 잡습니다.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[30초]</a:t>
            </a:r>
          </a:p>
          <a:p>
            <a:r>
              <a:t>일정입니다. 10월 전반에는 선행논문과 INSANE 데이터를 확보해 센서 주기와 타임스탬프를 정리하고, 10월 후반에는 영상 이동 추적과 IMU 예측으로 지연이 없는 기본 EKF를 만들어 기준 결과를 확보합니다. 핵심인 11월에는 버퍼와 시간 정렬, 과거 상태 재추정을 구현하고, 12월에 지연 크기별로 세 방식을 비교해 보고서로 정리하겠습니다.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[15초]</a:t>
            </a:r>
          </a:p>
          <a:p>
            <a:r>
              <a:t>정리하면, 차량 분야의 시간 처리 절차를 카메라·IMU·거리센서 기반 드론 항법에 구현하고, 지연 처리 방식별 효과를 정량적으로 비교하는 것이 이 연구입니다. 이상으로 발표를 마치겠습니다. 의견과 질문 부탁드립니다. 감사합니다.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[50초]</a:t>
            </a:r>
          </a:p>
          <a:p>
            <a:r>
              <a:t>구현과 평가 계획입니다. 데이터는 공개 드론 데이터셋 INSANE의 실내 구간을 씁니다. 하향 카메라, 거리센서, IMU가 있고, 모션캡처로 측정한 정답 궤적이 있습니다. 카메라 측정마다 처리시간과 추가 지연을 더해 도착 시점을 정하고, 도착 순서대로 재생해 실시간 상황을 재현합니다.</a:t>
            </a:r>
          </a:p>
          <a:p>
            <a:r>
              <a:t>영상 처리는 파이썬 OpenCV로, 필터와 시간 처리는 매트랩으로 구현합니다. 추가 지연을 0에서 100 ms까지 바꿔 가며, 지연을 무시한 경우, PX4처럼 지연 시점에서 융합한 경우, 과거 상태를 재추정한 경우를 정답 궤적 대비 위치 오차와 처리시간으로 비교하겠습니다. 예상은 정확도는 B와 C가 비슷하고, C는 현재 값이 보정 결과와 일치하는 대신 연산이 늘어난다는 것입니다. 이 차이를 숫자로 확인하겠습니다.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latin typeface="Arial"/>
                <a:ea typeface="MS PGothic"/>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a:ea typeface="MS PGothic"/>
              </a:defRPr>
            </a:lvl1pPr>
            <a:lvl2pPr marL="457200" indent="0" algn="ctr">
              <a:buNone/>
              <a:defRPr>
                <a:latin typeface="Arial"/>
                <a:ea typeface="MS PGothic"/>
              </a:defRPr>
            </a:lvl2pPr>
            <a:lvl3pPr marL="914400" indent="0" algn="ctr">
              <a:buNone/>
              <a:defRPr>
                <a:latin typeface="Arial"/>
                <a:ea typeface="MS PGothic"/>
              </a:defRPr>
            </a:lvl3pPr>
            <a:lvl4pPr marL="1371600" indent="0" algn="ctr">
              <a:buNone/>
              <a:defRPr>
                <a:latin typeface="Arial"/>
                <a:ea typeface="MS PGothic"/>
              </a:defRPr>
            </a:lvl4pPr>
            <a:lvl5pPr marL="1828800" indent="0" algn="ctr">
              <a:buNone/>
              <a:defRPr>
                <a:latin typeface="Arial"/>
                <a:ea typeface="MS PGothic"/>
              </a:defRPr>
            </a:lvl5pPr>
            <a:lvl6pPr marL="2286000" indent="0" algn="ctr">
              <a:buNone/>
              <a:defRPr>
                <a:latin typeface="Arial"/>
                <a:ea typeface="MS PGothic"/>
              </a:defRPr>
            </a:lvl6pPr>
            <a:lvl7pPr marL="2743200" indent="0" algn="ctr">
              <a:buNone/>
              <a:defRPr>
                <a:latin typeface="Arial"/>
                <a:ea typeface="MS PGothic"/>
              </a:defRPr>
            </a:lvl7pPr>
            <a:lvl8pPr marL="3200400" indent="0" algn="ctr">
              <a:buNone/>
              <a:defRPr>
                <a:latin typeface="Arial"/>
                <a:ea typeface="MS PGothic"/>
              </a:defRPr>
            </a:lvl8pPr>
            <a:lvl9pPr marL="3657600" indent="0" algn="ctr">
              <a:buNone/>
              <a:defRPr>
                <a:latin typeface="Arial"/>
                <a:ea typeface="MS PGothic"/>
              </a:defRPr>
            </a:lvl9pPr>
          </a:lstStyle>
          <a:p>
            <a:r>
              <a:rPr lang="en-US">
                <a:latin typeface="Arial"/>
                <a:ea typeface="MS PGothic"/>
              </a:rPr>
              <a:t>Click to edit Master subtitle style</a:t>
            </a:r>
          </a:p>
        </p:txBody>
      </p:sp>
    </p:spTree>
    <p:extLst>
      <p:ext uri="{BB962C8B-B14F-4D97-AF65-F5344CB8AC3E}">
        <p14:creationId xmlns:p14="http://schemas.microsoft.com/office/powerpoint/2010/main" val="37827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3" name="Content Placeholder 2"/>
          <p:cNvSpPr>
            <a:spLocks noGrp="1"/>
          </p:cNvSpPr>
          <p:nvPr>
            <p:ph idx="1"/>
          </p:nvPr>
        </p:nvSpPr>
        <p:spPr>
          <a:xfrm>
            <a:off x="457200" y="939800"/>
            <a:ext cx="8229600" cy="5334000"/>
          </a:xfrm>
        </p:spPr>
        <p:txBody>
          <a:bodyPr/>
          <a:lstStyle>
            <a:lvl2pPr marL="742950" indent="-285750">
              <a:buFont typeface="Arial" panose="020B0604020202020204" pitchFamily="34" charset="0"/>
              <a:buChar char="-"/>
              <a:defRPr>
                <a:latin typeface="Arial"/>
                <a:ea typeface="MS PGothic"/>
              </a:defRPr>
            </a:lvl2pPr>
          </a:lstStyle>
          <a:p>
            <a:pPr lvl="0"/>
            <a:r>
              <a:rPr lang="en-US" dirty="0">
                <a:latin typeface="Arial"/>
                <a:ea typeface="MS PGothic"/>
              </a:rPr>
              <a:t>Click to edit Master text styles</a:t>
            </a:r>
          </a:p>
          <a:p>
            <a:pPr lvl="1"/>
            <a:r>
              <a:rPr lang="en-US" dirty="0">
                <a:latin typeface="Arial"/>
                <a:ea typeface="MS PGothic"/>
              </a:rPr>
              <a:t>Second level</a:t>
            </a:r>
          </a:p>
          <a:p>
            <a:pPr lvl="2"/>
            <a:r>
              <a:rPr lang="en-US" dirty="0">
                <a:latin typeface="Arial"/>
                <a:ea typeface="MS PGothic"/>
              </a:rPr>
              <a:t>Third level</a:t>
            </a:r>
          </a:p>
          <a:p>
            <a:pPr lvl="3"/>
            <a:r>
              <a:rPr lang="en-US" dirty="0">
                <a:latin typeface="Arial"/>
                <a:ea typeface="MS PGothic"/>
              </a:rPr>
              <a:t>Fourth level</a:t>
            </a:r>
          </a:p>
          <a:p>
            <a:pPr lvl="4"/>
            <a:r>
              <a:rPr lang="en-US" dirty="0">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39960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Arial"/>
                <a:ea typeface="MS PGothic"/>
              </a:defRPr>
            </a:lvl1pPr>
            <a:lvl2pPr marL="457200" indent="0">
              <a:buNone/>
              <a:defRPr sz="1800">
                <a:latin typeface="Arial"/>
                <a:ea typeface="MS PGothic"/>
              </a:defRPr>
            </a:lvl2pPr>
            <a:lvl3pPr marL="914400" indent="0">
              <a:buNone/>
              <a:defRPr sz="1600">
                <a:latin typeface="Arial"/>
                <a:ea typeface="MS PGothic"/>
              </a:defRPr>
            </a:lvl3pPr>
            <a:lvl4pPr marL="1371600" indent="0">
              <a:buNone/>
              <a:defRPr sz="1400">
                <a:latin typeface="Arial"/>
                <a:ea typeface="MS PGothic"/>
              </a:defRPr>
            </a:lvl4pPr>
            <a:lvl5pPr marL="1828800" indent="0">
              <a:buNone/>
              <a:defRPr sz="1400">
                <a:latin typeface="Arial"/>
                <a:ea typeface="MS PGothic"/>
              </a:defRPr>
            </a:lvl5pPr>
            <a:lvl6pPr marL="2286000" indent="0">
              <a:buNone/>
              <a:defRPr sz="1400">
                <a:latin typeface="Arial"/>
                <a:ea typeface="MS PGothic"/>
              </a:defRPr>
            </a:lvl6pPr>
            <a:lvl7pPr marL="2743200" indent="0">
              <a:buNone/>
              <a:defRPr sz="1400">
                <a:latin typeface="Arial"/>
                <a:ea typeface="MS PGothic"/>
              </a:defRPr>
            </a:lvl7pPr>
            <a:lvl8pPr marL="3200400" indent="0">
              <a:buNone/>
              <a:defRPr sz="1400">
                <a:latin typeface="Arial"/>
                <a:ea typeface="MS PGothic"/>
              </a:defRPr>
            </a:lvl8pPr>
            <a:lvl9pPr marL="3657600" indent="0">
              <a:buNone/>
              <a:defRPr sz="1400">
                <a:latin typeface="Arial"/>
                <a:ea typeface="MS PGothic"/>
              </a:defRPr>
            </a:lvl9pPr>
          </a:lstStyle>
          <a:p>
            <a:pPr lvl="0"/>
            <a:r>
              <a:rPr lang="en-US">
                <a:latin typeface="Arial"/>
                <a:ea typeface="MS PGothic"/>
              </a:rPr>
              <a:t>Click to edit Master text styles</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20148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ontent Placeholder 3"/>
          <p:cNvSpPr>
            <a:spLocks noGrp="1"/>
          </p:cNvSpPr>
          <p:nvPr>
            <p:ph sz="half" idx="2"/>
          </p:nvPr>
        </p:nvSpPr>
        <p:spPr>
          <a:xfrm>
            <a:off x="46482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7" name="Straight Connector 6"/>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9" name="TextBox 8"/>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85788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7"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8" name="TextBox 7"/>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52587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7" name="TextBox 6"/>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49159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3" name="TextBox 2"/>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426982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Content Placeholder 2"/>
          <p:cNvSpPr>
            <a:spLocks noGrp="1"/>
          </p:cNvSpPr>
          <p:nvPr>
            <p:ph idx="1"/>
          </p:nvPr>
        </p:nvSpPr>
        <p:spPr>
          <a:xfrm>
            <a:off x="3575051" y="273052"/>
            <a:ext cx="5111750" cy="5853113"/>
          </a:xfrm>
        </p:spPr>
        <p:txBody>
          <a:bodyPr/>
          <a:lstStyle>
            <a:lvl1pPr>
              <a:defRPr sz="3200">
                <a:latin typeface="Arial"/>
                <a:ea typeface="MS PGothic"/>
              </a:defRPr>
            </a:lvl1pPr>
            <a:lvl2pPr>
              <a:defRPr sz="2800">
                <a:latin typeface="Arial"/>
                <a:ea typeface="MS PGothic"/>
              </a:defRPr>
            </a:lvl2pPr>
            <a:lvl3pPr>
              <a:defRPr sz="2400">
                <a:latin typeface="Arial"/>
                <a:ea typeface="MS PGothic"/>
              </a:defRPr>
            </a:lvl3pPr>
            <a:lvl4pPr>
              <a:defRPr sz="2000">
                <a:latin typeface="Arial"/>
                <a:ea typeface="MS PGothic"/>
              </a:defRPr>
            </a:lvl4pPr>
            <a:lvl5pPr>
              <a:defRPr sz="2000">
                <a:latin typeface="Arial"/>
                <a:ea typeface="MS PGothic"/>
              </a:defRPr>
            </a:lvl5pPr>
            <a:lvl6pPr>
              <a:defRPr sz="2000">
                <a:latin typeface="Arial"/>
                <a:ea typeface="MS PGothic"/>
              </a:defRPr>
            </a:lvl6pPr>
            <a:lvl7pPr>
              <a:defRPr sz="2000">
                <a:latin typeface="Arial"/>
                <a:ea typeface="MS PGothic"/>
              </a:defRPr>
            </a:lvl7pPr>
            <a:lvl8pPr>
              <a:defRPr sz="2000">
                <a:latin typeface="Arial"/>
                <a:ea typeface="MS PGothic"/>
              </a:defRPr>
            </a:lvl8pPr>
            <a:lvl9pPr>
              <a:defRPr sz="20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Text Placeholder 3"/>
          <p:cNvSpPr>
            <a:spLocks noGrp="1"/>
          </p:cNvSpPr>
          <p:nvPr>
            <p:ph type="body" sz="half" idx="2"/>
          </p:nvPr>
        </p:nvSpPr>
        <p:spPr>
          <a:xfrm>
            <a:off x="457200" y="1435102"/>
            <a:ext cx="3008313" cy="4691063"/>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81182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Arial"/>
                <a:ea typeface="MS PGothic"/>
              </a:defRPr>
            </a:lvl1pPr>
            <a:lvl2pPr marL="457200" indent="0">
              <a:buNone/>
              <a:defRPr sz="2800">
                <a:latin typeface="Arial"/>
                <a:ea typeface="MS PGothic"/>
              </a:defRPr>
            </a:lvl2pPr>
            <a:lvl3pPr marL="914400" indent="0">
              <a:buNone/>
              <a:defRPr sz="2400">
                <a:latin typeface="Arial"/>
                <a:ea typeface="MS PGothic"/>
              </a:defRPr>
            </a:lvl3pPr>
            <a:lvl4pPr marL="1371600" indent="0">
              <a:buNone/>
              <a:defRPr sz="2000">
                <a:latin typeface="Arial"/>
                <a:ea typeface="MS PGothic"/>
              </a:defRPr>
            </a:lvl4pPr>
            <a:lvl5pPr marL="1828800" indent="0">
              <a:buNone/>
              <a:defRPr sz="2000">
                <a:latin typeface="Arial"/>
                <a:ea typeface="MS PGothic"/>
              </a:defRPr>
            </a:lvl5pPr>
            <a:lvl6pPr marL="2286000" indent="0">
              <a:buNone/>
              <a:defRPr sz="2000">
                <a:latin typeface="Arial"/>
                <a:ea typeface="MS PGothic"/>
              </a:defRPr>
            </a:lvl6pPr>
            <a:lvl7pPr marL="2743200" indent="0">
              <a:buNone/>
              <a:defRPr sz="2000">
                <a:latin typeface="Arial"/>
                <a:ea typeface="MS PGothic"/>
              </a:defRPr>
            </a:lvl7pPr>
            <a:lvl8pPr marL="3200400" indent="0">
              <a:buNone/>
              <a:defRPr sz="2000">
                <a:latin typeface="Arial"/>
                <a:ea typeface="MS PGothic"/>
              </a:defRPr>
            </a:lvl8pPr>
            <a:lvl9pPr marL="3657600" indent="0">
              <a:buNone/>
              <a:defRPr sz="2000">
                <a:latin typeface="Arial"/>
                <a:ea typeface="MS PGothic"/>
              </a:defRPr>
            </a:lvl9pPr>
          </a:lstStyle>
          <a:p>
            <a:pPr lvl="0"/>
            <a:endParaRPr lang="en-US" noProof="0" dirty="0">
              <a:latin typeface="Arial"/>
              <a:ea typeface="MS PGothic"/>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751233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Arial"/>
                <a:ea typeface="MS PGothic"/>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69577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715000"/>
          </a:xfrm>
        </p:spPr>
        <p:txBody>
          <a:bodyPr vert="eaVert"/>
          <a:lstStyle/>
          <a:p>
            <a:r>
              <a:rPr lang="en-US">
                <a:latin typeface="Arial"/>
                <a:ea typeface="MS PGothic"/>
              </a:rPr>
              <a:t>Click to edit Master title style</a:t>
            </a:r>
          </a:p>
        </p:txBody>
      </p:sp>
      <p:sp>
        <p:nvSpPr>
          <p:cNvPr id="3" name="Vertical Text Placeholder 2"/>
          <p:cNvSpPr>
            <a:spLocks noGrp="1"/>
          </p:cNvSpPr>
          <p:nvPr>
            <p:ph type="body" orient="vert" idx="1"/>
          </p:nvPr>
        </p:nvSpPr>
        <p:spPr>
          <a:xfrm>
            <a:off x="685800" y="228600"/>
            <a:ext cx="5676900" cy="5715000"/>
          </a:xfrm>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4273031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latin typeface="Arial"/>
                <a:ea typeface="MS PGothic"/>
              </a:rPr>
              <a:t>Click to edit Master title style</a:t>
            </a:r>
          </a:p>
        </p:txBody>
      </p:sp>
      <p:sp>
        <p:nvSpPr>
          <p:cNvPr id="3" name="Text Placeholder 2"/>
          <p:cNvSpPr>
            <a:spLocks noGrp="1"/>
          </p:cNvSpPr>
          <p:nvPr>
            <p:ph type="body" sz="half" idx="1"/>
          </p:nvPr>
        </p:nvSpPr>
        <p:spPr>
          <a:xfrm>
            <a:off x="685800" y="1676400"/>
            <a:ext cx="3810000" cy="4267200"/>
          </a:xfrm>
        </p:spPr>
        <p:txBody>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hart Placeholder 3"/>
          <p:cNvSpPr>
            <a:spLocks noGrp="1"/>
          </p:cNvSpPr>
          <p:nvPr>
            <p:ph type="chart" sz="half" idx="2"/>
          </p:nvPr>
        </p:nvSpPr>
        <p:spPr>
          <a:xfrm>
            <a:off x="4648200" y="1676400"/>
            <a:ext cx="3810000" cy="4267200"/>
          </a:xfrm>
        </p:spPr>
        <p:txBody>
          <a:bodyPr/>
          <a:lstStyle/>
          <a:p>
            <a:pPr lvl="0"/>
            <a:endParaRPr lang="en-US" noProof="0" dirty="0">
              <a:latin typeface="Arial"/>
              <a:ea typeface="MS PGothic"/>
            </a:endParaRP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5611519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bwMode="auto">
          <a:xfrm>
            <a:off x="0" y="6315075"/>
            <a:ext cx="9144000" cy="542925"/>
          </a:xfrm>
          <a:prstGeom prst="rect">
            <a:avLst/>
          </a:prstGeom>
          <a:gradFill flip="none" rotWithShape="1">
            <a:gsLst>
              <a:gs pos="0">
                <a:schemeClr val="bg1"/>
              </a:gs>
              <a:gs pos="11664">
                <a:srgbClr val="FFFFFF"/>
              </a:gs>
              <a:gs pos="100000">
                <a:srgbClr val="3B4C97">
                  <a:shade val="100000"/>
                  <a:satMod val="115000"/>
                </a:srgbClr>
              </a:gs>
            </a:gsLst>
            <a:lin ang="0" scaled="0"/>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MS PGothic" pitchFamily="1" charset="-128"/>
            </a:endParaRPr>
          </a:p>
        </p:txBody>
      </p:sp>
      <p:sp>
        <p:nvSpPr>
          <p:cNvPr id="1027" name="Rectangle 2"/>
          <p:cNvSpPr>
            <a:spLocks noGrp="1" noChangeArrowheads="1"/>
          </p:cNvSpPr>
          <p:nvPr>
            <p:ph type="title"/>
          </p:nvPr>
        </p:nvSpPr>
        <p:spPr bwMode="auto">
          <a:xfrm>
            <a:off x="457200" y="228600"/>
            <a:ext cx="8229600" cy="822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latin typeface="Arial"/>
                <a:ea typeface="MS PGothic"/>
              </a:rPr>
              <a:t>Click to edit Master title style</a:t>
            </a:r>
          </a:p>
        </p:txBody>
      </p:sp>
      <p:sp>
        <p:nvSpPr>
          <p:cNvPr id="1028" name="Rectangle 3"/>
          <p:cNvSpPr>
            <a:spLocks noGrp="1" noChangeArrowheads="1"/>
          </p:cNvSpPr>
          <p:nvPr>
            <p:ph type="body" idx="1"/>
          </p:nvPr>
        </p:nvSpPr>
        <p:spPr bwMode="auto">
          <a:xfrm>
            <a:off x="457200" y="1185400"/>
            <a:ext cx="8229600" cy="493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12" name="TextBox 11"/>
          <p:cNvSpPr txBox="1"/>
          <p:nvPr userDrawn="1"/>
        </p:nvSpPr>
        <p:spPr>
          <a:xfrm>
            <a:off x="1133475" y="6372438"/>
            <a:ext cx="1547537" cy="415498"/>
          </a:xfrm>
          <a:prstGeom prst="rect">
            <a:avLst/>
          </a:prstGeom>
          <a:noFill/>
        </p:spPr>
        <p:txBody>
          <a:bodyPr wrap="square" rtlCol="0">
            <a:spAutoFit/>
          </a:bodyPr>
          <a:lstStyle/>
          <a:p>
            <a:r>
              <a:rPr lang="en-US" sz="1050" dirty="0">
                <a:solidFill>
                  <a:schemeClr val="tx1"/>
                </a:solidFill>
                <a:latin typeface="Arial"/>
                <a:ea typeface="MS PGothic"/>
              </a:rPr>
              <a:t>Vehicle</a:t>
            </a:r>
            <a:r>
              <a:rPr lang="en-US" sz="1050" baseline="0" dirty="0">
                <a:solidFill>
                  <a:schemeClr val="tx1"/>
                </a:solidFill>
                <a:latin typeface="Arial"/>
                <a:ea typeface="MS PGothic"/>
              </a:rPr>
              <a:t> Dynamics and Energy Control Lab.</a:t>
            </a:r>
            <a:endParaRPr lang="en-US" sz="1050" dirty="0">
              <a:solidFill>
                <a:schemeClr val="tx1"/>
              </a:solidFill>
              <a:latin typeface="Arial"/>
              <a:ea typeface="MS PGothic"/>
            </a:endParaRPr>
          </a:p>
        </p:txBody>
      </p:sp>
      <p:pic>
        <p:nvPicPr>
          <p:cNvPr id="4" name="Picture 3"/>
          <p:cNvPicPr>
            <a:picLocks noChangeAspect="1" noChangeArrowheads="1"/>
          </p:cNvPicPr>
          <p:nvPr userDrawn="1"/>
        </p:nvPicPr>
        <p:blipFill>
          <a:blip r:embed="rId14" cstate="print">
            <a:clrChange>
              <a:clrFrom>
                <a:srgbClr val="070404"/>
              </a:clrFrom>
              <a:clrTo>
                <a:srgbClr val="070404">
                  <a:alpha val="0"/>
                </a:srgbClr>
              </a:clrTo>
            </a:clrChange>
            <a:extLst>
              <a:ext uri="{28A0092B-C50C-407E-A947-70E740481C1C}">
                <a14:useLocalDpi xmlns:a14="http://schemas.microsoft.com/office/drawing/2010/main" val="0"/>
              </a:ext>
            </a:extLst>
          </a:blip>
          <a:srcRect/>
          <a:stretch>
            <a:fillRect/>
          </a:stretch>
        </p:blipFill>
        <p:spPr bwMode="auto">
          <a:xfrm>
            <a:off x="7710488" y="6397184"/>
            <a:ext cx="1243012" cy="390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userDrawn="1"/>
        </p:nvPicPr>
        <p:blipFill rotWithShape="1">
          <a:blip r:embed="rId15" cstate="print">
            <a:extLst>
              <a:ext uri="{28A0092B-C50C-407E-A947-70E740481C1C}">
                <a14:useLocalDpi xmlns:a14="http://schemas.microsoft.com/office/drawing/2010/main" val="0"/>
              </a:ext>
            </a:extLst>
          </a:blip>
          <a:srcRect b="16120"/>
          <a:stretch/>
        </p:blipFill>
        <p:spPr bwMode="auto">
          <a:xfrm>
            <a:off x="114300" y="6372225"/>
            <a:ext cx="1047750" cy="35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200" b="1">
          <a:solidFill>
            <a:srgbClr val="000F65"/>
          </a:solidFill>
          <a:latin typeface="Arial"/>
          <a:ea typeface="MS PGothic"/>
          <a:cs typeface="+mj-cs"/>
        </a:defRPr>
      </a:lvl1pPr>
      <a:lvl2pPr algn="l" rtl="0" eaLnBrk="0" fontAlgn="base" hangingPunct="0">
        <a:spcBef>
          <a:spcPct val="0"/>
        </a:spcBef>
        <a:spcAft>
          <a:spcPct val="0"/>
        </a:spcAft>
        <a:defRPr sz="4200" b="1">
          <a:solidFill>
            <a:srgbClr val="000F65"/>
          </a:solidFill>
          <a:latin typeface="Arial" charset="0"/>
          <a:ea typeface="MS PGothic" pitchFamily="1" charset="-128"/>
        </a:defRPr>
      </a:lvl2pPr>
      <a:lvl3pPr algn="l" rtl="0" eaLnBrk="0" fontAlgn="base" hangingPunct="0">
        <a:spcBef>
          <a:spcPct val="0"/>
        </a:spcBef>
        <a:spcAft>
          <a:spcPct val="0"/>
        </a:spcAft>
        <a:defRPr sz="4200" b="1">
          <a:solidFill>
            <a:srgbClr val="000F65"/>
          </a:solidFill>
          <a:latin typeface="Arial" charset="0"/>
          <a:ea typeface="MS PGothic" pitchFamily="1" charset="-128"/>
        </a:defRPr>
      </a:lvl3pPr>
      <a:lvl4pPr algn="l" rtl="0" eaLnBrk="0" fontAlgn="base" hangingPunct="0">
        <a:spcBef>
          <a:spcPct val="0"/>
        </a:spcBef>
        <a:spcAft>
          <a:spcPct val="0"/>
        </a:spcAft>
        <a:defRPr sz="4200" b="1">
          <a:solidFill>
            <a:srgbClr val="000F65"/>
          </a:solidFill>
          <a:latin typeface="Arial" charset="0"/>
          <a:ea typeface="MS PGothic" pitchFamily="1" charset="-128"/>
        </a:defRPr>
      </a:lvl4pPr>
      <a:lvl5pPr algn="l" rtl="0" eaLnBrk="0" fontAlgn="base" hangingPunct="0">
        <a:spcBef>
          <a:spcPct val="0"/>
        </a:spcBef>
        <a:spcAft>
          <a:spcPct val="0"/>
        </a:spcAft>
        <a:defRPr sz="4200" b="1">
          <a:solidFill>
            <a:srgbClr val="000F65"/>
          </a:solidFill>
          <a:latin typeface="Arial" charset="0"/>
          <a:ea typeface="MS PGothic" pitchFamily="1" charset="-128"/>
        </a:defRPr>
      </a:lvl5pPr>
      <a:lvl6pPr marL="457200" algn="l" rtl="0" fontAlgn="base">
        <a:spcBef>
          <a:spcPct val="0"/>
        </a:spcBef>
        <a:spcAft>
          <a:spcPct val="0"/>
        </a:spcAft>
        <a:defRPr sz="4200" b="1">
          <a:solidFill>
            <a:srgbClr val="000F65"/>
          </a:solidFill>
          <a:latin typeface="Arial" charset="0"/>
          <a:ea typeface="MS PGothic" pitchFamily="1" charset="-128"/>
        </a:defRPr>
      </a:lvl6pPr>
      <a:lvl7pPr marL="914400" algn="l" rtl="0" fontAlgn="base">
        <a:spcBef>
          <a:spcPct val="0"/>
        </a:spcBef>
        <a:spcAft>
          <a:spcPct val="0"/>
        </a:spcAft>
        <a:defRPr sz="4200" b="1">
          <a:solidFill>
            <a:srgbClr val="000F65"/>
          </a:solidFill>
          <a:latin typeface="Arial" charset="0"/>
          <a:ea typeface="MS PGothic" pitchFamily="1" charset="-128"/>
        </a:defRPr>
      </a:lvl7pPr>
      <a:lvl8pPr marL="1371600" algn="l" rtl="0" fontAlgn="base">
        <a:spcBef>
          <a:spcPct val="0"/>
        </a:spcBef>
        <a:spcAft>
          <a:spcPct val="0"/>
        </a:spcAft>
        <a:defRPr sz="4200" b="1">
          <a:solidFill>
            <a:srgbClr val="000F65"/>
          </a:solidFill>
          <a:latin typeface="Arial" charset="0"/>
          <a:ea typeface="MS PGothic" pitchFamily="1" charset="-128"/>
        </a:defRPr>
      </a:lvl8pPr>
      <a:lvl9pPr marL="1828800" algn="l" rtl="0" fontAlgn="base">
        <a:spcBef>
          <a:spcPct val="0"/>
        </a:spcBef>
        <a:spcAft>
          <a:spcPct val="0"/>
        </a:spcAft>
        <a:defRPr sz="4200" b="1">
          <a:solidFill>
            <a:srgbClr val="000F65"/>
          </a:solidFill>
          <a:latin typeface="Arial" charset="0"/>
          <a:ea typeface="MS PGothic" pitchFamily="1" charset="-128"/>
        </a:defRPr>
      </a:lvl9pPr>
    </p:titleStyle>
    <p:bodyStyle>
      <a:lvl1pPr marL="342900" indent="-342900" algn="l" rtl="0" eaLnBrk="0" fontAlgn="base" hangingPunct="0">
        <a:spcBef>
          <a:spcPct val="20000"/>
        </a:spcBef>
        <a:spcAft>
          <a:spcPct val="0"/>
        </a:spcAft>
        <a:buFont typeface="Wingdings" pitchFamily="2" charset="2"/>
        <a:defRPr sz="2800">
          <a:solidFill>
            <a:srgbClr val="000F65"/>
          </a:solidFill>
          <a:latin typeface="Arial"/>
          <a:ea typeface="MS PGothic"/>
          <a:cs typeface="+mn-cs"/>
        </a:defRPr>
      </a:lvl1pPr>
      <a:lvl2pPr marL="742950" indent="-285750" algn="l" rtl="0" eaLnBrk="0" fontAlgn="base" hangingPunct="0">
        <a:spcBef>
          <a:spcPct val="20000"/>
        </a:spcBef>
        <a:spcAft>
          <a:spcPct val="0"/>
        </a:spcAft>
        <a:buFont typeface="Wingdings" pitchFamily="2" charset="2"/>
        <a:buChar char="§"/>
        <a:defRPr sz="2800">
          <a:solidFill>
            <a:srgbClr val="000F65"/>
          </a:solidFill>
          <a:latin typeface="Arial"/>
          <a:ea typeface="MS PGothic"/>
        </a:defRPr>
      </a:lvl2pPr>
      <a:lvl3pPr marL="1143000" indent="-228600" algn="l" rtl="0" eaLnBrk="0" fontAlgn="base" hangingPunct="0">
        <a:spcBef>
          <a:spcPct val="20000"/>
        </a:spcBef>
        <a:spcAft>
          <a:spcPct val="0"/>
        </a:spcAft>
        <a:buFont typeface="Wingdings" pitchFamily="2" charset="2"/>
        <a:buChar char="§"/>
        <a:defRPr sz="2400">
          <a:solidFill>
            <a:srgbClr val="000F65"/>
          </a:solidFill>
          <a:latin typeface="Arial"/>
          <a:ea typeface="MS PGothic"/>
        </a:defRPr>
      </a:lvl3pPr>
      <a:lvl4pPr marL="1600200" indent="-228600" algn="l" rtl="0" eaLnBrk="0" fontAlgn="base" hangingPunct="0">
        <a:spcBef>
          <a:spcPct val="20000"/>
        </a:spcBef>
        <a:spcAft>
          <a:spcPct val="0"/>
        </a:spcAft>
        <a:buFont typeface="Wingdings" pitchFamily="2" charset="2"/>
        <a:buChar char="§"/>
        <a:defRPr sz="2000">
          <a:solidFill>
            <a:srgbClr val="000F65"/>
          </a:solidFill>
          <a:latin typeface="Arial"/>
          <a:ea typeface="MS PGothic"/>
        </a:defRPr>
      </a:lvl4pPr>
      <a:lvl5pPr marL="2057400" indent="-228600" algn="l" rtl="0" eaLnBrk="0" fontAlgn="base" hangingPunct="0">
        <a:spcBef>
          <a:spcPct val="20000"/>
        </a:spcBef>
        <a:spcAft>
          <a:spcPct val="0"/>
        </a:spcAft>
        <a:buFont typeface="Wingdings" pitchFamily="2" charset="2"/>
        <a:defRPr sz="1400">
          <a:solidFill>
            <a:srgbClr val="000F65"/>
          </a:solidFill>
          <a:latin typeface="Arial"/>
          <a:ea typeface="MS PGothic"/>
        </a:defRPr>
      </a:lvl5pPr>
      <a:lvl6pPr marL="2514600" indent="-228600" algn="l" rtl="0" fontAlgn="base">
        <a:spcBef>
          <a:spcPct val="20000"/>
        </a:spcBef>
        <a:spcAft>
          <a:spcPct val="0"/>
        </a:spcAft>
        <a:buFont typeface="Wingdings" pitchFamily="1" charset="2"/>
        <a:defRPr sz="1400">
          <a:solidFill>
            <a:srgbClr val="000F65"/>
          </a:solidFill>
          <a:latin typeface="Arial"/>
          <a:ea typeface="MS PGothic"/>
        </a:defRPr>
      </a:lvl6pPr>
      <a:lvl7pPr marL="2971800" indent="-228600" algn="l" rtl="0" fontAlgn="base">
        <a:spcBef>
          <a:spcPct val="20000"/>
        </a:spcBef>
        <a:spcAft>
          <a:spcPct val="0"/>
        </a:spcAft>
        <a:buFont typeface="Wingdings" pitchFamily="1" charset="2"/>
        <a:defRPr sz="1400">
          <a:solidFill>
            <a:srgbClr val="000F65"/>
          </a:solidFill>
          <a:latin typeface="Arial"/>
          <a:ea typeface="MS PGothic"/>
        </a:defRPr>
      </a:lvl7pPr>
      <a:lvl8pPr marL="3429000" indent="-228600" algn="l" rtl="0" fontAlgn="base">
        <a:spcBef>
          <a:spcPct val="20000"/>
        </a:spcBef>
        <a:spcAft>
          <a:spcPct val="0"/>
        </a:spcAft>
        <a:buFont typeface="Wingdings" pitchFamily="1" charset="2"/>
        <a:defRPr sz="1400">
          <a:solidFill>
            <a:srgbClr val="000F65"/>
          </a:solidFill>
          <a:latin typeface="Arial"/>
          <a:ea typeface="MS PGothic"/>
        </a:defRPr>
      </a:lvl8pPr>
      <a:lvl9pPr marL="3886200" indent="-228600" algn="l" rtl="0" fontAlgn="base">
        <a:spcBef>
          <a:spcPct val="20000"/>
        </a:spcBef>
        <a:spcAft>
          <a:spcPct val="0"/>
        </a:spcAft>
        <a:buFont typeface="Wingdings" pitchFamily="1" charset="2"/>
        <a:defRPr sz="1400">
          <a:solidFill>
            <a:srgbClr val="000F65"/>
          </a:solidFill>
          <a:latin typeface="Arial"/>
          <a:ea typeface="MS PGothic"/>
        </a:defRPr>
      </a:lvl9pPr>
    </p:bodyStyle>
    <p:otherStyle>
      <a:defPPr>
        <a:defRPr lang="en-US">
          <a:latin typeface="Arial"/>
          <a:ea typeface="MS PGothic"/>
        </a:defRPr>
      </a:defPPr>
      <a:lvl1pPr marL="0" algn="l" defTabSz="914400" rtl="0" eaLnBrk="1" latinLnBrk="0" hangingPunct="1">
        <a:defRPr sz="1800" kern="1200">
          <a:solidFill>
            <a:schemeClr val="tx1"/>
          </a:solidFill>
          <a:latin typeface="Arial"/>
          <a:ea typeface="MS PGothic"/>
          <a:cs typeface="+mn-cs"/>
        </a:defRPr>
      </a:lvl1pPr>
      <a:lvl2pPr marL="457200" algn="l" defTabSz="914400" rtl="0" eaLnBrk="1" latinLnBrk="0" hangingPunct="1">
        <a:defRPr sz="1800" kern="1200">
          <a:solidFill>
            <a:schemeClr val="tx1"/>
          </a:solidFill>
          <a:latin typeface="Arial"/>
          <a:ea typeface="MS PGothic"/>
          <a:cs typeface="+mn-cs"/>
        </a:defRPr>
      </a:lvl2pPr>
      <a:lvl3pPr marL="914400" algn="l" defTabSz="914400" rtl="0" eaLnBrk="1" latinLnBrk="0" hangingPunct="1">
        <a:defRPr sz="1800" kern="1200">
          <a:solidFill>
            <a:schemeClr val="tx1"/>
          </a:solidFill>
          <a:latin typeface="Arial"/>
          <a:ea typeface="MS PGothic"/>
          <a:cs typeface="+mn-cs"/>
        </a:defRPr>
      </a:lvl3pPr>
      <a:lvl4pPr marL="1371600" algn="l" defTabSz="914400" rtl="0" eaLnBrk="1" latinLnBrk="0" hangingPunct="1">
        <a:defRPr sz="1800" kern="1200">
          <a:solidFill>
            <a:schemeClr val="tx1"/>
          </a:solidFill>
          <a:latin typeface="Arial"/>
          <a:ea typeface="MS PGothic"/>
          <a:cs typeface="+mn-cs"/>
        </a:defRPr>
      </a:lvl4pPr>
      <a:lvl5pPr marL="1828800" algn="l" defTabSz="914400" rtl="0" eaLnBrk="1" latinLnBrk="0" hangingPunct="1">
        <a:defRPr sz="1800" kern="1200">
          <a:solidFill>
            <a:schemeClr val="tx1"/>
          </a:solidFill>
          <a:latin typeface="Arial"/>
          <a:ea typeface="MS PGothic"/>
          <a:cs typeface="+mn-cs"/>
        </a:defRPr>
      </a:lvl5pPr>
      <a:lvl6pPr marL="2286000" algn="l" defTabSz="914400" rtl="0" eaLnBrk="1" latinLnBrk="0" hangingPunct="1">
        <a:defRPr sz="1800" kern="1200">
          <a:solidFill>
            <a:schemeClr val="tx1"/>
          </a:solidFill>
          <a:latin typeface="Arial"/>
          <a:ea typeface="MS PGothic"/>
          <a:cs typeface="+mn-cs"/>
        </a:defRPr>
      </a:lvl6pPr>
      <a:lvl7pPr marL="2743200" algn="l" defTabSz="914400" rtl="0" eaLnBrk="1" latinLnBrk="0" hangingPunct="1">
        <a:defRPr sz="1800" kern="1200">
          <a:solidFill>
            <a:schemeClr val="tx1"/>
          </a:solidFill>
          <a:latin typeface="Arial"/>
          <a:ea typeface="MS PGothic"/>
          <a:cs typeface="+mn-cs"/>
        </a:defRPr>
      </a:lvl7pPr>
      <a:lvl8pPr marL="3200400" algn="l" defTabSz="914400" rtl="0" eaLnBrk="1" latinLnBrk="0" hangingPunct="1">
        <a:defRPr sz="1800" kern="1200">
          <a:solidFill>
            <a:schemeClr val="tx1"/>
          </a:solidFill>
          <a:latin typeface="Arial"/>
          <a:ea typeface="MS PGothic"/>
          <a:cs typeface="+mn-cs"/>
        </a:defRPr>
      </a:lvl8pPr>
      <a:lvl9pPr marL="3657600" algn="l" defTabSz="914400" rtl="0" eaLnBrk="1" latinLnBrk="0" hangingPunct="1">
        <a:defRPr sz="1800" kern="1200">
          <a:solidFill>
            <a:schemeClr val="tx1"/>
          </a:solidFill>
          <a:latin typeface="Arial"/>
          <a:ea typeface="MS PGothic"/>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ctrTitle"/>
          </p:nvPr>
        </p:nvSpPr>
        <p:spPr>
          <a:xfrm>
            <a:off x="548640" y="1051560"/>
            <a:ext cx="8046720" cy="1325880"/>
          </a:xfrm>
        </p:spPr>
        <p:txBody>
          <a:bodyPr wrap="square" anchor="ctr" lIns="73152" rIns="73152" tIns="36576" bIns="36576">
            <a:normAutofit/>
          </a:bodyPr>
          <a:lstStyle/>
          <a:p>
            <a:pPr algn="ctr" marL="0" indent="0">
              <a:lnSpc>
                <a:spcPct val="110000"/>
              </a:lnSpc>
              <a:buNone/>
            </a:pPr>
            <a:r>
              <a:rPr sz="2600" b="1" i="0">
                <a:solidFill>
                  <a:srgbClr val="000F65"/>
                </a:solidFill>
                <a:latin typeface="Arial"/>
                <a:ea typeface="MS PGothic"/>
              </a:rPr>
              <a:t>GPS 사용 불가 환경에서 비전 보조 항법을 위한</a:t>
            </a:r>
          </a:p>
          <a:p>
            <a:pPr algn="ctr" marL="0" indent="0">
              <a:lnSpc>
                <a:spcPct val="110000"/>
              </a:lnSpc>
              <a:buNone/>
            </a:pPr>
            <a:r>
              <a:rPr sz="2600" b="1" i="0">
                <a:solidFill>
                  <a:srgbClr val="000F65"/>
                </a:solidFill>
                <a:latin typeface="Arial"/>
                <a:ea typeface="MS PGothic"/>
              </a:rPr>
              <a:t>다중센서 융합</a:t>
            </a:r>
          </a:p>
        </p:txBody>
      </p:sp>
      <p:sp>
        <p:nvSpPr>
          <p:cNvPr id="1027" name="TextBox 1026"/>
          <p:cNvSpPr txBox="1"/>
          <p:nvPr/>
        </p:nvSpPr>
        <p:spPr>
          <a:xfrm>
            <a:off x="731520" y="2423160"/>
            <a:ext cx="7680960" cy="411480"/>
          </a:xfrm>
          <a:prstGeom prst="rect">
            <a:avLst/>
          </a:prstGeom>
          <a:noFill/>
        </p:spPr>
        <p:txBody>
          <a:bodyPr wrap="square" anchor="ctr" lIns="73152" rIns="73152" tIns="36576" bIns="36576">
            <a:spAutoFit/>
          </a:bodyPr>
          <a:lstStyle/>
          <a:p>
            <a:pPr algn="ctr" marL="0" indent="0">
              <a:lnSpc>
                <a:spcPct val="110000"/>
              </a:lnSpc>
              <a:buNone/>
            </a:pPr>
            <a:r>
              <a:rPr sz="1700" b="1" i="0">
                <a:solidFill>
                  <a:srgbClr val="333399"/>
                </a:solidFill>
                <a:latin typeface="Arial"/>
                <a:ea typeface="MS PGothic"/>
              </a:rPr>
              <a:t>측정 주기와 지연을 고려한 카메라·IMU·거리센서 융합 추정기</a:t>
            </a:r>
          </a:p>
        </p:txBody>
      </p:sp>
      <p:sp>
        <p:nvSpPr>
          <p:cNvPr id="1028" name="TextBox 1027"/>
          <p:cNvSpPr txBox="1"/>
          <p:nvPr/>
        </p:nvSpPr>
        <p:spPr>
          <a:xfrm>
            <a:off x="731520" y="2880360"/>
            <a:ext cx="7680960" cy="457200"/>
          </a:xfrm>
          <a:prstGeom prst="rect">
            <a:avLst/>
          </a:prstGeom>
          <a:noFill/>
        </p:spPr>
        <p:txBody>
          <a:bodyPr wrap="square" anchor="ctr" lIns="73152" rIns="73152" tIns="36576" bIns="36576">
            <a:spAutoFit/>
          </a:bodyPr>
          <a:lstStyle/>
          <a:p>
            <a:pPr algn="ctr" marL="0" indent="0">
              <a:lnSpc>
                <a:spcPct val="110000"/>
              </a:lnSpc>
              <a:buNone/>
            </a:pPr>
            <a:r>
              <a:rPr sz="1300" b="0" i="1">
                <a:solidFill>
                  <a:srgbClr val="333399"/>
                </a:solidFill>
                <a:latin typeface="Arial"/>
                <a:ea typeface="MS PGothic"/>
              </a:rPr>
              <a:t>Multi-Sensor Fusion for Vision-Aided Navigation in GPS-Denied Environments</a:t>
            </a:r>
          </a:p>
        </p:txBody>
      </p:sp>
      <p:sp>
        <p:nvSpPr>
          <p:cNvPr id="1029" name="TextBox 1028"/>
          <p:cNvSpPr txBox="1"/>
          <p:nvPr/>
        </p:nvSpPr>
        <p:spPr>
          <a:xfrm>
            <a:off x="914400" y="3977639"/>
            <a:ext cx="7315200" cy="1600200"/>
          </a:xfrm>
          <a:prstGeom prst="rect">
            <a:avLst/>
          </a:prstGeom>
          <a:noFill/>
        </p:spPr>
        <p:txBody>
          <a:bodyPr wrap="square" anchor="ctr" lIns="73152" rIns="73152" tIns="36576" bIns="36576">
            <a:spAutoFit/>
          </a:bodyPr>
          <a:lstStyle/>
          <a:p>
            <a:pPr algn="ctr" marL="0" indent="0">
              <a:lnSpc>
                <a:spcPct val="110000"/>
              </a:lnSpc>
              <a:buNone/>
            </a:pPr>
            <a:r>
              <a:rPr sz="1400" b="1" i="0">
                <a:solidFill>
                  <a:srgbClr val="000F65"/>
                </a:solidFill>
                <a:latin typeface="Arial"/>
                <a:ea typeface="MS PGothic"/>
              </a:rPr>
              <a:t>학생자율연구 II  연구계획 발표  |  2026학년도 2학기</a:t>
            </a:r>
          </a:p>
          <a:p>
            <a:pPr algn="ctr" marL="0" indent="0">
              <a:lnSpc>
                <a:spcPct val="110000"/>
              </a:lnSpc>
              <a:buNone/>
            </a:pPr>
            <a:r>
              <a:rPr sz="1400" b="0" i="0">
                <a:solidFill>
                  <a:srgbClr val="333333"/>
                </a:solidFill>
                <a:latin typeface="Arial"/>
                <a:ea typeface="MS PGothic"/>
              </a:rPr>
              <a:t>박찬혁 (202121212)  ·  지도교수: 안창선 교수님</a:t>
            </a:r>
          </a:p>
          <a:p>
            <a:pPr algn="ctr" marL="0" indent="0">
              <a:lnSpc>
                <a:spcPct val="110000"/>
              </a:lnSpc>
              <a:buNone/>
            </a:pPr>
            <a:r>
              <a:rPr sz="1300" b="0" i="0">
                <a:solidFill>
                  <a:srgbClr val="333333"/>
                </a:solidFill>
                <a:latin typeface="Arial"/>
                <a:ea typeface="MS PGothic"/>
              </a:rPr>
              <a:t>School of Mechanical Engineering</a:t>
            </a:r>
          </a:p>
          <a:p>
            <a:pPr algn="ctr" marL="0" indent="0">
              <a:lnSpc>
                <a:spcPct val="110000"/>
              </a:lnSpc>
              <a:buNone/>
            </a:pPr>
            <a:r>
              <a:rPr sz="1300" b="0" i="0">
                <a:solidFill>
                  <a:srgbClr val="333333"/>
                </a:solidFill>
                <a:latin typeface="Arial"/>
                <a:ea typeface="MS PGothic"/>
              </a:rPr>
              <a:t>Pusan National University</a:t>
            </a:r>
          </a:p>
        </p:txBody>
      </p:sp>
    </p:spTree>
    <p:extLst>
      <p:ext uri="{BB962C8B-B14F-4D97-AF65-F5344CB8AC3E}">
        <p14:creationId xmlns:p14="http://schemas.microsoft.com/office/powerpoint/2010/main" val="11195965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 배경</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GPS가 없는 환경에서의 움직임 추정</a:t>
            </a:r>
          </a:p>
        </p:txBody>
      </p:sp>
      <p:sp>
        <p:nvSpPr>
          <p:cNvPr id="4" name="TextBox 3"/>
          <p:cNvSpPr txBox="1"/>
          <p:nvPr/>
        </p:nvSpPr>
        <p:spPr>
          <a:xfrm>
            <a:off x="457200" y="1536192"/>
            <a:ext cx="8229600" cy="3931920"/>
          </a:xfrm>
          <a:prstGeom prst="rect">
            <a:avLst/>
          </a:prstGeom>
          <a:noFill/>
        </p:spPr>
        <p:txBody>
          <a:bodyPr wrap="square" lIns="18288" rIns="18288" tIns="18288" bIns="18288">
            <a:spAutoFit/>
          </a:bodyPr>
          <a:lstStyle/>
          <a:p>
            <a:pPr marL="0" indent="0">
              <a:lnSpc>
                <a:spcPct val="115000"/>
              </a:lnSpc>
              <a:spcBef>
                <a:spcPts val="0"/>
              </a:spcBef>
              <a:spcAft>
                <a:spcPts val="200"/>
              </a:spcAft>
              <a:buNone/>
            </a:pPr>
            <a:r>
              <a:rPr sz="1550" b="1" i="0">
                <a:solidFill>
                  <a:srgbClr val="1A1A1A"/>
                </a:solidFill>
                <a:latin typeface="Arial"/>
                <a:ea typeface="MS PGothic"/>
              </a:rPr>
              <a:t>GPS가 끊기는 구간의 항법</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차량 항법은 GPS 수신이 끊기면 관성 정보로 위치를 이어서 계산하지만, 적분 과정에서 </a:t>
            </a:r>
            <a:r>
              <a:rPr sz="1400" b="1" i="0">
                <a:solidFill>
                  <a:srgbClr val="1A1A1A"/>
                </a:solidFill>
                <a:latin typeface="Arial"/>
                <a:ea typeface="MS PGothic"/>
              </a:rPr>
              <a:t>오차가 시간에 따라 누적</a:t>
            </a:r>
            <a:r>
              <a:rPr sz="1400" b="0" i="0">
                <a:solidFill>
                  <a:srgbClr val="333333"/>
                </a:solidFill>
                <a:latin typeface="Arial"/>
                <a:ea typeface="MS PGothic"/>
              </a:rPr>
              <a:t>된다. [1]</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NASA 화성 헬리콥터 Ingenuity는 </a:t>
            </a:r>
            <a:r>
              <a:rPr sz="1400" b="1" i="0">
                <a:solidFill>
                  <a:srgbClr val="1A1A1A"/>
                </a:solidFill>
                <a:latin typeface="Arial"/>
                <a:ea typeface="MS PGothic"/>
              </a:rPr>
              <a:t>하향 카메라·IMU·레이저 고도계</a:t>
            </a:r>
            <a:r>
              <a:rPr sz="1400" b="0" i="0">
                <a:solidFill>
                  <a:srgbClr val="333333"/>
                </a:solidFill>
                <a:latin typeface="Arial"/>
                <a:ea typeface="MS PGothic"/>
              </a:rPr>
              <a:t>를 결합하여 위성항법이 없는 화성에서 비행하였다. [2]</a:t>
            </a:r>
          </a:p>
          <a:p>
            <a:pPr marL="0" indent="0">
              <a:lnSpc>
                <a:spcPct val="115000"/>
              </a:lnSpc>
              <a:spcBef>
                <a:spcPts val="1200"/>
              </a:spcBef>
              <a:spcAft>
                <a:spcPts val="200"/>
              </a:spcAft>
              <a:buNone/>
            </a:pPr>
            <a:r>
              <a:rPr sz="1550" b="1" i="0">
                <a:solidFill>
                  <a:srgbClr val="1A1A1A"/>
                </a:solidFill>
                <a:latin typeface="Arial"/>
                <a:ea typeface="MS PGothic"/>
              </a:rPr>
              <a:t>카메라와 관성센서를 이용한 움직임 추정</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IMU</a:t>
            </a:r>
            <a:r>
              <a:rPr sz="1400" b="0" i="0">
                <a:solidFill>
                  <a:srgbClr val="333333"/>
                </a:solidFill>
                <a:latin typeface="Arial"/>
                <a:ea typeface="MS PGothic"/>
              </a:rPr>
              <a:t>(관성측정장치)는 가속도·각속도를 측정하여 움직임을 예측한다.</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Optical Flow</a:t>
            </a:r>
            <a:r>
              <a:rPr sz="1400" b="0" i="0">
                <a:solidFill>
                  <a:srgbClr val="333333"/>
                </a:solidFill>
                <a:latin typeface="Arial"/>
                <a:ea typeface="MS PGothic"/>
              </a:rPr>
              <a:t>는 연속 영상에서 화면이 움직인 양을 구하는 기법이며, KLT는 특징점을 추적하여 이를 계산한다. [3]</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영상 이동은 픽셀 단위이므로, </a:t>
            </a:r>
            <a:r>
              <a:rPr sz="1400" b="1" i="0">
                <a:solidFill>
                  <a:srgbClr val="1A1A1A"/>
                </a:solidFill>
                <a:latin typeface="Arial"/>
                <a:ea typeface="MS PGothic"/>
              </a:rPr>
              <a:t>거리센서로 지면까지의 거리를 알아야 실제 속도</a:t>
            </a:r>
            <a:r>
              <a:rPr sz="1400" b="0" i="0">
                <a:solidFill>
                  <a:srgbClr val="333333"/>
                </a:solidFill>
                <a:latin typeface="Arial"/>
                <a:ea typeface="MS PGothic"/>
              </a:rPr>
              <a:t>로 환산된다. [4]</a:t>
            </a:r>
          </a:p>
        </p:txBody>
      </p:sp>
      <p:sp>
        <p:nvSpPr>
          <p:cNvPr id="5" name="TextBox 4"/>
          <p:cNvSpPr txBox="1"/>
          <p:nvPr/>
        </p:nvSpPr>
        <p:spPr>
          <a:xfrm>
            <a:off x="457200" y="5074920"/>
            <a:ext cx="8229600" cy="685800"/>
          </a:xfrm>
          <a:prstGeom prst="rect">
            <a:avLst/>
          </a:prstGeom>
          <a:noFill/>
        </p:spPr>
        <p:txBody>
          <a:bodyPr wrap="square" lIns="18288">
            <a:spAutoFit/>
          </a:bodyPr>
          <a:lstStyle/>
          <a:p>
            <a:pPr>
              <a:lnSpc>
                <a:spcPct val="115000"/>
              </a:lnSpc>
            </a:pPr>
            <a:r>
              <a:rPr sz="1400" b="1" i="0">
                <a:solidFill>
                  <a:srgbClr val="000F65"/>
                </a:solidFill>
                <a:latin typeface="Arial"/>
                <a:ea typeface="MS PGothic"/>
              </a:rPr>
              <a:t>본 연구는 하향 카메라·IMU·거리센서로 드론의 </a:t>
            </a:r>
            <a:r>
              <a:rPr sz="1400" b="1" i="0">
                <a:solidFill>
                  <a:srgbClr val="1A1A1A"/>
                </a:solidFill>
                <a:latin typeface="Arial"/>
                <a:ea typeface="MS PGothic"/>
              </a:rPr>
              <a:t>위치·속도·자세</a:t>
            </a:r>
            <a:r>
              <a:rPr sz="1400" b="1" i="0">
                <a:solidFill>
                  <a:srgbClr val="000F65"/>
                </a:solidFill>
                <a:latin typeface="Arial"/>
                <a:ea typeface="MS PGothic"/>
              </a:rPr>
              <a:t>를 추정한다.</a:t>
            </a:r>
          </a:p>
          <a:p>
            <a:pPr>
              <a:lnSpc>
                <a:spcPct val="115000"/>
              </a:lnSpc>
            </a:pPr>
            <a:r>
              <a:rPr sz="1400" b="1" i="0">
                <a:solidFill>
                  <a:srgbClr val="000F65"/>
                </a:solidFill>
                <a:latin typeface="Arial"/>
                <a:ea typeface="MS PGothic"/>
              </a:rPr>
              <a:t>(수평 위치는 속도를 적분해 구하므로 오차가 누적될 수 있다)</a:t>
            </a:r>
          </a:p>
        </p:txBody>
      </p:sp>
    </p:spTree>
    <p:extLst>
      <p:ext uri="{BB962C8B-B14F-4D97-AF65-F5344CB8AC3E}">
        <p14:creationId xmlns:p14="http://schemas.microsoft.com/office/powerpoint/2010/main" val="371350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연구의 필요성 및 목적</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센서 융합에서 측정 시점이 어긋나는 문제</a:t>
            </a:r>
          </a:p>
        </p:txBody>
      </p:sp>
      <p:sp>
        <p:nvSpPr>
          <p:cNvPr id="4" name="TextBox 3"/>
          <p:cNvSpPr txBox="1"/>
          <p:nvPr/>
        </p:nvSpPr>
        <p:spPr>
          <a:xfrm>
            <a:off x="457200" y="1463040"/>
            <a:ext cx="8229600" cy="1463040"/>
          </a:xfrm>
          <a:prstGeom prst="rect">
            <a:avLst/>
          </a:prstGeom>
          <a:noFill/>
        </p:spPr>
        <p:txBody>
          <a:bodyPr wrap="square" lIns="18288" rIns="18288" tIns="18288" bIns="18288">
            <a:spAutoFit/>
          </a:bodyPr>
          <a:lstStyle/>
          <a:p>
            <a:pPr marL="274320" indent="-164592">
              <a:lnSpc>
                <a:spcPct val="115000"/>
              </a:lnSpc>
              <a:spcBef>
                <a:spcPts val="400"/>
              </a:spcBef>
              <a:buSzPct val="100000"/>
              <a:buFont typeface="MS PGothic"/>
              <a:buChar char="•"/>
            </a:pPr>
            <a:r>
              <a:rPr sz="1400" b="0" i="0">
                <a:solidFill>
                  <a:srgbClr val="333333"/>
                </a:solidFill>
                <a:latin typeface="Arial"/>
                <a:ea typeface="MS PGothic"/>
              </a:rPr>
              <a:t>IMU는 오차가 누적되고 카메라는 실제 이동 거리를 모르므로, </a:t>
            </a:r>
            <a:r>
              <a:rPr sz="1400" b="1" i="0">
                <a:solidFill>
                  <a:srgbClr val="1A1A1A"/>
                </a:solidFill>
                <a:latin typeface="Arial"/>
                <a:ea typeface="MS PGothic"/>
              </a:rPr>
              <a:t>세 센서를 함께 융합</a:t>
            </a:r>
            <a:r>
              <a:rPr sz="1400" b="0" i="0">
                <a:solidFill>
                  <a:srgbClr val="333333"/>
                </a:solidFill>
                <a:latin typeface="Arial"/>
                <a:ea typeface="MS PGothic"/>
              </a:rPr>
              <a:t>해야 한다. [1, 4]</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그러나 센서마다 </a:t>
            </a:r>
            <a:r>
              <a:rPr sz="1400" b="1" i="0">
                <a:solidFill>
                  <a:srgbClr val="1A1A1A"/>
                </a:solidFill>
                <a:latin typeface="Arial"/>
                <a:ea typeface="MS PGothic"/>
              </a:rPr>
              <a:t>측정 주기가 다르고</a:t>
            </a:r>
            <a:r>
              <a:rPr sz="1400" b="0" i="0">
                <a:solidFill>
                  <a:srgbClr val="333333"/>
                </a:solidFill>
                <a:latin typeface="Arial"/>
                <a:ea typeface="MS PGothic"/>
              </a:rPr>
              <a:t>(IMU 200 Hz, 카메라 20 Hz, 거리센서 30 Hz [5]), 영상은 </a:t>
            </a:r>
            <a:r>
              <a:rPr sz="1400" b="1" i="0">
                <a:solidFill>
                  <a:srgbClr val="1A1A1A"/>
                </a:solidFill>
                <a:latin typeface="Arial"/>
                <a:ea typeface="MS PGothic"/>
              </a:rPr>
              <a:t>처리 시간만큼 늦게 도착</a:t>
            </a:r>
            <a:r>
              <a:rPr sz="1400" b="0" i="0">
                <a:solidFill>
                  <a:srgbClr val="333333"/>
                </a:solidFill>
                <a:latin typeface="Arial"/>
                <a:ea typeface="MS PGothic"/>
              </a:rPr>
              <a:t>한다.</a:t>
            </a:r>
          </a:p>
        </p:txBody>
      </p:sp>
      <p:cxnSp>
        <p:nvCxnSpPr>
          <p:cNvPr id="5" name="Connector 4"/>
          <p:cNvCxnSpPr/>
          <p:nvPr/>
        </p:nvCxnSpPr>
        <p:spPr>
          <a:xfrm>
            <a:off x="1874519" y="2926080"/>
            <a:ext cx="6675121" cy="0"/>
          </a:xfrm>
          <a:prstGeom prst="line">
            <a:avLst/>
          </a:prstGeom>
          <a:ln w="12700">
            <a:solidFill>
              <a:srgbClr val="333333"/>
            </a:solidFill>
            <a:tailEnd type="triangle" w="sm" len="sm"/>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001000" y="2697480"/>
            <a:ext cx="548640" cy="237744"/>
          </a:xfrm>
          <a:prstGeom prst="rect">
            <a:avLst/>
          </a:prstGeom>
          <a:noFill/>
        </p:spPr>
        <p:txBody>
          <a:bodyPr wrap="square" anchor="ctr" lIns="0" rIns="0" tIns="0" bIns="0">
            <a:spAutoFit/>
          </a:bodyPr>
          <a:lstStyle/>
          <a:p>
            <a:pPr algn="r" marL="0" indent="0">
              <a:lnSpc>
                <a:spcPct val="110000"/>
              </a:lnSpc>
              <a:buNone/>
            </a:pPr>
            <a:r>
              <a:rPr sz="1050" b="0" i="0">
                <a:solidFill>
                  <a:srgbClr val="333333"/>
                </a:solidFill>
                <a:latin typeface="Arial"/>
                <a:ea typeface="MS PGothic"/>
              </a:rPr>
              <a:t>time</a:t>
            </a:r>
          </a:p>
        </p:txBody>
      </p:sp>
      <p:sp>
        <p:nvSpPr>
          <p:cNvPr id="7" name="TextBox 6"/>
          <p:cNvSpPr txBox="1"/>
          <p:nvPr/>
        </p:nvSpPr>
        <p:spPr>
          <a:xfrm>
            <a:off x="457200" y="3127248"/>
            <a:ext cx="1371600" cy="237744"/>
          </a:xfrm>
          <a:prstGeom prst="rect">
            <a:avLst/>
          </a:prstGeom>
          <a:noFill/>
        </p:spPr>
        <p:txBody>
          <a:bodyPr wrap="square" anchor="ctr" lIns="0" rIns="0" tIns="0" bIns="0">
            <a:spAutoFit/>
          </a:bodyPr>
          <a:lstStyle/>
          <a:p>
            <a:pPr algn="l" marL="0" indent="0">
              <a:lnSpc>
                <a:spcPct val="110000"/>
              </a:lnSpc>
              <a:buNone/>
            </a:pPr>
            <a:r>
              <a:rPr sz="1200" b="1" i="0">
                <a:solidFill>
                  <a:srgbClr val="1A1A1A"/>
                </a:solidFill>
                <a:latin typeface="Arial"/>
                <a:ea typeface="MS PGothic"/>
              </a:rPr>
              <a:t>IMU</a:t>
            </a:r>
          </a:p>
        </p:txBody>
      </p:sp>
      <p:cxnSp>
        <p:nvCxnSpPr>
          <p:cNvPr id="8" name="Connector 7"/>
          <p:cNvCxnSpPr/>
          <p:nvPr/>
        </p:nvCxnSpPr>
        <p:spPr>
          <a:xfrm>
            <a:off x="1874519" y="3364991"/>
            <a:ext cx="6583681"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57200" y="3584448"/>
            <a:ext cx="1371600" cy="237744"/>
          </a:xfrm>
          <a:prstGeom prst="rect">
            <a:avLst/>
          </a:prstGeom>
          <a:noFill/>
        </p:spPr>
        <p:txBody>
          <a:bodyPr wrap="square" anchor="ctr" lIns="0" rIns="0" tIns="0" bIns="0">
            <a:spAutoFit/>
          </a:bodyPr>
          <a:lstStyle/>
          <a:p>
            <a:pPr algn="l" marL="0" indent="0">
              <a:lnSpc>
                <a:spcPct val="110000"/>
              </a:lnSpc>
              <a:buNone/>
            </a:pPr>
            <a:r>
              <a:rPr sz="1200" b="1" i="0">
                <a:solidFill>
                  <a:srgbClr val="1A1A1A"/>
                </a:solidFill>
                <a:latin typeface="Arial"/>
                <a:ea typeface="MS PGothic"/>
              </a:rPr>
              <a:t>카메라 (촬영)</a:t>
            </a:r>
          </a:p>
        </p:txBody>
      </p:sp>
      <p:cxnSp>
        <p:nvCxnSpPr>
          <p:cNvPr id="10" name="Connector 9"/>
          <p:cNvCxnSpPr/>
          <p:nvPr/>
        </p:nvCxnSpPr>
        <p:spPr>
          <a:xfrm>
            <a:off x="1874519" y="3822191"/>
            <a:ext cx="6583681"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4041648"/>
            <a:ext cx="1371600" cy="237744"/>
          </a:xfrm>
          <a:prstGeom prst="rect">
            <a:avLst/>
          </a:prstGeom>
          <a:noFill/>
        </p:spPr>
        <p:txBody>
          <a:bodyPr wrap="square" anchor="ctr" lIns="0" rIns="0" tIns="0" bIns="0">
            <a:spAutoFit/>
          </a:bodyPr>
          <a:lstStyle/>
          <a:p>
            <a:pPr algn="l" marL="0" indent="0">
              <a:lnSpc>
                <a:spcPct val="110000"/>
              </a:lnSpc>
              <a:buNone/>
            </a:pPr>
            <a:r>
              <a:rPr sz="1200" b="1" i="0">
                <a:solidFill>
                  <a:srgbClr val="C00000"/>
                </a:solidFill>
                <a:latin typeface="Arial"/>
                <a:ea typeface="MS PGothic"/>
              </a:rPr>
              <a:t>카메라 (도착)</a:t>
            </a:r>
          </a:p>
        </p:txBody>
      </p:sp>
      <p:cxnSp>
        <p:nvCxnSpPr>
          <p:cNvPr id="12" name="Connector 11"/>
          <p:cNvCxnSpPr/>
          <p:nvPr/>
        </p:nvCxnSpPr>
        <p:spPr>
          <a:xfrm>
            <a:off x="1874519" y="4279392"/>
            <a:ext cx="6583681"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4498848"/>
            <a:ext cx="1371600" cy="237744"/>
          </a:xfrm>
          <a:prstGeom prst="rect">
            <a:avLst/>
          </a:prstGeom>
          <a:noFill/>
        </p:spPr>
        <p:txBody>
          <a:bodyPr wrap="square" anchor="ctr" lIns="0" rIns="0" tIns="0" bIns="0">
            <a:spAutoFit/>
          </a:bodyPr>
          <a:lstStyle/>
          <a:p>
            <a:pPr algn="l" marL="0" indent="0">
              <a:lnSpc>
                <a:spcPct val="110000"/>
              </a:lnSpc>
              <a:buNone/>
            </a:pPr>
            <a:r>
              <a:rPr sz="1200" b="1" i="0">
                <a:solidFill>
                  <a:srgbClr val="1A1A1A"/>
                </a:solidFill>
                <a:latin typeface="Arial"/>
                <a:ea typeface="MS PGothic"/>
              </a:rPr>
              <a:t>거리센서</a:t>
            </a:r>
          </a:p>
        </p:txBody>
      </p:sp>
      <p:cxnSp>
        <p:nvCxnSpPr>
          <p:cNvPr id="14" name="Connector 13"/>
          <p:cNvCxnSpPr/>
          <p:nvPr/>
        </p:nvCxnSpPr>
        <p:spPr>
          <a:xfrm>
            <a:off x="1874519" y="4736592"/>
            <a:ext cx="6583681"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920239"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29967"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39696"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249424"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359152"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468880"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578608"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688336"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798064"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07792"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017520"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127248"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236976"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346704"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456432"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566160"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675888"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785616"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895344"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005072"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114800"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224528"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334256"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443984"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553712"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663440"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73168"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882896"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992624"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02352"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12080"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321808"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31536"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541264"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650992"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760720"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870448"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980176"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089904"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199632"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309360"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419088"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528816"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638544"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748272"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858000"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967728"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077456"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187184"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296912"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406640"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516368"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626096"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735824"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845552"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955280"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065008"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174736"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284463"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394191" y="3172968"/>
            <a:ext cx="0" cy="192023"/>
          </a:xfrm>
          <a:prstGeom prst="line">
            <a:avLst/>
          </a:prstGeom>
          <a:ln w="12700">
            <a:solidFill>
              <a:srgbClr val="333399"/>
            </a:solidFill>
          </a:ln>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2011679" y="3602736"/>
            <a:ext cx="274320" cy="219456"/>
          </a:xfrm>
          <a:prstGeom prst="roundRect">
            <a:avLst/>
          </a:prstGeom>
          <a:solidFill>
            <a:srgbClr val="DAEDEF"/>
          </a:solidFill>
          <a:ln w="9525">
            <a:solidFill>
              <a:srgbClr val="000F65"/>
            </a:solidFill>
          </a:ln>
        </p:spPr>
        <p:txBody>
          <a:bodyPr rtlCol="0" anchor="ctr" wrap="square" lIns="73152" rIns="73152" tIns="36576" bIns="36576"/>
          <a:lstStyle/>
          <a:p>
            <a:pPr algn="ctr"/>
          </a:p>
        </p:txBody>
      </p:sp>
      <p:sp>
        <p:nvSpPr>
          <p:cNvPr id="76" name="Rounded Rectangle 75"/>
          <p:cNvSpPr/>
          <p:nvPr/>
        </p:nvSpPr>
        <p:spPr>
          <a:xfrm>
            <a:off x="2578608" y="4059935"/>
            <a:ext cx="274320" cy="219456"/>
          </a:xfrm>
          <a:prstGeom prst="roundRect">
            <a:avLst/>
          </a:prstGeom>
          <a:solidFill>
            <a:srgbClr val="FFFFFF"/>
          </a:solidFill>
          <a:ln w="12700">
            <a:solidFill>
              <a:srgbClr val="C00000"/>
            </a:solidFill>
          </a:ln>
        </p:spPr>
        <p:txBody>
          <a:bodyPr rtlCol="0" anchor="ctr"/>
          <a:lstStyle/>
          <a:p>
            <a:pPr algn="ctr"/>
          </a:p>
        </p:txBody>
      </p:sp>
      <p:cxnSp>
        <p:nvCxnSpPr>
          <p:cNvPr id="77" name="Connector 76"/>
          <p:cNvCxnSpPr/>
          <p:nvPr/>
        </p:nvCxnSpPr>
        <p:spPr>
          <a:xfrm>
            <a:off x="2148839" y="3822191"/>
            <a:ext cx="566929" cy="237744"/>
          </a:xfrm>
          <a:prstGeom prst="line">
            <a:avLst/>
          </a:prstGeom>
          <a:ln w="9525">
            <a:solidFill>
              <a:srgbClr val="C0000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78" name="Rounded Rectangle 77"/>
          <p:cNvSpPr/>
          <p:nvPr/>
        </p:nvSpPr>
        <p:spPr>
          <a:xfrm>
            <a:off x="3108959" y="3602736"/>
            <a:ext cx="274320" cy="219456"/>
          </a:xfrm>
          <a:prstGeom prst="roundRect">
            <a:avLst/>
          </a:prstGeom>
          <a:solidFill>
            <a:srgbClr val="DAEDEF"/>
          </a:solidFill>
          <a:ln w="9525">
            <a:solidFill>
              <a:srgbClr val="000F65"/>
            </a:solidFill>
          </a:ln>
        </p:spPr>
        <p:txBody>
          <a:bodyPr rtlCol="0" anchor="ctr" wrap="square" lIns="73152" rIns="73152" tIns="36576" bIns="36576"/>
          <a:lstStyle/>
          <a:p>
            <a:pPr algn="ctr"/>
          </a:p>
        </p:txBody>
      </p:sp>
      <p:sp>
        <p:nvSpPr>
          <p:cNvPr id="79" name="Rounded Rectangle 78"/>
          <p:cNvSpPr/>
          <p:nvPr/>
        </p:nvSpPr>
        <p:spPr>
          <a:xfrm>
            <a:off x="3675887" y="4059935"/>
            <a:ext cx="274320" cy="219456"/>
          </a:xfrm>
          <a:prstGeom prst="roundRect">
            <a:avLst/>
          </a:prstGeom>
          <a:solidFill>
            <a:srgbClr val="FFFFFF"/>
          </a:solidFill>
          <a:ln w="12700">
            <a:solidFill>
              <a:srgbClr val="C00000"/>
            </a:solidFill>
          </a:ln>
        </p:spPr>
        <p:txBody>
          <a:bodyPr rtlCol="0" anchor="ctr"/>
          <a:lstStyle/>
          <a:p>
            <a:pPr algn="ctr"/>
          </a:p>
        </p:txBody>
      </p:sp>
      <p:cxnSp>
        <p:nvCxnSpPr>
          <p:cNvPr id="80" name="Connector 79"/>
          <p:cNvCxnSpPr/>
          <p:nvPr/>
        </p:nvCxnSpPr>
        <p:spPr>
          <a:xfrm>
            <a:off x="3246119" y="3822191"/>
            <a:ext cx="566929" cy="237744"/>
          </a:xfrm>
          <a:prstGeom prst="line">
            <a:avLst/>
          </a:prstGeom>
          <a:ln w="9525">
            <a:solidFill>
              <a:srgbClr val="C0000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81" name="Rounded Rectangle 80"/>
          <p:cNvSpPr/>
          <p:nvPr/>
        </p:nvSpPr>
        <p:spPr>
          <a:xfrm>
            <a:off x="4206240" y="3602736"/>
            <a:ext cx="274320" cy="219456"/>
          </a:xfrm>
          <a:prstGeom prst="roundRect">
            <a:avLst/>
          </a:prstGeom>
          <a:solidFill>
            <a:srgbClr val="DAEDEF"/>
          </a:solidFill>
          <a:ln w="9525">
            <a:solidFill>
              <a:srgbClr val="000F65"/>
            </a:solidFill>
          </a:ln>
        </p:spPr>
        <p:txBody>
          <a:bodyPr rtlCol="0" anchor="ctr" wrap="square" lIns="73152" rIns="73152" tIns="36576" bIns="36576"/>
          <a:lstStyle/>
          <a:p>
            <a:pPr algn="ctr"/>
          </a:p>
        </p:txBody>
      </p:sp>
      <p:sp>
        <p:nvSpPr>
          <p:cNvPr id="82" name="Rounded Rectangle 81"/>
          <p:cNvSpPr/>
          <p:nvPr/>
        </p:nvSpPr>
        <p:spPr>
          <a:xfrm>
            <a:off x="4773168" y="4059935"/>
            <a:ext cx="274320" cy="219456"/>
          </a:xfrm>
          <a:prstGeom prst="roundRect">
            <a:avLst/>
          </a:prstGeom>
          <a:solidFill>
            <a:srgbClr val="FFFFFF"/>
          </a:solidFill>
          <a:ln w="12700">
            <a:solidFill>
              <a:srgbClr val="C00000"/>
            </a:solidFill>
          </a:ln>
        </p:spPr>
        <p:txBody>
          <a:bodyPr rtlCol="0" anchor="ctr"/>
          <a:lstStyle/>
          <a:p>
            <a:pPr algn="ctr"/>
          </a:p>
        </p:txBody>
      </p:sp>
      <p:cxnSp>
        <p:nvCxnSpPr>
          <p:cNvPr id="83" name="Connector 82"/>
          <p:cNvCxnSpPr/>
          <p:nvPr/>
        </p:nvCxnSpPr>
        <p:spPr>
          <a:xfrm>
            <a:off x="4343400" y="3822191"/>
            <a:ext cx="566928" cy="237744"/>
          </a:xfrm>
          <a:prstGeom prst="line">
            <a:avLst/>
          </a:prstGeom>
          <a:ln w="9525">
            <a:solidFill>
              <a:srgbClr val="C0000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84" name="Rounded Rectangle 83"/>
          <p:cNvSpPr/>
          <p:nvPr/>
        </p:nvSpPr>
        <p:spPr>
          <a:xfrm>
            <a:off x="5303519" y="3602736"/>
            <a:ext cx="274320" cy="219456"/>
          </a:xfrm>
          <a:prstGeom prst="roundRect">
            <a:avLst/>
          </a:prstGeom>
          <a:solidFill>
            <a:srgbClr val="DAEDEF"/>
          </a:solidFill>
          <a:ln w="9525">
            <a:solidFill>
              <a:srgbClr val="000F65"/>
            </a:solidFill>
          </a:ln>
        </p:spPr>
        <p:txBody>
          <a:bodyPr rtlCol="0" anchor="ctr" wrap="square" lIns="73152" rIns="73152" tIns="36576" bIns="36576"/>
          <a:lstStyle/>
          <a:p>
            <a:pPr algn="ctr"/>
          </a:p>
        </p:txBody>
      </p:sp>
      <p:sp>
        <p:nvSpPr>
          <p:cNvPr id="85" name="Rounded Rectangle 84"/>
          <p:cNvSpPr/>
          <p:nvPr/>
        </p:nvSpPr>
        <p:spPr>
          <a:xfrm>
            <a:off x="6400800" y="3602736"/>
            <a:ext cx="274320" cy="219456"/>
          </a:xfrm>
          <a:prstGeom prst="roundRect">
            <a:avLst/>
          </a:prstGeom>
          <a:solidFill>
            <a:srgbClr val="DAEDEF"/>
          </a:solidFill>
          <a:ln w="9525">
            <a:solidFill>
              <a:srgbClr val="000F65"/>
            </a:solidFill>
          </a:ln>
        </p:spPr>
        <p:txBody>
          <a:bodyPr rtlCol="0" anchor="ctr" wrap="square" lIns="73152" rIns="73152" tIns="36576" bIns="36576"/>
          <a:lstStyle/>
          <a:p>
            <a:pPr algn="ctr"/>
          </a:p>
        </p:txBody>
      </p:sp>
      <p:sp>
        <p:nvSpPr>
          <p:cNvPr id="86" name="Rounded Rectangle 85"/>
          <p:cNvSpPr/>
          <p:nvPr/>
        </p:nvSpPr>
        <p:spPr>
          <a:xfrm>
            <a:off x="7498079" y="3602736"/>
            <a:ext cx="274320" cy="219456"/>
          </a:xfrm>
          <a:prstGeom prst="roundRect">
            <a:avLst/>
          </a:prstGeom>
          <a:solidFill>
            <a:srgbClr val="DAEDEF"/>
          </a:solidFill>
          <a:ln w="9525">
            <a:solidFill>
              <a:srgbClr val="000F65"/>
            </a:solidFill>
          </a:ln>
        </p:spPr>
        <p:txBody>
          <a:bodyPr rtlCol="0" anchor="ctr" wrap="square" lIns="73152" rIns="73152" tIns="36576" bIns="36576"/>
          <a:lstStyle/>
          <a:p>
            <a:pPr algn="ctr"/>
          </a:p>
        </p:txBody>
      </p:sp>
      <p:sp>
        <p:nvSpPr>
          <p:cNvPr id="87" name="Oval 86"/>
          <p:cNvSpPr/>
          <p:nvPr/>
        </p:nvSpPr>
        <p:spPr>
          <a:xfrm>
            <a:off x="2011679" y="4544568"/>
            <a:ext cx="164592" cy="164592"/>
          </a:xfrm>
          <a:prstGeom prst="ellipse">
            <a:avLst/>
          </a:prstGeom>
          <a:solidFill>
            <a:srgbClr val="DAEDEF"/>
          </a:solidFill>
          <a:ln w="9525">
            <a:solidFill>
              <a:srgbClr val="000F65"/>
            </a:solidFill>
          </a:ln>
        </p:spPr>
        <p:txBody>
          <a:bodyPr rtlCol="0" anchor="ctr"/>
          <a:lstStyle/>
          <a:p>
            <a:pPr algn="ctr"/>
          </a:p>
        </p:txBody>
      </p:sp>
      <p:sp>
        <p:nvSpPr>
          <p:cNvPr id="88" name="Oval 87"/>
          <p:cNvSpPr/>
          <p:nvPr/>
        </p:nvSpPr>
        <p:spPr>
          <a:xfrm>
            <a:off x="2743200" y="4544568"/>
            <a:ext cx="164592" cy="164592"/>
          </a:xfrm>
          <a:prstGeom prst="ellipse">
            <a:avLst/>
          </a:prstGeom>
          <a:solidFill>
            <a:srgbClr val="DAEDEF"/>
          </a:solidFill>
          <a:ln w="9525">
            <a:solidFill>
              <a:srgbClr val="000F65"/>
            </a:solidFill>
          </a:ln>
        </p:spPr>
        <p:txBody>
          <a:bodyPr rtlCol="0" anchor="ctr"/>
          <a:lstStyle/>
          <a:p>
            <a:pPr algn="ctr"/>
          </a:p>
        </p:txBody>
      </p:sp>
      <p:sp>
        <p:nvSpPr>
          <p:cNvPr id="89" name="Oval 88"/>
          <p:cNvSpPr/>
          <p:nvPr/>
        </p:nvSpPr>
        <p:spPr>
          <a:xfrm>
            <a:off x="3474720" y="4544568"/>
            <a:ext cx="164592" cy="164592"/>
          </a:xfrm>
          <a:prstGeom prst="ellipse">
            <a:avLst/>
          </a:prstGeom>
          <a:solidFill>
            <a:srgbClr val="DAEDEF"/>
          </a:solidFill>
          <a:ln w="9525">
            <a:solidFill>
              <a:srgbClr val="000F65"/>
            </a:solidFill>
          </a:ln>
        </p:spPr>
        <p:txBody>
          <a:bodyPr rtlCol="0" anchor="ctr"/>
          <a:lstStyle/>
          <a:p>
            <a:pPr algn="ctr"/>
          </a:p>
        </p:txBody>
      </p:sp>
      <p:sp>
        <p:nvSpPr>
          <p:cNvPr id="90" name="Oval 89"/>
          <p:cNvSpPr/>
          <p:nvPr/>
        </p:nvSpPr>
        <p:spPr>
          <a:xfrm>
            <a:off x="4206240" y="4544568"/>
            <a:ext cx="164592" cy="164592"/>
          </a:xfrm>
          <a:prstGeom prst="ellipse">
            <a:avLst/>
          </a:prstGeom>
          <a:solidFill>
            <a:srgbClr val="DAEDEF"/>
          </a:solidFill>
          <a:ln w="9525">
            <a:solidFill>
              <a:srgbClr val="000F65"/>
            </a:solidFill>
          </a:ln>
        </p:spPr>
        <p:txBody>
          <a:bodyPr rtlCol="0" anchor="ctr"/>
          <a:lstStyle/>
          <a:p>
            <a:pPr algn="ctr"/>
          </a:p>
        </p:txBody>
      </p:sp>
      <p:sp>
        <p:nvSpPr>
          <p:cNvPr id="91" name="Oval 90"/>
          <p:cNvSpPr/>
          <p:nvPr/>
        </p:nvSpPr>
        <p:spPr>
          <a:xfrm>
            <a:off x="4937759" y="4544568"/>
            <a:ext cx="164592" cy="164592"/>
          </a:xfrm>
          <a:prstGeom prst="ellipse">
            <a:avLst/>
          </a:prstGeom>
          <a:solidFill>
            <a:srgbClr val="DAEDEF"/>
          </a:solidFill>
          <a:ln w="9525">
            <a:solidFill>
              <a:srgbClr val="000F65"/>
            </a:solidFill>
          </a:ln>
        </p:spPr>
        <p:txBody>
          <a:bodyPr rtlCol="0" anchor="ctr"/>
          <a:lstStyle/>
          <a:p>
            <a:pPr algn="ctr"/>
          </a:p>
        </p:txBody>
      </p:sp>
      <p:sp>
        <p:nvSpPr>
          <p:cNvPr id="92" name="Oval 91"/>
          <p:cNvSpPr/>
          <p:nvPr/>
        </p:nvSpPr>
        <p:spPr>
          <a:xfrm>
            <a:off x="5669279" y="4544568"/>
            <a:ext cx="164592" cy="164592"/>
          </a:xfrm>
          <a:prstGeom prst="ellipse">
            <a:avLst/>
          </a:prstGeom>
          <a:solidFill>
            <a:srgbClr val="DAEDEF"/>
          </a:solidFill>
          <a:ln w="9525">
            <a:solidFill>
              <a:srgbClr val="000F65"/>
            </a:solidFill>
          </a:ln>
        </p:spPr>
        <p:txBody>
          <a:bodyPr rtlCol="0" anchor="ctr"/>
          <a:lstStyle/>
          <a:p>
            <a:pPr algn="ctr"/>
          </a:p>
        </p:txBody>
      </p:sp>
      <p:sp>
        <p:nvSpPr>
          <p:cNvPr id="93" name="Oval 92"/>
          <p:cNvSpPr/>
          <p:nvPr/>
        </p:nvSpPr>
        <p:spPr>
          <a:xfrm>
            <a:off x="6400799" y="4544568"/>
            <a:ext cx="164592" cy="164592"/>
          </a:xfrm>
          <a:prstGeom prst="ellipse">
            <a:avLst/>
          </a:prstGeom>
          <a:solidFill>
            <a:srgbClr val="DAEDEF"/>
          </a:solidFill>
          <a:ln w="9525">
            <a:solidFill>
              <a:srgbClr val="000F65"/>
            </a:solidFill>
          </a:ln>
        </p:spPr>
        <p:txBody>
          <a:bodyPr rtlCol="0" anchor="ctr"/>
          <a:lstStyle/>
          <a:p>
            <a:pPr algn="ctr"/>
          </a:p>
        </p:txBody>
      </p:sp>
      <p:sp>
        <p:nvSpPr>
          <p:cNvPr id="94" name="Oval 93"/>
          <p:cNvSpPr/>
          <p:nvPr/>
        </p:nvSpPr>
        <p:spPr>
          <a:xfrm>
            <a:off x="7132319" y="4544568"/>
            <a:ext cx="164592" cy="164592"/>
          </a:xfrm>
          <a:prstGeom prst="ellipse">
            <a:avLst/>
          </a:prstGeom>
          <a:solidFill>
            <a:srgbClr val="DAEDEF"/>
          </a:solidFill>
          <a:ln w="9525">
            <a:solidFill>
              <a:srgbClr val="000F65"/>
            </a:solidFill>
          </a:ln>
        </p:spPr>
        <p:txBody>
          <a:bodyPr rtlCol="0" anchor="ctr"/>
          <a:lstStyle/>
          <a:p>
            <a:pPr algn="ctr"/>
          </a:p>
        </p:txBody>
      </p:sp>
      <p:sp>
        <p:nvSpPr>
          <p:cNvPr id="95" name="Oval 94"/>
          <p:cNvSpPr/>
          <p:nvPr/>
        </p:nvSpPr>
        <p:spPr>
          <a:xfrm>
            <a:off x="7863840" y="4544568"/>
            <a:ext cx="164592" cy="164592"/>
          </a:xfrm>
          <a:prstGeom prst="ellipse">
            <a:avLst/>
          </a:prstGeom>
          <a:solidFill>
            <a:srgbClr val="DAEDEF"/>
          </a:solidFill>
          <a:ln w="9525">
            <a:solidFill>
              <a:srgbClr val="000F65"/>
            </a:solidFill>
          </a:ln>
        </p:spPr>
        <p:txBody>
          <a:bodyPr rtlCol="0" anchor="ctr"/>
          <a:lstStyle/>
          <a:p>
            <a:pPr algn="ctr"/>
          </a:p>
        </p:txBody>
      </p:sp>
      <p:sp>
        <p:nvSpPr>
          <p:cNvPr id="96" name="TextBox 95"/>
          <p:cNvSpPr txBox="1"/>
          <p:nvPr/>
        </p:nvSpPr>
        <p:spPr>
          <a:xfrm>
            <a:off x="2121408" y="4023359"/>
            <a:ext cx="274320" cy="182880"/>
          </a:xfrm>
          <a:prstGeom prst="rect">
            <a:avLst/>
          </a:prstGeom>
          <a:noFill/>
        </p:spPr>
        <p:txBody>
          <a:bodyPr wrap="square" anchor="ctr" lIns="0" rIns="0" tIns="0" bIns="0">
            <a:spAutoFit/>
          </a:bodyPr>
          <a:lstStyle/>
          <a:p>
            <a:pPr algn="l" marL="0" indent="0">
              <a:lnSpc>
                <a:spcPct val="110000"/>
              </a:lnSpc>
              <a:buNone/>
            </a:pPr>
            <a:r>
              <a:rPr sz="1050" b="1" i="0">
                <a:solidFill>
                  <a:srgbClr val="C00000"/>
                </a:solidFill>
                <a:latin typeface="Arial"/>
                <a:ea typeface="MS PGothic"/>
              </a:rPr>
              <a:t>d</a:t>
            </a:r>
          </a:p>
        </p:txBody>
      </p:sp>
      <p:sp>
        <p:nvSpPr>
          <p:cNvPr id="97" name="Rectangle 96"/>
          <p:cNvSpPr/>
          <p:nvPr/>
        </p:nvSpPr>
        <p:spPr>
          <a:xfrm>
            <a:off x="4718304" y="4005072"/>
            <a:ext cx="384048" cy="329184"/>
          </a:xfrm>
          <a:prstGeom prst="rect">
            <a:avLst/>
          </a:prstGeom>
          <a:noFill/>
          <a:ln w="19050">
            <a:solidFill>
              <a:srgbClr val="C00000"/>
            </a:solidFill>
          </a:ln>
        </p:spPr>
        <p:txBody>
          <a:bodyPr rtlCol="0" anchor="ctr"/>
          <a:lstStyle/>
          <a:p>
            <a:pPr algn="ctr"/>
          </a:p>
        </p:txBody>
      </p:sp>
      <p:sp>
        <p:nvSpPr>
          <p:cNvPr id="98" name="TextBox 97"/>
          <p:cNvSpPr txBox="1"/>
          <p:nvPr/>
        </p:nvSpPr>
        <p:spPr>
          <a:xfrm>
            <a:off x="5230368" y="4041648"/>
            <a:ext cx="3200400" cy="237744"/>
          </a:xfrm>
          <a:prstGeom prst="rect">
            <a:avLst/>
          </a:prstGeom>
          <a:noFill/>
        </p:spPr>
        <p:txBody>
          <a:bodyPr wrap="square" anchor="ctr" lIns="0" rIns="0" tIns="0" bIns="0">
            <a:spAutoFit/>
          </a:bodyPr>
          <a:lstStyle/>
          <a:p>
            <a:pPr algn="l" marL="0" indent="0">
              <a:lnSpc>
                <a:spcPct val="110000"/>
              </a:lnSpc>
              <a:buNone/>
            </a:pPr>
            <a:r>
              <a:rPr sz="1200" b="1" i="0">
                <a:solidFill>
                  <a:srgbClr val="C00000"/>
                </a:solidFill>
                <a:latin typeface="Arial"/>
                <a:ea typeface="MS PGothic"/>
              </a:rPr>
              <a:t>← 도착한 영상 = d 만큼 이전의 움직임</a:t>
            </a:r>
          </a:p>
        </p:txBody>
      </p:sp>
      <p:sp>
        <p:nvSpPr>
          <p:cNvPr id="99" name="TextBox 98"/>
          <p:cNvSpPr txBox="1"/>
          <p:nvPr/>
        </p:nvSpPr>
        <p:spPr>
          <a:xfrm>
            <a:off x="457200" y="4846320"/>
            <a:ext cx="8229600" cy="237744"/>
          </a:xfrm>
          <a:prstGeom prst="rect">
            <a:avLst/>
          </a:prstGeom>
          <a:noFill/>
        </p:spPr>
        <p:txBody>
          <a:bodyPr wrap="square" anchor="ctr" lIns="0" rIns="0" tIns="0" bIns="0">
            <a:spAutoFit/>
          </a:bodyPr>
          <a:lstStyle/>
          <a:p>
            <a:pPr algn="l" marL="0" indent="0">
              <a:lnSpc>
                <a:spcPct val="110000"/>
              </a:lnSpc>
              <a:buNone/>
            </a:pPr>
            <a:r>
              <a:rPr sz="1050" b="0" i="0">
                <a:solidFill>
                  <a:srgbClr val="666666"/>
                </a:solidFill>
                <a:latin typeface="Arial"/>
                <a:ea typeface="MS PGothic"/>
              </a:rPr>
              <a:t>d: 영상 처리·전송 지연   |   그림 형식: Qin and Shen (2018) Fig. 1 (측정 시점 vs 타임스탬프) [6]</a:t>
            </a:r>
          </a:p>
        </p:txBody>
      </p:sp>
      <p:sp>
        <p:nvSpPr>
          <p:cNvPr id="100" name="Rectangle 99"/>
          <p:cNvSpPr/>
          <p:nvPr/>
        </p:nvSpPr>
        <p:spPr>
          <a:xfrm>
            <a:off x="457200" y="5212080"/>
            <a:ext cx="8229600" cy="685800"/>
          </a:xfrm>
          <a:prstGeom prst="rect">
            <a:avLst/>
          </a:prstGeom>
          <a:noFill/>
          <a:ln w="19050">
            <a:solidFill>
              <a:srgbClr val="000F65"/>
            </a:solidFill>
          </a:ln>
        </p:spPr>
        <p:txBody>
          <a:bodyPr rtlCol="0" anchor="ctr" wrap="square" lIns="137160"/>
          <a:lstStyle/>
          <a:p>
            <a:pPr algn="ctr"/>
            <a:r>
              <a:rPr sz="1400" b="1" i="0">
                <a:solidFill>
                  <a:srgbClr val="000F65"/>
                </a:solidFill>
                <a:latin typeface="Arial"/>
                <a:ea typeface="MS PGothic"/>
              </a:rPr>
              <a:t>연구 목적   </a:t>
            </a:r>
            <a:r>
              <a:rPr sz="1400" b="0" i="0">
                <a:solidFill>
                  <a:srgbClr val="333333"/>
                </a:solidFill>
                <a:latin typeface="Arial"/>
                <a:ea typeface="MS PGothic"/>
              </a:rPr>
              <a:t>측정 주기와 지연이 다른 세 센서를 </a:t>
            </a:r>
            <a:r>
              <a:rPr sz="1400" b="1" i="0">
                <a:solidFill>
                  <a:srgbClr val="1A1A1A"/>
                </a:solidFill>
                <a:latin typeface="Arial"/>
                <a:ea typeface="MS PGothic"/>
              </a:rPr>
              <a:t>하나의 EKF로 융합</a:t>
            </a:r>
            <a:r>
              <a:rPr sz="1400" b="0" i="0">
                <a:solidFill>
                  <a:srgbClr val="333333"/>
                </a:solidFill>
                <a:latin typeface="Arial"/>
                <a:ea typeface="MS PGothic"/>
              </a:rPr>
              <a:t>하고, 시간 처리의 효과를 </a:t>
            </a:r>
            <a:r>
              <a:rPr sz="1400" b="1" i="0">
                <a:solidFill>
                  <a:srgbClr val="1A1A1A"/>
                </a:solidFill>
                <a:latin typeface="Arial"/>
                <a:ea typeface="MS PGothic"/>
              </a:rPr>
              <a:t>정량적으로 확인</a:t>
            </a:r>
          </a:p>
        </p:txBody>
      </p:sp>
    </p:spTree>
    <p:extLst>
      <p:ext uri="{BB962C8B-B14F-4D97-AF65-F5344CB8AC3E}">
        <p14:creationId xmlns:p14="http://schemas.microsoft.com/office/powerpoint/2010/main" val="37135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선행연구와 적용 방향</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늦게 도착한 측정을 처리하는 세 가지 방식</a:t>
            </a:r>
          </a:p>
        </p:txBody>
      </p:sp>
      <p:sp>
        <p:nvSpPr>
          <p:cNvPr id="4" name="TextBox 3"/>
          <p:cNvSpPr txBox="1"/>
          <p:nvPr/>
        </p:nvSpPr>
        <p:spPr>
          <a:xfrm>
            <a:off x="457200" y="1463040"/>
            <a:ext cx="8229600" cy="1371600"/>
          </a:xfrm>
          <a:prstGeom prst="rect">
            <a:avLst/>
          </a:prstGeom>
          <a:noFill/>
        </p:spPr>
        <p:txBody>
          <a:bodyPr wrap="square" lIns="18288" rIns="18288" tIns="18288" bIns="18288">
            <a:spAutoFit/>
          </a:bodyPr>
          <a:lstStyle/>
          <a:p>
            <a:pPr marL="274320" indent="-164592">
              <a:lnSpc>
                <a:spcPct val="115000"/>
              </a:lnSpc>
              <a:spcBef>
                <a:spcPts val="400"/>
              </a:spcBef>
              <a:buSzPct val="100000"/>
              <a:buFont typeface="MS PGothic"/>
              <a:buChar char="•"/>
            </a:pPr>
            <a:r>
              <a:rPr sz="1400" b="1" i="0">
                <a:solidFill>
                  <a:srgbClr val="1A1A1A"/>
                </a:solidFill>
                <a:latin typeface="Arial"/>
                <a:ea typeface="MS PGothic"/>
              </a:rPr>
              <a:t>Kim &amp; Ahn (2025)</a:t>
            </a:r>
            <a:r>
              <a:rPr sz="1400" b="0" i="0">
                <a:solidFill>
                  <a:srgbClr val="333333"/>
                </a:solidFill>
                <a:latin typeface="Arial"/>
                <a:ea typeface="MS PGothic"/>
              </a:rPr>
              <a:t>: 도착 시점이 다른 레이더·V2X 정보를 </a:t>
            </a:r>
            <a:r>
              <a:rPr sz="1400" b="1" i="0">
                <a:solidFill>
                  <a:srgbClr val="1A1A1A"/>
                </a:solidFill>
                <a:latin typeface="Arial"/>
                <a:ea typeface="MS PGothic"/>
              </a:rPr>
              <a:t>지연 보상 → 시간 정렬 → 과거 상태 재추정</a:t>
            </a:r>
            <a:r>
              <a:rPr sz="1400" b="0" i="0">
                <a:solidFill>
                  <a:srgbClr val="333333"/>
                </a:solidFill>
                <a:latin typeface="Arial"/>
                <a:ea typeface="MS PGothic"/>
              </a:rPr>
              <a:t>으로 처리 [7]</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드론 항법에서는 </a:t>
            </a:r>
            <a:r>
              <a:rPr sz="1400" b="1" i="0">
                <a:solidFill>
                  <a:srgbClr val="1A1A1A"/>
                </a:solidFill>
                <a:latin typeface="Arial"/>
                <a:ea typeface="MS PGothic"/>
              </a:rPr>
              <a:t>PX4 EKF2</a:t>
            </a:r>
            <a:r>
              <a:rPr sz="1400" b="0" i="0">
                <a:solidFill>
                  <a:srgbClr val="333333"/>
                </a:solidFill>
                <a:latin typeface="Arial"/>
                <a:ea typeface="MS PGothic"/>
              </a:rPr>
              <a:t>(지연 시점 융합)와 </a:t>
            </a:r>
            <a:r>
              <a:rPr sz="1400" b="1" i="0">
                <a:solidFill>
                  <a:srgbClr val="1A1A1A"/>
                </a:solidFill>
                <a:latin typeface="Arial"/>
                <a:ea typeface="MS PGothic"/>
              </a:rPr>
              <a:t>MSF-EKF</a:t>
            </a:r>
            <a:r>
              <a:rPr sz="1400" b="0" i="0">
                <a:solidFill>
                  <a:srgbClr val="333333"/>
                </a:solidFill>
                <a:latin typeface="Arial"/>
                <a:ea typeface="MS PGothic"/>
              </a:rPr>
              <a:t>(과거 상태 재추정)가 사용됨 [4, 8]</a:t>
            </a:r>
          </a:p>
        </p:txBody>
      </p:sp>
      <p:sp>
        <p:nvSpPr>
          <p:cNvPr id="5" name="Rectangle 4"/>
          <p:cNvSpPr/>
          <p:nvPr/>
        </p:nvSpPr>
        <p:spPr>
          <a:xfrm>
            <a:off x="457200" y="2926080"/>
            <a:ext cx="260604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A. 지연 무시</a:t>
            </a:r>
          </a:p>
          <a:p>
            <a:pPr algn="ctr" marL="0" indent="0">
              <a:lnSpc>
                <a:spcPct val="110000"/>
              </a:lnSpc>
              <a:buNone/>
            </a:pPr>
            <a:r>
              <a:rPr sz="1050" b="0" i="0">
                <a:solidFill>
                  <a:srgbClr val="333333"/>
                </a:solidFill>
                <a:latin typeface="Arial"/>
                <a:ea typeface="MS PGothic"/>
              </a:rPr>
              <a:t>비교 기준</a:t>
            </a:r>
          </a:p>
        </p:txBody>
      </p:sp>
      <p:sp>
        <p:nvSpPr>
          <p:cNvPr id="6" name="Rectangle 5"/>
          <p:cNvSpPr/>
          <p:nvPr/>
        </p:nvSpPr>
        <p:spPr>
          <a:xfrm>
            <a:off x="457200" y="3493008"/>
            <a:ext cx="2606040" cy="1783080"/>
          </a:xfrm>
          <a:prstGeom prst="rect">
            <a:avLst/>
          </a:prstGeom>
          <a:noFill/>
          <a:ln w="9525">
            <a:solidFill>
              <a:srgbClr val="BFBFBF"/>
            </a:solidFill>
          </a:ln>
        </p:spPr>
        <p:txBody>
          <a:bodyPr rtlCol="0" anchor="ctr"/>
          <a:lstStyle/>
          <a:p>
            <a:pPr algn="ctr"/>
          </a:p>
        </p:txBody>
      </p:sp>
      <p:cxnSp>
        <p:nvCxnSpPr>
          <p:cNvPr id="7" name="Connector 6"/>
          <p:cNvCxnSpPr/>
          <p:nvPr/>
        </p:nvCxnSpPr>
        <p:spPr>
          <a:xfrm>
            <a:off x="594360" y="4526280"/>
            <a:ext cx="2359152" cy="0"/>
          </a:xfrm>
          <a:prstGeom prst="line">
            <a:avLst/>
          </a:prstGeom>
          <a:ln w="12700">
            <a:solidFill>
              <a:srgbClr val="33333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60120" y="4462272"/>
            <a:ext cx="0" cy="128016"/>
          </a:xfrm>
          <a:prstGeom prst="line">
            <a:avLst/>
          </a:prstGeom>
          <a:ln w="15875">
            <a:solidFill>
              <a:srgbClr val="33333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4599432"/>
            <a:ext cx="914400" cy="201168"/>
          </a:xfrm>
          <a:prstGeom prst="rect">
            <a:avLst/>
          </a:prstGeom>
          <a:noFill/>
        </p:spPr>
        <p:txBody>
          <a:bodyPr wrap="square" anchor="ctr" lIns="0" rIns="0" tIns="0" bIns="0">
            <a:spAutoFit/>
          </a:bodyPr>
          <a:lstStyle/>
          <a:p>
            <a:pPr algn="ctr" marL="0" indent="0">
              <a:lnSpc>
                <a:spcPct val="110000"/>
              </a:lnSpc>
              <a:buNone/>
            </a:pPr>
            <a:r>
              <a:rPr sz="1050" b="0" i="0">
                <a:solidFill>
                  <a:srgbClr val="333333"/>
                </a:solidFill>
                <a:latin typeface="Arial"/>
                <a:ea typeface="MS PGothic"/>
              </a:rPr>
              <a:t>촬영</a:t>
            </a:r>
          </a:p>
        </p:txBody>
      </p:sp>
      <p:cxnSp>
        <p:nvCxnSpPr>
          <p:cNvPr id="10" name="Connector 9"/>
          <p:cNvCxnSpPr/>
          <p:nvPr/>
        </p:nvCxnSpPr>
        <p:spPr>
          <a:xfrm>
            <a:off x="2560320" y="4462272"/>
            <a:ext cx="0" cy="128016"/>
          </a:xfrm>
          <a:prstGeom prst="line">
            <a:avLst/>
          </a:prstGeom>
          <a:ln w="15875">
            <a:solidFill>
              <a:srgbClr val="33333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103120" y="4599432"/>
            <a:ext cx="914400" cy="201168"/>
          </a:xfrm>
          <a:prstGeom prst="rect">
            <a:avLst/>
          </a:prstGeom>
          <a:noFill/>
        </p:spPr>
        <p:txBody>
          <a:bodyPr wrap="square" anchor="ctr" lIns="0" rIns="0" tIns="0" bIns="0">
            <a:spAutoFit/>
          </a:bodyPr>
          <a:lstStyle/>
          <a:p>
            <a:pPr algn="ctr" marL="0" indent="0">
              <a:lnSpc>
                <a:spcPct val="110000"/>
              </a:lnSpc>
              <a:buNone/>
            </a:pPr>
            <a:r>
              <a:rPr sz="1050" b="0" i="0">
                <a:solidFill>
                  <a:srgbClr val="333333"/>
                </a:solidFill>
                <a:latin typeface="Arial"/>
                <a:ea typeface="MS PGothic"/>
              </a:rPr>
              <a:t>도착(현재)</a:t>
            </a:r>
          </a:p>
        </p:txBody>
      </p:sp>
      <p:sp>
        <p:nvSpPr>
          <p:cNvPr id="12" name="Oval 11"/>
          <p:cNvSpPr/>
          <p:nvPr/>
        </p:nvSpPr>
        <p:spPr>
          <a:xfrm>
            <a:off x="2487168" y="4453128"/>
            <a:ext cx="146304" cy="146304"/>
          </a:xfrm>
          <a:prstGeom prst="ellipse">
            <a:avLst/>
          </a:prstGeom>
          <a:solidFill>
            <a:srgbClr val="C00000"/>
          </a:solidFill>
          <a:ln>
            <a:noFill/>
          </a:ln>
        </p:spPr>
        <p:txBody>
          <a:bodyPr rtlCol="0" anchor="ctr"/>
          <a:lstStyle/>
          <a:p>
            <a:pPr algn="ctr"/>
          </a:p>
        </p:txBody>
      </p:sp>
      <p:sp>
        <p:nvSpPr>
          <p:cNvPr id="13" name="TextBox 12"/>
          <p:cNvSpPr txBox="1"/>
          <p:nvPr/>
        </p:nvSpPr>
        <p:spPr>
          <a:xfrm>
            <a:off x="594360" y="3703320"/>
            <a:ext cx="2331720" cy="237744"/>
          </a:xfrm>
          <a:prstGeom prst="rect">
            <a:avLst/>
          </a:prstGeom>
          <a:noFill/>
        </p:spPr>
        <p:txBody>
          <a:bodyPr wrap="square" anchor="ctr" lIns="0" rIns="0" tIns="0" bIns="0">
            <a:spAutoFit/>
          </a:bodyPr>
          <a:lstStyle/>
          <a:p>
            <a:pPr algn="ctr" marL="0" indent="0">
              <a:lnSpc>
                <a:spcPct val="110000"/>
              </a:lnSpc>
              <a:buNone/>
            </a:pPr>
            <a:r>
              <a:rPr sz="1050" b="1" i="0">
                <a:solidFill>
                  <a:srgbClr val="C00000"/>
                </a:solidFill>
                <a:latin typeface="Arial"/>
                <a:ea typeface="MS PGothic"/>
              </a:rPr>
              <a:t>도착 즉시 현재 값으로 보정</a:t>
            </a:r>
          </a:p>
        </p:txBody>
      </p:sp>
      <p:sp>
        <p:nvSpPr>
          <p:cNvPr id="14" name="TextBox 13"/>
          <p:cNvSpPr txBox="1"/>
          <p:nvPr/>
        </p:nvSpPr>
        <p:spPr>
          <a:xfrm>
            <a:off x="548640" y="4937760"/>
            <a:ext cx="2423160" cy="237744"/>
          </a:xfrm>
          <a:prstGeom prst="rect">
            <a:avLst/>
          </a:prstGeom>
          <a:noFill/>
        </p:spPr>
        <p:txBody>
          <a:bodyPr wrap="square" anchor="ctr" lIns="0" rIns="0" tIns="0" bIns="0">
            <a:spAutoFit/>
          </a:bodyPr>
          <a:lstStyle/>
          <a:p>
            <a:pPr algn="ctr" marL="0" indent="0">
              <a:lnSpc>
                <a:spcPct val="110000"/>
              </a:lnSpc>
              <a:buNone/>
            </a:pPr>
            <a:r>
              <a:rPr sz="1050" b="0" i="0">
                <a:solidFill>
                  <a:srgbClr val="666666"/>
                </a:solidFill>
                <a:latin typeface="Arial"/>
                <a:ea typeface="MS PGothic"/>
              </a:rPr>
              <a:t>간단하지만 시점 오차가 남음</a:t>
            </a:r>
          </a:p>
        </p:txBody>
      </p:sp>
      <p:sp>
        <p:nvSpPr>
          <p:cNvPr id="15" name="Rectangle 14"/>
          <p:cNvSpPr/>
          <p:nvPr/>
        </p:nvSpPr>
        <p:spPr>
          <a:xfrm>
            <a:off x="3268980" y="2926080"/>
            <a:ext cx="260604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B. 지연 시점 융합</a:t>
            </a:r>
          </a:p>
          <a:p>
            <a:pPr algn="ctr" marL="0" indent="0">
              <a:lnSpc>
                <a:spcPct val="110000"/>
              </a:lnSpc>
              <a:buNone/>
            </a:pPr>
            <a:r>
              <a:rPr sz="1050" b="0" i="0">
                <a:solidFill>
                  <a:srgbClr val="333333"/>
                </a:solidFill>
                <a:latin typeface="Arial"/>
                <a:ea typeface="MS PGothic"/>
              </a:rPr>
              <a:t>PX4 EKF2</a:t>
            </a:r>
          </a:p>
        </p:txBody>
      </p:sp>
      <p:sp>
        <p:nvSpPr>
          <p:cNvPr id="16" name="Rectangle 15"/>
          <p:cNvSpPr/>
          <p:nvPr/>
        </p:nvSpPr>
        <p:spPr>
          <a:xfrm>
            <a:off x="3268980" y="3493008"/>
            <a:ext cx="2606040" cy="1783080"/>
          </a:xfrm>
          <a:prstGeom prst="rect">
            <a:avLst/>
          </a:prstGeom>
          <a:noFill/>
          <a:ln w="9525">
            <a:solidFill>
              <a:srgbClr val="BFBFBF"/>
            </a:solidFill>
          </a:ln>
        </p:spPr>
        <p:txBody>
          <a:bodyPr rtlCol="0" anchor="ctr"/>
          <a:lstStyle/>
          <a:p>
            <a:pPr algn="ctr"/>
          </a:p>
        </p:txBody>
      </p:sp>
      <p:cxnSp>
        <p:nvCxnSpPr>
          <p:cNvPr id="17" name="Connector 16"/>
          <p:cNvCxnSpPr/>
          <p:nvPr/>
        </p:nvCxnSpPr>
        <p:spPr>
          <a:xfrm>
            <a:off x="3406140" y="4526280"/>
            <a:ext cx="2359152" cy="0"/>
          </a:xfrm>
          <a:prstGeom prst="line">
            <a:avLst/>
          </a:prstGeom>
          <a:ln w="12700">
            <a:solidFill>
              <a:srgbClr val="33333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771900" y="4462272"/>
            <a:ext cx="0" cy="128016"/>
          </a:xfrm>
          <a:prstGeom prst="line">
            <a:avLst/>
          </a:prstGeom>
          <a:ln w="15875">
            <a:solidFill>
              <a:srgbClr val="33333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314700" y="4599432"/>
            <a:ext cx="914400" cy="201168"/>
          </a:xfrm>
          <a:prstGeom prst="rect">
            <a:avLst/>
          </a:prstGeom>
          <a:noFill/>
        </p:spPr>
        <p:txBody>
          <a:bodyPr wrap="square" anchor="ctr" lIns="0" rIns="0" tIns="0" bIns="0">
            <a:spAutoFit/>
          </a:bodyPr>
          <a:lstStyle/>
          <a:p>
            <a:pPr algn="ctr" marL="0" indent="0">
              <a:lnSpc>
                <a:spcPct val="110000"/>
              </a:lnSpc>
              <a:buNone/>
            </a:pPr>
            <a:r>
              <a:rPr sz="1050" b="0" i="0">
                <a:solidFill>
                  <a:srgbClr val="333333"/>
                </a:solidFill>
                <a:latin typeface="Arial"/>
                <a:ea typeface="MS PGothic"/>
              </a:rPr>
              <a:t>촬영</a:t>
            </a:r>
          </a:p>
        </p:txBody>
      </p:sp>
      <p:cxnSp>
        <p:nvCxnSpPr>
          <p:cNvPr id="20" name="Connector 19"/>
          <p:cNvCxnSpPr/>
          <p:nvPr/>
        </p:nvCxnSpPr>
        <p:spPr>
          <a:xfrm>
            <a:off x="5372100" y="4462272"/>
            <a:ext cx="0" cy="128016"/>
          </a:xfrm>
          <a:prstGeom prst="line">
            <a:avLst/>
          </a:prstGeom>
          <a:ln w="15875">
            <a:solidFill>
              <a:srgbClr val="33333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914900" y="4599432"/>
            <a:ext cx="914400" cy="201168"/>
          </a:xfrm>
          <a:prstGeom prst="rect">
            <a:avLst/>
          </a:prstGeom>
          <a:noFill/>
        </p:spPr>
        <p:txBody>
          <a:bodyPr wrap="square" anchor="ctr" lIns="0" rIns="0" tIns="0" bIns="0">
            <a:spAutoFit/>
          </a:bodyPr>
          <a:lstStyle/>
          <a:p>
            <a:pPr algn="ctr" marL="0" indent="0">
              <a:lnSpc>
                <a:spcPct val="110000"/>
              </a:lnSpc>
              <a:buNone/>
            </a:pPr>
            <a:r>
              <a:rPr sz="1050" b="0" i="0">
                <a:solidFill>
                  <a:srgbClr val="333333"/>
                </a:solidFill>
                <a:latin typeface="Arial"/>
                <a:ea typeface="MS PGothic"/>
              </a:rPr>
              <a:t>도착(현재)</a:t>
            </a:r>
          </a:p>
        </p:txBody>
      </p:sp>
      <p:sp>
        <p:nvSpPr>
          <p:cNvPr id="22" name="Oval 21"/>
          <p:cNvSpPr/>
          <p:nvPr/>
        </p:nvSpPr>
        <p:spPr>
          <a:xfrm>
            <a:off x="3698748" y="4453128"/>
            <a:ext cx="146304" cy="146304"/>
          </a:xfrm>
          <a:prstGeom prst="ellipse">
            <a:avLst/>
          </a:prstGeom>
          <a:solidFill>
            <a:srgbClr val="000F65"/>
          </a:solidFill>
          <a:ln>
            <a:noFill/>
          </a:ln>
        </p:spPr>
        <p:txBody>
          <a:bodyPr rtlCol="0" anchor="ctr"/>
          <a:lstStyle/>
          <a:p>
            <a:pPr algn="ctr"/>
          </a:p>
        </p:txBody>
      </p:sp>
      <p:cxnSp>
        <p:nvCxnSpPr>
          <p:cNvPr id="23" name="Connector 22"/>
          <p:cNvCxnSpPr/>
          <p:nvPr/>
        </p:nvCxnSpPr>
        <p:spPr>
          <a:xfrm>
            <a:off x="3863339" y="4251960"/>
            <a:ext cx="1508761" cy="0"/>
          </a:xfrm>
          <a:prstGeom prst="line">
            <a:avLst/>
          </a:prstGeom>
          <a:ln w="15875">
            <a:solidFill>
              <a:srgbClr val="333399"/>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406140" y="3703320"/>
            <a:ext cx="2331720" cy="237744"/>
          </a:xfrm>
          <a:prstGeom prst="rect">
            <a:avLst/>
          </a:prstGeom>
          <a:noFill/>
        </p:spPr>
        <p:txBody>
          <a:bodyPr wrap="square" anchor="ctr" lIns="0" rIns="0" tIns="0" bIns="0">
            <a:spAutoFit/>
          </a:bodyPr>
          <a:lstStyle/>
          <a:p>
            <a:pPr algn="ctr" marL="0" indent="0">
              <a:lnSpc>
                <a:spcPct val="110000"/>
              </a:lnSpc>
              <a:buNone/>
            </a:pPr>
            <a:r>
              <a:rPr sz="1050" b="1" i="0">
                <a:solidFill>
                  <a:srgbClr val="000F65"/>
                </a:solidFill>
                <a:latin typeface="Arial"/>
                <a:ea typeface="MS PGothic"/>
              </a:rPr>
              <a:t>늦은 시점에서 보정</a:t>
            </a:r>
          </a:p>
        </p:txBody>
      </p:sp>
      <p:sp>
        <p:nvSpPr>
          <p:cNvPr id="25" name="TextBox 24"/>
          <p:cNvSpPr txBox="1"/>
          <p:nvPr/>
        </p:nvSpPr>
        <p:spPr>
          <a:xfrm>
            <a:off x="3771900" y="4014216"/>
            <a:ext cx="1645920" cy="201168"/>
          </a:xfrm>
          <a:prstGeom prst="rect">
            <a:avLst/>
          </a:prstGeom>
          <a:noFill/>
        </p:spPr>
        <p:txBody>
          <a:bodyPr wrap="square" anchor="ctr" lIns="0" rIns="0" tIns="0" bIns="0">
            <a:spAutoFit/>
          </a:bodyPr>
          <a:lstStyle/>
          <a:p>
            <a:pPr algn="ctr" marL="0" indent="0">
              <a:lnSpc>
                <a:spcPct val="110000"/>
              </a:lnSpc>
              <a:buNone/>
            </a:pPr>
            <a:r>
              <a:rPr sz="1050" b="0" i="0">
                <a:solidFill>
                  <a:srgbClr val="333399"/>
                </a:solidFill>
                <a:latin typeface="Arial"/>
                <a:ea typeface="MS PGothic"/>
              </a:rPr>
              <a:t>출력 예측기</a:t>
            </a:r>
          </a:p>
        </p:txBody>
      </p:sp>
      <p:sp>
        <p:nvSpPr>
          <p:cNvPr id="26" name="TextBox 25"/>
          <p:cNvSpPr txBox="1"/>
          <p:nvPr/>
        </p:nvSpPr>
        <p:spPr>
          <a:xfrm>
            <a:off x="3360420" y="4937760"/>
            <a:ext cx="2423160" cy="237744"/>
          </a:xfrm>
          <a:prstGeom prst="rect">
            <a:avLst/>
          </a:prstGeom>
          <a:noFill/>
        </p:spPr>
        <p:txBody>
          <a:bodyPr wrap="square" anchor="ctr" lIns="0" rIns="0" tIns="0" bIns="0">
            <a:spAutoFit/>
          </a:bodyPr>
          <a:lstStyle/>
          <a:p>
            <a:pPr algn="ctr" marL="0" indent="0">
              <a:lnSpc>
                <a:spcPct val="110000"/>
              </a:lnSpc>
              <a:buNone/>
            </a:pPr>
            <a:r>
              <a:rPr sz="1050" b="0" i="0">
                <a:solidFill>
                  <a:srgbClr val="666666"/>
                </a:solidFill>
                <a:latin typeface="Arial"/>
                <a:ea typeface="MS PGothic"/>
              </a:rPr>
              <a:t>현재 값은 예측으로 근사</a:t>
            </a:r>
          </a:p>
        </p:txBody>
      </p:sp>
      <p:sp>
        <p:nvSpPr>
          <p:cNvPr id="27" name="Rectangle 26"/>
          <p:cNvSpPr/>
          <p:nvPr/>
        </p:nvSpPr>
        <p:spPr>
          <a:xfrm>
            <a:off x="6080760" y="2926080"/>
            <a:ext cx="2606040" cy="566928"/>
          </a:xfrm>
          <a:prstGeom prst="rect">
            <a:avLst/>
          </a:prstGeom>
          <a:solidFill>
            <a:srgbClr val="000F65"/>
          </a:solidFill>
          <a:ln>
            <a:noFill/>
          </a:ln>
        </p:spPr>
        <p:txBody>
          <a:bodyPr rtlCol="0" anchor="ctr" wrap="square" lIns="73152" rIns="73152" tIns="36576" bIns="36576"/>
          <a:lstStyle/>
          <a:p>
            <a:pPr algn="ctr" marL="0" indent="0">
              <a:lnSpc>
                <a:spcPct val="110000"/>
              </a:lnSpc>
              <a:buNone/>
            </a:pPr>
            <a:r>
              <a:rPr sz="1200" b="1" i="0">
                <a:solidFill>
                  <a:srgbClr val="FFFFFF"/>
                </a:solidFill>
                <a:latin typeface="Arial"/>
                <a:ea typeface="MS PGothic"/>
              </a:rPr>
              <a:t>C. 과거 상태 재추정</a:t>
            </a:r>
          </a:p>
          <a:p>
            <a:pPr algn="ctr" marL="0" indent="0">
              <a:lnSpc>
                <a:spcPct val="110000"/>
              </a:lnSpc>
              <a:buNone/>
            </a:pPr>
            <a:r>
              <a:rPr sz="1050" b="0" i="0">
                <a:solidFill>
                  <a:srgbClr val="FFFFFF"/>
                </a:solidFill>
                <a:latin typeface="Arial"/>
                <a:ea typeface="MS PGothic"/>
              </a:rPr>
              <a:t>Kim &amp; Ahn, MSF-EKF</a:t>
            </a:r>
          </a:p>
        </p:txBody>
      </p:sp>
      <p:sp>
        <p:nvSpPr>
          <p:cNvPr id="28" name="Rectangle 27"/>
          <p:cNvSpPr/>
          <p:nvPr/>
        </p:nvSpPr>
        <p:spPr>
          <a:xfrm>
            <a:off x="6080760" y="3493008"/>
            <a:ext cx="2606040" cy="1783080"/>
          </a:xfrm>
          <a:prstGeom prst="rect">
            <a:avLst/>
          </a:prstGeom>
          <a:noFill/>
          <a:ln w="9525">
            <a:solidFill>
              <a:srgbClr val="BFBFBF"/>
            </a:solidFill>
          </a:ln>
        </p:spPr>
        <p:txBody>
          <a:bodyPr rtlCol="0" anchor="ctr"/>
          <a:lstStyle/>
          <a:p>
            <a:pPr algn="ctr"/>
          </a:p>
        </p:txBody>
      </p:sp>
      <p:cxnSp>
        <p:nvCxnSpPr>
          <p:cNvPr id="29" name="Connector 28"/>
          <p:cNvCxnSpPr/>
          <p:nvPr/>
        </p:nvCxnSpPr>
        <p:spPr>
          <a:xfrm>
            <a:off x="6217920" y="4526280"/>
            <a:ext cx="2359152" cy="0"/>
          </a:xfrm>
          <a:prstGeom prst="line">
            <a:avLst/>
          </a:prstGeom>
          <a:ln w="12700">
            <a:solidFill>
              <a:srgbClr val="33333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583680" y="4462272"/>
            <a:ext cx="0" cy="128016"/>
          </a:xfrm>
          <a:prstGeom prst="line">
            <a:avLst/>
          </a:prstGeom>
          <a:ln w="15875">
            <a:solidFill>
              <a:srgbClr val="33333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26480" y="4599432"/>
            <a:ext cx="914400" cy="201168"/>
          </a:xfrm>
          <a:prstGeom prst="rect">
            <a:avLst/>
          </a:prstGeom>
          <a:noFill/>
        </p:spPr>
        <p:txBody>
          <a:bodyPr wrap="square" anchor="ctr" lIns="0" rIns="0" tIns="0" bIns="0">
            <a:spAutoFit/>
          </a:bodyPr>
          <a:lstStyle/>
          <a:p>
            <a:pPr algn="ctr" marL="0" indent="0">
              <a:lnSpc>
                <a:spcPct val="110000"/>
              </a:lnSpc>
              <a:buNone/>
            </a:pPr>
            <a:r>
              <a:rPr sz="1050" b="0" i="0">
                <a:solidFill>
                  <a:srgbClr val="333333"/>
                </a:solidFill>
                <a:latin typeface="Arial"/>
                <a:ea typeface="MS PGothic"/>
              </a:rPr>
              <a:t>촬영</a:t>
            </a:r>
          </a:p>
        </p:txBody>
      </p:sp>
      <p:cxnSp>
        <p:nvCxnSpPr>
          <p:cNvPr id="32" name="Connector 31"/>
          <p:cNvCxnSpPr/>
          <p:nvPr/>
        </p:nvCxnSpPr>
        <p:spPr>
          <a:xfrm>
            <a:off x="8183879" y="4462272"/>
            <a:ext cx="0" cy="128016"/>
          </a:xfrm>
          <a:prstGeom prst="line">
            <a:avLst/>
          </a:prstGeom>
          <a:ln w="15875">
            <a:solidFill>
              <a:srgbClr val="333333"/>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726679" y="4599432"/>
            <a:ext cx="914400" cy="201168"/>
          </a:xfrm>
          <a:prstGeom prst="rect">
            <a:avLst/>
          </a:prstGeom>
          <a:noFill/>
        </p:spPr>
        <p:txBody>
          <a:bodyPr wrap="square" anchor="ctr" lIns="0" rIns="0" tIns="0" bIns="0">
            <a:spAutoFit/>
          </a:bodyPr>
          <a:lstStyle/>
          <a:p>
            <a:pPr algn="ctr" marL="0" indent="0">
              <a:lnSpc>
                <a:spcPct val="110000"/>
              </a:lnSpc>
              <a:buNone/>
            </a:pPr>
            <a:r>
              <a:rPr sz="1050" b="0" i="0">
                <a:solidFill>
                  <a:srgbClr val="333333"/>
                </a:solidFill>
                <a:latin typeface="Arial"/>
                <a:ea typeface="MS PGothic"/>
              </a:rPr>
              <a:t>도착(현재)</a:t>
            </a:r>
          </a:p>
        </p:txBody>
      </p:sp>
      <p:cxnSp>
        <p:nvCxnSpPr>
          <p:cNvPr id="34" name="Connector 33"/>
          <p:cNvCxnSpPr/>
          <p:nvPr/>
        </p:nvCxnSpPr>
        <p:spPr>
          <a:xfrm flipH="1">
            <a:off x="6629400" y="4233672"/>
            <a:ext cx="1554479" cy="0"/>
          </a:xfrm>
          <a:prstGeom prst="line">
            <a:avLst/>
          </a:prstGeom>
          <a:ln w="19050">
            <a:solidFill>
              <a:srgbClr val="C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6510528" y="4453128"/>
            <a:ext cx="146304" cy="146304"/>
          </a:xfrm>
          <a:prstGeom prst="ellipse">
            <a:avLst/>
          </a:prstGeom>
          <a:solidFill>
            <a:srgbClr val="C00000"/>
          </a:solidFill>
          <a:ln>
            <a:noFill/>
          </a:ln>
        </p:spPr>
        <p:txBody>
          <a:bodyPr rtlCol="0" anchor="ctr"/>
          <a:lstStyle/>
          <a:p>
            <a:pPr algn="ctr"/>
          </a:p>
        </p:txBody>
      </p:sp>
      <p:cxnSp>
        <p:nvCxnSpPr>
          <p:cNvPr id="36" name="Connector 35"/>
          <p:cNvCxnSpPr/>
          <p:nvPr/>
        </p:nvCxnSpPr>
        <p:spPr>
          <a:xfrm>
            <a:off x="6675120" y="4398264"/>
            <a:ext cx="1508759" cy="0"/>
          </a:xfrm>
          <a:prstGeom prst="line">
            <a:avLst/>
          </a:prstGeom>
          <a:ln w="19050">
            <a:solidFill>
              <a:srgbClr val="000F65"/>
            </a:solidFill>
            <a:tailEnd type="triangle" w="sm" len="sm"/>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217920" y="3703320"/>
            <a:ext cx="2331720" cy="237744"/>
          </a:xfrm>
          <a:prstGeom prst="rect">
            <a:avLst/>
          </a:prstGeom>
          <a:noFill/>
        </p:spPr>
        <p:txBody>
          <a:bodyPr wrap="square" anchor="ctr" lIns="0" rIns="0" tIns="0" bIns="0">
            <a:spAutoFit/>
          </a:bodyPr>
          <a:lstStyle/>
          <a:p>
            <a:pPr algn="ctr" marL="0" indent="0">
              <a:lnSpc>
                <a:spcPct val="110000"/>
              </a:lnSpc>
              <a:buNone/>
            </a:pPr>
            <a:r>
              <a:rPr sz="1050" b="1" i="0">
                <a:solidFill>
                  <a:srgbClr val="C00000"/>
                </a:solidFill>
                <a:latin typeface="Arial"/>
                <a:ea typeface="MS PGothic"/>
              </a:rPr>
              <a:t>되돌아가 보정 → 재계산</a:t>
            </a:r>
          </a:p>
        </p:txBody>
      </p:sp>
      <p:sp>
        <p:nvSpPr>
          <p:cNvPr id="38" name="TextBox 37"/>
          <p:cNvSpPr txBox="1"/>
          <p:nvPr/>
        </p:nvSpPr>
        <p:spPr>
          <a:xfrm>
            <a:off x="6172200" y="4937760"/>
            <a:ext cx="2423160" cy="237744"/>
          </a:xfrm>
          <a:prstGeom prst="rect">
            <a:avLst/>
          </a:prstGeom>
          <a:noFill/>
        </p:spPr>
        <p:txBody>
          <a:bodyPr wrap="square" anchor="ctr" lIns="0" rIns="0" tIns="0" bIns="0">
            <a:spAutoFit/>
          </a:bodyPr>
          <a:lstStyle/>
          <a:p>
            <a:pPr algn="ctr" marL="0" indent="0">
              <a:lnSpc>
                <a:spcPct val="110000"/>
              </a:lnSpc>
              <a:buNone/>
            </a:pPr>
            <a:r>
              <a:rPr sz="1050" b="0" i="0">
                <a:solidFill>
                  <a:srgbClr val="666666"/>
                </a:solidFill>
                <a:latin typeface="Arial"/>
                <a:ea typeface="MS PGothic"/>
              </a:rPr>
              <a:t>정확하지만 연산 증가</a:t>
            </a:r>
          </a:p>
        </p:txBody>
      </p:sp>
      <p:sp>
        <p:nvSpPr>
          <p:cNvPr id="39" name="Rectangle 38"/>
          <p:cNvSpPr/>
          <p:nvPr/>
        </p:nvSpPr>
        <p:spPr>
          <a:xfrm>
            <a:off x="6025896" y="2871216"/>
            <a:ext cx="2715768" cy="2459736"/>
          </a:xfrm>
          <a:prstGeom prst="rect">
            <a:avLst/>
          </a:prstGeom>
          <a:noFill/>
          <a:ln w="19050">
            <a:solidFill>
              <a:srgbClr val="C00000"/>
            </a:solidFill>
          </a:ln>
        </p:spPr>
        <p:txBody>
          <a:bodyPr rtlCol="0" anchor="ctr"/>
          <a:lstStyle/>
          <a:p>
            <a:pPr algn="ctr"/>
          </a:p>
        </p:txBody>
      </p:sp>
      <p:sp>
        <p:nvSpPr>
          <p:cNvPr id="40" name="TextBox 39"/>
          <p:cNvSpPr txBox="1"/>
          <p:nvPr/>
        </p:nvSpPr>
        <p:spPr>
          <a:xfrm>
            <a:off x="6080760" y="5376672"/>
            <a:ext cx="2606040" cy="237744"/>
          </a:xfrm>
          <a:prstGeom prst="rect">
            <a:avLst/>
          </a:prstGeom>
          <a:noFill/>
        </p:spPr>
        <p:txBody>
          <a:bodyPr wrap="square" anchor="ctr" lIns="0" rIns="0" tIns="0" bIns="0">
            <a:spAutoFit/>
          </a:bodyPr>
          <a:lstStyle/>
          <a:p>
            <a:pPr algn="ctr" marL="0" indent="0">
              <a:lnSpc>
                <a:spcPct val="110000"/>
              </a:lnSpc>
              <a:buNone/>
            </a:pPr>
            <a:r>
              <a:rPr sz="1050" b="1" i="0">
                <a:solidFill>
                  <a:srgbClr val="C00000"/>
                </a:solidFill>
                <a:latin typeface="Arial"/>
                <a:ea typeface="MS PGothic"/>
              </a:rPr>
              <a:t>본 연구의 핵심 구현</a:t>
            </a:r>
          </a:p>
        </p:txBody>
      </p:sp>
      <p:sp>
        <p:nvSpPr>
          <p:cNvPr id="41" name="TextBox 40"/>
          <p:cNvSpPr txBox="1"/>
          <p:nvPr/>
        </p:nvSpPr>
        <p:spPr>
          <a:xfrm>
            <a:off x="457200" y="5532120"/>
            <a:ext cx="8229600" cy="685800"/>
          </a:xfrm>
          <a:prstGeom prst="rect">
            <a:avLst/>
          </a:prstGeom>
          <a:noFill/>
        </p:spPr>
        <p:txBody>
          <a:bodyPr wrap="square" lIns="18288">
            <a:spAutoFit/>
          </a:bodyPr>
          <a:lstStyle/>
          <a:p>
            <a:pPr>
              <a:lnSpc>
                <a:spcPct val="115000"/>
              </a:lnSpc>
            </a:pPr>
            <a:r>
              <a:rPr sz="1400" b="1" i="0">
                <a:solidFill>
                  <a:srgbClr val="000F65"/>
                </a:solidFill>
                <a:latin typeface="Arial"/>
                <a:ea typeface="MS PGothic"/>
              </a:rPr>
              <a:t>본 연구: 세 방식을 같은 EKF에 구현하여 </a:t>
            </a:r>
            <a:r>
              <a:rPr sz="1400" b="1" i="0">
                <a:solidFill>
                  <a:srgbClr val="1A1A1A"/>
                </a:solidFill>
                <a:latin typeface="Arial"/>
                <a:ea typeface="MS PGothic"/>
              </a:rPr>
              <a:t>정확도와 처리시간을 같은 데이터에서 비교</a:t>
            </a:r>
          </a:p>
        </p:txBody>
      </p:sp>
    </p:spTree>
    <p:extLst>
      <p:ext uri="{BB962C8B-B14F-4D97-AF65-F5344CB8AC3E}">
        <p14:creationId xmlns:p14="http://schemas.microsoft.com/office/powerpoint/2010/main" val="37135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연구방법</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KLT Optical Flow와 EKF 기반 다중센서 융합</a:t>
            </a:r>
          </a:p>
        </p:txBody>
      </p:sp>
      <p:sp>
        <p:nvSpPr>
          <p:cNvPr id="4" name="TextBox 3"/>
          <p:cNvSpPr txBox="1"/>
          <p:nvPr/>
        </p:nvSpPr>
        <p:spPr>
          <a:xfrm>
            <a:off x="457200" y="1481328"/>
            <a:ext cx="8229600" cy="2011680"/>
          </a:xfrm>
          <a:prstGeom prst="rect">
            <a:avLst/>
          </a:prstGeom>
          <a:noFill/>
        </p:spPr>
        <p:txBody>
          <a:bodyPr wrap="square" lIns="18288" rIns="18288" tIns="18288" bIns="18288">
            <a:spAutoFit/>
          </a:bodyPr>
          <a:lstStyle/>
          <a:p>
            <a:pPr marL="274320" indent="-164592">
              <a:lnSpc>
                <a:spcPct val="115000"/>
              </a:lnSpc>
              <a:spcBef>
                <a:spcPts val="400"/>
              </a:spcBef>
              <a:buSzPct val="100000"/>
              <a:buFont typeface="MS PGothic"/>
              <a:buChar char="•"/>
            </a:pPr>
            <a:r>
              <a:rPr sz="1400" b="1" i="0">
                <a:solidFill>
                  <a:srgbClr val="1A1A1A"/>
                </a:solidFill>
                <a:latin typeface="Arial"/>
                <a:ea typeface="MS PGothic"/>
              </a:rPr>
              <a:t>상태</a:t>
            </a:r>
            <a:r>
              <a:rPr sz="1400" b="0" i="0">
                <a:solidFill>
                  <a:srgbClr val="333333"/>
                </a:solidFill>
                <a:latin typeface="Arial"/>
                <a:ea typeface="MS PGothic"/>
              </a:rPr>
              <a:t>: 위치·속도·자세, IMU 바이어스</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예측</a:t>
            </a:r>
            <a:r>
              <a:rPr sz="1400" b="0" i="0">
                <a:solidFill>
                  <a:srgbClr val="333333"/>
                </a:solidFill>
                <a:latin typeface="Arial"/>
                <a:ea typeface="MS PGothic"/>
              </a:rPr>
              <a:t>: IMU 가속도·각속도  /  </a:t>
            </a:r>
            <a:r>
              <a:rPr sz="1400" b="1" i="0">
                <a:solidFill>
                  <a:srgbClr val="1A1A1A"/>
                </a:solidFill>
                <a:latin typeface="Arial"/>
                <a:ea typeface="MS PGothic"/>
              </a:rPr>
              <a:t>보정</a:t>
            </a:r>
            <a:r>
              <a:rPr sz="1400" b="0" i="0">
                <a:solidFill>
                  <a:srgbClr val="333333"/>
                </a:solidFill>
                <a:latin typeface="Arial"/>
                <a:ea typeface="MS PGothic"/>
              </a:rPr>
              <a:t>: 영상 이동(회전 성분 제거)과 거리(기울기 보정한 고도)</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늦은 측정</a:t>
            </a:r>
            <a:r>
              <a:rPr sz="1400" b="0" i="0">
                <a:solidFill>
                  <a:srgbClr val="333333"/>
                </a:solidFill>
                <a:latin typeface="Arial"/>
                <a:ea typeface="MS PGothic"/>
              </a:rPr>
              <a:t>: 저장해 둔 이력에서 측정 시점의 상태를 꺼내 보정하고, 이후 IMU 입력과 그 사이 측정을 다시 적용해 현재까지 재계산</a:t>
            </a:r>
          </a:p>
        </p:txBody>
      </p:sp>
      <p:sp>
        <p:nvSpPr>
          <p:cNvPr id="5" name="Rectangle 4"/>
          <p:cNvSpPr/>
          <p:nvPr/>
        </p:nvSpPr>
        <p:spPr>
          <a:xfrm>
            <a:off x="457200" y="3246120"/>
            <a:ext cx="196596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IMU</a:t>
            </a:r>
          </a:p>
          <a:p>
            <a:pPr algn="ctr" marL="0" indent="0">
              <a:lnSpc>
                <a:spcPct val="110000"/>
              </a:lnSpc>
              <a:buNone/>
            </a:pPr>
            <a:r>
              <a:rPr sz="1050" b="0" i="0">
                <a:solidFill>
                  <a:srgbClr val="333333"/>
                </a:solidFill>
                <a:latin typeface="Arial"/>
                <a:ea typeface="MS PGothic"/>
              </a:rPr>
              <a:t>가속도·각속도</a:t>
            </a:r>
          </a:p>
        </p:txBody>
      </p:sp>
      <p:sp>
        <p:nvSpPr>
          <p:cNvPr id="6" name="Rectangle 5"/>
          <p:cNvSpPr/>
          <p:nvPr/>
        </p:nvSpPr>
        <p:spPr>
          <a:xfrm>
            <a:off x="457200" y="3995928"/>
            <a:ext cx="196596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카메라 + 거리센서</a:t>
            </a:r>
          </a:p>
          <a:p>
            <a:pPr algn="ctr" marL="0" indent="0">
              <a:lnSpc>
                <a:spcPct val="110000"/>
              </a:lnSpc>
              <a:buNone/>
            </a:pPr>
            <a:r>
              <a:rPr sz="1050" b="0" i="0">
                <a:solidFill>
                  <a:srgbClr val="333333"/>
                </a:solidFill>
                <a:latin typeface="Arial"/>
                <a:ea typeface="MS PGothic"/>
              </a:rPr>
              <a:t>영상 이동·거리</a:t>
            </a:r>
          </a:p>
        </p:txBody>
      </p:sp>
      <p:cxnSp>
        <p:nvCxnSpPr>
          <p:cNvPr id="7" name="Connector 6"/>
          <p:cNvCxnSpPr/>
          <p:nvPr/>
        </p:nvCxnSpPr>
        <p:spPr>
          <a:xfrm>
            <a:off x="2423160" y="3529584"/>
            <a:ext cx="45720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423160" y="4279392"/>
            <a:ext cx="45720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880360" y="3200400"/>
            <a:ext cx="3017520" cy="1408176"/>
          </a:xfrm>
          <a:prstGeom prst="rect">
            <a:avLst/>
          </a:prstGeom>
          <a:solidFill>
            <a:srgbClr val="000F65"/>
          </a:solidFill>
          <a:ln>
            <a:noFill/>
          </a:ln>
        </p:spPr>
        <p:txBody>
          <a:bodyPr rtlCol="0" anchor="ctr" wrap="square" lIns="73152" rIns="73152" tIns="36576" bIns="36576"/>
          <a:lstStyle/>
          <a:p>
            <a:pPr algn="ctr" marL="0" indent="0">
              <a:lnSpc>
                <a:spcPct val="110000"/>
              </a:lnSpc>
              <a:buNone/>
            </a:pPr>
            <a:r>
              <a:rPr sz="1400" b="1" i="0">
                <a:solidFill>
                  <a:srgbClr val="FFFFFF"/>
                </a:solidFill>
                <a:latin typeface="Arial"/>
                <a:ea typeface="MS PGothic"/>
              </a:rPr>
              <a:t>EKF (확장 칼만필터)</a:t>
            </a:r>
          </a:p>
          <a:p>
            <a:pPr algn="ctr" marL="0" indent="0">
              <a:lnSpc>
                <a:spcPct val="110000"/>
              </a:lnSpc>
              <a:buNone/>
            </a:pPr>
            <a:r>
              <a:rPr sz="1200" b="0" i="0">
                <a:solidFill>
                  <a:srgbClr val="FFFFFF"/>
                </a:solidFill>
                <a:latin typeface="Arial"/>
                <a:ea typeface="MS PGothic"/>
              </a:rPr>
              <a:t>IMU로 움직임 예측</a:t>
            </a:r>
          </a:p>
          <a:p>
            <a:pPr algn="ctr" marL="0" indent="0">
              <a:lnSpc>
                <a:spcPct val="110000"/>
              </a:lnSpc>
              <a:buNone/>
            </a:pPr>
            <a:r>
              <a:rPr sz="1200" b="0" i="0">
                <a:solidFill>
                  <a:srgbClr val="FFFFFF"/>
                </a:solidFill>
                <a:latin typeface="Arial"/>
                <a:ea typeface="MS PGothic"/>
              </a:rPr>
              <a:t>영상·거리 측정으로 보정</a:t>
            </a:r>
          </a:p>
        </p:txBody>
      </p:sp>
      <p:cxnSp>
        <p:nvCxnSpPr>
          <p:cNvPr id="10" name="Connector 9"/>
          <p:cNvCxnSpPr/>
          <p:nvPr/>
        </p:nvCxnSpPr>
        <p:spPr>
          <a:xfrm>
            <a:off x="5897880" y="3904487"/>
            <a:ext cx="45720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355080" y="3493008"/>
            <a:ext cx="2331720" cy="822960"/>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위치·속도·자세</a:t>
            </a:r>
          </a:p>
          <a:p>
            <a:pPr algn="ctr" marL="0" indent="0">
              <a:lnSpc>
                <a:spcPct val="110000"/>
              </a:lnSpc>
              <a:buNone/>
            </a:pPr>
            <a:r>
              <a:rPr sz="1050" b="0" i="0">
                <a:solidFill>
                  <a:srgbClr val="333333"/>
                </a:solidFill>
                <a:latin typeface="Arial"/>
                <a:ea typeface="MS PGothic"/>
              </a:rPr>
              <a:t>추정값</a:t>
            </a:r>
          </a:p>
        </p:txBody>
      </p:sp>
      <p:sp>
        <p:nvSpPr>
          <p:cNvPr id="12" name="TextBox 11"/>
          <p:cNvSpPr txBox="1"/>
          <p:nvPr/>
        </p:nvSpPr>
        <p:spPr>
          <a:xfrm>
            <a:off x="457200" y="4873752"/>
            <a:ext cx="8229600" cy="274320"/>
          </a:xfrm>
          <a:prstGeom prst="rect">
            <a:avLst/>
          </a:prstGeom>
          <a:noFill/>
        </p:spPr>
        <p:txBody>
          <a:bodyPr wrap="square" anchor="ctr" lIns="0" rIns="0" tIns="0" bIns="0">
            <a:spAutoFit/>
          </a:bodyPr>
          <a:lstStyle/>
          <a:p>
            <a:pPr algn="l" marL="0" indent="0">
              <a:lnSpc>
                <a:spcPct val="110000"/>
              </a:lnSpc>
              <a:buNone/>
            </a:pPr>
            <a:r>
              <a:rPr sz="1200" b="1" i="0">
                <a:solidFill>
                  <a:srgbClr val="000F65"/>
                </a:solidFill>
                <a:latin typeface="Arial"/>
                <a:ea typeface="MS PGothic"/>
              </a:rPr>
              <a:t>늦은 측정 처리 (과거 상태 재추정)</a:t>
            </a:r>
          </a:p>
        </p:txBody>
      </p:sp>
      <p:sp>
        <p:nvSpPr>
          <p:cNvPr id="13" name="Rectangle 12"/>
          <p:cNvSpPr/>
          <p:nvPr/>
        </p:nvSpPr>
        <p:spPr>
          <a:xfrm>
            <a:off x="457200" y="5212080"/>
            <a:ext cx="2514600" cy="457200"/>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측정 시점의 상태로 복귀</a:t>
            </a:r>
          </a:p>
        </p:txBody>
      </p:sp>
      <p:cxnSp>
        <p:nvCxnSpPr>
          <p:cNvPr id="14" name="Connector 13"/>
          <p:cNvCxnSpPr/>
          <p:nvPr/>
        </p:nvCxnSpPr>
        <p:spPr>
          <a:xfrm>
            <a:off x="2971800" y="5440680"/>
            <a:ext cx="32004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291840" y="5212080"/>
            <a:ext cx="2514600" cy="457200"/>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늦은 측정으로 보정</a:t>
            </a:r>
          </a:p>
        </p:txBody>
      </p:sp>
      <p:cxnSp>
        <p:nvCxnSpPr>
          <p:cNvPr id="16" name="Connector 15"/>
          <p:cNvCxnSpPr/>
          <p:nvPr/>
        </p:nvCxnSpPr>
        <p:spPr>
          <a:xfrm>
            <a:off x="5806440" y="5440680"/>
            <a:ext cx="32004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126480" y="5212080"/>
            <a:ext cx="2514600" cy="457200"/>
          </a:xfrm>
          <a:prstGeom prst="rect">
            <a:avLst/>
          </a:prstGeom>
          <a:solidFill>
            <a:srgbClr val="000F65"/>
          </a:solidFill>
          <a:ln>
            <a:noFill/>
          </a:ln>
        </p:spPr>
        <p:txBody>
          <a:bodyPr rtlCol="0" anchor="ctr" wrap="square" lIns="73152" rIns="73152" tIns="36576" bIns="36576"/>
          <a:lstStyle/>
          <a:p>
            <a:pPr algn="ctr" marL="0" indent="0">
              <a:lnSpc>
                <a:spcPct val="110000"/>
              </a:lnSpc>
              <a:buNone/>
            </a:pPr>
            <a:r>
              <a:rPr sz="1200" b="1" i="0">
                <a:solidFill>
                  <a:srgbClr val="FFFFFF"/>
                </a:solidFill>
                <a:latin typeface="Arial"/>
                <a:ea typeface="MS PGothic"/>
              </a:rPr>
              <a:t>이후 입력·측정 재적용</a:t>
            </a:r>
          </a:p>
        </p:txBody>
      </p:sp>
      <p:sp>
        <p:nvSpPr>
          <p:cNvPr id="18" name="TextBox 17"/>
          <p:cNvSpPr txBox="1"/>
          <p:nvPr/>
        </p:nvSpPr>
        <p:spPr>
          <a:xfrm>
            <a:off x="457200" y="5779008"/>
            <a:ext cx="8229600" cy="256032"/>
          </a:xfrm>
          <a:prstGeom prst="rect">
            <a:avLst/>
          </a:prstGeom>
          <a:noFill/>
        </p:spPr>
        <p:txBody>
          <a:bodyPr wrap="square" anchor="ctr" lIns="0" rIns="0" tIns="0" bIns="0">
            <a:spAutoFit/>
          </a:bodyPr>
          <a:lstStyle/>
          <a:p>
            <a:pPr algn="l" marL="0" indent="0">
              <a:lnSpc>
                <a:spcPct val="110000"/>
              </a:lnSpc>
              <a:buNone/>
            </a:pPr>
            <a:r>
              <a:rPr sz="1050" b="0" i="0">
                <a:solidFill>
                  <a:srgbClr val="666666"/>
                </a:solidFill>
                <a:latin typeface="Arial"/>
                <a:ea typeface="MS PGothic"/>
              </a:rPr>
              <a:t>저장: 상태·공분산·IMU 입력·측정 이력 (버퍼 길이 ≥ 최대 지연)</a:t>
            </a:r>
          </a:p>
        </p:txBody>
      </p:sp>
      <p:sp>
        <p:nvSpPr>
          <p:cNvPr id="19" name="Rectangle 18"/>
          <p:cNvSpPr/>
          <p:nvPr/>
        </p:nvSpPr>
        <p:spPr>
          <a:xfrm>
            <a:off x="384048" y="4818888"/>
            <a:ext cx="8375904" cy="914400"/>
          </a:xfrm>
          <a:prstGeom prst="rect">
            <a:avLst/>
          </a:prstGeom>
          <a:noFill/>
          <a:ln w="19050">
            <a:solidFill>
              <a:srgbClr val="C00000"/>
            </a:solidFill>
          </a:ln>
        </p:spPr>
        <p:txBody>
          <a:bodyPr rtlCol="0" anchor="ctr"/>
          <a:lstStyle/>
          <a:p>
            <a:pPr algn="ctr"/>
          </a:p>
        </p:txBody>
      </p:sp>
      <p:sp>
        <p:nvSpPr>
          <p:cNvPr id="20" name="TextBox 19"/>
          <p:cNvSpPr txBox="1"/>
          <p:nvPr/>
        </p:nvSpPr>
        <p:spPr>
          <a:xfrm>
            <a:off x="7223760" y="4846320"/>
            <a:ext cx="1463040" cy="237744"/>
          </a:xfrm>
          <a:prstGeom prst="rect">
            <a:avLst/>
          </a:prstGeom>
          <a:noFill/>
        </p:spPr>
        <p:txBody>
          <a:bodyPr wrap="square" anchor="ctr" lIns="0" rIns="0" tIns="0" bIns="0">
            <a:spAutoFit/>
          </a:bodyPr>
          <a:lstStyle/>
          <a:p>
            <a:pPr algn="r" marL="0" indent="0">
              <a:lnSpc>
                <a:spcPct val="110000"/>
              </a:lnSpc>
              <a:buNone/>
            </a:pPr>
            <a:r>
              <a:rPr sz="1050" b="1" i="0">
                <a:solidFill>
                  <a:srgbClr val="C00000"/>
                </a:solidFill>
                <a:latin typeface="Arial"/>
                <a:ea typeface="MS PGothic"/>
              </a:rPr>
              <a:t>본 연구의 핵심</a:t>
            </a:r>
          </a:p>
        </p:txBody>
      </p:sp>
    </p:spTree>
    <p:extLst>
      <p:ext uri="{BB962C8B-B14F-4D97-AF65-F5344CB8AC3E}">
        <p14:creationId xmlns:p14="http://schemas.microsoft.com/office/powerpoint/2010/main" val="37135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연구계획</a:t>
            </a:r>
          </a:p>
        </p:txBody>
      </p:sp>
      <p:nvGrpSpPr>
        <p:cNvPr id="1" name=""/>
        <p:cNvGrpSpPr/>
        <p:nvPr/>
      </p:nvGrpSpPr>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10월 ~ 12월 단계별 추진 계획</a:t>
            </a:r>
          </a:p>
        </p:txBody>
      </p:sp>
      <p:graphicFrame>
        <p:nvGraphicFramePr>
          <p:cNvPr id="4" name="Table 3"/>
          <p:cNvGraphicFramePr>
            <a:graphicFrameLocks noGrp="1"/>
          </p:cNvGraphicFramePr>
          <p:nvPr/>
        </p:nvGraphicFramePr>
        <p:xfrm>
          <a:off x="457200" y="1600200"/>
          <a:ext cx="8229600" cy="3675888"/>
        </p:xfrm>
        <a:graphic>
          <a:graphicData uri="http://schemas.openxmlformats.org/drawingml/2006/table">
            <a:tbl>
              <a:tblPr firstRow="0" bandRow="0"/>
              <a:tblGrid>
                <a:gridCol w="1234440"/>
                <a:gridCol w="3886200"/>
                <a:gridCol w="3108960"/>
              </a:tblGrid>
              <a:tr h="384048">
                <a:tc>
                  <a:txBody>
                    <a:bodyPr/>
                    <a:lstStyle/>
                    <a:p>
                      <a:pPr algn="l"/>
                      <a:r>
                        <a:rPr sz="1200" b="1" i="0">
                          <a:solidFill>
                            <a:srgbClr val="000F65"/>
                          </a:solidFill>
                          <a:latin typeface="Arial"/>
                          <a:ea typeface="MS PGothic"/>
                        </a:rPr>
                        <a:t>시기</a:t>
                      </a:r>
                    </a:p>
                  </a:txBody>
                  <a:tcPr anchor="ctr" marL="91440" marT="27432" marB="27432">
                    <a:lnL w="0">
                      <a:noFill/>
                    </a:lnL>
                    <a:lnR w="0">
                      <a:noFill/>
                    </a:lnR>
                    <a:lnT w="19050">
                      <a:solidFill>
                        <a:srgbClr val="000F65"/>
                      </a:solidFill>
                    </a:lnT>
                    <a:lnB w="12700">
                      <a:solidFill>
                        <a:srgbClr val="000F65"/>
                      </a:solidFill>
                    </a:lnB>
                    <a:solidFill>
                      <a:srgbClr val="E8ECF5"/>
                    </a:solidFill>
                  </a:tcPr>
                </a:tc>
                <a:tc>
                  <a:txBody>
                    <a:bodyPr/>
                    <a:lstStyle/>
                    <a:p>
                      <a:pPr algn="l"/>
                      <a:r>
                        <a:rPr sz="1200" b="1" i="0">
                          <a:solidFill>
                            <a:srgbClr val="000F65"/>
                          </a:solidFill>
                          <a:latin typeface="Arial"/>
                          <a:ea typeface="MS PGothic"/>
                        </a:rPr>
                        <a:t>수행 내용</a:t>
                      </a:r>
                    </a:p>
                  </a:txBody>
                  <a:tcPr anchor="ctr" marL="91440" marT="27432" marB="27432">
                    <a:lnL w="0">
                      <a:noFill/>
                    </a:lnL>
                    <a:lnR w="0">
                      <a:noFill/>
                    </a:lnR>
                    <a:lnT w="19050">
                      <a:solidFill>
                        <a:srgbClr val="000F65"/>
                      </a:solidFill>
                    </a:lnT>
                    <a:lnB w="12700">
                      <a:solidFill>
                        <a:srgbClr val="000F65"/>
                      </a:solidFill>
                    </a:lnB>
                    <a:solidFill>
                      <a:srgbClr val="E8ECF5"/>
                    </a:solidFill>
                  </a:tcPr>
                </a:tc>
                <a:tc>
                  <a:txBody>
                    <a:bodyPr/>
                    <a:lstStyle/>
                    <a:p>
                      <a:pPr algn="l"/>
                      <a:r>
                        <a:rPr sz="1200" b="1" i="0">
                          <a:solidFill>
                            <a:srgbClr val="000F65"/>
                          </a:solidFill>
                          <a:latin typeface="Arial"/>
                          <a:ea typeface="MS PGothic"/>
                        </a:rPr>
                        <a:t>확인할 결과</a:t>
                      </a:r>
                    </a:p>
                  </a:txBody>
                  <a:tcPr anchor="ctr" marL="91440" marT="27432" marB="27432">
                    <a:lnL w="0">
                      <a:noFill/>
                    </a:lnL>
                    <a:lnR w="0">
                      <a:noFill/>
                    </a:lnR>
                    <a:lnT w="19050">
                      <a:solidFill>
                        <a:srgbClr val="000F65"/>
                      </a:solidFill>
                    </a:lnT>
                    <a:lnB w="12700">
                      <a:solidFill>
                        <a:srgbClr val="000F65"/>
                      </a:solidFill>
                    </a:lnB>
                    <a:solidFill>
                      <a:srgbClr val="E8ECF5"/>
                    </a:solidFill>
                  </a:tcPr>
                </a:tc>
              </a:tr>
              <a:tr h="822960">
                <a:tc>
                  <a:txBody>
                    <a:bodyPr/>
                    <a:lstStyle/>
                    <a:p>
                      <a:pPr algn="l"/>
                      <a:r>
                        <a:rPr sz="1200" b="1" i="0">
                          <a:solidFill>
                            <a:srgbClr val="1A1A1A"/>
                          </a:solidFill>
                          <a:latin typeface="Arial"/>
                          <a:ea typeface="MS PGothic"/>
                        </a:rPr>
                        <a:t>10월 전반</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200" b="1" i="0">
                          <a:solidFill>
                            <a:srgbClr val="1A1A1A"/>
                          </a:solidFill>
                          <a:latin typeface="Arial"/>
                          <a:ea typeface="MS PGothic"/>
                        </a:rPr>
                        <a:t>선행논문 분석, INSANE 데이터 확보</a:t>
                      </a:r>
                    </a:p>
                    <a:p>
                      <a:pPr algn="l"/>
                      <a:r>
                        <a:rPr sz="1200" b="0" i="0">
                          <a:solidFill>
                            <a:srgbClr val="333333"/>
                          </a:solidFill>
                          <a:latin typeface="Arial"/>
                          <a:ea typeface="MS PGothic"/>
                        </a:rPr>
                        <a:t>센서 주기·타임스탬프·지연 정리</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200" b="0" i="0">
                          <a:solidFill>
                            <a:srgbClr val="333333"/>
                          </a:solidFill>
                          <a:latin typeface="Arial"/>
                          <a:ea typeface="MS PGothic"/>
                        </a:rPr>
                        <a:t>시간 처리 절차 정리</a:t>
                      </a:r>
                    </a:p>
                    <a:p>
                      <a:pPr algn="l"/>
                      <a:r>
                        <a:rPr sz="1200" b="0" i="0">
                          <a:solidFill>
                            <a:srgbClr val="333333"/>
                          </a:solidFill>
                          <a:latin typeface="Arial"/>
                          <a:ea typeface="MS PGothic"/>
                        </a:rPr>
                        <a:t>센서 데이터 특성 파악</a:t>
                      </a:r>
                    </a:p>
                  </a:txBody>
                  <a:tcPr anchor="ctr" marL="91440" marT="27432" marB="27432">
                    <a:lnL w="0">
                      <a:noFill/>
                    </a:lnL>
                    <a:lnR w="0">
                      <a:noFill/>
                    </a:lnR>
                    <a:lnT w="0">
                      <a:noFill/>
                    </a:lnT>
                    <a:lnB w="6350">
                      <a:solidFill>
                        <a:srgbClr val="BFBFBF"/>
                      </a:solidFill>
                    </a:lnB>
                    <a:solidFill>
                      <a:srgbClr val="FFFFFF"/>
                    </a:solidFill>
                  </a:tcPr>
                </a:tc>
              </a:tr>
              <a:tr h="822960">
                <a:tc>
                  <a:txBody>
                    <a:bodyPr/>
                    <a:lstStyle/>
                    <a:p>
                      <a:pPr algn="l"/>
                      <a:r>
                        <a:rPr sz="1200" b="1" i="0">
                          <a:solidFill>
                            <a:srgbClr val="1A1A1A"/>
                          </a:solidFill>
                          <a:latin typeface="Arial"/>
                          <a:ea typeface="MS PGothic"/>
                        </a:rPr>
                        <a:t>10월 후반</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200" b="1" i="0">
                          <a:solidFill>
                            <a:srgbClr val="1A1A1A"/>
                          </a:solidFill>
                          <a:latin typeface="Arial"/>
                          <a:ea typeface="MS PGothic"/>
                        </a:rPr>
                        <a:t>KLT 영상 이동 추적, IMU 예측 구현</a:t>
                      </a:r>
                    </a:p>
                    <a:p>
                      <a:pPr algn="l"/>
                      <a:r>
                        <a:rPr sz="1200" b="0" i="0">
                          <a:solidFill>
                            <a:srgbClr val="333333"/>
                          </a:solidFill>
                          <a:latin typeface="Arial"/>
                          <a:ea typeface="MS PGothic"/>
                        </a:rPr>
                        <a:t>지연 없는 기본 EKF 구성</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200" b="0" i="0">
                          <a:solidFill>
                            <a:srgbClr val="333333"/>
                          </a:solidFill>
                          <a:latin typeface="Arial"/>
                          <a:ea typeface="MS PGothic"/>
                        </a:rPr>
                        <a:t>센서별 처리 결과</a:t>
                      </a:r>
                    </a:p>
                    <a:p>
                      <a:pPr algn="l"/>
                      <a:r>
                        <a:rPr sz="1200" b="0" i="0">
                          <a:solidFill>
                            <a:srgbClr val="333333"/>
                          </a:solidFill>
                          <a:latin typeface="Arial"/>
                          <a:ea typeface="MS PGothic"/>
                        </a:rPr>
                        <a:t>기본 추정기 동작(기준 결과)</a:t>
                      </a:r>
                    </a:p>
                  </a:txBody>
                  <a:tcPr anchor="ctr" marL="91440" marT="27432" marB="27432">
                    <a:lnL w="0">
                      <a:noFill/>
                    </a:lnL>
                    <a:lnR w="0">
                      <a:noFill/>
                    </a:lnR>
                    <a:lnT w="0">
                      <a:noFill/>
                    </a:lnT>
                    <a:lnB w="6350">
                      <a:solidFill>
                        <a:srgbClr val="BFBFBF"/>
                      </a:solidFill>
                    </a:lnB>
                    <a:solidFill>
                      <a:srgbClr val="FFFFFF"/>
                    </a:solidFill>
                  </a:tcPr>
                </a:tc>
              </a:tr>
              <a:tr h="822960">
                <a:tc>
                  <a:txBody>
                    <a:bodyPr/>
                    <a:lstStyle/>
                    <a:p>
                      <a:pPr algn="l"/>
                      <a:r>
                        <a:rPr sz="1200" b="1" i="0">
                          <a:solidFill>
                            <a:srgbClr val="1A1A1A"/>
                          </a:solidFill>
                          <a:latin typeface="Arial"/>
                          <a:ea typeface="MS PGothic"/>
                        </a:rPr>
                        <a:t>11월</a:t>
                      </a:r>
                    </a:p>
                  </a:txBody>
                  <a:tcPr anchor="ctr" marL="91440" marT="27432" marB="27432">
                    <a:lnL w="0">
                      <a:noFill/>
                    </a:lnL>
                    <a:lnR w="0">
                      <a:noFill/>
                    </a:lnR>
                    <a:lnT w="0">
                      <a:noFill/>
                    </a:lnT>
                    <a:lnB w="6350">
                      <a:solidFill>
                        <a:srgbClr val="BFBFBF"/>
                      </a:solidFill>
                    </a:lnB>
                    <a:solidFill>
                      <a:srgbClr val="F3F8F9"/>
                    </a:solidFill>
                  </a:tcPr>
                </a:tc>
                <a:tc>
                  <a:txBody>
                    <a:bodyPr/>
                    <a:lstStyle/>
                    <a:p>
                      <a:pPr algn="l"/>
                      <a:r>
                        <a:rPr sz="1200" b="1" i="0">
                          <a:solidFill>
                            <a:srgbClr val="1A1A1A"/>
                          </a:solidFill>
                          <a:latin typeface="Arial"/>
                          <a:ea typeface="MS PGothic"/>
                        </a:rPr>
                        <a:t>버퍼·시간 정렬 구현</a:t>
                      </a:r>
                    </a:p>
                    <a:p>
                      <a:pPr algn="l"/>
                      <a:r>
                        <a:rPr sz="1200" b="0" i="0">
                          <a:solidFill>
                            <a:srgbClr val="333333"/>
                          </a:solidFill>
                          <a:latin typeface="Arial"/>
                          <a:ea typeface="MS PGothic"/>
                        </a:rPr>
                        <a:t>과거 상태 재추정 적용</a:t>
                      </a:r>
                    </a:p>
                  </a:txBody>
                  <a:tcPr anchor="ctr" marL="91440" marT="27432" marB="27432">
                    <a:lnL w="0">
                      <a:noFill/>
                    </a:lnL>
                    <a:lnR w="0">
                      <a:noFill/>
                    </a:lnR>
                    <a:lnT w="0">
                      <a:noFill/>
                    </a:lnT>
                    <a:lnB w="6350">
                      <a:solidFill>
                        <a:srgbClr val="BFBFBF"/>
                      </a:solidFill>
                    </a:lnB>
                    <a:solidFill>
                      <a:srgbClr val="F3F8F9"/>
                    </a:solidFill>
                  </a:tcPr>
                </a:tc>
                <a:tc>
                  <a:txBody>
                    <a:bodyPr/>
                    <a:lstStyle/>
                    <a:p>
                      <a:pPr algn="l"/>
                      <a:r>
                        <a:rPr sz="1200" b="0" i="0">
                          <a:solidFill>
                            <a:srgbClr val="333333"/>
                          </a:solidFill>
                          <a:latin typeface="Arial"/>
                          <a:ea typeface="MS PGothic"/>
                        </a:rPr>
                        <a:t>시간 처리를 포함한</a:t>
                      </a:r>
                    </a:p>
                    <a:p>
                      <a:pPr algn="l"/>
                      <a:r>
                        <a:rPr sz="1200" b="0" i="0">
                          <a:solidFill>
                            <a:srgbClr val="333333"/>
                          </a:solidFill>
                          <a:latin typeface="Arial"/>
                          <a:ea typeface="MS PGothic"/>
                        </a:rPr>
                        <a:t>다중센서 융합 추정기</a:t>
                      </a:r>
                    </a:p>
                  </a:txBody>
                  <a:tcPr anchor="ctr" marL="91440" marT="27432" marB="27432">
                    <a:lnL w="0">
                      <a:noFill/>
                    </a:lnL>
                    <a:lnR w="0">
                      <a:noFill/>
                    </a:lnR>
                    <a:lnT w="0">
                      <a:noFill/>
                    </a:lnT>
                    <a:lnB w="6350">
                      <a:solidFill>
                        <a:srgbClr val="BFBFBF"/>
                      </a:solidFill>
                    </a:lnB>
                    <a:solidFill>
                      <a:srgbClr val="F3F8F9"/>
                    </a:solidFill>
                  </a:tcPr>
                </a:tc>
              </a:tr>
              <a:tr h="822960">
                <a:tc>
                  <a:txBody>
                    <a:bodyPr/>
                    <a:lstStyle/>
                    <a:p>
                      <a:pPr algn="l"/>
                      <a:r>
                        <a:rPr sz="1200" b="1" i="0">
                          <a:solidFill>
                            <a:srgbClr val="1A1A1A"/>
                          </a:solidFill>
                          <a:latin typeface="Arial"/>
                          <a:ea typeface="MS PGothic"/>
                        </a:rPr>
                        <a:t>12월</a:t>
                      </a:r>
                    </a:p>
                  </a:txBody>
                  <a:tcPr anchor="ctr" marL="91440" marT="27432" marB="27432">
                    <a:lnL w="0">
                      <a:noFill/>
                    </a:lnL>
                    <a:lnR w="0">
                      <a:noFill/>
                    </a:lnR>
                    <a:lnT w="0">
                      <a:noFill/>
                    </a:lnT>
                    <a:lnB w="12700">
                      <a:solidFill>
                        <a:srgbClr val="000F65"/>
                      </a:solidFill>
                    </a:lnB>
                    <a:solidFill>
                      <a:srgbClr val="FFFFFF"/>
                    </a:solidFill>
                  </a:tcPr>
                </a:tc>
                <a:tc>
                  <a:txBody>
                    <a:bodyPr/>
                    <a:lstStyle/>
                    <a:p>
                      <a:pPr algn="l"/>
                      <a:r>
                        <a:rPr sz="1200" b="1" i="0">
                          <a:solidFill>
                            <a:srgbClr val="1A1A1A"/>
                          </a:solidFill>
                          <a:latin typeface="Arial"/>
                          <a:ea typeface="MS PGothic"/>
                        </a:rPr>
                        <a:t>지연 크기별 A·B·C 비교</a:t>
                      </a:r>
                    </a:p>
                    <a:p>
                      <a:pPr algn="l"/>
                      <a:r>
                        <a:rPr sz="1200" b="0" i="0">
                          <a:solidFill>
                            <a:srgbClr val="333333"/>
                          </a:solidFill>
                          <a:latin typeface="Arial"/>
                          <a:ea typeface="MS PGothic"/>
                        </a:rPr>
                        <a:t>추정 오차·처리시간 분석</a:t>
                      </a:r>
                    </a:p>
                  </a:txBody>
                  <a:tcPr anchor="ctr" marL="91440" marT="27432" marB="27432">
                    <a:lnL w="0">
                      <a:noFill/>
                    </a:lnL>
                    <a:lnR w="0">
                      <a:noFill/>
                    </a:lnR>
                    <a:lnT w="0">
                      <a:noFill/>
                    </a:lnT>
                    <a:lnB w="12700">
                      <a:solidFill>
                        <a:srgbClr val="000F65"/>
                      </a:solidFill>
                    </a:lnB>
                    <a:solidFill>
                      <a:srgbClr val="FFFFFF"/>
                    </a:solidFill>
                  </a:tcPr>
                </a:tc>
                <a:tc>
                  <a:txBody>
                    <a:bodyPr/>
                    <a:lstStyle/>
                    <a:p>
                      <a:pPr algn="l"/>
                      <a:r>
                        <a:rPr sz="1200" b="0" i="0">
                          <a:solidFill>
                            <a:srgbClr val="333333"/>
                          </a:solidFill>
                          <a:latin typeface="Arial"/>
                          <a:ea typeface="MS PGothic"/>
                        </a:rPr>
                        <a:t>효과와 한계 정리</a:t>
                      </a:r>
                    </a:p>
                    <a:p>
                      <a:pPr algn="l"/>
                      <a:r>
                        <a:rPr sz="1200" b="0" i="0">
                          <a:solidFill>
                            <a:srgbClr val="333333"/>
                          </a:solidFill>
                          <a:latin typeface="Arial"/>
                          <a:ea typeface="MS PGothic"/>
                        </a:rPr>
                        <a:t>최종 보고서 및 발표</a:t>
                      </a:r>
                    </a:p>
                  </a:txBody>
                  <a:tcPr anchor="ctr" marL="91440" marT="27432" marB="27432">
                    <a:lnL w="0">
                      <a:noFill/>
                    </a:lnL>
                    <a:lnR w="0">
                      <a:noFill/>
                    </a:lnR>
                    <a:lnT w="0">
                      <a:noFill/>
                    </a:lnT>
                    <a:lnB w="12700">
                      <a:solidFill>
                        <a:srgbClr val="000F65"/>
                      </a:solidFill>
                    </a:lnB>
                    <a:solidFill>
                      <a:srgbClr val="FFFFFF"/>
                    </a:solidFill>
                  </a:tcPr>
                </a:tc>
              </a:tr>
            </a:tbl>
          </a:graphicData>
        </a:graphic>
      </p:graphicFrame>
      <p:sp>
        <p:nvSpPr>
          <p:cNvPr id="5" name="Rectangle 4"/>
          <p:cNvSpPr/>
          <p:nvPr/>
        </p:nvSpPr>
        <p:spPr>
          <a:xfrm>
            <a:off x="411480" y="3630168"/>
            <a:ext cx="8321040" cy="822960"/>
          </a:xfrm>
          <a:prstGeom prst="rect">
            <a:avLst/>
          </a:prstGeom>
          <a:noFill/>
          <a:ln w="19050">
            <a:solidFill>
              <a:srgbClr val="C00000"/>
            </a:solidFill>
          </a:ln>
        </p:spPr>
        <p:txBody>
          <a:bodyPr rtlCol="0" anchor="ctr"/>
          <a:lstStyle/>
          <a:p>
            <a:pPr algn="ctr"/>
          </a:p>
        </p:txBody>
      </p:sp>
      <p:sp>
        <p:nvSpPr>
          <p:cNvPr id="6" name="TextBox 5"/>
          <p:cNvSpPr txBox="1"/>
          <p:nvPr/>
        </p:nvSpPr>
        <p:spPr>
          <a:xfrm>
            <a:off x="7498079" y="4178807"/>
            <a:ext cx="1143000" cy="237744"/>
          </a:xfrm>
          <a:prstGeom prst="rect">
            <a:avLst/>
          </a:prstGeom>
          <a:noFill/>
        </p:spPr>
        <p:txBody>
          <a:bodyPr wrap="square" anchor="ctr" lIns="0" rIns="0" tIns="0" bIns="0">
            <a:spAutoFit/>
          </a:bodyPr>
          <a:lstStyle/>
          <a:p>
            <a:pPr algn="r" marL="0" indent="0">
              <a:lnSpc>
                <a:spcPct val="110000"/>
              </a:lnSpc>
              <a:buNone/>
            </a:pPr>
            <a:r>
              <a:rPr sz="1050" b="1" i="0">
                <a:solidFill>
                  <a:srgbClr val="C00000"/>
                </a:solidFill>
                <a:latin typeface="Arial"/>
                <a:ea typeface="MS PGothic"/>
              </a:rPr>
              <a:t>핵심 단계</a:t>
            </a:r>
          </a:p>
        </p:txBody>
      </p:sp>
      <p:sp>
        <p:nvSpPr>
          <p:cNvPr id="7" name="TextBox 6"/>
          <p:cNvSpPr txBox="1"/>
          <p:nvPr/>
        </p:nvSpPr>
        <p:spPr>
          <a:xfrm>
            <a:off x="457200" y="5486400"/>
            <a:ext cx="8229600" cy="685800"/>
          </a:xfrm>
          <a:prstGeom prst="rect">
            <a:avLst/>
          </a:prstGeom>
          <a:noFill/>
        </p:spPr>
        <p:txBody>
          <a:bodyPr wrap="square" lIns="18288">
            <a:spAutoFit/>
          </a:bodyPr>
          <a:lstStyle/>
          <a:p>
            <a:pPr>
              <a:lnSpc>
                <a:spcPct val="115000"/>
              </a:lnSpc>
            </a:pPr>
            <a:r>
              <a:rPr sz="1400" b="1" i="0">
                <a:solidFill>
                  <a:srgbClr val="000F65"/>
                </a:solidFill>
                <a:latin typeface="Arial"/>
                <a:ea typeface="MS PGothic"/>
              </a:rPr>
              <a:t>최종 목표: 시간 처리를 포함한 다중센서 융합 추정기 구현과 그 효과의 정량 검증</a:t>
            </a:r>
          </a:p>
        </p:txBody>
      </p:sp>
    </p:spTree>
    <p:extLst>
      <p:ext uri="{BB962C8B-B14F-4D97-AF65-F5344CB8AC3E}">
        <p14:creationId xmlns:p14="http://schemas.microsoft.com/office/powerpoint/2010/main" val="37135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참고문헌 / 감사합니다</a:t>
            </a:r>
          </a:p>
        </p:txBody>
      </p:sp>
      <p:nvGrpSpPr>
        <p:cNvPr id="1" name=""/>
        <p:cNvGrpSpPr/>
        <p:nvPr/>
      </p:nvGrpSpPr>
      <p:sp>
        <p:nvSpPr>
          <p:cNvPr id="3" name="TextBox 2"/>
          <p:cNvSpPr txBox="1"/>
          <p:nvPr/>
        </p:nvSpPr>
        <p:spPr>
          <a:xfrm>
            <a:off x="457200" y="1097280"/>
            <a:ext cx="8229600" cy="4206240"/>
          </a:xfrm>
          <a:prstGeom prst="rect">
            <a:avLst/>
          </a:prstGeom>
          <a:noFill/>
        </p:spPr>
        <p:txBody>
          <a:bodyPr wrap="square">
            <a:spAutoFit/>
          </a:bodyPr>
          <a:lstStyle/>
          <a:p>
            <a:pPr marL="384048" indent="-384048">
              <a:lnSpc>
                <a:spcPct val="105000"/>
              </a:lnSpc>
              <a:spcBef>
                <a:spcPts val="0"/>
              </a:spcBef>
              <a:buNone/>
            </a:pPr>
            <a:r>
              <a:rPr sz="1150" b="1" i="0">
                <a:solidFill>
                  <a:srgbClr val="000F65"/>
                </a:solidFill>
                <a:latin typeface="Arial"/>
                <a:ea typeface="MS PGothic"/>
              </a:rPr>
              <a:t>[1]  </a:t>
            </a:r>
            <a:r>
              <a:rPr sz="1150" b="0" i="0">
                <a:solidFill>
                  <a:srgbClr val="333333"/>
                </a:solidFill>
                <a:latin typeface="Arial"/>
                <a:ea typeface="MS PGothic"/>
              </a:rPr>
              <a:t>P. D. Groves, Principles of GNSS, Inertial, and Multisensor Integrated Navigation Systems, 2nd ed., Artech House, 2013.</a:t>
            </a:r>
          </a:p>
          <a:p>
            <a:pPr marL="384048" indent="-384048">
              <a:lnSpc>
                <a:spcPct val="105000"/>
              </a:lnSpc>
              <a:spcBef>
                <a:spcPts val="600"/>
              </a:spcBef>
              <a:buNone/>
            </a:pPr>
            <a:r>
              <a:rPr sz="1150" b="1" i="0">
                <a:solidFill>
                  <a:srgbClr val="000F65"/>
                </a:solidFill>
                <a:latin typeface="Arial"/>
                <a:ea typeface="MS PGothic"/>
              </a:rPr>
              <a:t>[2]  </a:t>
            </a:r>
            <a:r>
              <a:rPr sz="1150" b="0" i="0">
                <a:solidFill>
                  <a:srgbClr val="333333"/>
                </a:solidFill>
                <a:latin typeface="Arial"/>
                <a:ea typeface="MS PGothic"/>
              </a:rPr>
              <a:t>D. S. Bayard et al., “Vision-Based Navigation for the NASA Mars Helicopter,” AIAA SciTech Forum, 2019.</a:t>
            </a:r>
          </a:p>
          <a:p>
            <a:pPr marL="384048" indent="-384048">
              <a:lnSpc>
                <a:spcPct val="105000"/>
              </a:lnSpc>
              <a:spcBef>
                <a:spcPts val="600"/>
              </a:spcBef>
              <a:buNone/>
            </a:pPr>
            <a:r>
              <a:rPr sz="1150" b="1" i="0">
                <a:solidFill>
                  <a:srgbClr val="000F65"/>
                </a:solidFill>
                <a:latin typeface="Arial"/>
                <a:ea typeface="MS PGothic"/>
              </a:rPr>
              <a:t>[3]  </a:t>
            </a:r>
            <a:r>
              <a:rPr sz="1150" b="0" i="0">
                <a:solidFill>
                  <a:srgbClr val="333333"/>
                </a:solidFill>
                <a:latin typeface="Arial"/>
                <a:ea typeface="MS PGothic"/>
              </a:rPr>
              <a:t>B. D. Lucas and T. Kanade, “An Iterative Image Registration Technique with an Application to Stereo Vision,” IJCAI, 1981.</a:t>
            </a:r>
          </a:p>
          <a:p>
            <a:pPr marL="384048" indent="-384048">
              <a:lnSpc>
                <a:spcPct val="105000"/>
              </a:lnSpc>
              <a:spcBef>
                <a:spcPts val="600"/>
              </a:spcBef>
              <a:buNone/>
            </a:pPr>
            <a:r>
              <a:rPr sz="1150" b="1" i="0">
                <a:solidFill>
                  <a:srgbClr val="000F65"/>
                </a:solidFill>
                <a:latin typeface="Arial"/>
                <a:ea typeface="MS PGothic"/>
              </a:rPr>
              <a:t>[4]  </a:t>
            </a:r>
            <a:r>
              <a:rPr sz="1150" b="0" i="0">
                <a:solidFill>
                  <a:srgbClr val="333333"/>
                </a:solidFill>
                <a:latin typeface="Arial"/>
                <a:ea typeface="MS PGothic"/>
              </a:rPr>
              <a:t>PX4 Autopilot User Guide, “Optical Flow” and “Using PX4's Navigation Filter (EKF2),” docs.px4.io, 2026. 10. 확인.</a:t>
            </a:r>
          </a:p>
          <a:p>
            <a:pPr marL="384048" indent="-384048">
              <a:lnSpc>
                <a:spcPct val="105000"/>
              </a:lnSpc>
              <a:spcBef>
                <a:spcPts val="600"/>
              </a:spcBef>
              <a:buNone/>
            </a:pPr>
            <a:r>
              <a:rPr sz="1150" b="1" i="0">
                <a:solidFill>
                  <a:srgbClr val="000F65"/>
                </a:solidFill>
                <a:latin typeface="Arial"/>
                <a:ea typeface="MS PGothic"/>
              </a:rPr>
              <a:t>[5]  </a:t>
            </a:r>
            <a:r>
              <a:rPr sz="1150" b="0" i="0">
                <a:solidFill>
                  <a:srgbClr val="333333"/>
                </a:solidFill>
                <a:latin typeface="Arial"/>
                <a:ea typeface="MS PGothic"/>
              </a:rPr>
              <a:t>C. Brommer et al., “The INSANE Dataset: Large Number of Sensors for Challenging UAV Flights in Mars Analog, Outdoor, and Out-/Indoor Transition Scenarios,” IJRR, vol. 43, no. 8, 2024.</a:t>
            </a:r>
          </a:p>
          <a:p>
            <a:pPr marL="384048" indent="-384048">
              <a:lnSpc>
                <a:spcPct val="105000"/>
              </a:lnSpc>
              <a:spcBef>
                <a:spcPts val="600"/>
              </a:spcBef>
              <a:buNone/>
            </a:pPr>
            <a:r>
              <a:rPr sz="1150" b="1" i="0">
                <a:solidFill>
                  <a:srgbClr val="000F65"/>
                </a:solidFill>
                <a:latin typeface="Arial"/>
                <a:ea typeface="MS PGothic"/>
              </a:rPr>
              <a:t>[6]  </a:t>
            </a:r>
            <a:r>
              <a:rPr sz="1150" b="0" i="0">
                <a:solidFill>
                  <a:srgbClr val="333333"/>
                </a:solidFill>
                <a:latin typeface="Arial"/>
                <a:ea typeface="MS PGothic"/>
              </a:rPr>
              <a:t>T. Qin and S. Shen, “Online Temporal Calibration for Monocular Visual-Inertial Systems,” IEEE/RSJ IROS, 2018.</a:t>
            </a:r>
          </a:p>
          <a:p>
            <a:pPr marL="384048" indent="-384048">
              <a:lnSpc>
                <a:spcPct val="105000"/>
              </a:lnSpc>
              <a:spcBef>
                <a:spcPts val="600"/>
              </a:spcBef>
              <a:buNone/>
            </a:pPr>
            <a:r>
              <a:rPr sz="1150" b="1" i="0">
                <a:solidFill>
                  <a:srgbClr val="000F65"/>
                </a:solidFill>
                <a:latin typeface="Arial"/>
                <a:ea typeface="MS PGothic"/>
              </a:rPr>
              <a:t>[7]  </a:t>
            </a:r>
            <a:r>
              <a:rPr sz="1150" b="0" i="0">
                <a:solidFill>
                  <a:srgbClr val="333333"/>
                </a:solidFill>
                <a:latin typeface="Arial"/>
                <a:ea typeface="MS PGothic"/>
              </a:rPr>
              <a:t>M. Kim and C. Ahn, “State Estimation of Preceding Target Vehicle Using Radar and V2X,” IEEE Access, vol. 13, pp. 198482–198495, 2025.</a:t>
            </a:r>
          </a:p>
          <a:p>
            <a:pPr marL="384048" indent="-384048">
              <a:lnSpc>
                <a:spcPct val="105000"/>
              </a:lnSpc>
              <a:spcBef>
                <a:spcPts val="600"/>
              </a:spcBef>
              <a:buNone/>
            </a:pPr>
            <a:r>
              <a:rPr sz="1150" b="1" i="0">
                <a:solidFill>
                  <a:srgbClr val="000F65"/>
                </a:solidFill>
                <a:latin typeface="Arial"/>
                <a:ea typeface="MS PGothic"/>
              </a:rPr>
              <a:t>[8]  </a:t>
            </a:r>
            <a:r>
              <a:rPr sz="1150" b="0" i="0">
                <a:solidFill>
                  <a:srgbClr val="333333"/>
                </a:solidFill>
                <a:latin typeface="Arial"/>
                <a:ea typeface="MS PGothic"/>
              </a:rPr>
              <a:t>S. Lynen et al., “A Robust and Modular Multi-Sensor Fusion Approach Applied to MAV Navigation,” IEEE/RSJ IROS, 2013.</a:t>
            </a:r>
          </a:p>
          <a:p>
            <a:pPr marL="384048" indent="-384048">
              <a:lnSpc>
                <a:spcPct val="105000"/>
              </a:lnSpc>
              <a:spcBef>
                <a:spcPts val="600"/>
              </a:spcBef>
              <a:buNone/>
            </a:pPr>
            <a:r>
              <a:rPr sz="1150" b="1" i="0">
                <a:solidFill>
                  <a:srgbClr val="000F65"/>
                </a:solidFill>
                <a:latin typeface="Arial"/>
                <a:ea typeface="MS PGothic"/>
              </a:rPr>
              <a:t>[9]  </a:t>
            </a:r>
            <a:r>
              <a:rPr sz="1150" b="0" i="0">
                <a:solidFill>
                  <a:srgbClr val="333333"/>
                </a:solidFill>
                <a:latin typeface="Arial"/>
                <a:ea typeface="MS PGothic"/>
              </a:rPr>
              <a:t>Z. Zhang and D. Scaramuzza, “A Tutorial on Quantitative Trajectory Evaluation for Visual(-Inertial) Odometry,” IEEE/RSJ IROS, 2018.</a:t>
            </a:r>
          </a:p>
        </p:txBody>
      </p:sp>
      <p:sp>
        <p:nvSpPr>
          <p:cNvPr id="4" name="TextBox 3"/>
          <p:cNvSpPr txBox="1"/>
          <p:nvPr/>
        </p:nvSpPr>
        <p:spPr>
          <a:xfrm>
            <a:off x="457200" y="5257800"/>
            <a:ext cx="8229600" cy="411480"/>
          </a:xfrm>
          <a:prstGeom prst="rect">
            <a:avLst/>
          </a:prstGeom>
          <a:noFill/>
        </p:spPr>
        <p:txBody>
          <a:bodyPr wrap="square" anchor="ctr" lIns="0" rIns="0" tIns="0" bIns="0">
            <a:spAutoFit/>
          </a:bodyPr>
          <a:lstStyle/>
          <a:p>
            <a:pPr algn="l" marL="0" indent="0">
              <a:lnSpc>
                <a:spcPct val="110000"/>
              </a:lnSpc>
              <a:buNone/>
            </a:pPr>
            <a:r>
              <a:rPr sz="2000" b="1" i="0">
                <a:solidFill>
                  <a:srgbClr val="000F65"/>
                </a:solidFill>
                <a:latin typeface="Arial"/>
                <a:ea typeface="MS PGothic"/>
              </a:rPr>
              <a:t>감사합니다</a:t>
            </a:r>
          </a:p>
        </p:txBody>
      </p:sp>
      <p:sp>
        <p:nvSpPr>
          <p:cNvPr id="5" name="TextBox 4"/>
          <p:cNvSpPr txBox="1"/>
          <p:nvPr/>
        </p:nvSpPr>
        <p:spPr>
          <a:xfrm>
            <a:off x="457200" y="5669280"/>
            <a:ext cx="8229600" cy="320040"/>
          </a:xfrm>
          <a:prstGeom prst="rect">
            <a:avLst/>
          </a:prstGeom>
          <a:noFill/>
        </p:spPr>
        <p:txBody>
          <a:bodyPr wrap="square" anchor="ctr" lIns="0" rIns="0" tIns="0" bIns="0">
            <a:spAutoFit/>
          </a:bodyPr>
          <a:lstStyle/>
          <a:p>
            <a:pPr algn="l" marL="0" indent="0">
              <a:lnSpc>
                <a:spcPct val="110000"/>
              </a:lnSpc>
              <a:buNone/>
            </a:pPr>
            <a:r>
              <a:rPr sz="1300" b="0" i="0">
                <a:solidFill>
                  <a:srgbClr val="333333"/>
                </a:solidFill>
                <a:latin typeface="Arial"/>
                <a:ea typeface="MS PGothic"/>
              </a:rPr>
              <a:t>연구계획에 대한 의견과 질문 부탁드립니다.</a:t>
            </a:r>
          </a:p>
        </p:txBody>
      </p:sp>
    </p:spTree>
    <p:extLst>
      <p:ext uri="{BB962C8B-B14F-4D97-AF65-F5344CB8AC3E}">
        <p14:creationId xmlns:p14="http://schemas.microsoft.com/office/powerpoint/2010/main" val="371350854"/>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S PGothic"/>
              </a:rPr>
              <a:t>구현 및 평가 계획</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공개 드론 데이터에서 지연을 재현하여 비교</a:t>
            </a:r>
          </a:p>
        </p:txBody>
      </p:sp>
      <p:sp>
        <p:nvSpPr>
          <p:cNvPr id="4" name="TextBox 3"/>
          <p:cNvSpPr txBox="1"/>
          <p:nvPr/>
        </p:nvSpPr>
        <p:spPr>
          <a:xfrm>
            <a:off x="457200" y="1463040"/>
            <a:ext cx="8229600" cy="4572000"/>
          </a:xfrm>
          <a:prstGeom prst="rect">
            <a:avLst/>
          </a:prstGeom>
          <a:noFill/>
        </p:spPr>
        <p:txBody>
          <a:bodyPr wrap="square" lIns="18288" rIns="18288" tIns="18288" bIns="18288">
            <a:spAutoFit/>
          </a:bodyPr>
          <a:lstStyle/>
          <a:p>
            <a:pPr marL="0" indent="0">
              <a:lnSpc>
                <a:spcPct val="115000"/>
              </a:lnSpc>
              <a:spcBef>
                <a:spcPts val="0"/>
              </a:spcBef>
              <a:spcAft>
                <a:spcPts val="200"/>
              </a:spcAft>
              <a:buNone/>
            </a:pPr>
            <a:r>
              <a:rPr sz="1550" b="1" i="0">
                <a:solidFill>
                  <a:srgbClr val="1A1A1A"/>
                </a:solidFill>
                <a:latin typeface="Arial"/>
                <a:ea typeface="MS PGothic"/>
              </a:rPr>
              <a:t>데이터</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INSANE</a:t>
            </a:r>
            <a:r>
              <a:rPr sz="1400" b="0" i="0">
                <a:solidFill>
                  <a:srgbClr val="333333"/>
                </a:solidFill>
                <a:latin typeface="Arial"/>
                <a:ea typeface="MS PGothic"/>
              </a:rPr>
              <a:t> 실내 구간: 하향 카메라 20 Hz, 거리센서 30 Hz, IMU / 정답: </a:t>
            </a:r>
            <a:r>
              <a:rPr sz="1400" b="1" i="0">
                <a:solidFill>
                  <a:srgbClr val="1A1A1A"/>
                </a:solidFill>
                <a:latin typeface="Arial"/>
                <a:ea typeface="MS PGothic"/>
              </a:rPr>
              <a:t>모션캡처 궤적</a:t>
            </a:r>
            <a:r>
              <a:rPr sz="1400" b="0" i="0">
                <a:solidFill>
                  <a:srgbClr val="333333"/>
                </a:solidFill>
                <a:latin typeface="Arial"/>
                <a:ea typeface="MS PGothic"/>
              </a:rPr>
              <a:t> [5]</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카메라 측정에 </a:t>
            </a:r>
            <a:r>
              <a:rPr sz="1400" b="1" i="0">
                <a:solidFill>
                  <a:srgbClr val="1A1A1A"/>
                </a:solidFill>
                <a:latin typeface="Arial"/>
                <a:ea typeface="MS PGothic"/>
              </a:rPr>
              <a:t>도착 시점 = 촬영 시점 + 실측 처리시간 + 추가 지연</a:t>
            </a:r>
            <a:r>
              <a:rPr sz="1400" b="0" i="0">
                <a:solidFill>
                  <a:srgbClr val="333333"/>
                </a:solidFill>
                <a:latin typeface="Arial"/>
                <a:ea typeface="MS PGothic"/>
              </a:rPr>
              <a:t>을 부여하고, </a:t>
            </a:r>
            <a:r>
              <a:rPr sz="1400" b="1" i="0">
                <a:solidFill>
                  <a:srgbClr val="1A1A1A"/>
                </a:solidFill>
                <a:latin typeface="Arial"/>
                <a:ea typeface="MS PGothic"/>
              </a:rPr>
              <a:t>도착 순서대로 재생</a:t>
            </a:r>
            <a:r>
              <a:rPr sz="1400" b="0" i="0">
                <a:solidFill>
                  <a:srgbClr val="333333"/>
                </a:solidFill>
                <a:latin typeface="Arial"/>
                <a:ea typeface="MS PGothic"/>
              </a:rPr>
              <a:t>하여 실시간 상황을 재현</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전제: 촬영 시각은 정확하다고 가정 (시간 오프셋 추정은 범위 밖)</a:t>
            </a:r>
          </a:p>
          <a:p>
            <a:pPr marL="0" indent="0">
              <a:lnSpc>
                <a:spcPct val="115000"/>
              </a:lnSpc>
              <a:spcBef>
                <a:spcPts val="1200"/>
              </a:spcBef>
              <a:spcAft>
                <a:spcPts val="200"/>
              </a:spcAft>
              <a:buNone/>
            </a:pPr>
            <a:r>
              <a:rPr sz="1550" b="1" i="0">
                <a:solidFill>
                  <a:srgbClr val="1A1A1A"/>
                </a:solidFill>
                <a:latin typeface="Arial"/>
                <a:ea typeface="MS PGothic"/>
              </a:rPr>
              <a:t>구현</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Python·OpenCV</a:t>
            </a:r>
            <a:r>
              <a:rPr sz="1400" b="0" i="0">
                <a:solidFill>
                  <a:srgbClr val="333333"/>
                </a:solidFill>
                <a:latin typeface="Arial"/>
                <a:ea typeface="MS PGothic"/>
              </a:rPr>
              <a:t>: KLT 영상 이동과 처리시간  /  </a:t>
            </a:r>
            <a:r>
              <a:rPr sz="1400" b="1" i="0">
                <a:solidFill>
                  <a:srgbClr val="1A1A1A"/>
                </a:solidFill>
                <a:latin typeface="Arial"/>
                <a:ea typeface="MS PGothic"/>
              </a:rPr>
              <a:t>MATLAB</a:t>
            </a:r>
            <a:r>
              <a:rPr sz="1400" b="0" i="0">
                <a:solidFill>
                  <a:srgbClr val="333333"/>
                </a:solidFill>
                <a:latin typeface="Arial"/>
                <a:ea typeface="MS PGothic"/>
              </a:rPr>
              <a:t>: EKF·시간 처리·평가(동일 환경)</a:t>
            </a:r>
          </a:p>
          <a:p>
            <a:pPr marL="0" indent="0">
              <a:lnSpc>
                <a:spcPct val="115000"/>
              </a:lnSpc>
              <a:spcBef>
                <a:spcPts val="1200"/>
              </a:spcBef>
              <a:spcAft>
                <a:spcPts val="200"/>
              </a:spcAft>
              <a:buNone/>
            </a:pPr>
            <a:r>
              <a:rPr sz="1550" b="1" i="0">
                <a:solidFill>
                  <a:srgbClr val="1A1A1A"/>
                </a:solidFill>
                <a:latin typeface="Arial"/>
                <a:ea typeface="MS PGothic"/>
              </a:rPr>
              <a:t>비교 및 평가</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추가 지연 </a:t>
            </a:r>
            <a:r>
              <a:rPr sz="1400" b="1" i="0">
                <a:solidFill>
                  <a:srgbClr val="1A1A1A"/>
                </a:solidFill>
                <a:latin typeface="Arial"/>
                <a:ea typeface="MS PGothic"/>
              </a:rPr>
              <a:t>0·25·50·100 ms</a:t>
            </a:r>
            <a:r>
              <a:rPr sz="1400" b="0" i="0">
                <a:solidFill>
                  <a:srgbClr val="333333"/>
                </a:solidFill>
                <a:latin typeface="Arial"/>
                <a:ea typeface="MS PGothic"/>
              </a:rPr>
              <a:t>에서 </a:t>
            </a:r>
            <a:r>
              <a:rPr sz="1400" b="1" i="0">
                <a:solidFill>
                  <a:srgbClr val="1A1A1A"/>
                </a:solidFill>
                <a:latin typeface="Arial"/>
                <a:ea typeface="MS PGothic"/>
              </a:rPr>
              <a:t>A·B·C 세 방식</a:t>
            </a:r>
            <a:r>
              <a:rPr sz="1400" b="0" i="0">
                <a:solidFill>
                  <a:srgbClr val="333333"/>
                </a:solidFill>
                <a:latin typeface="Arial"/>
                <a:ea typeface="MS PGothic"/>
              </a:rPr>
              <a:t>(4번 슬라이드)을 비교</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현재 시각 추정값 vs 정답: </a:t>
            </a:r>
            <a:r>
              <a:rPr sz="1400" b="1" i="0">
                <a:solidFill>
                  <a:srgbClr val="1A1A1A"/>
                </a:solidFill>
                <a:latin typeface="Arial"/>
                <a:ea typeface="MS PGothic"/>
              </a:rPr>
              <a:t>ATE</a:t>
            </a:r>
            <a:r>
              <a:rPr sz="1400" b="0" i="0">
                <a:solidFill>
                  <a:srgbClr val="333333"/>
                </a:solidFill>
                <a:latin typeface="Arial"/>
                <a:ea typeface="MS PGothic"/>
              </a:rPr>
              <a:t>(전체 궤적 오차), </a:t>
            </a:r>
            <a:r>
              <a:rPr sz="1400" b="1" i="0">
                <a:solidFill>
                  <a:srgbClr val="1A1A1A"/>
                </a:solidFill>
                <a:latin typeface="Arial"/>
                <a:ea typeface="MS PGothic"/>
              </a:rPr>
              <a:t>RE</a:t>
            </a:r>
            <a:r>
              <a:rPr sz="1400" b="0" i="0">
                <a:solidFill>
                  <a:srgbClr val="333333"/>
                </a:solidFill>
                <a:latin typeface="Arial"/>
                <a:ea typeface="MS PGothic"/>
              </a:rPr>
              <a:t>(구간별 오차), </a:t>
            </a:r>
            <a:r>
              <a:rPr sz="1400" b="1" i="0">
                <a:solidFill>
                  <a:srgbClr val="1A1A1A"/>
                </a:solidFill>
                <a:latin typeface="Arial"/>
                <a:ea typeface="MS PGothic"/>
              </a:rPr>
              <a:t>처리시간</a:t>
            </a:r>
            <a:r>
              <a:rPr sz="1400" b="0" i="0">
                <a:solidFill>
                  <a:srgbClr val="333333"/>
                </a:solidFill>
                <a:latin typeface="Arial"/>
                <a:ea typeface="MS PGothic"/>
              </a:rPr>
              <a:t> [9]</a:t>
            </a:r>
          </a:p>
        </p:txBody>
      </p:sp>
      <p:sp>
        <p:nvSpPr>
          <p:cNvPr id="5" name="Rectangle 4"/>
          <p:cNvSpPr/>
          <p:nvPr/>
        </p:nvSpPr>
        <p:spPr>
          <a:xfrm>
            <a:off x="457200" y="5230368"/>
            <a:ext cx="8229600" cy="548640"/>
          </a:xfrm>
          <a:prstGeom prst="rect">
            <a:avLst/>
          </a:prstGeom>
          <a:noFill/>
          <a:ln w="19050">
            <a:solidFill>
              <a:srgbClr val="C00000"/>
            </a:solidFill>
          </a:ln>
        </p:spPr>
        <p:txBody>
          <a:bodyPr rtlCol="0" anchor="ctr" wrap="square" lIns="73152" rIns="73152" tIns="36576" bIns="36576"/>
          <a:lstStyle/>
          <a:p>
            <a:pPr algn="l" marL="0" indent="0">
              <a:lnSpc>
                <a:spcPct val="110000"/>
              </a:lnSpc>
              <a:buNone/>
            </a:pPr>
            <a:r>
              <a:rPr sz="1200" b="1" i="0">
                <a:solidFill>
                  <a:srgbClr val="C00000"/>
                </a:solidFill>
                <a:latin typeface="Arial"/>
                <a:ea typeface="MS PGothic"/>
              </a:rPr>
              <a:t>가설   정확도는 B·C가 비슷하고, C는 현재 값이 보정 결과와 일치하는 대신 연산이 늘어난다</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27475</TotalTime>
  <Words>1597</Words>
  <Application>Microsoft Office PowerPoint</Application>
  <PresentationFormat>On-screen Show (4:3)</PresentationFormat>
  <Paragraphs>393</Paragraphs>
  <Slides>7</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0" baseType="lpstr">
      <vt:lpstr>ＭＳ Ｐゴシック</vt:lpstr>
      <vt:lpstr>Arial</vt:lpstr>
      <vt:lpstr>Courier New</vt:lpstr>
      <vt:lpstr>Times New Roman</vt:lpstr>
      <vt:lpstr>Wingdings</vt:lpstr>
      <vt:lpstr>Wingdings 2</vt:lpstr>
      <vt:lpstr>Blank Presentation</vt:lpstr>
      <vt:lpstr>Equation</vt:lpstr>
      <vt:lpstr>Lecture 3 Control and Estimation</vt:lpstr>
      <vt:lpstr>Outline</vt:lpstr>
      <vt:lpstr>PowerPoint Presentation</vt:lpstr>
      <vt:lpstr>PID Controller</vt:lpstr>
      <vt:lpstr>Proportional Feedback  (P-Control, 비례제어)</vt:lpstr>
      <vt:lpstr>Proportional Differential Feedback  (PD-Control, 비례미분제어)</vt:lpstr>
      <vt:lpstr>Proportional Integral Feedback  (PI-Control, 비례적분 제어)</vt:lpstr>
      <vt:lpstr>Proportional Integral Differential Feedback  (PID-Control, 비례적분미분 제어)</vt:lpstr>
      <vt:lpstr>PowerPoint Presentation</vt:lpstr>
      <vt:lpstr>State Feedback Controller</vt:lpstr>
      <vt:lpstr>Linear Quadratic Regulator</vt:lpstr>
      <vt:lpstr>Linear Quadratic Regulator</vt:lpstr>
      <vt:lpstr>PowerPoint Presentation</vt:lpstr>
      <vt:lpstr>MPC (Model Predictive Control) 작동 개념</vt:lpstr>
      <vt:lpstr>MPC Formulation</vt:lpstr>
      <vt:lpstr>MPC 제어시스템 구조</vt:lpstr>
      <vt:lpstr>MPC 특성</vt:lpstr>
      <vt:lpstr>Model Predictive Control</vt:lpstr>
      <vt:lpstr>PowerPoint Presentation</vt:lpstr>
      <vt:lpstr>PowerPoint Presentation</vt:lpstr>
      <vt:lpstr>Dynamic System</vt:lpstr>
      <vt:lpstr>Representation of Dynamic System</vt:lpstr>
      <vt:lpstr>State Estimation</vt:lpstr>
      <vt:lpstr>State Estimation</vt:lpstr>
      <vt:lpstr>State Estimation</vt:lpstr>
      <vt:lpstr>State Estimation</vt:lpstr>
      <vt:lpstr>Luenberger Observer</vt:lpstr>
      <vt:lpstr>Noise!</vt:lpstr>
      <vt:lpstr>PowerPoint Presentation</vt:lpstr>
      <vt:lpstr>Noise as a Random Variable</vt:lpstr>
      <vt:lpstr>Noise as a Random Variable</vt:lpstr>
      <vt:lpstr>Optimal State Estimation</vt:lpstr>
      <vt:lpstr>Optimal State Estimation</vt:lpstr>
      <vt:lpstr>Kalman Filter</vt:lpstr>
      <vt:lpstr>Luenberger Observer and Kalman Filter</vt:lpstr>
      <vt:lpstr>Kalman Filter and Nonlinearity</vt:lpstr>
      <vt:lpstr>Kalman Filter Family</vt:lpstr>
      <vt:lpstr>Extended Kalman Filter</vt:lpstr>
      <vt:lpstr>Unscented Kalman Filter</vt:lpstr>
      <vt:lpstr>Unscented Kalman Filter</vt:lpstr>
      <vt:lpstr>Particle Filter</vt:lpstr>
      <vt:lpstr>Kalman Filter Summary</vt:lpstr>
    </vt:vector>
  </TitlesOfParts>
  <Company>soe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Changsun Ahn</dc:creator>
  <cp:lastModifiedBy>Changsun Ahn</cp:lastModifiedBy>
  <cp:revision>984</cp:revision>
  <cp:lastPrinted>2007-07-10T13:49:16Z</cp:lastPrinted>
  <dcterms:created xsi:type="dcterms:W3CDTF">2007-07-10T12:52:37Z</dcterms:created>
  <dcterms:modified xsi:type="dcterms:W3CDTF">2026-07-30T01:16:46Z</dcterms:modified>
</cp:coreProperties>
</file>