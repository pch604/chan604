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57" r:id="rId51"/>
    <p:sldId id="259" r:id="rId53"/>
    <p:sldId id="260" r:id="rId54"/>
    <p:sldId id="261" r:id="rId55"/>
    <p:sldId id="262" r:id="rId56"/>
    <p:sldId id="263" r:id="rId57"/>
    <p:sldId id="264" r:id="rIdTextOnlySlide8"/>
  </p:sldIdLst>
  <p:sldSz cx="9144000" cy="6858000" type="screen4x3"/>
  <p:notesSz cx="6858000" cy="9144000"/>
  <p:defaultTextStyle>
    <a:defPPr>
      <a:defRPr lang="en-US">
        <a:latin typeface="Arial"/>
        <a:ea typeface="MS PGothic"/>
      </a:defRPr>
    </a:defPPr>
    <a:lvl1pPr algn="l" rtl="0" eaLnBrk="0" fontAlgn="base" hangingPunct="0">
      <a:spcBef>
        <a:spcPct val="0"/>
      </a:spcBef>
      <a:spcAft>
        <a:spcPct val="0"/>
      </a:spcAft>
      <a:defRPr sz="2400" kern="1200">
        <a:solidFill>
          <a:schemeClr val="tx1"/>
        </a:solidFill>
        <a:latin typeface="Arial"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Arial"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MS PGothic" pitchFamily="34" charset="-128"/>
        <a:cs typeface="+mn-cs"/>
      </a:defRPr>
    </a:lvl5pPr>
    <a:lvl6pPr marL="2286000" algn="l" defTabSz="914400" rtl="0" eaLnBrk="1" latinLnBrk="0" hangingPunct="1">
      <a:defRPr sz="2400" kern="1200">
        <a:solidFill>
          <a:schemeClr val="tx1"/>
        </a:solidFill>
        <a:latin typeface="Arial" charset="0"/>
        <a:ea typeface="MS PGothic" pitchFamily="34" charset="-128"/>
        <a:cs typeface="+mn-cs"/>
      </a:defRPr>
    </a:lvl6pPr>
    <a:lvl7pPr marL="2743200" algn="l" defTabSz="914400" rtl="0" eaLnBrk="1" latinLnBrk="0" hangingPunct="1">
      <a:defRPr sz="2400" kern="1200">
        <a:solidFill>
          <a:schemeClr val="tx1"/>
        </a:solidFill>
        <a:latin typeface="Arial" charset="0"/>
        <a:ea typeface="MS PGothic" pitchFamily="34" charset="-128"/>
        <a:cs typeface="+mn-cs"/>
      </a:defRPr>
    </a:lvl7pPr>
    <a:lvl8pPr marL="3200400" algn="l" defTabSz="914400" rtl="0" eaLnBrk="1" latinLnBrk="0" hangingPunct="1">
      <a:defRPr sz="2400" kern="1200">
        <a:solidFill>
          <a:schemeClr val="tx1"/>
        </a:solidFill>
        <a:latin typeface="Arial" charset="0"/>
        <a:ea typeface="MS PGothic" pitchFamily="34" charset="-128"/>
        <a:cs typeface="+mn-cs"/>
      </a:defRPr>
    </a:lvl8pPr>
    <a:lvl9pPr marL="3657600" algn="l" defTabSz="914400" rtl="0" eaLnBrk="1" latinLnBrk="0" hangingPunct="1">
      <a:defRPr sz="2400" kern="1200">
        <a:solidFill>
          <a:schemeClr val="tx1"/>
        </a:solidFill>
        <a:latin typeface="Arial" charset="0"/>
        <a:ea typeface="MS PGothic" pitchFamily="34" charset="-128"/>
        <a:cs typeface="+mn-cs"/>
      </a:defRPr>
    </a:lvl9pPr>
  </p:defaultTextStyle>
  <p:extLst>
    <p:ext uri="{521415D9-36F7-43E2-AB2F-B90AF26B5E84}">
      <p14:sectionLst xmlns:p14="http://schemas.microsoft.com/office/powerpoint/2010/main">
        <p14:section name="Default Section" id="{4D0A106E-F050-4475-AE74-186DD2AE9C4F}">
          <p14:sldIdLst>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CC"/>
    <a:srgbClr val="99CCFF"/>
    <a:srgbClr val="0066FF"/>
    <a:srgbClr val="3B4C97"/>
    <a:srgbClr val="000099"/>
    <a:srgbClr val="000F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5" autoAdjust="0"/>
    <p:restoredTop sz="89065" autoAdjust="0"/>
  </p:normalViewPr>
  <p:slideViewPr>
    <p:cSldViewPr>
      <p:cViewPr varScale="1">
        <p:scale>
          <a:sx n="112" d="100"/>
          <a:sy n="112" d="100"/>
        </p:scale>
        <p:origin x="94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80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TextOnlySlide8" Type="http://schemas.openxmlformats.org/officeDocument/2006/relationships/slide" Target="slides/slide8.xml"/><Relationship Id="rId1" Type="http://schemas.openxmlformats.org/officeDocument/2006/relationships/slideMaster" Target="slideMasters/slideMaster1.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openxmlformats.org/officeDocument/2006/relationships/slide" Target="slides/slide1.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sun Ahn" userId="518abb9056612078" providerId="LiveId" clId="{26BC773D-7115-4A87-A284-8E0674A1E3A0}"/>
    <pc:docChg chg="undo custSel delSld modSld modSection">
      <pc:chgData name="Changsun Ahn" userId="518abb9056612078" providerId="LiveId" clId="{26BC773D-7115-4A87-A284-8E0674A1E3A0}" dt="2026-07-30T01:16:33.489" v="7" actId="47"/>
      <pc:docMkLst>
        <pc:docMk/>
      </pc:docMkLst>
      <pc:sldChg chg="del">
        <pc:chgData name="Changsun Ahn" userId="518abb9056612078" providerId="LiveId" clId="{26BC773D-7115-4A87-A284-8E0674A1E3A0}" dt="2026-07-30T01:16:33.489" v="7" actId="47"/>
        <pc:sldMkLst>
          <pc:docMk/>
          <pc:sldMk cId="474195226" sldId="871"/>
        </pc:sldMkLst>
      </pc:sldChg>
      <pc:sldChg chg="del">
        <pc:chgData name="Changsun Ahn" userId="518abb9056612078" providerId="LiveId" clId="{26BC773D-7115-4A87-A284-8E0674A1E3A0}" dt="2026-07-30T01:16:33.489" v="7" actId="47"/>
        <pc:sldMkLst>
          <pc:docMk/>
          <pc:sldMk cId="297504490" sldId="872"/>
        </pc:sldMkLst>
      </pc:sldChg>
      <pc:sldChg chg="modSp mod">
        <pc:chgData name="Changsun Ahn" userId="518abb9056612078" providerId="LiveId" clId="{26BC773D-7115-4A87-A284-8E0674A1E3A0}" dt="2026-07-30T01:15:31.563" v="5" actId="20577"/>
        <pc:sldMkLst>
          <pc:docMk/>
          <pc:sldMk cId="3174226046" sldId="915"/>
        </pc:sldMkLst>
        <pc:spChg chg="mod">
          <ac:chgData name="Changsun Ahn" userId="518abb9056612078" providerId="LiveId" clId="{26BC773D-7115-4A87-A284-8E0674A1E3A0}" dt="2026-07-30T01:15:31.563" v="5" actId="20577"/>
          <ac:spMkLst>
            <pc:docMk/>
            <pc:sldMk cId="3174226046" sldId="915"/>
            <ac:spMk id="19" creationId="{00000000-0000-0000-0000-000000000000}"/>
          </ac:spMkLst>
        </pc:spChg>
      </pc:sldChg>
      <pc:sldChg chg="del">
        <pc:chgData name="Changsun Ahn" userId="518abb9056612078" providerId="LiveId" clId="{26BC773D-7115-4A87-A284-8E0674A1E3A0}" dt="2026-07-30T01:16:20.971" v="6" actId="47"/>
        <pc:sldMkLst>
          <pc:docMk/>
          <pc:sldMk cId="1743384770" sldId="917"/>
        </pc:sldMkLst>
      </pc:sldChg>
      <pc:sldChg chg="del">
        <pc:chgData name="Changsun Ahn" userId="518abb9056612078" providerId="LiveId" clId="{26BC773D-7115-4A87-A284-8E0674A1E3A0}" dt="2026-07-30T01:16:20.971" v="6" actId="47"/>
        <pc:sldMkLst>
          <pc:docMk/>
          <pc:sldMk cId="2437741310" sldId="918"/>
        </pc:sldMkLst>
      </pc:sldChg>
      <pc:sldChg chg="del">
        <pc:chgData name="Changsun Ahn" userId="518abb9056612078" providerId="LiveId" clId="{26BC773D-7115-4A87-A284-8E0674A1E3A0}" dt="2026-07-30T01:16:20.971" v="6" actId="47"/>
        <pc:sldMkLst>
          <pc:docMk/>
          <pc:sldMk cId="2166412743" sldId="919"/>
        </pc:sldMkLst>
      </pc:sldChg>
      <pc:sldChg chg="del">
        <pc:chgData name="Changsun Ahn" userId="518abb9056612078" providerId="LiveId" clId="{26BC773D-7115-4A87-A284-8E0674A1E3A0}" dt="2026-07-30T01:16:20.971" v="6" actId="47"/>
        <pc:sldMkLst>
          <pc:docMk/>
          <pc:sldMk cId="1701861227" sldId="920"/>
        </pc:sldMkLst>
      </pc:sldChg>
      <pc:sldChg chg="del">
        <pc:chgData name="Changsun Ahn" userId="518abb9056612078" providerId="LiveId" clId="{26BC773D-7115-4A87-A284-8E0674A1E3A0}" dt="2026-07-30T01:16:20.971" v="6" actId="47"/>
        <pc:sldMkLst>
          <pc:docMk/>
          <pc:sldMk cId="519232037" sldId="921"/>
        </pc:sldMkLst>
      </pc:sldChg>
      <pc:sldChg chg="del">
        <pc:chgData name="Changsun Ahn" userId="518abb9056612078" providerId="LiveId" clId="{26BC773D-7115-4A87-A284-8E0674A1E3A0}" dt="2026-07-30T01:16:20.971" v="6" actId="47"/>
        <pc:sldMkLst>
          <pc:docMk/>
          <pc:sldMk cId="4136637569" sldId="922"/>
        </pc:sldMkLst>
      </pc:sldChg>
      <pc:sldChg chg="del">
        <pc:chgData name="Changsun Ahn" userId="518abb9056612078" providerId="LiveId" clId="{26BC773D-7115-4A87-A284-8E0674A1E3A0}" dt="2026-07-30T01:16:20.971" v="6" actId="47"/>
        <pc:sldMkLst>
          <pc:docMk/>
          <pc:sldMk cId="831033970" sldId="923"/>
        </pc:sldMkLst>
      </pc:sldChg>
      <pc:sldChg chg="del">
        <pc:chgData name="Changsun Ahn" userId="518abb9056612078" providerId="LiveId" clId="{26BC773D-7115-4A87-A284-8E0674A1E3A0}" dt="2026-07-30T01:16:20.971" v="6" actId="47"/>
        <pc:sldMkLst>
          <pc:docMk/>
          <pc:sldMk cId="3151416821" sldId="924"/>
        </pc:sldMkLst>
      </pc:sldChg>
      <pc:sldChg chg="del">
        <pc:chgData name="Changsun Ahn" userId="518abb9056612078" providerId="LiveId" clId="{26BC773D-7115-4A87-A284-8E0674A1E3A0}" dt="2026-07-30T01:16:20.971" v="6" actId="47"/>
        <pc:sldMkLst>
          <pc:docMk/>
          <pc:sldMk cId="1829320128" sldId="925"/>
        </pc:sldMkLst>
      </pc:sldChg>
      <pc:sldChg chg="del">
        <pc:chgData name="Changsun Ahn" userId="518abb9056612078" providerId="LiveId" clId="{26BC773D-7115-4A87-A284-8E0674A1E3A0}" dt="2026-07-30T01:16:20.971" v="6" actId="47"/>
        <pc:sldMkLst>
          <pc:docMk/>
          <pc:sldMk cId="3431485836" sldId="926"/>
        </pc:sldMkLst>
      </pc:sldChg>
      <pc:sldChg chg="del">
        <pc:chgData name="Changsun Ahn" userId="518abb9056612078" providerId="LiveId" clId="{26BC773D-7115-4A87-A284-8E0674A1E3A0}" dt="2026-07-30T01:16:20.971" v="6" actId="47"/>
        <pc:sldMkLst>
          <pc:docMk/>
          <pc:sldMk cId="3081601730" sldId="927"/>
        </pc:sldMkLst>
      </pc:sldChg>
      <pc:sldChg chg="del">
        <pc:chgData name="Changsun Ahn" userId="518abb9056612078" providerId="LiveId" clId="{26BC773D-7115-4A87-A284-8E0674A1E3A0}" dt="2026-07-30T01:16:20.971" v="6" actId="47"/>
        <pc:sldMkLst>
          <pc:docMk/>
          <pc:sldMk cId="1756593512" sldId="928"/>
        </pc:sldMkLst>
      </pc:sldChg>
    </pc:docChg>
  </pc:docChgLst>
  <pc:docChgLst>
    <pc:chgData name="Changsun Ahn" userId="518abb9056612078" providerId="LiveId" clId="{35FD0D37-7309-4F33-8079-6672F617D33C}"/>
    <pc:docChg chg="modSld">
      <pc:chgData name="Changsun Ahn" userId="518abb9056612078" providerId="LiveId" clId="{35FD0D37-7309-4F33-8079-6672F617D33C}" dt="2025-10-14T01:50:28.014" v="10"/>
      <pc:docMkLst>
        <pc:docMk/>
      </pc:docMkLst>
      <pc:sldChg chg="modSp mod">
        <pc:chgData name="Changsun Ahn" userId="518abb9056612078" providerId="LiveId" clId="{35FD0D37-7309-4F33-8079-6672F617D33C}" dt="2025-10-14T00:27:45.224" v="4" actId="20577"/>
        <pc:sldMkLst>
          <pc:docMk/>
          <pc:sldMk cId="297504490" sldId="872"/>
        </pc:sldMkLst>
        <pc:spChg chg="mod">
          <ac:chgData name="Changsun Ahn" userId="518abb9056612078" providerId="LiveId" clId="{35FD0D37-7309-4F33-8079-6672F617D33C}" dt="2025-10-14T00:27:45.224" v="4" actId="20577"/>
          <ac:spMkLst>
            <pc:docMk/>
            <pc:sldMk cId="297504490" sldId="872"/>
            <ac:spMk id="3" creationId="{00000000-0000-0000-0000-000000000000}"/>
          </ac:spMkLst>
        </pc:spChg>
      </pc:sldChg>
      <pc:sldChg chg="modSp">
        <pc:chgData name="Changsun Ahn" userId="518abb9056612078" providerId="LiveId" clId="{35FD0D37-7309-4F33-8079-6672F617D33C}" dt="2025-10-14T01:44:06.588" v="6"/>
        <pc:sldMkLst>
          <pc:docMk/>
          <pc:sldMk cId="3860292029" sldId="881"/>
        </pc:sldMkLst>
        <pc:graphicFrameChg chg="mod">
          <ac:chgData name="Changsun Ahn" userId="518abb9056612078" providerId="LiveId" clId="{35FD0D37-7309-4F33-8079-6672F617D33C}" dt="2025-10-14T01:44:06.588" v="6"/>
          <ac:graphicFrameMkLst>
            <pc:docMk/>
            <pc:sldMk cId="3860292029" sldId="881"/>
            <ac:graphicFrameMk id="19" creationId="{00000000-0000-0000-0000-000000000000}"/>
          </ac:graphicFrameMkLst>
        </pc:graphicFrameChg>
      </pc:sldChg>
      <pc:sldChg chg="addSp modSp mod">
        <pc:chgData name="Changsun Ahn" userId="518abb9056612078" providerId="LiveId" clId="{35FD0D37-7309-4F33-8079-6672F617D33C}" dt="2025-10-14T01:50:03.289" v="8" actId="1076"/>
        <pc:sldMkLst>
          <pc:docMk/>
          <pc:sldMk cId="3380350785" sldId="886"/>
        </pc:sldMkLst>
        <pc:graphicFrameChg chg="add mod">
          <ac:chgData name="Changsun Ahn" userId="518abb9056612078" providerId="LiveId" clId="{35FD0D37-7309-4F33-8079-6672F617D33C}" dt="2025-10-14T01:50:03.289" v="8" actId="1076"/>
          <ac:graphicFrameMkLst>
            <pc:docMk/>
            <pc:sldMk cId="3380350785" sldId="886"/>
            <ac:graphicFrameMk id="3" creationId="{85C9AF3D-D5DA-4ACB-8565-363D4BB568BF}"/>
          </ac:graphicFrameMkLst>
        </pc:graphicFrameChg>
      </pc:sldChg>
      <pc:sldChg chg="modSp">
        <pc:chgData name="Changsun Ahn" userId="518abb9056612078" providerId="LiveId" clId="{35FD0D37-7309-4F33-8079-6672F617D33C}" dt="2025-10-14T01:50:28.014" v="10"/>
        <pc:sldMkLst>
          <pc:docMk/>
          <pc:sldMk cId="2711729751" sldId="887"/>
        </pc:sldMkLst>
        <pc:spChg chg="mod">
          <ac:chgData name="Changsun Ahn" userId="518abb9056612078" providerId="LiveId" clId="{35FD0D37-7309-4F33-8079-6672F617D33C}" dt="2025-10-14T01:50:28.014" v="10"/>
          <ac:spMkLst>
            <pc:docMk/>
            <pc:sldMk cId="2711729751" sldId="887"/>
            <ac:spMk id="47" creationId="{00000000-0000-0000-0000-000000000000}"/>
          </ac:spMkLst>
        </pc:spChg>
        <pc:spChg chg="mod">
          <ac:chgData name="Changsun Ahn" userId="518abb9056612078" providerId="LiveId" clId="{35FD0D37-7309-4F33-8079-6672F617D33C}" dt="2025-10-14T01:50:28.014" v="10"/>
          <ac:spMkLst>
            <pc:docMk/>
            <pc:sldMk cId="2711729751" sldId="887"/>
            <ac:spMk id="52" creationId="{00000000-0000-0000-0000-000000000000}"/>
          </ac:spMkLst>
        </pc:spChg>
        <pc:grpChg chg="mod">
          <ac:chgData name="Changsun Ahn" userId="518abb9056612078" providerId="LiveId" clId="{35FD0D37-7309-4F33-8079-6672F617D33C}" dt="2025-10-14T01:50:28.014" v="10"/>
          <ac:grpSpMkLst>
            <pc:docMk/>
            <pc:sldMk cId="2711729751" sldId="887"/>
            <ac:grpSpMk id="53" creationId="{00000000-0000-0000-0000-000000000000}"/>
          </ac:grpSpMkLst>
        </pc:grpChg>
        <pc:graphicFrameChg chg="mod">
          <ac:chgData name="Changsun Ahn" userId="518abb9056612078" providerId="LiveId" clId="{35FD0D37-7309-4F33-8079-6672F617D33C}" dt="2025-10-14T01:50:28.014" v="10"/>
          <ac:graphicFrameMkLst>
            <pc:docMk/>
            <pc:sldMk cId="2711729751" sldId="887"/>
            <ac:graphicFrameMk id="46"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3"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4"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E519B566-4DAF-4B26-ADC8-A43E608533F5}"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1110100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noProof="0">
                <a:latin typeface="Arial"/>
                <a:ea typeface="MS PGothic"/>
              </a:rPr>
              <a:t>Click to edit Master text styles</a:t>
            </a:r>
          </a:p>
          <a:p>
            <a:pPr lvl="1"/>
            <a:r>
              <a:rPr lang="en-US" noProof="0">
                <a:latin typeface="Arial"/>
                <a:ea typeface="MS PGothic"/>
              </a:rPr>
              <a:t>Second level</a:t>
            </a:r>
          </a:p>
          <a:p>
            <a:pPr lvl="2"/>
            <a:r>
              <a:rPr lang="en-US" noProof="0">
                <a:latin typeface="Arial"/>
                <a:ea typeface="MS PGothic"/>
              </a:rPr>
              <a:t>Third level</a:t>
            </a:r>
          </a:p>
          <a:p>
            <a:pPr lvl="3"/>
            <a:r>
              <a:rPr lang="en-US" noProof="0">
                <a:latin typeface="Arial"/>
                <a:ea typeface="MS PGothic"/>
              </a:rPr>
              <a:t>Fourth level</a:t>
            </a:r>
          </a:p>
          <a:p>
            <a:pPr lvl="4"/>
            <a:r>
              <a:rPr lang="en-US" noProof="0">
                <a:latin typeface="Arial"/>
                <a:ea typeface="MS PGothic"/>
              </a:rPr>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5096BAED-5FB2-4DAD-92B2-076325177B4F}"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38159845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5pPr>
    <a:lvl6pPr marL="2286000" algn="l" defTabSz="914400" rtl="0" eaLnBrk="1" latinLnBrk="0" hangingPunct="1">
      <a:defRPr sz="1200" kern="1200">
        <a:solidFill>
          <a:schemeClr val="tx1"/>
        </a:solidFill>
        <a:latin typeface="Arial"/>
        <a:ea typeface="MS PGothic"/>
        <a:cs typeface="+mn-cs"/>
      </a:defRPr>
    </a:lvl6pPr>
    <a:lvl7pPr marL="2743200" algn="l" defTabSz="914400" rtl="0" eaLnBrk="1" latinLnBrk="0" hangingPunct="1">
      <a:defRPr sz="1200" kern="1200">
        <a:solidFill>
          <a:schemeClr val="tx1"/>
        </a:solidFill>
        <a:latin typeface="Arial"/>
        <a:ea typeface="MS PGothic"/>
        <a:cs typeface="+mn-cs"/>
      </a:defRPr>
    </a:lvl7pPr>
    <a:lvl8pPr marL="3200400" algn="l" defTabSz="914400" rtl="0" eaLnBrk="1" latinLnBrk="0" hangingPunct="1">
      <a:defRPr sz="1200" kern="1200">
        <a:solidFill>
          <a:schemeClr val="tx1"/>
        </a:solidFill>
        <a:latin typeface="Arial"/>
        <a:ea typeface="MS PGothic"/>
        <a:cs typeface="+mn-cs"/>
      </a:defRPr>
    </a:lvl8pPr>
    <a:lvl9pPr marL="3657600" algn="l" defTabSz="914400" rtl="0" eaLnBrk="1" latinLnBrk="0" hangingPunct="1">
      <a:defRPr sz="1200" kern="1200">
        <a:solidFill>
          <a:schemeClr val="tx1"/>
        </a:solidFill>
        <a:latin typeface="Arial"/>
        <a:ea typeface="MS PGothic"/>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ea typeface="MS PGothic" pitchFamily="18" charset="-120"/>
              </a:defRPr>
            </a:lvl1pPr>
            <a:lvl2pPr marL="742950" indent="-285750" eaLnBrk="0" hangingPunct="0">
              <a:defRPr sz="2400" b="1">
                <a:solidFill>
                  <a:schemeClr val="tx1"/>
                </a:solidFill>
                <a:latin typeface="Arial" charset="0"/>
                <a:ea typeface="MS PGothic" pitchFamily="18" charset="-120"/>
              </a:defRPr>
            </a:lvl2pPr>
            <a:lvl3pPr marL="1143000" indent="-228600" eaLnBrk="0" hangingPunct="0">
              <a:defRPr sz="2400" b="1">
                <a:solidFill>
                  <a:schemeClr val="tx1"/>
                </a:solidFill>
                <a:latin typeface="Arial" charset="0"/>
                <a:ea typeface="MS PGothic" pitchFamily="18" charset="-120"/>
              </a:defRPr>
            </a:lvl3pPr>
            <a:lvl4pPr marL="1600200" indent="-228600" eaLnBrk="0" hangingPunct="0">
              <a:defRPr sz="2400" b="1">
                <a:solidFill>
                  <a:schemeClr val="tx1"/>
                </a:solidFill>
                <a:latin typeface="Arial" charset="0"/>
                <a:ea typeface="MS PGothic" pitchFamily="18" charset="-120"/>
              </a:defRPr>
            </a:lvl4pPr>
            <a:lvl5pPr marL="2057400" indent="-228600" eaLnBrk="0" hangingPunct="0">
              <a:defRPr sz="2400" b="1">
                <a:solidFill>
                  <a:schemeClr val="tx1"/>
                </a:solidFill>
                <a:latin typeface="Arial" charset="0"/>
                <a:ea typeface="MS PGothic" pitchFamily="18" charset="-120"/>
              </a:defRPr>
            </a:lvl5pPr>
            <a:lvl6pPr marL="2514600" indent="-228600" eaLnBrk="0" fontAlgn="base" hangingPunct="0">
              <a:spcBef>
                <a:spcPct val="0"/>
              </a:spcBef>
              <a:spcAft>
                <a:spcPct val="0"/>
              </a:spcAft>
              <a:defRPr sz="2400" b="1">
                <a:solidFill>
                  <a:schemeClr val="tx1"/>
                </a:solidFill>
                <a:latin typeface="Arial" charset="0"/>
                <a:ea typeface="MS PGothic" pitchFamily="18" charset="-120"/>
              </a:defRPr>
            </a:lvl6pPr>
            <a:lvl7pPr marL="2971800" indent="-228600" eaLnBrk="0" fontAlgn="base" hangingPunct="0">
              <a:spcBef>
                <a:spcPct val="0"/>
              </a:spcBef>
              <a:spcAft>
                <a:spcPct val="0"/>
              </a:spcAft>
              <a:defRPr sz="2400" b="1">
                <a:solidFill>
                  <a:schemeClr val="tx1"/>
                </a:solidFill>
                <a:latin typeface="Arial" charset="0"/>
                <a:ea typeface="MS PGothic" pitchFamily="18" charset="-120"/>
              </a:defRPr>
            </a:lvl7pPr>
            <a:lvl8pPr marL="3429000" indent="-228600" eaLnBrk="0" fontAlgn="base" hangingPunct="0">
              <a:spcBef>
                <a:spcPct val="0"/>
              </a:spcBef>
              <a:spcAft>
                <a:spcPct val="0"/>
              </a:spcAft>
              <a:defRPr sz="2400" b="1">
                <a:solidFill>
                  <a:schemeClr val="tx1"/>
                </a:solidFill>
                <a:latin typeface="Arial" charset="0"/>
                <a:ea typeface="MS PGothic" pitchFamily="18" charset="-120"/>
              </a:defRPr>
            </a:lvl8pPr>
            <a:lvl9pPr marL="3886200" indent="-228600" eaLnBrk="0" fontAlgn="base" hangingPunct="0">
              <a:spcBef>
                <a:spcPct val="0"/>
              </a:spcBef>
              <a:spcAft>
                <a:spcPct val="0"/>
              </a:spcAft>
              <a:defRPr sz="2400" b="1">
                <a:solidFill>
                  <a:schemeClr val="tx1"/>
                </a:solidFill>
                <a:latin typeface="Arial" charset="0"/>
                <a:ea typeface="MS PGothic" pitchFamily="18" charset="-120"/>
              </a:defRPr>
            </a:lvl9pPr>
          </a:lstStyle>
          <a:p>
            <a:pPr>
              <a:defRPr>
                <a:latin typeface="Arial"/>
                <a:ea typeface="MS PGothic"/>
              </a:defRPr>
            </a:pPr>
            <a:fld id="{8A1CC2BC-5918-49F0-B63E-CBAD895B9FF1}" type="slidenum">
              <a:rPr lang="en-US" altLang="zh-TW" sz="1200" b="0" smtClean="0">
                <a:latin typeface="Arial"/>
                <a:ea typeface="MS PGothic"/>
              </a:rPr>
              <a:pPr>
                <a:defRPr>
                  <a:latin typeface="Arial"/>
                  <a:ea typeface="MS PGothic"/>
                </a:defRPr>
              </a:pPr>
              <a:t>1</a:t>
            </a:fld>
            <a:endParaRPr lang="en-US" altLang="zh-TW" sz="1200" b="0">
              <a:latin typeface="Arial"/>
              <a:ea typeface="MS PGothic"/>
            </a:endParaRPr>
          </a:p>
        </p:txBody>
      </p:sp>
      <p:sp>
        <p:nvSpPr>
          <p:cNvPr id="70659" name="Rectangle 2"/>
          <p:cNvSpPr>
            <a:spLocks noGrp="1" noRot="1" noChangeAspect="1" noChangeArrowheads="1" noTextEdit="1"/>
          </p:cNvSpPr>
          <p:nvPr>
            <p:ph type="sldImg"/>
          </p:nvPr>
        </p:nvSpPr>
        <p:spPr>
          <a:xfrm>
            <a:off x="1143000" y="685800"/>
            <a:ext cx="4572000" cy="3429000"/>
          </a:xfrm>
          <a:ln/>
        </p:spPr>
      </p:sp>
      <p:sp>
        <p:nvSpPr>
          <p:cNvPr id="70660" name="Notes Placeholder 4"/>
          <p:cNvSpPr>
            <a:spLocks noGrp="1"/>
          </p:cNvSpPr>
          <p:nvPr/>
        </p:nvSpPr>
        <p:spPr bwMode="auto">
          <a:xfrm>
            <a:off x="914508" y="4343144"/>
            <a:ext cx="5028986" cy="411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30000"/>
              </a:spcBef>
            </a:pPr>
            <a:endParaRPr kumimoji="1" lang="en-US" sz="1200" b="0">
              <a:latin typeface="Arial" pitchFamily="18" charset="0"/>
              <a:ea typeface="MS PGothic"/>
            </a:endParaRPr>
          </a:p>
        </p:txBody>
      </p:sp>
      <p:sp>
        <p:nvSpPr>
          <p:cNvPr id="2" name="Notes Placeholder 1"/>
          <p:cNvSpPr>
            <a:spLocks noGrp="1"/>
          </p:cNvSpPr>
          <p:nvPr>
            <p:ph type="body" idx="1"/>
          </p:nvPr>
        </p:nvSpPr>
        <p:spPr/>
        <p:txBody>
          <a:bodyPr/>
          <a:lstStyle/>
          <a:p>
            <a:r>
              <a:t>[10초]</a:t>
            </a:r>
          </a:p>
          <a:p>
            <a:r>
              <a:t>안녕하세요, 학생자율연구II 연구계획을 발표할 박찬혁입니다. 제 연구는 GPS를 쓰기 어려운 환경에서 카메라, IMU, 거리센서를 하나의 필터로 융합하되, 센서마다 다른 측정 시점까지 고려하는 위치·자세 추정기를 만드는 것입니다.</a:t>
            </a:r>
          </a:p>
        </p:txBody>
      </p:sp>
    </p:spTree>
    <p:extLst>
      <p:ext uri="{BB962C8B-B14F-4D97-AF65-F5344CB8AC3E}">
        <p14:creationId xmlns:p14="http://schemas.microsoft.com/office/powerpoint/2010/main" val="3421518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[65초]</a:t>
            </a:r>
          </a:p>
          <a:p>
            <a:r>
              <a:t>자동차 내비게이션은 터널에 들어가 GPS가 끊겨도 화면 속 차량이 계속 움직입니다. 마지막 위치에서 속도와 회전 정보로 위치를 이어서 계산하기 때문입니다. 이처럼 항법은 관성 정보로 움직임을 예측하고, 다른 센서로 그 예측을 보정하는 구조입니다.</a:t>
            </a:r>
          </a:p>
          <a:p>
            <a:r>
              <a:t>보정에 많이 쓰이는 센서가 카메라입니다. 옵티컬 플로우는 연속된 영상에서 점이 얼마나 움직였는지 추적하는 기법으로, 광마우스가 움직임을 읽는 것과 같은 원리입니다. VIO는 이 영상 정보를 IMU와 결합해 위치와 자세를 추정합니다. 옵티컬 플로우가 측정이라면, VIO는 그 측정을 쓰는 추정입니다.</a:t>
            </a:r>
          </a:p>
          <a:p>
            <a:r>
              <a:t>이 원리는 드론과 항공기에도 그대로 쓰입니다. 실내 드론은 하향 카메라와 IMU, 거리센서로 위치를 유지하고, NASA의 화성 헬리콥터 인저뉴어티도 같은 조합으로 비행했습니다. 플랫폼은 달라도 IMU로 예측하고, 카메라와 거리센서로 보정한다는 구조는 같습니다.</a:t>
            </a:r>
          </a:p>
          <a:p/>
          <a:p>
            <a:r>
              <a:t>출처: Bayard et al., Vision-Based Navigation for the NASA Mars Helicopter, AIAA SciTech 2019 / https://github.com/HKUST-Aerial-Robotics/VINS-Fusion / https://docs.px4.io/main/en/computer_vision/visual_inertial_odometry</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그런데 이 구조를 실제 센서에 적용하면 두 가지 문제가 생깁니다.</a:t>
            </a:r>
          </a:p>
          <a:p>
            <a:r>
              <a:t>첫째는 개별 센서의 한계입니다. IMU만 쓰면 작은 오차가 적분되면서 계속 쌓입니다. 카메라는 영상 속 이동만 알려 주기 때문에, 실제 이동 거리로 바꾸려면 거리센서 정보가 필요합니다. 그래서 세 센서를 함께 써야 합니다.</a:t>
            </a:r>
          </a:p>
          <a:p>
            <a:r>
              <a:t>둘째는 측정 시점의 차이입니다. 아래 그림처럼 IMU는 매우 빠른 주기로 들어오지만 카메라는 그보다 느리고, 영상 처리에도 시간이 걸립니다. 그래서 지금 필터에 들어온 영상 측정은 사실 조금 전의 움직임입니다. 예를 들어 초속 5 m로 움직일 때 50 ms 늦은 측정을 현재 값처럼 쓰면 25 cm의 차이가 생깁니다.</a:t>
            </a:r>
          </a:p>
          <a:p>
            <a:r>
              <a:t>그래서 제 연구의 목적은 측정 주기와 지연 차이를 고려해 카메라, IMU, 거리센서를 하나의 필터로 융합하는 위치·자세 추정기를 구현하는 것입니다.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이 시간 문제는 차량 분야에서도 중요하게 다뤄졌습니다. 지도교수님 연구실의 Kim과 Ahn의 논문은 레이더와 V2X 통신처럼 도착 시점이 서로 다른 정보를 융합해 앞 차량의 상태를 추정했습니다. 저는 이 논문에서 세 가지 처리 방법을 참고하겠습니다.</a:t>
            </a:r>
          </a:p>
          <a:p>
            <a:r>
              <a:t>첫째, 지연 보상입니다. 데이터를 받은 시점과 실제로 측정한 시점을 구분합니다. 둘째, 시간 정렬입니다. 함께 쓰는 신호의 시점을 맞추고, 필요하면 앞뒤 데이터로 그 사이 값을 보간합니다. 셋째, 과거 상태 재추정입니다. 늦게 들어온 측정으로 그 시점의 추정값을 고치고, 거기서부터 현재까지 다시 계산합니다.</a:t>
            </a:r>
          </a:p>
          <a:p>
            <a:r>
              <a:t>비전 항법 쪽에서는 과거 카메라 자세를 함께 유지하며 추정하는 MSCKF와 OpenVINS의 구조를 참고하겠습니다. 차량 모델을 그대로 가져오는 것이 아니라, 시간 처리 방법을 제 센서 구성에 맞게 옮기는 것이 핵심입니다.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[65초]</a:t>
            </a:r>
          </a:p>
          <a:p>
            <a:r>
              <a:t>구체적인 방법입니다. 영상의 이동은 KLT 옵티컬 플로우로 추적하고, 융합은 확장 칼만필터, 즉 EKF를 기본 구조로 사용합니다.</a:t>
            </a:r>
          </a:p>
          <a:p>
            <a:r>
              <a:t>예측 단계에서는 IMU의 가속도와 각속도로 다음 순간의 위치와 자세를 계산합니다. 보정 단계에서는 영상 이동과 거리 정보를 측정 모델로 넣어 예측을 바로잡습니다. 이때 영상 이동에는 회전 성분이 섞여 있어서, 자이로로 회전을 빼고 거리로 실제 크기를 정합니다.</a:t>
            </a:r>
          </a:p>
          <a:p>
            <a:r>
              <a:t>시간 처리는 아래 그림처럼 합니다. 먼저 센서별 주기와 타임스탬프, 지연을 확인합니다. 필터는 과거 일정 구간의 상태와 입력을 저장해 두고, 새 측정이 없을 때는 예측만 합니다. 늦게 도착한 측정이 오면 그 측정 시점으로 돌아가 보정하고, 저장해 둔 IMU 입력으로 현재까지 다시 계산합니다.</a:t>
            </a:r>
          </a:p>
          <a:p>
            <a:r>
              <a:t>검증은 같은 데이터와 초기 조건에서 시간 처리를 넣기 전과 후를 비교합니다. 기준값 대비 위치 오차와 재추정에 드는 처리시간을 함께 보고, 효과와 한계를 정리하겠습니다.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[25초]</a:t>
            </a:r>
          </a:p>
          <a:p>
            <a:r>
              <a:t>일정입니다. 10월 전반에는 선행논문을 분석하고 센서의 주기와 타임스탬프, 지연을 정리합니다. 10월 후반에는 옵티컬 플로우와 IMU 예측으로 기본 융합 구조를 만듭니다. 11월에는 지연 보상과 시간 정렬, 과거 상태 재추정을 넣고, 12월에 적용 전후를 비교해 보고서로 정리하겠습니다.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[15초]</a:t>
            </a:r>
          </a:p>
          <a:p>
            <a:r>
              <a:t>정리하면, 차량 분야에서 다뤄 온 시간 처리 방법을 카메라·IMU·거리센서 기반 비전 항법에 적용하고 그 효과를 확인하는 것이 이 연구입니다. 이상으로 발표를 마치겠습니다. 의견과 질문 부탁드립니다. 감사합니다.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latin typeface="Arial"/>
                <a:ea typeface="MS PGothic"/>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a:ea typeface="MS PGothic"/>
              </a:defRPr>
            </a:lvl1pPr>
            <a:lvl2pPr marL="457200" indent="0" algn="ctr">
              <a:buNone/>
              <a:defRPr>
                <a:latin typeface="Arial"/>
                <a:ea typeface="MS PGothic"/>
              </a:defRPr>
            </a:lvl2pPr>
            <a:lvl3pPr marL="914400" indent="0" algn="ctr">
              <a:buNone/>
              <a:defRPr>
                <a:latin typeface="Arial"/>
                <a:ea typeface="MS PGothic"/>
              </a:defRPr>
            </a:lvl3pPr>
            <a:lvl4pPr marL="1371600" indent="0" algn="ctr">
              <a:buNone/>
              <a:defRPr>
                <a:latin typeface="Arial"/>
                <a:ea typeface="MS PGothic"/>
              </a:defRPr>
            </a:lvl4pPr>
            <a:lvl5pPr marL="1828800" indent="0" algn="ctr">
              <a:buNone/>
              <a:defRPr>
                <a:latin typeface="Arial"/>
                <a:ea typeface="MS PGothic"/>
              </a:defRPr>
            </a:lvl5pPr>
            <a:lvl6pPr marL="2286000" indent="0" algn="ctr">
              <a:buNone/>
              <a:defRPr>
                <a:latin typeface="Arial"/>
                <a:ea typeface="MS PGothic"/>
              </a:defRPr>
            </a:lvl6pPr>
            <a:lvl7pPr marL="2743200" indent="0" algn="ctr">
              <a:buNone/>
              <a:defRPr>
                <a:latin typeface="Arial"/>
                <a:ea typeface="MS PGothic"/>
              </a:defRPr>
            </a:lvl7pPr>
            <a:lvl8pPr marL="3200400" indent="0" algn="ctr">
              <a:buNone/>
              <a:defRPr>
                <a:latin typeface="Arial"/>
                <a:ea typeface="MS PGothic"/>
              </a:defRPr>
            </a:lvl8pPr>
            <a:lvl9pPr marL="3657600" indent="0" algn="ctr">
              <a:buNone/>
              <a:defRPr>
                <a:latin typeface="Arial"/>
                <a:ea typeface="MS PGothic"/>
              </a:defRPr>
            </a:lvl9pPr>
          </a:lstStyle>
          <a:p>
            <a:r>
              <a:rPr lang="en-US">
                <a:latin typeface="Arial"/>
                <a:ea typeface="MS PGothic"/>
              </a:rPr>
              <a:t>Click to edit Master subtitle style</a:t>
            </a:r>
          </a:p>
        </p:txBody>
      </p:sp>
    </p:spTree>
    <p:extLst>
      <p:ext uri="{BB962C8B-B14F-4D97-AF65-F5344CB8AC3E}">
        <p14:creationId xmlns:p14="http://schemas.microsoft.com/office/powerpoint/2010/main" val="37827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3" name="Content Placeholder 2"/>
          <p:cNvSpPr>
            <a:spLocks noGrp="1"/>
          </p:cNvSpPr>
          <p:nvPr>
            <p:ph idx="1"/>
          </p:nvPr>
        </p:nvSpPr>
        <p:spPr>
          <a:xfrm>
            <a:off x="457200" y="939800"/>
            <a:ext cx="8229600" cy="5334000"/>
          </a:xfrm>
        </p:spPr>
        <p:txBody>
          <a:bodyPr/>
          <a:lstStyle>
            <a:lvl2pPr marL="742950" indent="-285750">
              <a:buFont typeface="Arial" panose="020B0604020202020204" pitchFamily="34" charset="0"/>
              <a:buChar char="-"/>
              <a:defRPr>
                <a:latin typeface="Arial"/>
                <a:ea typeface="MS PGothic"/>
              </a:defRPr>
            </a:lvl2pPr>
          </a:lstStyle>
          <a:p>
            <a:pPr lvl="0"/>
            <a:r>
              <a:rPr lang="en-US" dirty="0">
                <a:latin typeface="Arial"/>
                <a:ea typeface="MS PGothic"/>
              </a:rPr>
              <a:t>Click to edit Master text styles</a:t>
            </a:r>
          </a:p>
          <a:p>
            <a:pPr lvl="1"/>
            <a:r>
              <a:rPr lang="en-US" dirty="0">
                <a:latin typeface="Arial"/>
                <a:ea typeface="MS PGothic"/>
              </a:rPr>
              <a:t>Second level</a:t>
            </a:r>
          </a:p>
          <a:p>
            <a:pPr lvl="2"/>
            <a:r>
              <a:rPr lang="en-US" dirty="0">
                <a:latin typeface="Arial"/>
                <a:ea typeface="MS PGothic"/>
              </a:rPr>
              <a:t>Third level</a:t>
            </a:r>
          </a:p>
          <a:p>
            <a:pPr lvl="3"/>
            <a:r>
              <a:rPr lang="en-US" dirty="0">
                <a:latin typeface="Arial"/>
                <a:ea typeface="MS PGothic"/>
              </a:rPr>
              <a:t>Fourth level</a:t>
            </a:r>
          </a:p>
          <a:p>
            <a:pPr lvl="4"/>
            <a:r>
              <a:rPr lang="en-US" dirty="0">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39960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Arial"/>
                <a:ea typeface="MS PGothic"/>
              </a:defRPr>
            </a:lvl1pPr>
            <a:lvl2pPr marL="457200" indent="0">
              <a:buNone/>
              <a:defRPr sz="1800">
                <a:latin typeface="Arial"/>
                <a:ea typeface="MS PGothic"/>
              </a:defRPr>
            </a:lvl2pPr>
            <a:lvl3pPr marL="914400" indent="0">
              <a:buNone/>
              <a:defRPr sz="1600">
                <a:latin typeface="Arial"/>
                <a:ea typeface="MS PGothic"/>
              </a:defRPr>
            </a:lvl3pPr>
            <a:lvl4pPr marL="1371600" indent="0">
              <a:buNone/>
              <a:defRPr sz="1400">
                <a:latin typeface="Arial"/>
                <a:ea typeface="MS PGothic"/>
              </a:defRPr>
            </a:lvl4pPr>
            <a:lvl5pPr marL="1828800" indent="0">
              <a:buNone/>
              <a:defRPr sz="1400">
                <a:latin typeface="Arial"/>
                <a:ea typeface="MS PGothic"/>
              </a:defRPr>
            </a:lvl5pPr>
            <a:lvl6pPr marL="2286000" indent="0">
              <a:buNone/>
              <a:defRPr sz="1400">
                <a:latin typeface="Arial"/>
                <a:ea typeface="MS PGothic"/>
              </a:defRPr>
            </a:lvl6pPr>
            <a:lvl7pPr marL="2743200" indent="0">
              <a:buNone/>
              <a:defRPr sz="1400">
                <a:latin typeface="Arial"/>
                <a:ea typeface="MS PGothic"/>
              </a:defRPr>
            </a:lvl7pPr>
            <a:lvl8pPr marL="3200400" indent="0">
              <a:buNone/>
              <a:defRPr sz="1400">
                <a:latin typeface="Arial"/>
                <a:ea typeface="MS PGothic"/>
              </a:defRPr>
            </a:lvl8pPr>
            <a:lvl9pPr marL="3657600" indent="0">
              <a:buNone/>
              <a:defRPr sz="1400">
                <a:latin typeface="Arial"/>
                <a:ea typeface="MS PGothic"/>
              </a:defRPr>
            </a:lvl9pPr>
          </a:lstStyle>
          <a:p>
            <a:pPr lvl="0"/>
            <a:r>
              <a:rPr lang="en-US">
                <a:latin typeface="Arial"/>
                <a:ea typeface="MS PGothic"/>
              </a:rPr>
              <a:t>Click to edit Master text styles</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20148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ontent Placeholder 3"/>
          <p:cNvSpPr>
            <a:spLocks noGrp="1"/>
          </p:cNvSpPr>
          <p:nvPr>
            <p:ph sz="half" idx="2"/>
          </p:nvPr>
        </p:nvSpPr>
        <p:spPr>
          <a:xfrm>
            <a:off x="46482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7" name="Straight Connector 6"/>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9" name="TextBox 8"/>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85788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7"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8" name="TextBox 7"/>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52587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7" name="TextBox 6"/>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49159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3" name="TextBox 2"/>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426982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Content Placeholder 2"/>
          <p:cNvSpPr>
            <a:spLocks noGrp="1"/>
          </p:cNvSpPr>
          <p:nvPr>
            <p:ph idx="1"/>
          </p:nvPr>
        </p:nvSpPr>
        <p:spPr>
          <a:xfrm>
            <a:off x="3575051" y="273052"/>
            <a:ext cx="5111750" cy="5853113"/>
          </a:xfrm>
        </p:spPr>
        <p:txBody>
          <a:bodyPr/>
          <a:lstStyle>
            <a:lvl1pPr>
              <a:defRPr sz="3200">
                <a:latin typeface="Arial"/>
                <a:ea typeface="MS PGothic"/>
              </a:defRPr>
            </a:lvl1pPr>
            <a:lvl2pPr>
              <a:defRPr sz="2800">
                <a:latin typeface="Arial"/>
                <a:ea typeface="MS PGothic"/>
              </a:defRPr>
            </a:lvl2pPr>
            <a:lvl3pPr>
              <a:defRPr sz="2400">
                <a:latin typeface="Arial"/>
                <a:ea typeface="MS PGothic"/>
              </a:defRPr>
            </a:lvl3pPr>
            <a:lvl4pPr>
              <a:defRPr sz="2000">
                <a:latin typeface="Arial"/>
                <a:ea typeface="MS PGothic"/>
              </a:defRPr>
            </a:lvl4pPr>
            <a:lvl5pPr>
              <a:defRPr sz="2000">
                <a:latin typeface="Arial"/>
                <a:ea typeface="MS PGothic"/>
              </a:defRPr>
            </a:lvl5pPr>
            <a:lvl6pPr>
              <a:defRPr sz="2000">
                <a:latin typeface="Arial"/>
                <a:ea typeface="MS PGothic"/>
              </a:defRPr>
            </a:lvl6pPr>
            <a:lvl7pPr>
              <a:defRPr sz="2000">
                <a:latin typeface="Arial"/>
                <a:ea typeface="MS PGothic"/>
              </a:defRPr>
            </a:lvl7pPr>
            <a:lvl8pPr>
              <a:defRPr sz="2000">
                <a:latin typeface="Arial"/>
                <a:ea typeface="MS PGothic"/>
              </a:defRPr>
            </a:lvl8pPr>
            <a:lvl9pPr>
              <a:defRPr sz="20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Text Placeholder 3"/>
          <p:cNvSpPr>
            <a:spLocks noGrp="1"/>
          </p:cNvSpPr>
          <p:nvPr>
            <p:ph type="body" sz="half" idx="2"/>
          </p:nvPr>
        </p:nvSpPr>
        <p:spPr>
          <a:xfrm>
            <a:off x="457200" y="1435102"/>
            <a:ext cx="3008313" cy="4691063"/>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81182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Arial"/>
                <a:ea typeface="MS PGothic"/>
              </a:defRPr>
            </a:lvl1pPr>
            <a:lvl2pPr marL="457200" indent="0">
              <a:buNone/>
              <a:defRPr sz="2800">
                <a:latin typeface="Arial"/>
                <a:ea typeface="MS PGothic"/>
              </a:defRPr>
            </a:lvl2pPr>
            <a:lvl3pPr marL="914400" indent="0">
              <a:buNone/>
              <a:defRPr sz="2400">
                <a:latin typeface="Arial"/>
                <a:ea typeface="MS PGothic"/>
              </a:defRPr>
            </a:lvl3pPr>
            <a:lvl4pPr marL="1371600" indent="0">
              <a:buNone/>
              <a:defRPr sz="2000">
                <a:latin typeface="Arial"/>
                <a:ea typeface="MS PGothic"/>
              </a:defRPr>
            </a:lvl4pPr>
            <a:lvl5pPr marL="1828800" indent="0">
              <a:buNone/>
              <a:defRPr sz="2000">
                <a:latin typeface="Arial"/>
                <a:ea typeface="MS PGothic"/>
              </a:defRPr>
            </a:lvl5pPr>
            <a:lvl6pPr marL="2286000" indent="0">
              <a:buNone/>
              <a:defRPr sz="2000">
                <a:latin typeface="Arial"/>
                <a:ea typeface="MS PGothic"/>
              </a:defRPr>
            </a:lvl6pPr>
            <a:lvl7pPr marL="2743200" indent="0">
              <a:buNone/>
              <a:defRPr sz="2000">
                <a:latin typeface="Arial"/>
                <a:ea typeface="MS PGothic"/>
              </a:defRPr>
            </a:lvl7pPr>
            <a:lvl8pPr marL="3200400" indent="0">
              <a:buNone/>
              <a:defRPr sz="2000">
                <a:latin typeface="Arial"/>
                <a:ea typeface="MS PGothic"/>
              </a:defRPr>
            </a:lvl8pPr>
            <a:lvl9pPr marL="3657600" indent="0">
              <a:buNone/>
              <a:defRPr sz="2000">
                <a:latin typeface="Arial"/>
                <a:ea typeface="MS PGothic"/>
              </a:defRPr>
            </a:lvl9pPr>
          </a:lstStyle>
          <a:p>
            <a:pPr lvl="0"/>
            <a:endParaRPr lang="en-US" noProof="0" dirty="0">
              <a:latin typeface="Arial"/>
              <a:ea typeface="MS PGothic"/>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751233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Arial"/>
                <a:ea typeface="MS PGothic"/>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69577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715000"/>
          </a:xfrm>
        </p:spPr>
        <p:txBody>
          <a:bodyPr vert="eaVert"/>
          <a:lstStyle/>
          <a:p>
            <a:r>
              <a:rPr lang="en-US">
                <a:latin typeface="Arial"/>
                <a:ea typeface="MS PGothic"/>
              </a:rPr>
              <a:t>Click to edit Master title style</a:t>
            </a:r>
          </a:p>
        </p:txBody>
      </p:sp>
      <p:sp>
        <p:nvSpPr>
          <p:cNvPr id="3" name="Vertical Text Placeholder 2"/>
          <p:cNvSpPr>
            <a:spLocks noGrp="1"/>
          </p:cNvSpPr>
          <p:nvPr>
            <p:ph type="body" orient="vert" idx="1"/>
          </p:nvPr>
        </p:nvSpPr>
        <p:spPr>
          <a:xfrm>
            <a:off x="685800" y="228600"/>
            <a:ext cx="5676900" cy="5715000"/>
          </a:xfrm>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4273031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latin typeface="Arial"/>
                <a:ea typeface="MS PGothic"/>
              </a:rPr>
              <a:t>Click to edit Master title style</a:t>
            </a:r>
          </a:p>
        </p:txBody>
      </p:sp>
      <p:sp>
        <p:nvSpPr>
          <p:cNvPr id="3" name="Text Placeholder 2"/>
          <p:cNvSpPr>
            <a:spLocks noGrp="1"/>
          </p:cNvSpPr>
          <p:nvPr>
            <p:ph type="body" sz="half" idx="1"/>
          </p:nvPr>
        </p:nvSpPr>
        <p:spPr>
          <a:xfrm>
            <a:off x="685800" y="1676400"/>
            <a:ext cx="3810000" cy="4267200"/>
          </a:xfrm>
        </p:spPr>
        <p:txBody>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hart Placeholder 3"/>
          <p:cNvSpPr>
            <a:spLocks noGrp="1"/>
          </p:cNvSpPr>
          <p:nvPr>
            <p:ph type="chart" sz="half" idx="2"/>
          </p:nvPr>
        </p:nvSpPr>
        <p:spPr>
          <a:xfrm>
            <a:off x="4648200" y="1676400"/>
            <a:ext cx="3810000" cy="4267200"/>
          </a:xfrm>
        </p:spPr>
        <p:txBody>
          <a:bodyPr/>
          <a:lstStyle/>
          <a:p>
            <a:pPr lvl="0"/>
            <a:endParaRPr lang="en-US" noProof="0" dirty="0">
              <a:latin typeface="Arial"/>
              <a:ea typeface="MS PGothic"/>
            </a:endParaRP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5611519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bwMode="auto">
          <a:xfrm>
            <a:off x="0" y="6315075"/>
            <a:ext cx="9144000" cy="542925"/>
          </a:xfrm>
          <a:prstGeom prst="rect">
            <a:avLst/>
          </a:prstGeom>
          <a:gradFill flip="none" rotWithShape="1">
            <a:gsLst>
              <a:gs pos="0">
                <a:schemeClr val="bg1"/>
              </a:gs>
              <a:gs pos="11664">
                <a:srgbClr val="FFFFFF"/>
              </a:gs>
              <a:gs pos="100000">
                <a:srgbClr val="3B4C97">
                  <a:shade val="100000"/>
                  <a:satMod val="115000"/>
                </a:srgbClr>
              </a:gs>
            </a:gsLst>
            <a:lin ang="0" scaled="0"/>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MS PGothic" pitchFamily="1" charset="-128"/>
            </a:endParaRPr>
          </a:p>
        </p:txBody>
      </p:sp>
      <p:sp>
        <p:nvSpPr>
          <p:cNvPr id="1027" name="Rectangle 2"/>
          <p:cNvSpPr>
            <a:spLocks noGrp="1" noChangeArrowheads="1"/>
          </p:cNvSpPr>
          <p:nvPr>
            <p:ph type="title"/>
          </p:nvPr>
        </p:nvSpPr>
        <p:spPr bwMode="auto">
          <a:xfrm>
            <a:off x="457200" y="228600"/>
            <a:ext cx="8229600" cy="822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latin typeface="Arial"/>
                <a:ea typeface="MS PGothic"/>
              </a:rPr>
              <a:t>Click to edit Master title style</a:t>
            </a:r>
          </a:p>
        </p:txBody>
      </p:sp>
      <p:sp>
        <p:nvSpPr>
          <p:cNvPr id="1028" name="Rectangle 3"/>
          <p:cNvSpPr>
            <a:spLocks noGrp="1" noChangeArrowheads="1"/>
          </p:cNvSpPr>
          <p:nvPr>
            <p:ph type="body" idx="1"/>
          </p:nvPr>
        </p:nvSpPr>
        <p:spPr bwMode="auto">
          <a:xfrm>
            <a:off x="457200" y="1185400"/>
            <a:ext cx="8229600" cy="493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12" name="TextBox 11"/>
          <p:cNvSpPr txBox="1"/>
          <p:nvPr userDrawn="1"/>
        </p:nvSpPr>
        <p:spPr>
          <a:xfrm>
            <a:off x="1133475" y="6372438"/>
            <a:ext cx="1547537" cy="415498"/>
          </a:xfrm>
          <a:prstGeom prst="rect">
            <a:avLst/>
          </a:prstGeom>
          <a:noFill/>
        </p:spPr>
        <p:txBody>
          <a:bodyPr wrap="square" rtlCol="0">
            <a:spAutoFit/>
          </a:bodyPr>
          <a:lstStyle/>
          <a:p>
            <a:r>
              <a:rPr lang="en-US" sz="1050" dirty="0">
                <a:solidFill>
                  <a:schemeClr val="tx1"/>
                </a:solidFill>
                <a:latin typeface="Arial"/>
                <a:ea typeface="MS PGothic"/>
              </a:rPr>
              <a:t>Vehicle</a:t>
            </a:r>
            <a:r>
              <a:rPr lang="en-US" sz="1050" baseline="0" dirty="0">
                <a:solidFill>
                  <a:schemeClr val="tx1"/>
                </a:solidFill>
                <a:latin typeface="Arial"/>
                <a:ea typeface="MS PGothic"/>
              </a:rPr>
              <a:t> Dynamics and Energy Control Lab.</a:t>
            </a:r>
            <a:endParaRPr lang="en-US" sz="1050" dirty="0">
              <a:solidFill>
                <a:schemeClr val="tx1"/>
              </a:solidFill>
              <a:latin typeface="Arial"/>
              <a:ea typeface="MS PGothic"/>
            </a:endParaRPr>
          </a:p>
        </p:txBody>
      </p:sp>
      <p:pic>
        <p:nvPicPr>
          <p:cNvPr id="4" name="Picture 3"/>
          <p:cNvPicPr>
            <a:picLocks noChangeAspect="1" noChangeArrowheads="1"/>
          </p:cNvPicPr>
          <p:nvPr userDrawn="1"/>
        </p:nvPicPr>
        <p:blipFill>
          <a:blip r:embed="rId14" cstate="print">
            <a:clrChange>
              <a:clrFrom>
                <a:srgbClr val="070404"/>
              </a:clrFrom>
              <a:clrTo>
                <a:srgbClr val="070404">
                  <a:alpha val="0"/>
                </a:srgbClr>
              </a:clrTo>
            </a:clrChange>
            <a:extLst>
              <a:ext uri="{28A0092B-C50C-407E-A947-70E740481C1C}">
                <a14:useLocalDpi xmlns:a14="http://schemas.microsoft.com/office/drawing/2010/main" val="0"/>
              </a:ext>
            </a:extLst>
          </a:blip>
          <a:srcRect/>
          <a:stretch>
            <a:fillRect/>
          </a:stretch>
        </p:blipFill>
        <p:spPr bwMode="auto">
          <a:xfrm>
            <a:off x="7710488" y="6397184"/>
            <a:ext cx="1243012" cy="390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userDrawn="1"/>
        </p:nvPicPr>
        <p:blipFill rotWithShape="1">
          <a:blip r:embed="rId15" cstate="print">
            <a:extLst>
              <a:ext uri="{28A0092B-C50C-407E-A947-70E740481C1C}">
                <a14:useLocalDpi xmlns:a14="http://schemas.microsoft.com/office/drawing/2010/main" val="0"/>
              </a:ext>
            </a:extLst>
          </a:blip>
          <a:srcRect b="16120"/>
          <a:stretch/>
        </p:blipFill>
        <p:spPr bwMode="auto">
          <a:xfrm>
            <a:off x="114300" y="6372225"/>
            <a:ext cx="1047750" cy="35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200" b="1">
          <a:solidFill>
            <a:srgbClr val="000F65"/>
          </a:solidFill>
          <a:latin typeface="Arial"/>
          <a:ea typeface="MS PGothic"/>
          <a:cs typeface="+mj-cs"/>
        </a:defRPr>
      </a:lvl1pPr>
      <a:lvl2pPr algn="l" rtl="0" eaLnBrk="0" fontAlgn="base" hangingPunct="0">
        <a:spcBef>
          <a:spcPct val="0"/>
        </a:spcBef>
        <a:spcAft>
          <a:spcPct val="0"/>
        </a:spcAft>
        <a:defRPr sz="4200" b="1">
          <a:solidFill>
            <a:srgbClr val="000F65"/>
          </a:solidFill>
          <a:latin typeface="Arial" charset="0"/>
          <a:ea typeface="MS PGothic" pitchFamily="1" charset="-128"/>
        </a:defRPr>
      </a:lvl2pPr>
      <a:lvl3pPr algn="l" rtl="0" eaLnBrk="0" fontAlgn="base" hangingPunct="0">
        <a:spcBef>
          <a:spcPct val="0"/>
        </a:spcBef>
        <a:spcAft>
          <a:spcPct val="0"/>
        </a:spcAft>
        <a:defRPr sz="4200" b="1">
          <a:solidFill>
            <a:srgbClr val="000F65"/>
          </a:solidFill>
          <a:latin typeface="Arial" charset="0"/>
          <a:ea typeface="MS PGothic" pitchFamily="1" charset="-128"/>
        </a:defRPr>
      </a:lvl3pPr>
      <a:lvl4pPr algn="l" rtl="0" eaLnBrk="0" fontAlgn="base" hangingPunct="0">
        <a:spcBef>
          <a:spcPct val="0"/>
        </a:spcBef>
        <a:spcAft>
          <a:spcPct val="0"/>
        </a:spcAft>
        <a:defRPr sz="4200" b="1">
          <a:solidFill>
            <a:srgbClr val="000F65"/>
          </a:solidFill>
          <a:latin typeface="Arial" charset="0"/>
          <a:ea typeface="MS PGothic" pitchFamily="1" charset="-128"/>
        </a:defRPr>
      </a:lvl4pPr>
      <a:lvl5pPr algn="l" rtl="0" eaLnBrk="0" fontAlgn="base" hangingPunct="0">
        <a:spcBef>
          <a:spcPct val="0"/>
        </a:spcBef>
        <a:spcAft>
          <a:spcPct val="0"/>
        </a:spcAft>
        <a:defRPr sz="4200" b="1">
          <a:solidFill>
            <a:srgbClr val="000F65"/>
          </a:solidFill>
          <a:latin typeface="Arial" charset="0"/>
          <a:ea typeface="MS PGothic" pitchFamily="1" charset="-128"/>
        </a:defRPr>
      </a:lvl5pPr>
      <a:lvl6pPr marL="457200" algn="l" rtl="0" fontAlgn="base">
        <a:spcBef>
          <a:spcPct val="0"/>
        </a:spcBef>
        <a:spcAft>
          <a:spcPct val="0"/>
        </a:spcAft>
        <a:defRPr sz="4200" b="1">
          <a:solidFill>
            <a:srgbClr val="000F65"/>
          </a:solidFill>
          <a:latin typeface="Arial" charset="0"/>
          <a:ea typeface="MS PGothic" pitchFamily="1" charset="-128"/>
        </a:defRPr>
      </a:lvl6pPr>
      <a:lvl7pPr marL="914400" algn="l" rtl="0" fontAlgn="base">
        <a:spcBef>
          <a:spcPct val="0"/>
        </a:spcBef>
        <a:spcAft>
          <a:spcPct val="0"/>
        </a:spcAft>
        <a:defRPr sz="4200" b="1">
          <a:solidFill>
            <a:srgbClr val="000F65"/>
          </a:solidFill>
          <a:latin typeface="Arial" charset="0"/>
          <a:ea typeface="MS PGothic" pitchFamily="1" charset="-128"/>
        </a:defRPr>
      </a:lvl7pPr>
      <a:lvl8pPr marL="1371600" algn="l" rtl="0" fontAlgn="base">
        <a:spcBef>
          <a:spcPct val="0"/>
        </a:spcBef>
        <a:spcAft>
          <a:spcPct val="0"/>
        </a:spcAft>
        <a:defRPr sz="4200" b="1">
          <a:solidFill>
            <a:srgbClr val="000F65"/>
          </a:solidFill>
          <a:latin typeface="Arial" charset="0"/>
          <a:ea typeface="MS PGothic" pitchFamily="1" charset="-128"/>
        </a:defRPr>
      </a:lvl8pPr>
      <a:lvl9pPr marL="1828800" algn="l" rtl="0" fontAlgn="base">
        <a:spcBef>
          <a:spcPct val="0"/>
        </a:spcBef>
        <a:spcAft>
          <a:spcPct val="0"/>
        </a:spcAft>
        <a:defRPr sz="4200" b="1">
          <a:solidFill>
            <a:srgbClr val="000F65"/>
          </a:solidFill>
          <a:latin typeface="Arial" charset="0"/>
          <a:ea typeface="MS PGothic" pitchFamily="1" charset="-128"/>
        </a:defRPr>
      </a:lvl9pPr>
    </p:titleStyle>
    <p:bodyStyle>
      <a:lvl1pPr marL="342900" indent="-342900" algn="l" rtl="0" eaLnBrk="0" fontAlgn="base" hangingPunct="0">
        <a:spcBef>
          <a:spcPct val="20000"/>
        </a:spcBef>
        <a:spcAft>
          <a:spcPct val="0"/>
        </a:spcAft>
        <a:buFont typeface="Wingdings" pitchFamily="2" charset="2"/>
        <a:defRPr sz="2800">
          <a:solidFill>
            <a:srgbClr val="000F65"/>
          </a:solidFill>
          <a:latin typeface="Arial"/>
          <a:ea typeface="MS PGothic"/>
          <a:cs typeface="+mn-cs"/>
        </a:defRPr>
      </a:lvl1pPr>
      <a:lvl2pPr marL="742950" indent="-285750" algn="l" rtl="0" eaLnBrk="0" fontAlgn="base" hangingPunct="0">
        <a:spcBef>
          <a:spcPct val="20000"/>
        </a:spcBef>
        <a:spcAft>
          <a:spcPct val="0"/>
        </a:spcAft>
        <a:buFont typeface="Wingdings" pitchFamily="2" charset="2"/>
        <a:buChar char="§"/>
        <a:defRPr sz="2800">
          <a:solidFill>
            <a:srgbClr val="000F65"/>
          </a:solidFill>
          <a:latin typeface="Arial"/>
          <a:ea typeface="MS PGothic"/>
        </a:defRPr>
      </a:lvl2pPr>
      <a:lvl3pPr marL="1143000" indent="-228600" algn="l" rtl="0" eaLnBrk="0" fontAlgn="base" hangingPunct="0">
        <a:spcBef>
          <a:spcPct val="20000"/>
        </a:spcBef>
        <a:spcAft>
          <a:spcPct val="0"/>
        </a:spcAft>
        <a:buFont typeface="Wingdings" pitchFamily="2" charset="2"/>
        <a:buChar char="§"/>
        <a:defRPr sz="2400">
          <a:solidFill>
            <a:srgbClr val="000F65"/>
          </a:solidFill>
          <a:latin typeface="Arial"/>
          <a:ea typeface="MS PGothic"/>
        </a:defRPr>
      </a:lvl3pPr>
      <a:lvl4pPr marL="1600200" indent="-228600" algn="l" rtl="0" eaLnBrk="0" fontAlgn="base" hangingPunct="0">
        <a:spcBef>
          <a:spcPct val="20000"/>
        </a:spcBef>
        <a:spcAft>
          <a:spcPct val="0"/>
        </a:spcAft>
        <a:buFont typeface="Wingdings" pitchFamily="2" charset="2"/>
        <a:buChar char="§"/>
        <a:defRPr sz="2000">
          <a:solidFill>
            <a:srgbClr val="000F65"/>
          </a:solidFill>
          <a:latin typeface="Arial"/>
          <a:ea typeface="MS PGothic"/>
        </a:defRPr>
      </a:lvl4pPr>
      <a:lvl5pPr marL="2057400" indent="-228600" algn="l" rtl="0" eaLnBrk="0" fontAlgn="base" hangingPunct="0">
        <a:spcBef>
          <a:spcPct val="20000"/>
        </a:spcBef>
        <a:spcAft>
          <a:spcPct val="0"/>
        </a:spcAft>
        <a:buFont typeface="Wingdings" pitchFamily="2" charset="2"/>
        <a:defRPr sz="1400">
          <a:solidFill>
            <a:srgbClr val="000F65"/>
          </a:solidFill>
          <a:latin typeface="Arial"/>
          <a:ea typeface="MS PGothic"/>
        </a:defRPr>
      </a:lvl5pPr>
      <a:lvl6pPr marL="2514600" indent="-228600" algn="l" rtl="0" fontAlgn="base">
        <a:spcBef>
          <a:spcPct val="20000"/>
        </a:spcBef>
        <a:spcAft>
          <a:spcPct val="0"/>
        </a:spcAft>
        <a:buFont typeface="Wingdings" pitchFamily="1" charset="2"/>
        <a:defRPr sz="1400">
          <a:solidFill>
            <a:srgbClr val="000F65"/>
          </a:solidFill>
          <a:latin typeface="Arial"/>
          <a:ea typeface="MS PGothic"/>
        </a:defRPr>
      </a:lvl6pPr>
      <a:lvl7pPr marL="2971800" indent="-228600" algn="l" rtl="0" fontAlgn="base">
        <a:spcBef>
          <a:spcPct val="20000"/>
        </a:spcBef>
        <a:spcAft>
          <a:spcPct val="0"/>
        </a:spcAft>
        <a:buFont typeface="Wingdings" pitchFamily="1" charset="2"/>
        <a:defRPr sz="1400">
          <a:solidFill>
            <a:srgbClr val="000F65"/>
          </a:solidFill>
          <a:latin typeface="Arial"/>
          <a:ea typeface="MS PGothic"/>
        </a:defRPr>
      </a:lvl7pPr>
      <a:lvl8pPr marL="3429000" indent="-228600" algn="l" rtl="0" fontAlgn="base">
        <a:spcBef>
          <a:spcPct val="20000"/>
        </a:spcBef>
        <a:spcAft>
          <a:spcPct val="0"/>
        </a:spcAft>
        <a:buFont typeface="Wingdings" pitchFamily="1" charset="2"/>
        <a:defRPr sz="1400">
          <a:solidFill>
            <a:srgbClr val="000F65"/>
          </a:solidFill>
          <a:latin typeface="Arial"/>
          <a:ea typeface="MS PGothic"/>
        </a:defRPr>
      </a:lvl8pPr>
      <a:lvl9pPr marL="3886200" indent="-228600" algn="l" rtl="0" fontAlgn="base">
        <a:spcBef>
          <a:spcPct val="20000"/>
        </a:spcBef>
        <a:spcAft>
          <a:spcPct val="0"/>
        </a:spcAft>
        <a:buFont typeface="Wingdings" pitchFamily="1" charset="2"/>
        <a:defRPr sz="1400">
          <a:solidFill>
            <a:srgbClr val="000F65"/>
          </a:solidFill>
          <a:latin typeface="Arial"/>
          <a:ea typeface="MS PGothic"/>
        </a:defRPr>
      </a:lvl9pPr>
    </p:bodyStyle>
    <p:otherStyle>
      <a:defPPr>
        <a:defRPr lang="en-US">
          <a:latin typeface="Arial"/>
          <a:ea typeface="MS PGothic"/>
        </a:defRPr>
      </a:defPPr>
      <a:lvl1pPr marL="0" algn="l" defTabSz="914400" rtl="0" eaLnBrk="1" latinLnBrk="0" hangingPunct="1">
        <a:defRPr sz="1800" kern="1200">
          <a:solidFill>
            <a:schemeClr val="tx1"/>
          </a:solidFill>
          <a:latin typeface="Arial"/>
          <a:ea typeface="MS PGothic"/>
          <a:cs typeface="+mn-cs"/>
        </a:defRPr>
      </a:lvl1pPr>
      <a:lvl2pPr marL="457200" algn="l" defTabSz="914400" rtl="0" eaLnBrk="1" latinLnBrk="0" hangingPunct="1">
        <a:defRPr sz="1800" kern="1200">
          <a:solidFill>
            <a:schemeClr val="tx1"/>
          </a:solidFill>
          <a:latin typeface="Arial"/>
          <a:ea typeface="MS PGothic"/>
          <a:cs typeface="+mn-cs"/>
        </a:defRPr>
      </a:lvl2pPr>
      <a:lvl3pPr marL="914400" algn="l" defTabSz="914400" rtl="0" eaLnBrk="1" latinLnBrk="0" hangingPunct="1">
        <a:defRPr sz="1800" kern="1200">
          <a:solidFill>
            <a:schemeClr val="tx1"/>
          </a:solidFill>
          <a:latin typeface="Arial"/>
          <a:ea typeface="MS PGothic"/>
          <a:cs typeface="+mn-cs"/>
        </a:defRPr>
      </a:lvl3pPr>
      <a:lvl4pPr marL="1371600" algn="l" defTabSz="914400" rtl="0" eaLnBrk="1" latinLnBrk="0" hangingPunct="1">
        <a:defRPr sz="1800" kern="1200">
          <a:solidFill>
            <a:schemeClr val="tx1"/>
          </a:solidFill>
          <a:latin typeface="Arial"/>
          <a:ea typeface="MS PGothic"/>
          <a:cs typeface="+mn-cs"/>
        </a:defRPr>
      </a:lvl4pPr>
      <a:lvl5pPr marL="1828800" algn="l" defTabSz="914400" rtl="0" eaLnBrk="1" latinLnBrk="0" hangingPunct="1">
        <a:defRPr sz="1800" kern="1200">
          <a:solidFill>
            <a:schemeClr val="tx1"/>
          </a:solidFill>
          <a:latin typeface="Arial"/>
          <a:ea typeface="MS PGothic"/>
          <a:cs typeface="+mn-cs"/>
        </a:defRPr>
      </a:lvl5pPr>
      <a:lvl6pPr marL="2286000" algn="l" defTabSz="914400" rtl="0" eaLnBrk="1" latinLnBrk="0" hangingPunct="1">
        <a:defRPr sz="1800" kern="1200">
          <a:solidFill>
            <a:schemeClr val="tx1"/>
          </a:solidFill>
          <a:latin typeface="Arial"/>
          <a:ea typeface="MS PGothic"/>
          <a:cs typeface="+mn-cs"/>
        </a:defRPr>
      </a:lvl6pPr>
      <a:lvl7pPr marL="2743200" algn="l" defTabSz="914400" rtl="0" eaLnBrk="1" latinLnBrk="0" hangingPunct="1">
        <a:defRPr sz="1800" kern="1200">
          <a:solidFill>
            <a:schemeClr val="tx1"/>
          </a:solidFill>
          <a:latin typeface="Arial"/>
          <a:ea typeface="MS PGothic"/>
          <a:cs typeface="+mn-cs"/>
        </a:defRPr>
      </a:lvl7pPr>
      <a:lvl8pPr marL="3200400" algn="l" defTabSz="914400" rtl="0" eaLnBrk="1" latinLnBrk="0" hangingPunct="1">
        <a:defRPr sz="1800" kern="1200">
          <a:solidFill>
            <a:schemeClr val="tx1"/>
          </a:solidFill>
          <a:latin typeface="Arial"/>
          <a:ea typeface="MS PGothic"/>
          <a:cs typeface="+mn-cs"/>
        </a:defRPr>
      </a:lvl8pPr>
      <a:lvl9pPr marL="3657600" algn="l" defTabSz="914400" rtl="0" eaLnBrk="1" latinLnBrk="0" hangingPunct="1">
        <a:defRPr sz="1800" kern="1200">
          <a:solidFill>
            <a:schemeClr val="tx1"/>
          </a:solidFill>
          <a:latin typeface="Arial"/>
          <a:ea typeface="MS PGothic"/>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ctrTitle"/>
          </p:nvPr>
        </p:nvSpPr>
        <p:spPr>
          <a:xfrm>
            <a:off x="990600" y="1295400"/>
            <a:ext cx="7160220" cy="1727200"/>
          </a:xfrm>
        </p:spPr>
        <p:txBody>
          <a:bodyPr>
            <a:normAutofit/>
          </a:bodyPr>
          <a:lstStyle/>
          <a:p>
            <a:pPr eaLnBrk="1" hangingPunct="1">
              <a:defRPr>
                <a:latin typeface="Arial"/>
                <a:ea typeface="MS PGothic"/>
              </a:defRPr>
            </a:pPr>
            <a:r>
              <a:rPr lang="en-US" altLang="zh-TW" sz="3600" dirty="0">
                <a:effectLst>
                  <a:outerShdw blurRad="38100" dist="38100" dir="2700000" algn="tl">
                    <a:srgbClr val="000000">
                      <a:alpha val="43137"/>
                    </a:srgbClr>
                  </a:outerShdw>
                </a:effectLst>
                <a:latin typeface="Arial"/>
                <a:ea typeface="MS PGothic" pitchFamily="18" charset="-120"/>
              </a:rPr>
              <a:t>GPS 사용 불가 환경에서</a:t>
            </a:r>
            <a:br/>
            <a:r>
              <a:rPr lang="en-US" altLang="zh-TW" sz="3600" dirty="0">
                <a:effectLst>
                  <a:outerShdw blurRad="38100" dist="38100" dir="2700000" algn="tl">
                    <a:srgbClr val="000000">
                      <a:alpha val="43137"/>
                    </a:srgbClr>
                  </a:outerShdw>
                </a:effectLst>
                <a:latin typeface="Arial"/>
                <a:ea typeface="MS PGothic" pitchFamily="18" charset="-120"/>
              </a:rPr>
              <a:t>비전 보조 항법을 위한</a:t>
            </a:r>
            <a:br/>
            <a:r>
              <a:rPr lang="en-US" altLang="zh-TW" sz="3600" dirty="0">
                <a:effectLst>
                  <a:outerShdw blurRad="38100" dist="38100" dir="2700000" algn="tl">
                    <a:srgbClr val="000000">
                      <a:alpha val="43137"/>
                    </a:srgbClr>
                  </a:outerShdw>
                </a:effectLst>
                <a:latin typeface="Arial"/>
                <a:ea typeface="MS PGothic" pitchFamily="18" charset="-120"/>
              </a:rPr>
              <a:t>다중센서 융합</a:t>
            </a:r>
          </a:p>
        </p:txBody>
      </p:sp>
      <p:sp>
        <p:nvSpPr>
          <p:cNvPr id="5" name="Rectangle 4"/>
          <p:cNvSpPr>
            <a:spLocks noChangeArrowheads="1"/>
          </p:cNvSpPr>
          <p:nvPr/>
        </p:nvSpPr>
        <p:spPr bwMode="auto">
          <a:xfrm>
            <a:off x="1352552" y="4419600"/>
            <a:ext cx="6343648" cy="160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43546" tIns="45048" rIns="43546" bIns="45048"/>
          <a:lstStyle/>
          <a:p>
            <a:pPr algn="ctr" defTabSz="1220788" eaLnBrk="0" hangingPunct="0">
              <a:spcBef>
                <a:spcPts val="0"/>
              </a:spcBef>
              <a:buSzPct val="80000"/>
              <a:buFont typeface="Wingdings 2" pitchFamily="18" charset="2"/>
              <a:buNone/>
            </a:pPr>
            <a:r>
              <a:rPr lang="en-US" altLang="ko-KR" sz="2000" dirty="0">
                <a:latin typeface="Arial"/>
                <a:ea typeface="MS PGothic"/>
              </a:rPr>
              <a:t>학생자율연구II 연구계획 발표</a:t>
            </a:r>
          </a:p>
          <a:p>
            <a:pPr algn="ctr" defTabSz="1220788" eaLnBrk="0" hangingPunct="0">
              <a:spcBef>
                <a:spcPts val="0"/>
              </a:spcBef>
              <a:buSzPct val="80000"/>
              <a:buFont typeface="Wingdings 2" pitchFamily="18" charset="2"/>
              <a:buNone/>
            </a:pPr>
            <a:r>
              <a:rPr lang="en-US" altLang="ko-KR" sz="2000" dirty="0">
                <a:latin typeface="Arial"/>
                <a:ea typeface="MS PGothic"/>
              </a:rPr>
              <a:t>박찬혁 (202121212)</a:t>
            </a:r>
          </a:p>
          <a:p>
            <a:pPr algn="ctr" defTabSz="1220788" eaLnBrk="0" hangingPunct="0">
              <a:spcBef>
                <a:spcPts val="0"/>
              </a:spcBef>
              <a:buSzPct val="80000"/>
              <a:buFont typeface="Wingdings 2" pitchFamily="18" charset="2"/>
              <a:buNone/>
            </a:pPr>
            <a:r>
              <a:rPr lang="en-US" altLang="ko-KR" sz="2000" dirty="0">
                <a:latin typeface="Arial"/>
                <a:ea typeface="MS PGothic"/>
              </a:rPr>
              <a:t>지도교수 안창선 교수님</a:t>
            </a:r>
          </a:p>
        </p:txBody>
      </p:sp>
      <p:sp>
        <p:nvSpPr>
          <p:cNvPr id="1027" name="부제"/>
          <p:cNvSpPr txBox="1"/>
          <p:nvPr/>
        </p:nvSpPr>
        <p:spPr>
          <a:xfrm>
            <a:off x="822960" y="3090672"/>
            <a:ext cx="7498079" cy="457200"/>
          </a:xfrm>
          <a:prstGeom prst="rect">
            <a:avLst/>
          </a:prstGeom>
          <a:noFill/>
        </p:spPr>
        <p:txBody>
          <a:bodyPr wrap="square" anchor="t" lIns="45720" rIns="45720">
            <a:spAutoFit/>
          </a:bodyPr>
          <a:lstStyle/>
          <a:p>
            <a:pPr algn="ctr"/>
            <a:r>
              <a:rPr sz="1800" b="0">
                <a:solidFill>
                  <a:srgbClr val="000066"/>
                </a:solidFill>
                <a:latin typeface="Arial"/>
                <a:ea typeface="맑은 고딕"/>
              </a:rPr>
              <a:t>— 측정 주기와 지연을 고려한 카메라·IMU·거리센서 융합 추정기</a:t>
            </a:r>
          </a:p>
        </p:txBody>
      </p:sp>
    </p:spTree>
    <p:extLst>
      <p:ext uri="{BB962C8B-B14F-4D97-AF65-F5344CB8AC3E}">
        <p14:creationId xmlns:p14="http://schemas.microsoft.com/office/powerpoint/2010/main" val="11195965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 배경</a:t>
            </a:r>
          </a:p>
        </p:txBody>
      </p:sp>
      <p:sp>
        <p:nvSpPr>
          <p:cNvPr id="3" name="기본 구조"/>
          <p:cNvSpPr/>
          <p:nvPr/>
        </p:nvSpPr>
        <p:spPr>
          <a:xfrm>
            <a:off x="457200" y="1024128"/>
            <a:ext cx="8229600" cy="4572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900" b="0">
                <a:solidFill>
                  <a:srgbClr val="333333"/>
                </a:solidFill>
                <a:latin typeface="Arial"/>
                <a:ea typeface="맑은 고딕"/>
              </a:rPr>
              <a:t>항법의 기본 구조   </a:t>
            </a:r>
            <a:r>
              <a:rPr sz="1900" b="1">
                <a:solidFill>
                  <a:srgbClr val="000066"/>
                </a:solidFill>
                <a:latin typeface="Arial"/>
                <a:ea typeface="맑은 고딕"/>
              </a:rPr>
              <a:t>IMU로 예측  →  외부 센서로 보정</a:t>
            </a:r>
          </a:p>
        </p:txBody>
      </p:sp>
      <p:sp>
        <p:nvSpPr>
          <p:cNvPr id="4" name="플랫폼 차량"/>
          <p:cNvSpPr/>
          <p:nvPr/>
        </p:nvSpPr>
        <p:spPr>
          <a:xfrm>
            <a:off x="457200" y="1691640"/>
            <a:ext cx="2468880" cy="411480"/>
          </a:xfrm>
          <a:prstGeom prst="rect">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Arial"/>
                <a:ea typeface="맑은 고딕"/>
              </a:rPr>
              <a:t>차량</a:t>
            </a:r>
          </a:p>
        </p:txBody>
      </p:sp>
      <p:sp>
        <p:nvSpPr>
          <p:cNvPr id="5" name="플랫폼 차량 설명"/>
          <p:cNvSpPr/>
          <p:nvPr/>
        </p:nvSpPr>
        <p:spPr>
          <a:xfrm>
            <a:off x="457200" y="2103120"/>
            <a:ext cx="2468880" cy="1051560"/>
          </a:xfrm>
          <a:prstGeom prst="rect">
            <a:avLst/>
          </a:prstGeom>
          <a:noFill/>
          <a:ln w="15875">
            <a:solidFill>
              <a:srgbClr val="0000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0">
                <a:solidFill>
                  <a:srgbClr val="333333"/>
                </a:solidFill>
                <a:latin typeface="Arial"/>
                <a:ea typeface="맑은 고딕"/>
              </a:rPr>
              <a:t>터널에서 GPS가 끊겨도</a:t>
            </a:r>
          </a:p>
          <a:p>
            <a:pPr algn="ctr"/>
            <a:r>
              <a:rPr sz="1500" b="0">
                <a:solidFill>
                  <a:srgbClr val="333333"/>
                </a:solidFill>
                <a:latin typeface="Arial"/>
                <a:ea typeface="맑은 고딕"/>
              </a:rPr>
              <a:t>관성·영상 정보로</a:t>
            </a:r>
          </a:p>
          <a:p>
            <a:pPr algn="ctr"/>
            <a:r>
              <a:rPr sz="1500" b="0">
                <a:solidFill>
                  <a:srgbClr val="333333"/>
                </a:solidFill>
                <a:latin typeface="Arial"/>
                <a:ea typeface="맑은 고딕"/>
              </a:rPr>
              <a:t>위치를 이어서 추정</a:t>
            </a:r>
          </a:p>
        </p:txBody>
      </p:sp>
      <p:sp>
        <p:nvSpPr>
          <p:cNvPr id="6" name="Right Arrow 5"/>
          <p:cNvSpPr/>
          <p:nvPr/>
        </p:nvSpPr>
        <p:spPr>
          <a:xfrm>
            <a:off x="2999232" y="2377440"/>
            <a:ext cx="265176" cy="36576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플랫폼 드론"/>
          <p:cNvSpPr/>
          <p:nvPr/>
        </p:nvSpPr>
        <p:spPr>
          <a:xfrm>
            <a:off x="3337560" y="1691640"/>
            <a:ext cx="2468880" cy="411480"/>
          </a:xfrm>
          <a:prstGeom prst="rect">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Arial"/>
                <a:ea typeface="맑은 고딕"/>
              </a:rPr>
              <a:t>드론</a:t>
            </a:r>
          </a:p>
        </p:txBody>
      </p:sp>
      <p:sp>
        <p:nvSpPr>
          <p:cNvPr id="8" name="플랫폼 드론 설명"/>
          <p:cNvSpPr/>
          <p:nvPr/>
        </p:nvSpPr>
        <p:spPr>
          <a:xfrm>
            <a:off x="3337560" y="2103120"/>
            <a:ext cx="2468880" cy="1051560"/>
          </a:xfrm>
          <a:prstGeom prst="rect">
            <a:avLst/>
          </a:prstGeom>
          <a:noFill/>
          <a:ln w="15875">
            <a:solidFill>
              <a:srgbClr val="0000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0">
                <a:solidFill>
                  <a:srgbClr val="333333"/>
                </a:solidFill>
                <a:latin typeface="Arial"/>
                <a:ea typeface="맑은 고딕"/>
              </a:rPr>
              <a:t>GPS 없는 실내 비행</a:t>
            </a:r>
          </a:p>
          <a:p>
            <a:pPr algn="ctr"/>
            <a:r>
              <a:rPr sz="1500" b="0">
                <a:solidFill>
                  <a:srgbClr val="333333"/>
                </a:solidFill>
                <a:latin typeface="Arial"/>
                <a:ea typeface="맑은 고딕"/>
              </a:rPr>
              <a:t>하향 카메라 · IMU ·</a:t>
            </a:r>
          </a:p>
          <a:p>
            <a:pPr algn="ctr"/>
            <a:r>
              <a:rPr sz="1500" b="0">
                <a:solidFill>
                  <a:srgbClr val="333333"/>
                </a:solidFill>
                <a:latin typeface="Arial"/>
                <a:ea typeface="맑은 고딕"/>
              </a:rPr>
              <a:t>거리센서로 위치 유지</a:t>
            </a:r>
          </a:p>
        </p:txBody>
      </p:sp>
      <p:sp>
        <p:nvSpPr>
          <p:cNvPr id="9" name="Right Arrow 8"/>
          <p:cNvSpPr/>
          <p:nvPr/>
        </p:nvSpPr>
        <p:spPr>
          <a:xfrm>
            <a:off x="5879592" y="2377440"/>
            <a:ext cx="265176" cy="36576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플랫폼 항공기"/>
          <p:cNvSpPr/>
          <p:nvPr/>
        </p:nvSpPr>
        <p:spPr>
          <a:xfrm>
            <a:off x="6217920" y="1691640"/>
            <a:ext cx="2468880" cy="411480"/>
          </a:xfrm>
          <a:prstGeom prst="rect">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Arial"/>
                <a:ea typeface="맑은 고딕"/>
              </a:rPr>
              <a:t>항공기</a:t>
            </a:r>
          </a:p>
        </p:txBody>
      </p:sp>
      <p:sp>
        <p:nvSpPr>
          <p:cNvPr id="11" name="플랫폼 항공기 설명"/>
          <p:cNvSpPr/>
          <p:nvPr/>
        </p:nvSpPr>
        <p:spPr>
          <a:xfrm>
            <a:off x="6217920" y="2103120"/>
            <a:ext cx="2468880" cy="1051560"/>
          </a:xfrm>
          <a:prstGeom prst="rect">
            <a:avLst/>
          </a:prstGeom>
          <a:noFill/>
          <a:ln w="15875">
            <a:solidFill>
              <a:srgbClr val="0000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0">
                <a:solidFill>
                  <a:srgbClr val="333333"/>
                </a:solidFill>
                <a:latin typeface="Arial"/>
                <a:ea typeface="맑은 고딕"/>
              </a:rPr>
              <a:t>화성 헬리콥터 Ingenuity</a:t>
            </a:r>
          </a:p>
          <a:p>
            <a:pPr algn="ctr"/>
            <a:r>
              <a:rPr sz="1500" b="0">
                <a:solidFill>
                  <a:srgbClr val="333333"/>
                </a:solidFill>
                <a:latin typeface="Arial"/>
                <a:ea typeface="맑은 고딕"/>
              </a:rPr>
              <a:t>하향 카메라 · IMU ·</a:t>
            </a:r>
          </a:p>
          <a:p>
            <a:pPr algn="ctr"/>
            <a:r>
              <a:rPr sz="1500" b="0">
                <a:solidFill>
                  <a:srgbClr val="333333"/>
                </a:solidFill>
                <a:latin typeface="Arial"/>
                <a:ea typeface="맑은 고딕"/>
              </a:rPr>
              <a:t>레이저 거리계로 항법</a:t>
            </a:r>
          </a:p>
        </p:txBody>
      </p:sp>
      <p:sp>
        <p:nvSpPr>
          <p:cNvPr id="12" name="흐름 제목"/>
          <p:cNvSpPr txBox="1"/>
          <p:nvPr/>
        </p:nvSpPr>
        <p:spPr>
          <a:xfrm>
            <a:off x="457200" y="3291840"/>
            <a:ext cx="8229600" cy="320040"/>
          </a:xfrm>
          <a:prstGeom prst="rect">
            <a:avLst/>
          </a:prstGeom>
          <a:noFill/>
        </p:spPr>
        <p:txBody>
          <a:bodyPr wrap="square" anchor="t" lIns="45720" rIns="45720">
            <a:spAutoFit/>
          </a:bodyPr>
          <a:lstStyle/>
          <a:p>
            <a:pPr algn="l"/>
            <a:r>
              <a:rPr sz="1500" b="1">
                <a:solidFill>
                  <a:srgbClr val="000066"/>
                </a:solidFill>
                <a:latin typeface="Arial"/>
                <a:ea typeface="맑은 고딕"/>
              </a:rPr>
              <a:t>카메라 정보의 처리 흐름</a:t>
            </a:r>
          </a:p>
        </p:txBody>
      </p:sp>
      <p:sp>
        <p:nvSpPr>
          <p:cNvPr id="13" name="흐름 카메라 영상"/>
          <p:cNvSpPr/>
          <p:nvPr/>
        </p:nvSpPr>
        <p:spPr>
          <a:xfrm>
            <a:off x="457200" y="3657600"/>
            <a:ext cx="1417320" cy="7772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000066"/>
                </a:solidFill>
                <a:latin typeface="Arial"/>
                <a:ea typeface="맑은 고딕"/>
              </a:rPr>
              <a:t>카메라 영상</a:t>
            </a:r>
          </a:p>
        </p:txBody>
      </p:sp>
      <p:cxnSp>
        <p:nvCxnSpPr>
          <p:cNvPr id="14" name="Connector 13"/>
          <p:cNvCxnSpPr/>
          <p:nvPr/>
        </p:nvCxnSpPr>
        <p:spPr>
          <a:xfrm>
            <a:off x="1911095" y="4046220"/>
            <a:ext cx="292608" cy="0"/>
          </a:xfrm>
          <a:prstGeom prst="line">
            <a:avLst/>
          </a:prstGeom>
          <a:ln w="19050">
            <a:solidFill>
              <a:srgbClr val="0000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흐름 Optical Flow"/>
          <p:cNvSpPr/>
          <p:nvPr/>
        </p:nvSpPr>
        <p:spPr>
          <a:xfrm>
            <a:off x="2240280" y="3657600"/>
            <a:ext cx="2148840" cy="777240"/>
          </a:xfrm>
          <a:prstGeom prst="rect">
            <a:avLst/>
          </a:prstGeom>
          <a:solidFill>
            <a:srgbClr val="FFFFFF"/>
          </a:solidFill>
          <a:ln w="15875">
            <a:solidFill>
              <a:srgbClr val="0000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000066"/>
                </a:solidFill>
                <a:latin typeface="Arial"/>
                <a:ea typeface="맑은 고딕"/>
              </a:rPr>
              <a:t>Optical Flow</a:t>
            </a:r>
          </a:p>
          <a:p>
            <a:pPr algn="ctr"/>
            <a:r>
              <a:rPr sz="1300" b="0">
                <a:solidFill>
                  <a:srgbClr val="333333"/>
                </a:solidFill>
                <a:latin typeface="Arial"/>
                <a:ea typeface="맑은 고딕"/>
              </a:rPr>
              <a:t>영상 속 움직임 측정</a:t>
            </a:r>
          </a:p>
        </p:txBody>
      </p:sp>
      <p:cxnSp>
        <p:nvCxnSpPr>
          <p:cNvPr id="16" name="Connector 15"/>
          <p:cNvCxnSpPr/>
          <p:nvPr/>
        </p:nvCxnSpPr>
        <p:spPr>
          <a:xfrm>
            <a:off x="4425696" y="4046220"/>
            <a:ext cx="292608" cy="0"/>
          </a:xfrm>
          <a:prstGeom prst="line">
            <a:avLst/>
          </a:prstGeom>
          <a:ln w="19050">
            <a:solidFill>
              <a:srgbClr val="0000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흐름 VIO · 필터"/>
          <p:cNvSpPr/>
          <p:nvPr/>
        </p:nvSpPr>
        <p:spPr>
          <a:xfrm>
            <a:off x="4754880" y="3657600"/>
            <a:ext cx="2148840" cy="777240"/>
          </a:xfrm>
          <a:prstGeom prst="rect">
            <a:avLst/>
          </a:prstGeom>
          <a:solidFill>
            <a:srgbClr val="FFFFFF"/>
          </a:solidFill>
          <a:ln w="15875">
            <a:solidFill>
              <a:srgbClr val="0000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000066"/>
                </a:solidFill>
                <a:latin typeface="Arial"/>
                <a:ea typeface="맑은 고딕"/>
              </a:rPr>
              <a:t>VIO · 필터</a:t>
            </a:r>
          </a:p>
          <a:p>
            <a:pPr algn="ctr"/>
            <a:r>
              <a:rPr sz="1300" b="0">
                <a:solidFill>
                  <a:srgbClr val="333333"/>
                </a:solidFill>
                <a:latin typeface="Arial"/>
                <a:ea typeface="맑은 고딕"/>
              </a:rPr>
              <a:t>IMU와 결합해 추정</a:t>
            </a:r>
          </a:p>
        </p:txBody>
      </p:sp>
      <p:cxnSp>
        <p:nvCxnSpPr>
          <p:cNvPr id="18" name="Connector 17"/>
          <p:cNvCxnSpPr/>
          <p:nvPr/>
        </p:nvCxnSpPr>
        <p:spPr>
          <a:xfrm>
            <a:off x="6940296" y="4046220"/>
            <a:ext cx="292608" cy="0"/>
          </a:xfrm>
          <a:prstGeom prst="line">
            <a:avLst/>
          </a:prstGeom>
          <a:ln w="19050">
            <a:solidFill>
              <a:srgbClr val="0000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흐름 위치 · 자세"/>
          <p:cNvSpPr/>
          <p:nvPr/>
        </p:nvSpPr>
        <p:spPr>
          <a:xfrm>
            <a:off x="7269480" y="3657600"/>
            <a:ext cx="1417320" cy="7772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000066"/>
                </a:solidFill>
                <a:latin typeface="Arial"/>
                <a:ea typeface="맑은 고딕"/>
              </a:rPr>
              <a:t>위치 · 자세</a:t>
            </a:r>
          </a:p>
        </p:txBody>
      </p:sp>
      <p:sp>
        <p:nvSpPr>
          <p:cNvPr id="20" name="공통 과제"/>
          <p:cNvSpPr/>
          <p:nvPr/>
        </p:nvSpPr>
        <p:spPr>
          <a:xfrm>
            <a:off x="457200" y="4709160"/>
            <a:ext cx="8229600" cy="960120"/>
          </a:xfrm>
          <a:prstGeom prst="rect">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800" b="1">
                <a:solidFill>
                  <a:srgbClr val="FFFFFF"/>
                </a:solidFill>
                <a:latin typeface="Arial"/>
                <a:ea typeface="맑은 고딕"/>
              </a:rPr>
              <a:t>공통 과제:  센서마다 측정 주기와 지연이 다르다</a:t>
            </a:r>
          </a:p>
          <a:p>
            <a:pPr algn="ctr"/>
            <a:r>
              <a:rPr sz="1600" b="0">
                <a:solidFill>
                  <a:srgbClr val="FFFFFF"/>
                </a:solidFill>
                <a:latin typeface="Arial"/>
                <a:ea typeface="맑은 고딕"/>
              </a:rPr>
              <a:t>→ 시간 차이를 고려한 융합 구조가 필요</a:t>
            </a:r>
          </a:p>
        </p:txBody>
      </p:sp>
      <p:sp>
        <p:nvSpPr>
          <p:cNvPr id="21" name="출처"/>
          <p:cNvSpPr txBox="1"/>
          <p:nvPr/>
        </p:nvSpPr>
        <p:spPr>
          <a:xfrm>
            <a:off x="457200" y="5760720"/>
            <a:ext cx="8229600" cy="274320"/>
          </a:xfrm>
          <a:prstGeom prst="rect">
            <a:avLst/>
          </a:prstGeom>
          <a:noFill/>
        </p:spPr>
        <p:txBody>
          <a:bodyPr wrap="square" anchor="t" lIns="45720" rIns="45720">
            <a:spAutoFit/>
          </a:bodyPr>
          <a:lstStyle/>
          <a:p>
            <a:pPr algn="l"/>
            <a:r>
              <a:rPr sz="1000" b="0">
                <a:solidFill>
                  <a:srgbClr val="808080"/>
                </a:solidFill>
                <a:latin typeface="Arial"/>
                <a:ea typeface="맑은 고딕"/>
              </a:rPr>
              <a:t>Ingenuity: Bayard et al., AIAA SciTech 2019 · VIO 예: VINS-Fusion, PX4 VIO 문서</a:t>
            </a:r>
          </a:p>
        </p:txBody>
      </p:sp>
    </p:spTree>
    <p:extLst>
      <p:ext uri="{BB962C8B-B14F-4D97-AF65-F5344CB8AC3E}">
        <p14:creationId xmlns:p14="http://schemas.microsoft.com/office/powerpoint/2010/main" val="371350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연구의 필요성 및 목적</a:t>
            </a:r>
          </a:p>
        </p:txBody>
      </p:sp>
      <p:graphicFrame>
        <p:nvGraphicFramePr>
          <p:cNvPr id="11" name="편집 가능한 비교표"/>
          <p:cNvGraphicFramePr/>
          <p:nvPr/>
        </p:nvGraphicFramePr>
        <p:xfrm>
          <a:off x="457200" y="1143000"/>
          <a:ext cx="8229600" cy="2487168"/>
        </p:xfrm>
        <a:graphic>
          <a:graphicData uri="http://schemas.openxmlformats.org/drawingml/2006/table">
            <a:tbl>
              <a:tblPr>
                <a:tableStyleId>{5C22544A-7EE6-4342-B048-85BDC9FD1C3A}</a:tableStyleId>
              </a:tblPr>
              <a:tblGrid>
                <a:gridCol w="4114800"/>
                <a:gridCol w="4114800"/>
              </a:tblGrid>
              <a:tr h="384048">
                <a:tc>
                  <a:txBody>
                    <a:bodyPr wrap="square" lIns="0" rIns="0" tIns="0" bIns="0"/>
                    <a:lstStyle/>
                    <a:p>
                      <a:pPr>
                        <a:lnSpc>
                          <a:spcPct val="110000"/>
                        </a:lnSpc>
                        <a:spcAft>
                          <a:spcPts val="0"/>
                        </a:spcAft>
                        <a:buNone/>
                      </a:pPr>
                      <a:r>
                        <a:rPr lang="ko-KR" sz="1500" b="1">
                          <a:solidFill>
                            <a:srgbClr val="FFFFFF"/>
                          </a:solidFill>
                          <a:latin typeface="Arial"/>
                          <a:ea typeface="MS PGothic"/>
                        </a:rPr>
                        <a:t>해결해야 할 문제</a:t>
                      </a:r>
                    </a:p>
                  </a:txBody>
                  <a:tcPr marL="127000" marR="127000" marT="63500" marB="63500" anchor="ctr">
                    <a:solidFill>
                      <a:srgbClr val="777777"/>
                    </a:solidFill>
                  </a:tcPr>
                </a:tc>
                <a:tc>
                  <a:txBody>
                    <a:bodyPr wrap="square" lIns="0" rIns="0" tIns="0" bIns="0"/>
                    <a:lstStyle/>
                    <a:p>
                      <a:pPr>
                        <a:lnSpc>
                          <a:spcPct val="110000"/>
                        </a:lnSpc>
                        <a:spcAft>
                          <a:spcPts val="0"/>
                        </a:spcAft>
                        <a:buNone/>
                      </a:pPr>
                      <a:r>
                        <a:rPr lang="ko-KR" sz="1500" b="1">
                          <a:solidFill>
                            <a:srgbClr val="FFFFFF"/>
                          </a:solidFill>
                          <a:latin typeface="Arial"/>
                          <a:ea typeface="MS PGothic"/>
                        </a:rPr>
                        <a:t>연구의 필요성</a:t>
                      </a:r>
                    </a:p>
                  </a:txBody>
                  <a:tcPr marL="127000" marR="127000" marT="63500" marB="63500" anchor="ctr">
                    <a:solidFill>
                      <a:srgbClr val="000066"/>
                    </a:solidFill>
                  </a:tcPr>
                </a:tc>
              </a:tr>
              <a:tr h="1051560">
                <a:tc>
                  <a:txBody>
                    <a:bodyPr wrap="square" lIns="0" rIns="0" tIns="0" bIns="0"/>
                    <a:lstStyle/>
                    <a:p>
                      <a:pPr>
                        <a:lnSpc>
                          <a:spcPct val="110000"/>
                        </a:lnSpc>
                        <a:spcAft>
                          <a:spcPts val="0"/>
                        </a:spcAft>
                        <a:buNone/>
                      </a:pPr>
                      <a:r>
                        <a:rPr lang="ko-KR" sz="1500" b="1">
                          <a:solidFill>
                            <a:srgbClr val="000066"/>
                          </a:solidFill>
                          <a:latin typeface="Arial"/>
                          <a:ea typeface="MS PGothic"/>
                        </a:rPr>
                        <a:t>1. 개별 센서의 한계</a:t>
                      </a:r>
                      <a:br/>
                      <a:r>
                        <a:rPr lang="ko-KR" sz="1500" b="0">
                          <a:solidFill>
                            <a:srgbClr val="000066"/>
                          </a:solidFill>
                          <a:latin typeface="Arial"/>
                          <a:ea typeface="MS PGothic"/>
                        </a:rPr>
                        <a:t>IMU의 위치 추정 오차는 시간에 따라 누적</a:t>
                      </a:r>
                      <a:br/>
                      <a:r>
                        <a:rPr lang="ko-KR" sz="1500" b="0">
                          <a:solidFill>
                            <a:srgbClr val="000066"/>
                          </a:solidFill>
                          <a:latin typeface="Arial"/>
                          <a:ea typeface="MS PGothic"/>
                        </a:rPr>
                        <a:t>영상 이동을 실제 크기로 환산할 정보 필요</a:t>
                      </a:r>
                    </a:p>
                  </a:txBody>
                  <a:tcPr marL="127000" marR="127000" marT="63500" marB="63500" anchor="ctr">
                    <a:solidFill>
                      <a:srgbClr val="F1F1F1"/>
                    </a:solidFill>
                  </a:tcPr>
                </a:tc>
                <a:tc>
                  <a:txBody>
                    <a:bodyPr wrap="square" lIns="0" rIns="0" tIns="0" bIns="0"/>
                    <a:lstStyle/>
                    <a:p>
                      <a:pPr>
                        <a:lnSpc>
                          <a:spcPct val="110000"/>
                        </a:lnSpc>
                        <a:spcAft>
                          <a:spcPts val="0"/>
                        </a:spcAft>
                        <a:buNone/>
                      </a:pPr>
                      <a:r>
                        <a:rPr lang="ko-KR" sz="1500" b="1">
                          <a:solidFill>
                            <a:srgbClr val="000066"/>
                          </a:solidFill>
                          <a:latin typeface="Arial"/>
                          <a:ea typeface="MS PGothic"/>
                        </a:rPr>
                        <a:t>1. 센서 정보를 상호 보완</a:t>
                      </a:r>
                      <a:br/>
                      <a:r>
                        <a:rPr lang="ko-KR" sz="1500" b="0">
                          <a:solidFill>
                            <a:srgbClr val="000066"/>
                          </a:solidFill>
                          <a:latin typeface="Arial"/>
                          <a:ea typeface="MS PGothic"/>
                        </a:rPr>
                        <a:t>IMU로 움직임을 예측하고</a:t>
                      </a:r>
                      <a:br/>
                      <a:r>
                        <a:rPr lang="ko-KR" sz="1500" b="0">
                          <a:solidFill>
                            <a:srgbClr val="000066"/>
                          </a:solidFill>
                          <a:latin typeface="Arial"/>
                          <a:ea typeface="MS PGothic"/>
                        </a:rPr>
                        <a:t>카메라·거리센서 측정으로 보정</a:t>
                      </a:r>
                    </a:p>
                  </a:txBody>
                  <a:tcPr marL="127000" marR="127000" marT="63500" marB="63500" anchor="ctr">
                    <a:solidFill>
                      <a:srgbClr val="FFFFFF"/>
                    </a:solidFill>
                  </a:tcPr>
                </a:tc>
              </a:tr>
              <a:tr h="1051560">
                <a:tc>
                  <a:txBody>
                    <a:bodyPr wrap="square" lIns="0" rIns="0" tIns="0" bIns="0"/>
                    <a:lstStyle/>
                    <a:p>
                      <a:pPr>
                        <a:lnSpc>
                          <a:spcPct val="110000"/>
                        </a:lnSpc>
                        <a:spcAft>
                          <a:spcPts val="0"/>
                        </a:spcAft>
                        <a:buNone/>
                      </a:pPr>
                      <a:r>
                        <a:rPr lang="ko-KR" sz="1500" b="1">
                          <a:solidFill>
                            <a:srgbClr val="000066"/>
                          </a:solidFill>
                          <a:latin typeface="Arial"/>
                          <a:ea typeface="MS PGothic"/>
                        </a:rPr>
                        <a:t>2. 센서별 측정 시점의 차이</a:t>
                      </a:r>
                      <a:br/>
                      <a:r>
                        <a:rPr lang="ko-KR" sz="1500" b="0">
                          <a:solidFill>
                            <a:srgbClr val="000066"/>
                          </a:solidFill>
                          <a:latin typeface="Arial"/>
                          <a:ea typeface="MS PGothic"/>
                        </a:rPr>
                        <a:t>측정 주기와 처리 지연이 서로 다름</a:t>
                      </a:r>
                      <a:br/>
                      <a:r>
                        <a:rPr lang="ko-KR" sz="1500" b="0">
                          <a:solidFill>
                            <a:srgbClr val="000066"/>
                          </a:solidFill>
                          <a:latin typeface="Arial"/>
                          <a:ea typeface="MS PGothic"/>
                        </a:rPr>
                        <a:t>측정 시점이 다른 값을 결합하면 오차 발생</a:t>
                      </a:r>
                    </a:p>
                  </a:txBody>
                  <a:tcPr marL="127000" marR="127000" marT="63500" marB="63500" anchor="ctr">
                    <a:solidFill>
                      <a:srgbClr val="F1F1F1"/>
                    </a:solidFill>
                  </a:tcPr>
                </a:tc>
                <a:tc>
                  <a:txBody>
                    <a:bodyPr wrap="square" lIns="0" rIns="0" tIns="0" bIns="0"/>
                    <a:lstStyle/>
                    <a:p>
                      <a:pPr>
                        <a:lnSpc>
                          <a:spcPct val="110000"/>
                        </a:lnSpc>
                        <a:spcAft>
                          <a:spcPts val="0"/>
                        </a:spcAft>
                        <a:buNone/>
                      </a:pPr>
                      <a:r>
                        <a:rPr lang="ko-KR" sz="1500" b="1">
                          <a:solidFill>
                            <a:srgbClr val="000066"/>
                          </a:solidFill>
                          <a:latin typeface="Arial"/>
                          <a:ea typeface="MS PGothic"/>
                        </a:rPr>
                        <a:t>2. 시간 차이를 고려한 융합</a:t>
                      </a:r>
                      <a:br/>
                      <a:r>
                        <a:rPr lang="ko-KR" sz="1500" b="0">
                          <a:solidFill>
                            <a:srgbClr val="000066"/>
                          </a:solidFill>
                          <a:latin typeface="Arial"/>
                          <a:ea typeface="MS PGothic"/>
                        </a:rPr>
                        <a:t>데이터의 측정 시점을 정렬하고</a:t>
                      </a:r>
                      <a:br/>
                      <a:r>
                        <a:rPr lang="ko-KR" sz="1500" b="0">
                          <a:solidFill>
                            <a:srgbClr val="000066"/>
                          </a:solidFill>
                          <a:latin typeface="Arial"/>
                          <a:ea typeface="MS PGothic"/>
                        </a:rPr>
                        <a:t>늦게 들어온 측정값을 해당 시점에 반영</a:t>
                      </a:r>
                    </a:p>
                  </a:txBody>
                  <a:tcPr marL="127000" marR="127000" marT="63500" marB="63500" anchor="ctr">
                    <a:solidFill>
                      <a:srgbClr val="FFFFFF"/>
                    </a:solidFill>
                  </a:tcPr>
                </a:tc>
              </a:tr>
            </a:tbl>
          </a:graphicData>
        </a:graphic>
      </p:graphicFrame>
      <p:sp>
        <p:nvSpPr>
          <p:cNvPr id="12" name="타임라인 제목"/>
          <p:cNvSpPr txBox="1"/>
          <p:nvPr/>
        </p:nvSpPr>
        <p:spPr>
          <a:xfrm>
            <a:off x="457200" y="3675887"/>
            <a:ext cx="4572000" cy="274320"/>
          </a:xfrm>
          <a:prstGeom prst="rect">
            <a:avLst/>
          </a:prstGeom>
          <a:noFill/>
        </p:spPr>
        <p:txBody>
          <a:bodyPr wrap="square" anchor="t" lIns="45720" rIns="45720">
            <a:spAutoFit/>
          </a:bodyPr>
          <a:lstStyle/>
          <a:p>
            <a:pPr algn="l"/>
            <a:r>
              <a:rPr sz="1300" b="1">
                <a:solidFill>
                  <a:srgbClr val="000066"/>
                </a:solidFill>
                <a:latin typeface="Arial"/>
                <a:ea typeface="맑은 고딕"/>
              </a:rPr>
              <a:t>센서별 측정 시점 (개념도)</a:t>
            </a:r>
          </a:p>
        </p:txBody>
      </p:sp>
      <p:sp>
        <p:nvSpPr>
          <p:cNvPr id="13" name="TextBox 12"/>
          <p:cNvSpPr txBox="1"/>
          <p:nvPr/>
        </p:nvSpPr>
        <p:spPr>
          <a:xfrm>
            <a:off x="457200" y="3941063"/>
            <a:ext cx="822960" cy="292608"/>
          </a:xfrm>
          <a:prstGeom prst="rect">
            <a:avLst/>
          </a:prstGeom>
          <a:noFill/>
        </p:spPr>
        <p:txBody>
          <a:bodyPr wrap="square" anchor="t" lIns="45720" rIns="45720">
            <a:spAutoFit/>
          </a:bodyPr>
          <a:lstStyle/>
          <a:p>
            <a:pPr algn="l"/>
            <a:r>
              <a:rPr sz="1300" b="1">
                <a:solidFill>
                  <a:srgbClr val="333333"/>
                </a:solidFill>
                <a:latin typeface="Arial"/>
                <a:ea typeface="맑은 고딕"/>
              </a:rPr>
              <a:t>IMU</a:t>
            </a:r>
          </a:p>
        </p:txBody>
      </p:sp>
      <p:sp>
        <p:nvSpPr>
          <p:cNvPr id="14" name="TextBox 13"/>
          <p:cNvSpPr txBox="1"/>
          <p:nvPr/>
        </p:nvSpPr>
        <p:spPr>
          <a:xfrm>
            <a:off x="457200" y="4398264"/>
            <a:ext cx="822960" cy="292608"/>
          </a:xfrm>
          <a:prstGeom prst="rect">
            <a:avLst/>
          </a:prstGeom>
          <a:noFill/>
        </p:spPr>
        <p:txBody>
          <a:bodyPr wrap="square" anchor="t" lIns="45720" rIns="45720">
            <a:spAutoFit/>
          </a:bodyPr>
          <a:lstStyle/>
          <a:p>
            <a:pPr algn="l"/>
            <a:r>
              <a:rPr sz="1300" b="1">
                <a:solidFill>
                  <a:srgbClr val="333333"/>
                </a:solidFill>
                <a:latin typeface="Arial"/>
                <a:ea typeface="맑은 고딕"/>
              </a:rPr>
              <a:t>카메라</a:t>
            </a:r>
          </a:p>
        </p:txBody>
      </p:sp>
      <p:cxnSp>
        <p:nvCxnSpPr>
          <p:cNvPr id="15" name="Connector 14"/>
          <p:cNvCxnSpPr/>
          <p:nvPr/>
        </p:nvCxnSpPr>
        <p:spPr>
          <a:xfrm>
            <a:off x="1325880" y="4087368"/>
            <a:ext cx="5577840" cy="0"/>
          </a:xfrm>
          <a:prstGeom prst="line">
            <a:avLst/>
          </a:prstGeom>
          <a:ln w="12700">
            <a:solidFill>
              <a:srgbClr val="8080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25880" y="4544568"/>
            <a:ext cx="5577840" cy="0"/>
          </a:xfrm>
          <a:prstGeom prst="line">
            <a:avLst/>
          </a:prstGeom>
          <a:ln w="12700">
            <a:solidFill>
              <a:srgbClr val="8080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41732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60020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78308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96596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14884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33172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51460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9748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88036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06324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24612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42900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1188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79476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97764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16052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34340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52628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70916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9204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07492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5780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44068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62356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80644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98932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7220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35508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53796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720840" y="4005072"/>
            <a:ext cx="0" cy="164591"/>
          </a:xfrm>
          <a:prstGeom prst="line">
            <a:avLst/>
          </a:prstGeom>
          <a:ln w="12700">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417320" y="4416552"/>
            <a:ext cx="0" cy="256031"/>
          </a:xfrm>
          <a:prstGeom prst="line">
            <a:avLst/>
          </a:prstGeom>
          <a:ln w="28575">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063240" y="4416552"/>
            <a:ext cx="0" cy="256031"/>
          </a:xfrm>
          <a:prstGeom prst="line">
            <a:avLst/>
          </a:prstGeom>
          <a:ln w="28575">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709160" y="4416552"/>
            <a:ext cx="0" cy="256031"/>
          </a:xfrm>
          <a:prstGeom prst="line">
            <a:avLst/>
          </a:prstGeom>
          <a:ln w="28575">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355080" y="4416552"/>
            <a:ext cx="0" cy="256031"/>
          </a:xfrm>
          <a:prstGeom prst="line">
            <a:avLst/>
          </a:prstGeom>
          <a:ln w="28575">
            <a:solidFill>
              <a:srgbClr val="00006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063240" y="4727448"/>
            <a:ext cx="777240" cy="0"/>
          </a:xfrm>
          <a:prstGeom prst="line">
            <a:avLst/>
          </a:prstGeom>
          <a:ln w="15875">
            <a:solidFill>
              <a:srgbClr val="00006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560320" y="4764024"/>
            <a:ext cx="1005840" cy="228600"/>
          </a:xfrm>
          <a:prstGeom prst="rect">
            <a:avLst/>
          </a:prstGeom>
          <a:noFill/>
        </p:spPr>
        <p:txBody>
          <a:bodyPr wrap="square" anchor="t" lIns="45720" rIns="45720">
            <a:spAutoFit/>
          </a:bodyPr>
          <a:lstStyle/>
          <a:p>
            <a:pPr algn="ctr"/>
            <a:r>
              <a:rPr sz="1050" b="0">
                <a:solidFill>
                  <a:srgbClr val="808080"/>
                </a:solidFill>
                <a:latin typeface="Arial"/>
                <a:ea typeface="맑은 고딕"/>
              </a:rPr>
              <a:t>측정 시점</a:t>
            </a:r>
          </a:p>
        </p:txBody>
      </p:sp>
      <p:sp>
        <p:nvSpPr>
          <p:cNvPr id="53" name="TextBox 52"/>
          <p:cNvSpPr txBox="1"/>
          <p:nvPr/>
        </p:nvSpPr>
        <p:spPr>
          <a:xfrm>
            <a:off x="3337560" y="4764024"/>
            <a:ext cx="1005840" cy="228600"/>
          </a:xfrm>
          <a:prstGeom prst="rect">
            <a:avLst/>
          </a:prstGeom>
          <a:noFill/>
        </p:spPr>
        <p:txBody>
          <a:bodyPr wrap="square" anchor="t" lIns="45720" rIns="45720">
            <a:spAutoFit/>
          </a:bodyPr>
          <a:lstStyle/>
          <a:p>
            <a:pPr algn="ctr"/>
            <a:r>
              <a:rPr sz="1050" b="0">
                <a:solidFill>
                  <a:srgbClr val="808080"/>
                </a:solidFill>
                <a:latin typeface="Arial"/>
                <a:ea typeface="맑은 고딕"/>
              </a:rPr>
              <a:t>도착 시점</a:t>
            </a:r>
          </a:p>
        </p:txBody>
      </p:sp>
      <p:sp>
        <p:nvSpPr>
          <p:cNvPr id="54" name="TextBox 53"/>
          <p:cNvSpPr txBox="1"/>
          <p:nvPr/>
        </p:nvSpPr>
        <p:spPr>
          <a:xfrm>
            <a:off x="3904487" y="4608576"/>
            <a:ext cx="685800" cy="228600"/>
          </a:xfrm>
          <a:prstGeom prst="rect">
            <a:avLst/>
          </a:prstGeom>
          <a:noFill/>
        </p:spPr>
        <p:txBody>
          <a:bodyPr wrap="square" anchor="t" lIns="45720" rIns="45720">
            <a:spAutoFit/>
          </a:bodyPr>
          <a:lstStyle/>
          <a:p>
            <a:pPr algn="l"/>
            <a:r>
              <a:rPr sz="1150" b="1">
                <a:solidFill>
                  <a:srgbClr val="000066"/>
                </a:solidFill>
                <a:latin typeface="Arial"/>
                <a:ea typeface="맑은 고딕"/>
              </a:rPr>
              <a:t>지연 Δt</a:t>
            </a:r>
          </a:p>
        </p:txBody>
      </p:sp>
      <p:sp>
        <p:nvSpPr>
          <p:cNvPr id="55" name="지연 예시"/>
          <p:cNvSpPr/>
          <p:nvPr/>
        </p:nvSpPr>
        <p:spPr>
          <a:xfrm>
            <a:off x="7132320" y="3995927"/>
            <a:ext cx="1554480" cy="10058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rgbClr val="000066"/>
                </a:solidFill>
                <a:latin typeface="Arial"/>
                <a:ea typeface="맑은 고딕"/>
              </a:rPr>
              <a:t>예) 5 m/s × 50 ms</a:t>
            </a:r>
          </a:p>
          <a:p>
            <a:pPr algn="ctr"/>
            <a:r>
              <a:rPr sz="1300" b="0">
                <a:solidFill>
                  <a:srgbClr val="333333"/>
                </a:solidFill>
                <a:latin typeface="Arial"/>
                <a:ea typeface="맑은 고딕"/>
              </a:rPr>
              <a:t>= 25 cm 차이</a:t>
            </a:r>
          </a:p>
          <a:p>
            <a:pPr algn="ctr"/>
            <a:r>
              <a:rPr sz="1050" b="0">
                <a:solidFill>
                  <a:srgbClr val="808080"/>
                </a:solidFill>
                <a:latin typeface="Arial"/>
                <a:ea typeface="맑은 고딕"/>
              </a:rPr>
              <a:t>단순 계산 예시</a:t>
            </a:r>
          </a:p>
        </p:txBody>
      </p:sp>
      <p:sp>
        <p:nvSpPr>
          <p:cNvPr id="56" name="연구 목적"/>
          <p:cNvSpPr/>
          <p:nvPr/>
        </p:nvSpPr>
        <p:spPr>
          <a:xfrm>
            <a:off x="457200" y="5230368"/>
            <a:ext cx="8229600" cy="868680"/>
          </a:xfrm>
          <a:prstGeom prst="rect">
            <a:avLst/>
          </a:prstGeom>
          <a:solidFill>
            <a:srgbClr val="E8EAF4"/>
          </a:solidFill>
          <a:ln w="15875">
            <a:solidFill>
              <a:srgbClr val="00006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600" b="1">
                <a:solidFill>
                  <a:srgbClr val="000066"/>
                </a:solidFill>
                <a:latin typeface="Arial"/>
                <a:ea typeface="맑은 고딕"/>
              </a:rPr>
              <a:t>연구 목적</a:t>
            </a:r>
          </a:p>
          <a:p>
            <a:pPr algn="l"/>
            <a:r>
              <a:rPr sz="1500" b="0">
                <a:solidFill>
                  <a:srgbClr val="333333"/>
                </a:solidFill>
                <a:latin typeface="Arial"/>
                <a:ea typeface="맑은 고딕"/>
              </a:rPr>
              <a:t>측정 주기와 지연 차이를 고려하여 카메라·IMU·거리센서를 하나의 필터로 융합하는 위치·자세 추정기를 구현한다.</a:t>
            </a:r>
          </a:p>
        </p:txBody>
      </p:sp>
    </p:spTree>
    <p:extLst>
      <p:ext uri="{BB962C8B-B14F-4D97-AF65-F5344CB8AC3E}">
        <p14:creationId xmlns:p14="http://schemas.microsoft.com/office/powerpoint/2010/main" val="37135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선행연구와 적용 방향</a:t>
            </a:r>
          </a:p>
        </p:txBody>
      </p:sp>
      <p:graphicFrame>
        <p:nvGraphicFramePr>
          <p:cNvPr id="11" name="편집 가능한 비교표"/>
          <p:cNvGraphicFramePr/>
          <p:nvPr/>
        </p:nvGraphicFramePr>
        <p:xfrm>
          <a:off x="457200" y="1965960"/>
          <a:ext cx="8229600" cy="3162300"/>
        </p:xfrm>
        <a:graphic>
          <a:graphicData uri="http://schemas.openxmlformats.org/drawingml/2006/table">
            <a:tbl>
              <a:tblPr>
                <a:tableStyleId>{5C22544A-7EE6-4342-B048-85BDC9FD1C3A}</a:tableStyleId>
              </a:tblPr>
              <a:tblGrid>
                <a:gridCol w="1828800"/>
                <a:gridCol w="4480560"/>
                <a:gridCol w="1920240"/>
              </a:tblGrid>
              <a:tr h="419100">
                <a:tc>
                  <a:txBody>
                    <a:bodyPr wrap="square" lIns="0" rIns="0" tIns="0" bIns="0"/>
                    <a:lstStyle/>
                    <a:p>
                      <a:pPr>
                        <a:lnSpc>
                          <a:spcPct val="110000"/>
                        </a:lnSpc>
                        <a:spcAft>
                          <a:spcPts val="0"/>
                        </a:spcAft>
                        <a:buNone/>
                      </a:pPr>
                      <a:r>
                        <a:rPr lang="ko-KR" sz="1500" b="1">
                          <a:solidFill>
                            <a:srgbClr val="FFFFFF"/>
                          </a:solidFill>
                          <a:latin typeface="Arial"/>
                          <a:ea typeface="MS PGothic"/>
                        </a:rPr>
                        <a:t>참고할 처리 방법</a:t>
                      </a:r>
                    </a:p>
                  </a:txBody>
                  <a:tcPr marL="127000" marR="127000" marT="63500" marB="63500" anchor="ctr">
                    <a:solidFill>
                      <a:srgbClr val="000066"/>
                    </a:solidFill>
                  </a:tcPr>
                </a:tc>
                <a:tc>
                  <a:txBody>
                    <a:bodyPr wrap="square" lIns="0" rIns="0" tIns="0" bIns="0"/>
                    <a:lstStyle/>
                    <a:p>
                      <a:pPr>
                        <a:lnSpc>
                          <a:spcPct val="110000"/>
                        </a:lnSpc>
                        <a:spcAft>
                          <a:spcPts val="0"/>
                        </a:spcAft>
                        <a:buNone/>
                      </a:pPr>
                      <a:r>
                        <a:rPr lang="ko-KR" sz="1500" b="1">
                          <a:solidFill>
                            <a:srgbClr val="FFFFFF"/>
                          </a:solidFill>
                          <a:latin typeface="Arial"/>
                          <a:ea typeface="MS PGothic"/>
                        </a:rPr>
                        <a:t>본 연구의 적용 계획</a:t>
                      </a:r>
                    </a:p>
                  </a:txBody>
                  <a:tcPr marL="127000" marR="127000" marT="63500" marB="63500" anchor="ctr">
                    <a:solidFill>
                      <a:srgbClr val="000066"/>
                    </a:solidFill>
                  </a:tcPr>
                </a:tc>
                <a:tc>
                  <a:txBody>
                    <a:bodyPr wrap="square" lIns="0" rIns="0" tIns="0" bIns="0"/>
                    <a:lstStyle/>
                    <a:p>
                      <a:pPr>
                        <a:lnSpc>
                          <a:spcPct val="110000"/>
                        </a:lnSpc>
                        <a:spcAft>
                          <a:spcPts val="0"/>
                        </a:spcAft>
                        <a:buNone/>
                      </a:pPr>
                      <a:r>
                        <a:rPr lang="ko-KR" sz="1500" b="1">
                          <a:solidFill>
                            <a:srgbClr val="FFFFFF"/>
                          </a:solidFill>
                          <a:latin typeface="Arial"/>
                          <a:ea typeface="MS PGothic"/>
                        </a:rPr>
                        <a:t>근거</a:t>
                      </a:r>
                    </a:p>
                  </a:txBody>
                  <a:tcPr marL="127000" marR="127000" marT="63500" marB="63500" anchor="ctr">
                    <a:solidFill>
                      <a:srgbClr val="000066"/>
                    </a:solidFill>
                  </a:tcPr>
                </a:tc>
              </a:tr>
              <a:tr h="914400">
                <a:tc>
                  <a:txBody>
                    <a:bodyPr wrap="square" lIns="0" rIns="0" tIns="0" bIns="0"/>
                    <a:lstStyle/>
                    <a:p>
                      <a:pPr>
                        <a:lnSpc>
                          <a:spcPct val="110000"/>
                        </a:lnSpc>
                        <a:spcAft>
                          <a:spcPts val="0"/>
                        </a:spcAft>
                        <a:buNone/>
                      </a:pPr>
                      <a:r>
                        <a:rPr lang="ko-KR" sz="1500" b="1">
                          <a:solidFill>
                            <a:srgbClr val="000066"/>
                          </a:solidFill>
                          <a:latin typeface="Arial"/>
                          <a:ea typeface="MS PGothic"/>
                        </a:rPr>
                        <a:t>지연 보상</a:t>
                      </a:r>
                    </a:p>
                  </a:txBody>
                  <a:tcPr marL="127000" marR="127000" marT="63500" marB="63500" anchor="ctr">
                    <a:solidFill>
                      <a:srgbClr val="F1F1F1"/>
                    </a:solidFill>
                  </a:tcPr>
                </a:tc>
                <a:tc>
                  <a:txBody>
                    <a:bodyPr wrap="square" lIns="0" rIns="0" tIns="0" bIns="0"/>
                    <a:lstStyle/>
                    <a:p>
                      <a:pPr>
                        <a:lnSpc>
                          <a:spcPct val="110000"/>
                        </a:lnSpc>
                        <a:spcAft>
                          <a:spcPts val="0"/>
                        </a:spcAft>
                        <a:buNone/>
                      </a:pPr>
                      <a:r>
                        <a:rPr lang="ko-KR" sz="1500" b="1">
                          <a:solidFill>
                            <a:srgbClr val="000066"/>
                          </a:solidFill>
                          <a:latin typeface="Arial"/>
                          <a:ea typeface="MS PGothic"/>
                        </a:rPr>
                        <a:t>수신 시점과 실제 측정 시점을 구분하고</a:t>
                      </a:r>
                      <a:br/>
                      <a:r>
                        <a:rPr lang="ko-KR" sz="1500" b="0">
                          <a:solidFill>
                            <a:srgbClr val="000066"/>
                          </a:solidFill>
                          <a:latin typeface="Arial"/>
                          <a:ea typeface="MS PGothic"/>
                        </a:rPr>
                        <a:t>센서별 지연을 고려하여 데이터를 배치</a:t>
                      </a:r>
                    </a:p>
                  </a:txBody>
                  <a:tcPr marL="127000" marR="127000" marT="63500" marB="63500" anchor="ctr">
                    <a:solidFill>
                      <a:srgbClr val="FFFFFF"/>
                    </a:solidFill>
                  </a:tcPr>
                </a:tc>
                <a:tc>
                  <a:txBody>
                    <a:bodyPr wrap="square" lIns="0" rIns="0" tIns="0" bIns="0"/>
                    <a:lstStyle/>
                    <a:p>
                      <a:pPr>
                        <a:lnSpc>
                          <a:spcPct val="110000"/>
                        </a:lnSpc>
                        <a:spcAft>
                          <a:spcPts val="0"/>
                        </a:spcAft>
                        <a:buNone/>
                      </a:pPr>
                      <a:r>
                        <a:rPr sz="1300" b="0">
                          <a:solidFill>
                            <a:srgbClr val="333333"/>
                          </a:solidFill>
                          <a:latin typeface="Arial"/>
                          <a:ea typeface="맑은 고딕"/>
                        </a:rPr>
                        <a:t>Kim &amp; Ahn (2025)</a:t>
                      </a:r>
                    </a:p>
                  </a:txBody>
                  <a:tcPr marL="127000" marR="127000" marT="63500" marB="63500" anchor="ctr">
                    <a:solidFill>
                      <a:srgbClr val="FFFFFF"/>
                    </a:solidFill>
                  </a:tcPr>
                </a:tc>
              </a:tr>
              <a:tr h="914400">
                <a:tc>
                  <a:txBody>
                    <a:bodyPr wrap="square" lIns="0" rIns="0" tIns="0" bIns="0"/>
                    <a:lstStyle/>
                    <a:p>
                      <a:pPr>
                        <a:lnSpc>
                          <a:spcPct val="110000"/>
                        </a:lnSpc>
                        <a:spcAft>
                          <a:spcPts val="0"/>
                        </a:spcAft>
                        <a:buNone/>
                      </a:pPr>
                      <a:r>
                        <a:rPr lang="ko-KR" sz="1500" b="1">
                          <a:solidFill>
                            <a:srgbClr val="000066"/>
                          </a:solidFill>
                          <a:latin typeface="Arial"/>
                          <a:ea typeface="MS PGothic"/>
                        </a:rPr>
                        <a:t>시간 정렬</a:t>
                      </a:r>
                    </a:p>
                  </a:txBody>
                  <a:tcPr marL="127000" marR="127000" marT="63500" marB="63500" anchor="ctr">
                    <a:solidFill>
                      <a:srgbClr val="F1F1F1"/>
                    </a:solidFill>
                  </a:tcPr>
                </a:tc>
                <a:tc>
                  <a:txBody>
                    <a:bodyPr wrap="square" lIns="0" rIns="0" tIns="0" bIns="0"/>
                    <a:lstStyle/>
                    <a:p>
                      <a:pPr>
                        <a:lnSpc>
                          <a:spcPct val="110000"/>
                        </a:lnSpc>
                        <a:spcAft>
                          <a:spcPts val="0"/>
                        </a:spcAft>
                        <a:buNone/>
                      </a:pPr>
                      <a:r>
                        <a:rPr lang="ko-KR" sz="1500" b="1">
                          <a:solidFill>
                            <a:srgbClr val="000066"/>
                          </a:solidFill>
                          <a:latin typeface="Arial"/>
                          <a:ea typeface="MS PGothic"/>
                        </a:rPr>
                        <a:t>함께 사용하는 신호의 시점을 맞추고</a:t>
                      </a:r>
                      <a:br/>
                      <a:r>
                        <a:rPr lang="ko-KR" sz="1500" b="0">
                          <a:solidFill>
                            <a:srgbClr val="000066"/>
                          </a:solidFill>
                          <a:latin typeface="Arial"/>
                          <a:ea typeface="MS PGothic"/>
                        </a:rPr>
                        <a:t>필요한 경우 보간 방법을 검토</a:t>
                      </a:r>
                    </a:p>
                  </a:txBody>
                  <a:tcPr marL="127000" marR="127000" marT="63500" marB="63500" anchor="ctr">
                    <a:solidFill>
                      <a:srgbClr val="FFFFFF"/>
                    </a:solidFill>
                  </a:tcPr>
                </a:tc>
                <a:tc>
                  <a:txBody>
                    <a:bodyPr wrap="square" lIns="0" rIns="0" tIns="0" bIns="0"/>
                    <a:lstStyle/>
                    <a:p>
                      <a:pPr>
                        <a:lnSpc>
                          <a:spcPct val="110000"/>
                        </a:lnSpc>
                        <a:spcAft>
                          <a:spcPts val="0"/>
                        </a:spcAft>
                        <a:buNone/>
                      </a:pPr>
                      <a:r>
                        <a:rPr sz="1300" b="0">
                          <a:solidFill>
                            <a:srgbClr val="333333"/>
                          </a:solidFill>
                          <a:latin typeface="Arial"/>
                          <a:ea typeface="맑은 고딕"/>
                        </a:rPr>
                        <a:t>Kim &amp; Ahn (2025)</a:t>
                      </a:r>
                    </a:p>
                  </a:txBody>
                  <a:tcPr marL="127000" marR="127000" marT="63500" marB="63500" anchor="ctr">
                    <a:solidFill>
                      <a:srgbClr val="FFFFFF"/>
                    </a:solidFill>
                  </a:tcPr>
                </a:tc>
              </a:tr>
              <a:tr h="914400">
                <a:tc>
                  <a:txBody>
                    <a:bodyPr wrap="square" lIns="0" rIns="0" tIns="0" bIns="0"/>
                    <a:lstStyle/>
                    <a:p>
                      <a:pPr>
                        <a:lnSpc>
                          <a:spcPct val="110000"/>
                        </a:lnSpc>
                        <a:spcAft>
                          <a:spcPts val="0"/>
                        </a:spcAft>
                        <a:buNone/>
                      </a:pPr>
                      <a:r>
                        <a:rPr lang="ko-KR" sz="1500" b="1">
                          <a:solidFill>
                            <a:srgbClr val="000066"/>
                          </a:solidFill>
                          <a:latin typeface="Arial"/>
                          <a:ea typeface="MS PGothic"/>
                        </a:rPr>
                        <a:t>과거 상태 재추정</a:t>
                      </a:r>
                    </a:p>
                  </a:txBody>
                  <a:tcPr marL="127000" marR="127000" marT="63500" marB="63500" anchor="ctr">
                    <a:solidFill>
                      <a:srgbClr val="F1F1F1"/>
                    </a:solidFill>
                  </a:tcPr>
                </a:tc>
                <a:tc>
                  <a:txBody>
                    <a:bodyPr wrap="square" lIns="0" rIns="0" tIns="0" bIns="0"/>
                    <a:lstStyle/>
                    <a:p>
                      <a:pPr>
                        <a:lnSpc>
                          <a:spcPct val="110000"/>
                        </a:lnSpc>
                        <a:spcAft>
                          <a:spcPts val="0"/>
                        </a:spcAft>
                        <a:buNone/>
                      </a:pPr>
                      <a:r>
                        <a:rPr lang="ko-KR" sz="1500" b="1">
                          <a:solidFill>
                            <a:srgbClr val="000066"/>
                          </a:solidFill>
                          <a:latin typeface="Arial"/>
                          <a:ea typeface="MS PGothic"/>
                        </a:rPr>
                        <a:t>지연된 측정으로 과거 추정값을 보정하고</a:t>
                      </a:r>
                      <a:br/>
                      <a:r>
                        <a:rPr lang="ko-KR" sz="1500" b="0">
                          <a:solidFill>
                            <a:srgbClr val="000066"/>
                          </a:solidFill>
                          <a:latin typeface="Arial"/>
                          <a:ea typeface="MS PGothic"/>
                        </a:rPr>
                        <a:t>보정 시점부터 현재까지 다시 추정</a:t>
                      </a:r>
                    </a:p>
                  </a:txBody>
                  <a:tcPr marL="127000" marR="127000" marT="63500" marB="63500" anchor="ctr">
                    <a:solidFill>
                      <a:srgbClr val="FFFFFF"/>
                    </a:solidFill>
                  </a:tcPr>
                </a:tc>
                <a:tc>
                  <a:txBody>
                    <a:bodyPr wrap="square" lIns="0" rIns="0" tIns="0" bIns="0"/>
                    <a:lstStyle/>
                    <a:p>
                      <a:pPr>
                        <a:lnSpc>
                          <a:spcPct val="110000"/>
                        </a:lnSpc>
                        <a:spcAft>
                          <a:spcPts val="0"/>
                        </a:spcAft>
                        <a:buNone/>
                      </a:pPr>
                      <a:r>
                        <a:rPr sz="1300" b="0">
                          <a:solidFill>
                            <a:srgbClr val="333333"/>
                          </a:solidFill>
                          <a:latin typeface="Arial"/>
                          <a:ea typeface="맑은 고딕"/>
                        </a:rPr>
                        <a:t>Kim &amp; Ahn (2025)</a:t>
                      </a:r>
                    </a:p>
                    <a:p>
                      <a:pPr>
                        <a:lnSpc>
                          <a:spcPct val="110000"/>
                        </a:lnSpc>
                        <a:spcAft>
                          <a:spcPts val="0"/>
                        </a:spcAft>
                        <a:buNone/>
                      </a:pPr>
                      <a:r>
                        <a:rPr sz="1300" b="0">
                          <a:solidFill>
                            <a:srgbClr val="333333"/>
                          </a:solidFill>
                          <a:latin typeface="Arial"/>
                          <a:ea typeface="맑은 고딕"/>
                        </a:rPr>
                        <a:t>MSCKF (2007)</a:t>
                      </a:r>
                    </a:p>
                  </a:txBody>
                  <a:tcPr marL="127000" marR="127000" marT="63500" marB="63500" anchor="ctr">
                    <a:solidFill>
                      <a:srgbClr val="FFFFFF"/>
                    </a:solidFill>
                  </a:tcPr>
                </a:tc>
              </a:tr>
            </a:tbl>
          </a:graphicData>
        </a:graphic>
      </p:graphicFrame>
      <p:sp>
        <p:nvSpPr>
          <p:cNvPr id="12" name="구현 중심 범위"/>
          <p:cNvSpPr txBox="1"/>
          <p:nvPr/>
        </p:nvSpPr>
        <p:spPr>
          <a:xfrm>
            <a:off x="457200" y="5422900"/>
            <a:ext cx="8229600" cy="635000"/>
          </a:xfrm>
          <a:prstGeom prst="rect">
            <a:avLst/>
          </a:prstGeom>
          <a:noFill/>
          <a:ln>
            <a:noFill/>
          </a:ln>
        </p:spPr>
        <p:txBody>
          <a:bodyPr wrap="square" lIns="0" rIns="0" tIns="0" bIns="0"/>
          <a:lstStyle/>
          <a:p>
            <a:pPr>
              <a:lnSpc>
                <a:spcPct val="110000"/>
              </a:lnSpc>
              <a:spcAft>
                <a:spcPts val="400"/>
              </a:spcAft>
              <a:buNone/>
            </a:pPr>
            <a:r>
              <a:rPr lang="ko-KR" sz="1600" b="0">
                <a:solidFill>
                  <a:srgbClr val="000066"/>
                </a:solidFill>
                <a:latin typeface="Arial"/>
                <a:ea typeface="MS PGothic"/>
              </a:rPr>
              <a:t>기존 방법을 바탕으로 자체 센서 구성의 추정기를 구현하고,</a:t>
            </a:r>
            <a:br/>
            <a:r>
              <a:rPr lang="ko-KR" sz="1600" b="0">
                <a:solidFill>
                  <a:srgbClr val="000066"/>
                </a:solidFill>
                <a:latin typeface="Arial"/>
                <a:ea typeface="MS PGothic"/>
              </a:rPr>
              <a:t>시간 처리 적용 전·후의 차이를 확인한다.</a:t>
            </a:r>
          </a:p>
        </p:txBody>
      </p:sp>
      <p:sp>
        <p:nvSpPr>
          <p:cNvPr id="13" name="차량 분야"/>
          <p:cNvSpPr/>
          <p:nvPr/>
        </p:nvSpPr>
        <p:spPr>
          <a:xfrm>
            <a:off x="457200" y="1024128"/>
            <a:ext cx="3291840" cy="7315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000066"/>
                </a:solidFill>
                <a:latin typeface="Arial"/>
                <a:ea typeface="맑은 고딕"/>
              </a:rPr>
              <a:t>차량 분야</a:t>
            </a:r>
          </a:p>
          <a:p>
            <a:pPr algn="ctr"/>
            <a:r>
              <a:rPr sz="1300" b="0">
                <a:solidFill>
                  <a:srgbClr val="333333"/>
                </a:solidFill>
                <a:latin typeface="Arial"/>
                <a:ea typeface="맑은 고딕"/>
              </a:rPr>
              <a:t>레이더 · V2X 융합 (Kim &amp; Ahn, 2025)</a:t>
            </a:r>
          </a:p>
        </p:txBody>
      </p:sp>
      <p:sp>
        <p:nvSpPr>
          <p:cNvPr id="14" name="본 연구"/>
          <p:cNvSpPr/>
          <p:nvPr/>
        </p:nvSpPr>
        <p:spPr>
          <a:xfrm>
            <a:off x="5394960" y="1024128"/>
            <a:ext cx="3291840" cy="731520"/>
          </a:xfrm>
          <a:prstGeom prst="rect">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FFFFFF"/>
                </a:solidFill>
                <a:latin typeface="Arial"/>
                <a:ea typeface="맑은 고딕"/>
              </a:rPr>
              <a:t>본 연구</a:t>
            </a:r>
          </a:p>
          <a:p>
            <a:pPr algn="ctr"/>
            <a:r>
              <a:rPr sz="1300" b="0">
                <a:solidFill>
                  <a:srgbClr val="FFFFFF"/>
                </a:solidFill>
                <a:latin typeface="Arial"/>
                <a:ea typeface="맑은 고딕"/>
              </a:rPr>
              <a:t>카메라 · IMU · 거리센서 융합</a:t>
            </a:r>
          </a:p>
        </p:txBody>
      </p:sp>
      <p:cxnSp>
        <p:nvCxnSpPr>
          <p:cNvPr id="15" name="Connector 14"/>
          <p:cNvCxnSpPr/>
          <p:nvPr/>
        </p:nvCxnSpPr>
        <p:spPr>
          <a:xfrm>
            <a:off x="3840480" y="1389888"/>
            <a:ext cx="1463040" cy="0"/>
          </a:xfrm>
          <a:prstGeom prst="line">
            <a:avLst/>
          </a:prstGeom>
          <a:ln w="25400">
            <a:solidFill>
              <a:srgbClr val="0000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49039" y="1051560"/>
            <a:ext cx="1645920" cy="274320"/>
          </a:xfrm>
          <a:prstGeom prst="rect">
            <a:avLst/>
          </a:prstGeom>
          <a:noFill/>
        </p:spPr>
        <p:txBody>
          <a:bodyPr wrap="square" anchor="t" lIns="45720" rIns="45720">
            <a:spAutoFit/>
          </a:bodyPr>
          <a:lstStyle/>
          <a:p>
            <a:pPr algn="ctr"/>
            <a:r>
              <a:rPr sz="1150" b="1">
                <a:solidFill>
                  <a:srgbClr val="000066"/>
                </a:solidFill>
                <a:latin typeface="Arial"/>
                <a:ea typeface="맑은 고딕"/>
              </a:rPr>
              <a:t>시간 처리 방법 적용</a:t>
            </a:r>
          </a:p>
        </p:txBody>
      </p:sp>
    </p:spTree>
    <p:extLst>
      <p:ext uri="{BB962C8B-B14F-4D97-AF65-F5344CB8AC3E}">
        <p14:creationId xmlns:p14="http://schemas.microsoft.com/office/powerpoint/2010/main" val="37135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연구방법</a:t>
            </a:r>
          </a:p>
        </p:txBody>
      </p:sp>
      <p:sp>
        <p:nvSpPr>
          <p:cNvPr id="10" name="방법 개요"/>
          <p:cNvSpPr txBox="1"/>
          <p:nvPr/>
        </p:nvSpPr>
        <p:spPr>
          <a:xfrm>
            <a:off x="457200" y="932688"/>
            <a:ext cx="8229600" cy="508000"/>
          </a:xfrm>
          <a:prstGeom prst="rect">
            <a:avLst/>
          </a:prstGeom>
          <a:noFill/>
          <a:ln>
            <a:noFill/>
          </a:ln>
        </p:spPr>
        <p:txBody>
          <a:bodyPr wrap="square" lIns="0" rIns="0" tIns="0" bIns="0"/>
          <a:lstStyle/>
          <a:p>
            <a:pPr>
              <a:lnSpc>
                <a:spcPct val="110000"/>
              </a:lnSpc>
              <a:spcAft>
                <a:spcPts val="400"/>
              </a:spcAft>
              <a:buNone/>
            </a:pPr>
            <a:r>
              <a:rPr lang="ko-KR" sz="1600" b="0">
                <a:solidFill>
                  <a:srgbClr val="000066"/>
                </a:solidFill>
                <a:latin typeface="Arial"/>
                <a:ea typeface="MS PGothic"/>
              </a:rPr>
              <a:t>영상 이동 추적: KLT Optical Flow</a:t>
            </a:r>
            <a:br/>
            <a:r>
              <a:rPr lang="ko-KR" sz="1600" b="0">
                <a:solidFill>
                  <a:srgbClr val="000066"/>
                </a:solidFill>
                <a:latin typeface="Arial"/>
                <a:ea typeface="MS PGothic"/>
              </a:rPr>
              <a:t>센서 융합: EKF (확장 칼만필터)를 기본 구조로 사용</a:t>
            </a:r>
          </a:p>
        </p:txBody>
      </p:sp>
      <p:graphicFrame>
        <p:nvGraphicFramePr>
          <p:cNvPr id="11" name="편집 가능한 비교표"/>
          <p:cNvGraphicFramePr/>
          <p:nvPr/>
        </p:nvGraphicFramePr>
        <p:xfrm>
          <a:off x="457200" y="1627632"/>
          <a:ext cx="8229600" cy="1320800"/>
        </p:xfrm>
        <a:graphic>
          <a:graphicData uri="http://schemas.openxmlformats.org/drawingml/2006/table">
            <a:tbl>
              <a:tblPr>
                <a:tableStyleId>{5C22544A-7EE6-4342-B048-85BDC9FD1C3A}</a:tableStyleId>
              </a:tblPr>
              <a:tblGrid>
                <a:gridCol w="2743200"/>
                <a:gridCol w="2743200"/>
                <a:gridCol w="2743200"/>
              </a:tblGrid>
              <a:tr h="419100">
                <a:tc>
                  <a:txBody>
                    <a:bodyPr wrap="square" lIns="0" rIns="0" tIns="0" bIns="0"/>
                    <a:lstStyle/>
                    <a:p>
                      <a:pPr>
                        <a:lnSpc>
                          <a:spcPct val="110000"/>
                        </a:lnSpc>
                        <a:spcAft>
                          <a:spcPts val="0"/>
                        </a:spcAft>
                        <a:buNone/>
                      </a:pPr>
                      <a:r>
                        <a:rPr lang="ko-KR" sz="1500" b="1">
                          <a:solidFill>
                            <a:srgbClr val="FFFFFF"/>
                          </a:solidFill>
                          <a:latin typeface="Arial"/>
                          <a:ea typeface="MS PGothic"/>
                        </a:rPr>
                        <a:t>예측 (IMU)</a:t>
                      </a:r>
                    </a:p>
                  </a:txBody>
                  <a:tcPr marL="127000" marR="127000" marT="63500" marB="63500" anchor="ctr">
                    <a:solidFill>
                      <a:srgbClr val="000066"/>
                    </a:solidFill>
                  </a:tcPr>
                </a:tc>
                <a:tc>
                  <a:txBody>
                    <a:bodyPr wrap="square" lIns="0" rIns="0" tIns="0" bIns="0"/>
                    <a:lstStyle/>
                    <a:p>
                      <a:pPr>
                        <a:lnSpc>
                          <a:spcPct val="110000"/>
                        </a:lnSpc>
                        <a:spcAft>
                          <a:spcPts val="0"/>
                        </a:spcAft>
                        <a:buNone/>
                      </a:pPr>
                      <a:r>
                        <a:rPr lang="ko-KR" sz="1500" b="1">
                          <a:solidFill>
                            <a:srgbClr val="FFFFFF"/>
                          </a:solidFill>
                          <a:latin typeface="Arial"/>
                          <a:ea typeface="MS PGothic"/>
                        </a:rPr>
                        <a:t>보정</a:t>
                      </a:r>
                    </a:p>
                  </a:txBody>
                  <a:tcPr marL="127000" marR="127000" marT="63500" marB="63500" anchor="ctr">
                    <a:solidFill>
                      <a:srgbClr val="000066"/>
                    </a:solidFill>
                  </a:tcPr>
                </a:tc>
                <a:tc>
                  <a:txBody>
                    <a:bodyPr wrap="square" lIns="0" rIns="0" tIns="0" bIns="0"/>
                    <a:lstStyle/>
                    <a:p>
                      <a:pPr>
                        <a:lnSpc>
                          <a:spcPct val="110000"/>
                        </a:lnSpc>
                        <a:spcAft>
                          <a:spcPts val="0"/>
                        </a:spcAft>
                        <a:buNone/>
                      </a:pPr>
                      <a:r>
                        <a:rPr lang="ko-KR" sz="1500" b="1">
                          <a:solidFill>
                            <a:srgbClr val="FFFFFF"/>
                          </a:solidFill>
                          <a:latin typeface="Arial"/>
                          <a:ea typeface="MS PGothic"/>
                        </a:rPr>
                        <a:t>추정 결과</a:t>
                      </a:r>
                    </a:p>
                  </a:txBody>
                  <a:tcPr marL="127000" marR="127000" marT="63500" marB="63500" anchor="ctr">
                    <a:solidFill>
                      <a:srgbClr val="000066"/>
                    </a:solidFill>
                  </a:tcPr>
                </a:tc>
              </a:tr>
              <a:tr h="901700">
                <a:tc>
                  <a:txBody>
                    <a:bodyPr wrap="square" lIns="0" rIns="0" tIns="0" bIns="0"/>
                    <a:lstStyle/>
                    <a:p>
                      <a:pPr>
                        <a:lnSpc>
                          <a:spcPct val="110000"/>
                        </a:lnSpc>
                        <a:spcAft>
                          <a:spcPts val="0"/>
                        </a:spcAft>
                        <a:buNone/>
                      </a:pPr>
                      <a:r>
                        <a:rPr lang="ko-KR" sz="1500" b="1">
                          <a:solidFill>
                            <a:srgbClr val="000066"/>
                          </a:solidFill>
                          <a:latin typeface="Arial"/>
                          <a:ea typeface="MS PGothic"/>
                        </a:rPr>
                        <a:t>IMU의 가속도·각속도로</a:t>
                      </a:r>
                      <a:br/>
                      <a:r>
                        <a:rPr lang="ko-KR" sz="1500" b="0">
                          <a:solidFill>
                            <a:srgbClr val="000066"/>
                          </a:solidFill>
                          <a:latin typeface="Arial"/>
                          <a:ea typeface="MS PGothic"/>
                        </a:rPr>
                        <a:t>다음 시점의 움직임 예측</a:t>
                      </a:r>
                    </a:p>
                  </a:txBody>
                  <a:tcPr marL="127000" marR="127000" marT="63500" marB="63500" anchor="ctr">
                    <a:solidFill>
                      <a:srgbClr val="F1F1F1"/>
                    </a:solidFill>
                  </a:tcPr>
                </a:tc>
                <a:tc>
                  <a:txBody>
                    <a:bodyPr wrap="square" lIns="0" rIns="0" tIns="0" bIns="0"/>
                    <a:lstStyle/>
                    <a:p>
                      <a:pPr>
                        <a:lnSpc>
                          <a:spcPct val="110000"/>
                        </a:lnSpc>
                        <a:spcAft>
                          <a:spcPts val="0"/>
                        </a:spcAft>
                        <a:buNone/>
                      </a:pPr>
                      <a:r>
                        <a:rPr sz="1400" b="0">
                          <a:solidFill>
                            <a:srgbClr val="333333"/>
                          </a:solidFill>
                          <a:latin typeface="Arial"/>
                          <a:ea typeface="맑은 고딕"/>
                        </a:rPr>
                        <a:t>영상 이동과 거리 정보로 보정</a:t>
                      </a:r>
                    </a:p>
                    <a:p>
                      <a:pPr>
                        <a:lnSpc>
                          <a:spcPct val="110000"/>
                        </a:lnSpc>
                        <a:spcAft>
                          <a:spcPts val="0"/>
                        </a:spcAft>
                        <a:buNone/>
                      </a:pPr>
                      <a:r>
                        <a:rPr sz="1400" b="0">
                          <a:solidFill>
                            <a:srgbClr val="333333"/>
                          </a:solidFill>
                          <a:latin typeface="Arial"/>
                          <a:ea typeface="맑은 고딕"/>
                        </a:rPr>
                        <a:t>(자이로로 회전 성분 제거)</a:t>
                      </a:r>
                    </a:p>
                  </a:txBody>
                  <a:tcPr marL="127000" marR="127000" marT="63500" marB="63500" anchor="ctr">
                    <a:solidFill>
                      <a:srgbClr val="FFFFFF"/>
                    </a:solidFill>
                  </a:tcPr>
                </a:tc>
                <a:tc>
                  <a:txBody>
                    <a:bodyPr wrap="square" lIns="0" rIns="0" tIns="0" bIns="0"/>
                    <a:lstStyle/>
                    <a:p>
                      <a:pPr>
                        <a:lnSpc>
                          <a:spcPct val="110000"/>
                        </a:lnSpc>
                        <a:spcAft>
                          <a:spcPts val="0"/>
                        </a:spcAft>
                        <a:buNone/>
                      </a:pPr>
                      <a:r>
                        <a:rPr lang="ko-KR" sz="1500" b="1">
                          <a:solidFill>
                            <a:srgbClr val="000066"/>
                          </a:solidFill>
                          <a:latin typeface="Arial"/>
                          <a:ea typeface="MS PGothic"/>
                        </a:rPr>
                        <a:t>여러 센서 정보를 결합한</a:t>
                      </a:r>
                      <a:br/>
                      <a:r>
                        <a:rPr lang="ko-KR" sz="1500" b="0">
                          <a:solidFill>
                            <a:srgbClr val="000066"/>
                          </a:solidFill>
                          <a:latin typeface="Arial"/>
                          <a:ea typeface="MS PGothic"/>
                        </a:rPr>
                        <a:t>위치·자세 추정값</a:t>
                      </a:r>
                    </a:p>
                  </a:txBody>
                  <a:tcPr marL="127000" marR="127000" marT="63500" marB="63500" anchor="ctr">
                    <a:solidFill>
                      <a:srgbClr val="FFFFFF"/>
                    </a:solidFill>
                  </a:tcPr>
                </a:tc>
              </a:tr>
            </a:tbl>
          </a:graphicData>
        </a:graphic>
      </p:graphicFrame>
      <p:graphicFrame>
        <p:nvGraphicFramePr>
          <p:cNvPr id="13" name="편집 가능한 비교표"/>
          <p:cNvGraphicFramePr/>
          <p:nvPr/>
        </p:nvGraphicFramePr>
        <p:xfrm>
          <a:off x="457200" y="4773168"/>
          <a:ext cx="8229600" cy="1170432"/>
        </p:xfrm>
        <a:graphic>
          <a:graphicData uri="http://schemas.openxmlformats.org/drawingml/2006/table">
            <a:tbl>
              <a:tblPr>
                <a:tableStyleId>{5C22544A-7EE6-4342-B048-85BDC9FD1C3A}</a:tableStyleId>
              </a:tblPr>
              <a:tblGrid>
                <a:gridCol w="2286000"/>
                <a:gridCol w="5943600"/>
              </a:tblGrid>
              <a:tr h="292608">
                <a:tc>
                  <a:txBody>
                    <a:bodyPr wrap="square" lIns="0" rIns="0" tIns="0" bIns="0"/>
                    <a:lstStyle/>
                    <a:p>
                      <a:pPr>
                        <a:lnSpc>
                          <a:spcPct val="110000"/>
                        </a:lnSpc>
                        <a:spcAft>
                          <a:spcPts val="0"/>
                        </a:spcAft>
                        <a:buNone/>
                      </a:pPr>
                      <a:r>
                        <a:rPr lang="ko-KR" sz="1400" b="1">
                          <a:solidFill>
                            <a:srgbClr val="FFFFFF"/>
                          </a:solidFill>
                          <a:latin typeface="Arial"/>
                          <a:ea typeface="MS PGothic"/>
                        </a:rPr>
                        <a:t>검증 항목</a:t>
                      </a:r>
                    </a:p>
                  </a:txBody>
                  <a:tcPr marL="127000" marR="127000" marT="63500" marB="63500" anchor="ctr">
                    <a:solidFill>
                      <a:srgbClr val="000066"/>
                    </a:solidFill>
                  </a:tcPr>
                </a:tc>
                <a:tc>
                  <a:txBody>
                    <a:bodyPr wrap="square" lIns="0" rIns="0" tIns="0" bIns="0"/>
                    <a:lstStyle/>
                    <a:p>
                      <a:pPr>
                        <a:lnSpc>
                          <a:spcPct val="110000"/>
                        </a:lnSpc>
                        <a:spcAft>
                          <a:spcPts val="0"/>
                        </a:spcAft>
                        <a:buNone/>
                      </a:pPr>
                      <a:r>
                        <a:rPr lang="ko-KR" sz="1400" b="1">
                          <a:solidFill>
                            <a:srgbClr val="FFFFFF"/>
                          </a:solidFill>
                          <a:latin typeface="Arial"/>
                          <a:ea typeface="MS PGothic"/>
                        </a:rPr>
                        <a:t>비교 계획</a:t>
                      </a:r>
                    </a:p>
                  </a:txBody>
                  <a:tcPr marL="127000" marR="127000" marT="63500" marB="63500" anchor="ctr">
                    <a:solidFill>
                      <a:srgbClr val="000066"/>
                    </a:solidFill>
                  </a:tcPr>
                </a:tc>
              </a:tr>
              <a:tr h="292608">
                <a:tc>
                  <a:txBody>
                    <a:bodyPr wrap="square" lIns="0" rIns="0" tIns="0" bIns="0"/>
                    <a:lstStyle/>
                    <a:p>
                      <a:pPr>
                        <a:lnSpc>
                          <a:spcPct val="110000"/>
                        </a:lnSpc>
                        <a:spcAft>
                          <a:spcPts val="0"/>
                        </a:spcAft>
                        <a:buNone/>
                      </a:pPr>
                      <a:r>
                        <a:rPr sz="1250" b="1">
                          <a:solidFill>
                            <a:srgbClr val="000066"/>
                          </a:solidFill>
                          <a:latin typeface="Arial"/>
                          <a:ea typeface="맑은 고딕"/>
                        </a:rPr>
                        <a:t>비교</a:t>
                      </a:r>
                    </a:p>
                  </a:txBody>
                  <a:tcPr marL="127000" marR="127000" marT="63500" marB="63500" anchor="ctr">
                    <a:solidFill>
                      <a:srgbClr val="F1F1F1"/>
                    </a:solidFill>
                  </a:tcPr>
                </a:tc>
                <a:tc>
                  <a:txBody>
                    <a:bodyPr wrap="square" lIns="0" rIns="0" tIns="0" bIns="0"/>
                    <a:lstStyle/>
                    <a:p>
                      <a:pPr>
                        <a:lnSpc>
                          <a:spcPct val="110000"/>
                        </a:lnSpc>
                        <a:spcAft>
                          <a:spcPts val="0"/>
                        </a:spcAft>
                        <a:buNone/>
                      </a:pPr>
                      <a:r>
                        <a:rPr sz="1250" b="0">
                          <a:solidFill>
                            <a:srgbClr val="333333"/>
                          </a:solidFill>
                          <a:latin typeface="Arial"/>
                          <a:ea typeface="맑은 고딕"/>
                        </a:rPr>
                        <a:t>시간 처리 미적용 vs 적용 (같은 데이터 · 초기 조건)</a:t>
                      </a:r>
                    </a:p>
                  </a:txBody>
                  <a:tcPr marL="127000" marR="127000" marT="63500" marB="63500" anchor="ctr">
                    <a:solidFill>
                      <a:srgbClr val="FFFFFF"/>
                    </a:solidFill>
                  </a:tcPr>
                </a:tc>
              </a:tr>
              <a:tr h="292608">
                <a:tc>
                  <a:txBody>
                    <a:bodyPr wrap="square" lIns="0" rIns="0" tIns="0" bIns="0"/>
                    <a:lstStyle/>
                    <a:p>
                      <a:pPr>
                        <a:lnSpc>
                          <a:spcPct val="110000"/>
                        </a:lnSpc>
                        <a:spcAft>
                          <a:spcPts val="0"/>
                        </a:spcAft>
                        <a:buNone/>
                      </a:pPr>
                      <a:r>
                        <a:rPr sz="1250" b="1">
                          <a:solidFill>
                            <a:srgbClr val="000066"/>
                          </a:solidFill>
                          <a:latin typeface="Arial"/>
                          <a:ea typeface="맑은 고딕"/>
                        </a:rPr>
                        <a:t>지표</a:t>
                      </a:r>
                    </a:p>
                  </a:txBody>
                  <a:tcPr marL="127000" marR="127000" marT="63500" marB="63500" anchor="ctr">
                    <a:solidFill>
                      <a:srgbClr val="F1F1F1"/>
                    </a:solidFill>
                  </a:tcPr>
                </a:tc>
                <a:tc>
                  <a:txBody>
                    <a:bodyPr wrap="square" lIns="0" rIns="0" tIns="0" bIns="0"/>
                    <a:lstStyle/>
                    <a:p>
                      <a:pPr>
                        <a:lnSpc>
                          <a:spcPct val="110000"/>
                        </a:lnSpc>
                        <a:spcAft>
                          <a:spcPts val="0"/>
                        </a:spcAft>
                        <a:buNone/>
                      </a:pPr>
                      <a:r>
                        <a:rPr sz="1250" b="0">
                          <a:solidFill>
                            <a:srgbClr val="333333"/>
                          </a:solidFill>
                          <a:latin typeface="Arial"/>
                          <a:ea typeface="맑은 고딕"/>
                        </a:rPr>
                        <a:t>기준값 대비 위치 · 자세 오차, 재추정 처리시간</a:t>
                      </a:r>
                    </a:p>
                  </a:txBody>
                  <a:tcPr marL="127000" marR="127000" marT="63500" marB="63500" anchor="ctr">
                    <a:solidFill>
                      <a:srgbClr val="FFFFFF"/>
                    </a:solidFill>
                  </a:tcPr>
                </a:tc>
              </a:tr>
              <a:tr h="292608">
                <a:tc>
                  <a:txBody>
                    <a:bodyPr wrap="square" lIns="0" rIns="0" tIns="0" bIns="0"/>
                    <a:lstStyle/>
                    <a:p>
                      <a:pPr>
                        <a:lnSpc>
                          <a:spcPct val="110000"/>
                        </a:lnSpc>
                        <a:spcAft>
                          <a:spcPts val="0"/>
                        </a:spcAft>
                        <a:buNone/>
                      </a:pPr>
                      <a:r>
                        <a:rPr sz="1250" b="1">
                          <a:solidFill>
                            <a:srgbClr val="000066"/>
                          </a:solidFill>
                          <a:latin typeface="Arial"/>
                          <a:ea typeface="맑은 고딕"/>
                        </a:rPr>
                        <a:t>기준값</a:t>
                      </a:r>
                    </a:p>
                  </a:txBody>
                  <a:tcPr marL="127000" marR="127000" marT="63500" marB="63500" anchor="ctr">
                    <a:solidFill>
                      <a:srgbClr val="F1F1F1"/>
                    </a:solidFill>
                  </a:tcPr>
                </a:tc>
                <a:tc>
                  <a:txBody>
                    <a:bodyPr wrap="square" lIns="0" rIns="0" tIns="0" bIns="0"/>
                    <a:lstStyle/>
                    <a:p>
                      <a:pPr>
                        <a:lnSpc>
                          <a:spcPct val="110000"/>
                        </a:lnSpc>
                        <a:spcAft>
                          <a:spcPts val="0"/>
                        </a:spcAft>
                        <a:buNone/>
                      </a:pPr>
                      <a:r>
                        <a:rPr sz="1250" b="0">
                          <a:solidFill>
                            <a:srgbClr val="333333"/>
                          </a:solidFill>
                          <a:latin typeface="Arial"/>
                          <a:ea typeface="맑은 고딕"/>
                        </a:rPr>
                        <a:t>사용 데이터의 정답 궤적 (데이터 확정 시 출처 명시)</a:t>
                      </a:r>
                    </a:p>
                  </a:txBody>
                  <a:tcPr marL="127000" marR="127000" marT="63500" marB="63500" anchor="ctr">
                    <a:solidFill>
                      <a:srgbClr val="FFFFFF"/>
                    </a:solidFill>
                  </a:tcPr>
                </a:tc>
              </a:tr>
            </a:tbl>
          </a:graphicData>
        </a:graphic>
      </p:graphicFrame>
      <p:sp>
        <p:nvSpPr>
          <p:cNvPr id="14" name="처리 그림 제목"/>
          <p:cNvSpPr txBox="1"/>
          <p:nvPr/>
        </p:nvSpPr>
        <p:spPr>
          <a:xfrm>
            <a:off x="457200" y="2907792"/>
            <a:ext cx="6217920" cy="274320"/>
          </a:xfrm>
          <a:prstGeom prst="rect">
            <a:avLst/>
          </a:prstGeom>
          <a:noFill/>
        </p:spPr>
        <p:txBody>
          <a:bodyPr wrap="square" anchor="t" lIns="45720" rIns="45720">
            <a:spAutoFit/>
          </a:bodyPr>
          <a:lstStyle/>
          <a:p>
            <a:pPr algn="l"/>
            <a:r>
              <a:rPr sz="1400" b="1">
                <a:solidFill>
                  <a:srgbClr val="000066"/>
                </a:solidFill>
                <a:latin typeface="Arial"/>
                <a:ea typeface="맑은 고딕"/>
              </a:rPr>
              <a:t>늦게 도착한 측정의 처리</a:t>
            </a:r>
          </a:p>
        </p:txBody>
      </p:sp>
      <p:cxnSp>
        <p:nvCxnSpPr>
          <p:cNvPr id="15" name="Connector 14"/>
          <p:cNvCxnSpPr/>
          <p:nvPr/>
        </p:nvCxnSpPr>
        <p:spPr>
          <a:xfrm>
            <a:off x="640080" y="4096512"/>
            <a:ext cx="5760720" cy="0"/>
          </a:xfrm>
          <a:prstGeom prst="line">
            <a:avLst/>
          </a:prstGeom>
          <a:ln w="15875">
            <a:solidFill>
              <a:srgbClr val="8080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09360" y="4123944"/>
            <a:ext cx="457200" cy="228600"/>
          </a:xfrm>
          <a:prstGeom prst="rect">
            <a:avLst/>
          </a:prstGeom>
          <a:noFill/>
        </p:spPr>
        <p:txBody>
          <a:bodyPr wrap="square" anchor="t" lIns="45720" rIns="45720">
            <a:spAutoFit/>
          </a:bodyPr>
          <a:lstStyle/>
          <a:p>
            <a:pPr algn="l"/>
            <a:r>
              <a:rPr sz="1050" b="0">
                <a:solidFill>
                  <a:srgbClr val="808080"/>
                </a:solidFill>
                <a:latin typeface="Arial"/>
                <a:ea typeface="맑은 고딕"/>
              </a:rPr>
              <a:t>시간</a:t>
            </a:r>
          </a:p>
        </p:txBody>
      </p:sp>
      <p:sp>
        <p:nvSpPr>
          <p:cNvPr id="17" name="Oval 16"/>
          <p:cNvSpPr/>
          <p:nvPr/>
        </p:nvSpPr>
        <p:spPr>
          <a:xfrm>
            <a:off x="781811"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47572"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513331"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879091"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244851"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610611"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976371"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342131"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707891"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073652"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439412"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805172"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170932"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536692"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902452" y="4055364"/>
            <a:ext cx="82296" cy="82296"/>
          </a:xfrm>
          <a:prstGeom prst="ellipse">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767328"/>
            <a:ext cx="1188720" cy="228600"/>
          </a:xfrm>
          <a:prstGeom prst="rect">
            <a:avLst/>
          </a:prstGeom>
          <a:noFill/>
        </p:spPr>
        <p:txBody>
          <a:bodyPr wrap="square" anchor="t" lIns="45720" rIns="45720">
            <a:spAutoFit/>
          </a:bodyPr>
          <a:lstStyle/>
          <a:p>
            <a:pPr algn="l"/>
            <a:r>
              <a:rPr sz="1050" b="0">
                <a:solidFill>
                  <a:srgbClr val="808080"/>
                </a:solidFill>
                <a:latin typeface="Arial"/>
                <a:ea typeface="맑은 고딕"/>
              </a:rPr>
              <a:t>IMU 예측</a:t>
            </a:r>
          </a:p>
        </p:txBody>
      </p:sp>
      <p:cxnSp>
        <p:nvCxnSpPr>
          <p:cNvPr id="33" name="Connector 32"/>
          <p:cNvCxnSpPr/>
          <p:nvPr/>
        </p:nvCxnSpPr>
        <p:spPr>
          <a:xfrm>
            <a:off x="2103120" y="3227832"/>
            <a:ext cx="0" cy="960120"/>
          </a:xfrm>
          <a:prstGeom prst="line">
            <a:avLst/>
          </a:prstGeom>
          <a:ln w="12700">
            <a:solidFill>
              <a:srgbClr val="000066"/>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663440" y="3227832"/>
            <a:ext cx="0" cy="960120"/>
          </a:xfrm>
          <a:prstGeom prst="line">
            <a:avLst/>
          </a:prstGeom>
          <a:ln w="12700">
            <a:solidFill>
              <a:srgbClr val="000066"/>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280160" y="4187952"/>
            <a:ext cx="1645920" cy="256032"/>
          </a:xfrm>
          <a:prstGeom prst="rect">
            <a:avLst/>
          </a:prstGeom>
          <a:noFill/>
        </p:spPr>
        <p:txBody>
          <a:bodyPr wrap="square" anchor="t" lIns="45720" rIns="45720">
            <a:spAutoFit/>
          </a:bodyPr>
          <a:lstStyle/>
          <a:p>
            <a:pPr algn="ctr"/>
            <a:r>
              <a:rPr sz="1100" b="1">
                <a:solidFill>
                  <a:srgbClr val="000066"/>
                </a:solidFill>
                <a:latin typeface="Arial"/>
                <a:ea typeface="맑은 고딕"/>
              </a:rPr>
              <a:t>t_k  카메라 측정 시점</a:t>
            </a:r>
          </a:p>
        </p:txBody>
      </p:sp>
      <p:sp>
        <p:nvSpPr>
          <p:cNvPr id="36" name="TextBox 35"/>
          <p:cNvSpPr txBox="1"/>
          <p:nvPr/>
        </p:nvSpPr>
        <p:spPr>
          <a:xfrm>
            <a:off x="3840479" y="4187952"/>
            <a:ext cx="1645920" cy="256032"/>
          </a:xfrm>
          <a:prstGeom prst="rect">
            <a:avLst/>
          </a:prstGeom>
          <a:noFill/>
        </p:spPr>
        <p:txBody>
          <a:bodyPr wrap="square" anchor="t" lIns="45720" rIns="45720">
            <a:spAutoFit/>
          </a:bodyPr>
          <a:lstStyle/>
          <a:p>
            <a:pPr algn="ctr"/>
            <a:r>
              <a:rPr sz="1100" b="1">
                <a:solidFill>
                  <a:srgbClr val="000066"/>
                </a:solidFill>
                <a:latin typeface="Arial"/>
                <a:ea typeface="맑은 고딕"/>
              </a:rPr>
              <a:t>t_k+Δt  측정 도착</a:t>
            </a:r>
          </a:p>
        </p:txBody>
      </p:sp>
      <p:cxnSp>
        <p:nvCxnSpPr>
          <p:cNvPr id="37" name="Connector 36"/>
          <p:cNvCxnSpPr/>
          <p:nvPr/>
        </p:nvCxnSpPr>
        <p:spPr>
          <a:xfrm flipH="1">
            <a:off x="2148839" y="3383280"/>
            <a:ext cx="2468881" cy="0"/>
          </a:xfrm>
          <a:prstGeom prst="line">
            <a:avLst/>
          </a:prstGeom>
          <a:ln w="25400">
            <a:solidFill>
              <a:srgbClr val="0000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194560" y="3118104"/>
            <a:ext cx="2377439" cy="246888"/>
          </a:xfrm>
          <a:prstGeom prst="rect">
            <a:avLst/>
          </a:prstGeom>
          <a:noFill/>
        </p:spPr>
        <p:txBody>
          <a:bodyPr wrap="square" anchor="t" lIns="45720" rIns="45720">
            <a:spAutoFit/>
          </a:bodyPr>
          <a:lstStyle/>
          <a:p>
            <a:pPr algn="ctr"/>
            <a:r>
              <a:rPr sz="1150" b="1">
                <a:solidFill>
                  <a:srgbClr val="000066"/>
                </a:solidFill>
                <a:latin typeface="Arial"/>
                <a:ea typeface="맑은 고딕"/>
              </a:rPr>
              <a:t>① 측정 시점으로 돌아가 보정</a:t>
            </a:r>
          </a:p>
        </p:txBody>
      </p:sp>
      <p:cxnSp>
        <p:nvCxnSpPr>
          <p:cNvPr id="39" name="Connector 38"/>
          <p:cNvCxnSpPr/>
          <p:nvPr/>
        </p:nvCxnSpPr>
        <p:spPr>
          <a:xfrm>
            <a:off x="2148839" y="3822192"/>
            <a:ext cx="4023361" cy="0"/>
          </a:xfrm>
          <a:prstGeom prst="line">
            <a:avLst/>
          </a:prstGeom>
          <a:ln w="19050">
            <a:solidFill>
              <a:srgbClr val="00006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736592" y="3547872"/>
            <a:ext cx="1737360" cy="246888"/>
          </a:xfrm>
          <a:prstGeom prst="rect">
            <a:avLst/>
          </a:prstGeom>
          <a:noFill/>
        </p:spPr>
        <p:txBody>
          <a:bodyPr wrap="square" anchor="t" lIns="45720" rIns="45720">
            <a:spAutoFit/>
          </a:bodyPr>
          <a:lstStyle/>
          <a:p>
            <a:pPr algn="l"/>
            <a:r>
              <a:rPr sz="1150" b="1">
                <a:solidFill>
                  <a:srgbClr val="000066"/>
                </a:solidFill>
                <a:latin typeface="Arial"/>
                <a:ea typeface="맑은 고딕"/>
              </a:rPr>
              <a:t>② 현재까지 재추정</a:t>
            </a:r>
          </a:p>
        </p:txBody>
      </p:sp>
      <p:sp>
        <p:nvSpPr>
          <p:cNvPr id="41" name="TextBox 40"/>
          <p:cNvSpPr txBox="1"/>
          <p:nvPr/>
        </p:nvSpPr>
        <p:spPr>
          <a:xfrm>
            <a:off x="457200" y="4480560"/>
            <a:ext cx="6309360" cy="246888"/>
          </a:xfrm>
          <a:prstGeom prst="rect">
            <a:avLst/>
          </a:prstGeom>
          <a:noFill/>
        </p:spPr>
        <p:txBody>
          <a:bodyPr wrap="square" anchor="t" lIns="45720" rIns="45720">
            <a:spAutoFit/>
          </a:bodyPr>
          <a:lstStyle/>
          <a:p>
            <a:pPr algn="l"/>
            <a:r>
              <a:rPr sz="1200" b="0">
                <a:solidFill>
                  <a:srgbClr val="333333"/>
                </a:solidFill>
                <a:latin typeface="Arial"/>
                <a:ea typeface="맑은 고딕"/>
              </a:rPr>
              <a:t>새 측정이 없는 시점에는 예측만 진행하고, 측정이 도착하면 보정</a:t>
            </a:r>
          </a:p>
        </p:txBody>
      </p:sp>
      <p:sp>
        <p:nvSpPr>
          <p:cNvPr id="42" name="버퍼"/>
          <p:cNvSpPr/>
          <p:nvPr/>
        </p:nvSpPr>
        <p:spPr>
          <a:xfrm>
            <a:off x="6812280" y="3044952"/>
            <a:ext cx="1874519" cy="16002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400" b="1">
                <a:solidFill>
                  <a:srgbClr val="000066"/>
                </a:solidFill>
                <a:latin typeface="Arial"/>
                <a:ea typeface="맑은 고딕"/>
              </a:rPr>
              <a:t>버퍼에 저장</a:t>
            </a:r>
          </a:p>
          <a:p>
            <a:pPr algn="l"/>
            <a:r>
              <a:rPr sz="1300" b="0">
                <a:solidFill>
                  <a:srgbClr val="333333"/>
                </a:solidFill>
                <a:latin typeface="Arial"/>
                <a:ea typeface="맑은 고딕"/>
              </a:rPr>
              <a:t>· 과거 상태</a:t>
            </a:r>
          </a:p>
          <a:p>
            <a:pPr algn="l"/>
            <a:r>
              <a:rPr sz="1300" b="0">
                <a:solidFill>
                  <a:srgbClr val="333333"/>
                </a:solidFill>
                <a:latin typeface="Arial"/>
                <a:ea typeface="맑은 고딕"/>
              </a:rPr>
              <a:t>· IMU 입력</a:t>
            </a:r>
          </a:p>
          <a:p>
            <a:pPr algn="l"/>
            <a:r>
              <a:rPr sz="1300" b="0">
                <a:solidFill>
                  <a:srgbClr val="333333"/>
                </a:solidFill>
                <a:latin typeface="Arial"/>
                <a:ea typeface="맑은 고딕"/>
              </a:rPr>
              <a:t>· 측정값</a:t>
            </a:r>
          </a:p>
          <a:p>
            <a:pPr algn="l"/>
            <a:r>
              <a:rPr sz="1300" b="0">
                <a:solidFill>
                  <a:srgbClr val="333333"/>
                </a:solidFill>
                <a:latin typeface="Arial"/>
                <a:ea typeface="맑은 고딕"/>
              </a:rPr>
              <a:t>· 타임스탬프</a:t>
            </a:r>
          </a:p>
        </p:txBody>
      </p:sp>
    </p:spTree>
    <p:extLst>
      <p:ext uri="{BB962C8B-B14F-4D97-AF65-F5344CB8AC3E}">
        <p14:creationId xmlns:p14="http://schemas.microsoft.com/office/powerpoint/2010/main" val="37135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연구계획</a:t>
            </a:r>
          </a:p>
        </p:txBody>
      </p:sp>
      <p:nvGrpSpPr>
        <p:cNvPr id="1" name=""/>
        <p:cNvGrpSpPr/>
        <p:nvPr/>
      </p:nvGrpSpPr>
      <p:sp>
        <p:nvSpPr>
          <p:cNvPr id="3" name="Pentagon 2"/>
          <p:cNvSpPr/>
          <p:nvPr/>
        </p:nvSpPr>
        <p:spPr>
          <a:xfrm>
            <a:off x="457200" y="1188720"/>
            <a:ext cx="2194560" cy="731520"/>
          </a:xfrm>
          <a:prstGeom prst="homePlate">
            <a:avLst/>
          </a:prstGeom>
          <a:solidFill>
            <a:srgbClr val="E8E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000066"/>
                </a:solidFill>
                <a:latin typeface="Arial"/>
                <a:ea typeface="맑은 고딕"/>
              </a:rPr>
              <a:t>10월 전반</a:t>
            </a:r>
          </a:p>
        </p:txBody>
      </p:sp>
      <p:sp>
        <p:nvSpPr>
          <p:cNvPr id="4" name="수행 10월 전반"/>
          <p:cNvSpPr txBox="1"/>
          <p:nvPr/>
        </p:nvSpPr>
        <p:spPr>
          <a:xfrm>
            <a:off x="502920" y="2103120"/>
            <a:ext cx="1920240" cy="1325880"/>
          </a:xfrm>
          <a:prstGeom prst="rect">
            <a:avLst/>
          </a:prstGeom>
          <a:noFill/>
        </p:spPr>
        <p:txBody>
          <a:bodyPr wrap="square" anchor="t" lIns="45720" rIns="45720">
            <a:spAutoFit/>
          </a:bodyPr>
          <a:lstStyle/>
          <a:p>
            <a:pPr algn="l"/>
            <a:r>
              <a:rPr sz="1350" b="1">
                <a:solidFill>
                  <a:srgbClr val="000066"/>
                </a:solidFill>
                <a:latin typeface="Arial"/>
                <a:ea typeface="맑은 고딕"/>
              </a:rPr>
              <a:t>선행논문 분석 및 센서 데이터 확인</a:t>
            </a:r>
          </a:p>
          <a:p>
            <a:pPr algn="l"/>
            <a:r>
              <a:rPr sz="1350" b="0">
                <a:solidFill>
                  <a:srgbClr val="333333"/>
                </a:solidFill>
                <a:latin typeface="Arial"/>
                <a:ea typeface="맑은 고딕"/>
              </a:rPr>
              <a:t>측정 주기·타임스탬프·지연 정리</a:t>
            </a:r>
          </a:p>
        </p:txBody>
      </p:sp>
      <p:sp>
        <p:nvSpPr>
          <p:cNvPr id="5" name="결과 10월 전반"/>
          <p:cNvSpPr/>
          <p:nvPr/>
        </p:nvSpPr>
        <p:spPr>
          <a:xfrm>
            <a:off x="502920" y="3566160"/>
            <a:ext cx="1874519"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r>
              <a:rPr sz="1100" b="1">
                <a:solidFill>
                  <a:srgbClr val="808080"/>
                </a:solidFill>
                <a:latin typeface="Arial"/>
                <a:ea typeface="맑은 고딕"/>
              </a:rPr>
              <a:t>확인할 결과</a:t>
            </a:r>
          </a:p>
          <a:p>
            <a:pPr algn="l"/>
            <a:r>
              <a:rPr sz="1250" b="0">
                <a:solidFill>
                  <a:srgbClr val="333333"/>
                </a:solidFill>
                <a:latin typeface="Arial"/>
                <a:ea typeface="맑은 고딕"/>
              </a:rPr>
              <a:t>시간 처리 절차 정리</a:t>
            </a:r>
          </a:p>
          <a:p>
            <a:pPr algn="l"/>
            <a:r>
              <a:rPr sz="1250" b="0">
                <a:solidFill>
                  <a:srgbClr val="333333"/>
                </a:solidFill>
                <a:latin typeface="Arial"/>
                <a:ea typeface="맑은 고딕"/>
              </a:rPr>
              <a:t>센서 데이터 특성 파악</a:t>
            </a:r>
          </a:p>
        </p:txBody>
      </p:sp>
      <p:sp>
        <p:nvSpPr>
          <p:cNvPr id="6" name="Chevron 5"/>
          <p:cNvSpPr/>
          <p:nvPr/>
        </p:nvSpPr>
        <p:spPr>
          <a:xfrm>
            <a:off x="2468880" y="1188720"/>
            <a:ext cx="2194560" cy="731520"/>
          </a:xfrm>
          <a:prstGeom prst="chevron">
            <a:avLst/>
          </a:prstGeom>
          <a:solidFill>
            <a:srgbClr val="E8E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000066"/>
                </a:solidFill>
                <a:latin typeface="Arial"/>
                <a:ea typeface="맑은 고딕"/>
              </a:rPr>
              <a:t>10월 후반</a:t>
            </a:r>
          </a:p>
        </p:txBody>
      </p:sp>
      <p:sp>
        <p:nvSpPr>
          <p:cNvPr id="7" name="수행 10월 후반"/>
          <p:cNvSpPr txBox="1"/>
          <p:nvPr/>
        </p:nvSpPr>
        <p:spPr>
          <a:xfrm>
            <a:off x="2514600" y="2103120"/>
            <a:ext cx="1920240" cy="1325880"/>
          </a:xfrm>
          <a:prstGeom prst="rect">
            <a:avLst/>
          </a:prstGeom>
          <a:noFill/>
        </p:spPr>
        <p:txBody>
          <a:bodyPr wrap="square" anchor="t" lIns="45720" rIns="45720">
            <a:spAutoFit/>
          </a:bodyPr>
          <a:lstStyle/>
          <a:p>
            <a:pPr algn="l"/>
            <a:r>
              <a:rPr sz="1350" b="1">
                <a:solidFill>
                  <a:srgbClr val="000066"/>
                </a:solidFill>
                <a:latin typeface="Arial"/>
                <a:ea typeface="맑은 고딕"/>
              </a:rPr>
              <a:t>영상 이동 추적 및 IMU 예측 구현</a:t>
            </a:r>
          </a:p>
          <a:p>
            <a:pPr algn="l"/>
            <a:r>
              <a:rPr sz="1350" b="0">
                <a:solidFill>
                  <a:srgbClr val="333333"/>
                </a:solidFill>
                <a:latin typeface="Arial"/>
                <a:ea typeface="맑은 고딕"/>
              </a:rPr>
              <a:t>기본 센서 융합 구조 구성</a:t>
            </a:r>
          </a:p>
        </p:txBody>
      </p:sp>
      <p:sp>
        <p:nvSpPr>
          <p:cNvPr id="8" name="결과 10월 후반"/>
          <p:cNvSpPr/>
          <p:nvPr/>
        </p:nvSpPr>
        <p:spPr>
          <a:xfrm>
            <a:off x="2514600" y="3566160"/>
            <a:ext cx="1874519"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r>
              <a:rPr sz="1100" b="1">
                <a:solidFill>
                  <a:srgbClr val="808080"/>
                </a:solidFill>
                <a:latin typeface="Arial"/>
                <a:ea typeface="맑은 고딕"/>
              </a:rPr>
              <a:t>확인할 결과</a:t>
            </a:r>
          </a:p>
          <a:p>
            <a:pPr algn="l"/>
            <a:r>
              <a:rPr sz="1250" b="0">
                <a:solidFill>
                  <a:srgbClr val="333333"/>
                </a:solidFill>
                <a:latin typeface="Arial"/>
                <a:ea typeface="맑은 고딕"/>
              </a:rPr>
              <a:t>센서별 처리 결과</a:t>
            </a:r>
          </a:p>
          <a:p>
            <a:pPr algn="l"/>
            <a:r>
              <a:rPr sz="1250" b="0">
                <a:solidFill>
                  <a:srgbClr val="333333"/>
                </a:solidFill>
                <a:latin typeface="Arial"/>
                <a:ea typeface="맑은 고딕"/>
              </a:rPr>
              <a:t>기본 추정기 동작</a:t>
            </a:r>
          </a:p>
        </p:txBody>
      </p:sp>
      <p:sp>
        <p:nvSpPr>
          <p:cNvPr id="9" name="Chevron 8"/>
          <p:cNvSpPr/>
          <p:nvPr/>
        </p:nvSpPr>
        <p:spPr>
          <a:xfrm>
            <a:off x="4480560" y="1188720"/>
            <a:ext cx="2194560" cy="731520"/>
          </a:xfrm>
          <a:prstGeom prst="chevron">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rial"/>
                <a:ea typeface="맑은 고딕"/>
              </a:rPr>
              <a:t>11월</a:t>
            </a:r>
          </a:p>
        </p:txBody>
      </p:sp>
      <p:sp>
        <p:nvSpPr>
          <p:cNvPr id="10" name="수행 11월"/>
          <p:cNvSpPr txBox="1"/>
          <p:nvPr/>
        </p:nvSpPr>
        <p:spPr>
          <a:xfrm>
            <a:off x="4526280" y="2103120"/>
            <a:ext cx="1920240" cy="1325880"/>
          </a:xfrm>
          <a:prstGeom prst="rect">
            <a:avLst/>
          </a:prstGeom>
          <a:noFill/>
        </p:spPr>
        <p:txBody>
          <a:bodyPr wrap="square" anchor="t" lIns="45720" rIns="45720">
            <a:spAutoFit/>
          </a:bodyPr>
          <a:lstStyle/>
          <a:p>
            <a:pPr algn="l"/>
            <a:r>
              <a:rPr sz="1350" b="1">
                <a:solidFill>
                  <a:srgbClr val="000066"/>
                </a:solidFill>
                <a:latin typeface="Arial"/>
                <a:ea typeface="맑은 고딕"/>
              </a:rPr>
              <a:t>지연 보상·시간 정렬 구현</a:t>
            </a:r>
          </a:p>
          <a:p>
            <a:pPr algn="l"/>
            <a:r>
              <a:rPr sz="1350" b="0">
                <a:solidFill>
                  <a:srgbClr val="333333"/>
                </a:solidFill>
                <a:latin typeface="Arial"/>
                <a:ea typeface="맑은 고딕"/>
              </a:rPr>
              <a:t>과거 상태 보정 및 재추정 적용</a:t>
            </a:r>
          </a:p>
        </p:txBody>
      </p:sp>
      <p:sp>
        <p:nvSpPr>
          <p:cNvPr id="11" name="결과 11월"/>
          <p:cNvSpPr/>
          <p:nvPr/>
        </p:nvSpPr>
        <p:spPr>
          <a:xfrm>
            <a:off x="4526280" y="3566160"/>
            <a:ext cx="1874519"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r>
              <a:rPr sz="1100" b="1">
                <a:solidFill>
                  <a:srgbClr val="808080"/>
                </a:solidFill>
                <a:latin typeface="Arial"/>
                <a:ea typeface="맑은 고딕"/>
              </a:rPr>
              <a:t>확인할 결과</a:t>
            </a:r>
          </a:p>
          <a:p>
            <a:pPr algn="l"/>
            <a:r>
              <a:rPr sz="1250" b="0">
                <a:solidFill>
                  <a:srgbClr val="333333"/>
                </a:solidFill>
                <a:latin typeface="Arial"/>
                <a:ea typeface="맑은 고딕"/>
              </a:rPr>
              <a:t>시간 처리를 포함한</a:t>
            </a:r>
          </a:p>
          <a:p>
            <a:pPr algn="l"/>
            <a:r>
              <a:rPr sz="1250" b="0">
                <a:solidFill>
                  <a:srgbClr val="333333"/>
                </a:solidFill>
                <a:latin typeface="Arial"/>
                <a:ea typeface="맑은 고딕"/>
              </a:rPr>
              <a:t>다중센서 융합 추정기</a:t>
            </a:r>
          </a:p>
        </p:txBody>
      </p:sp>
      <p:sp>
        <p:nvSpPr>
          <p:cNvPr id="12" name="Chevron 11"/>
          <p:cNvSpPr/>
          <p:nvPr/>
        </p:nvSpPr>
        <p:spPr>
          <a:xfrm>
            <a:off x="6492240" y="1188720"/>
            <a:ext cx="2194560" cy="731520"/>
          </a:xfrm>
          <a:prstGeom prst="chevron">
            <a:avLst/>
          </a:prstGeom>
          <a:solidFill>
            <a:srgbClr val="E8E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000066"/>
                </a:solidFill>
                <a:latin typeface="Arial"/>
                <a:ea typeface="맑은 고딕"/>
              </a:rPr>
              <a:t>12월</a:t>
            </a:r>
          </a:p>
        </p:txBody>
      </p:sp>
      <p:sp>
        <p:nvSpPr>
          <p:cNvPr id="13" name="수행 12월"/>
          <p:cNvSpPr txBox="1"/>
          <p:nvPr/>
        </p:nvSpPr>
        <p:spPr>
          <a:xfrm>
            <a:off x="6537960" y="2103120"/>
            <a:ext cx="1920240" cy="1325880"/>
          </a:xfrm>
          <a:prstGeom prst="rect">
            <a:avLst/>
          </a:prstGeom>
          <a:noFill/>
        </p:spPr>
        <p:txBody>
          <a:bodyPr wrap="square" anchor="t" lIns="45720" rIns="45720">
            <a:spAutoFit/>
          </a:bodyPr>
          <a:lstStyle/>
          <a:p>
            <a:pPr algn="l"/>
            <a:r>
              <a:rPr sz="1350" b="1">
                <a:solidFill>
                  <a:srgbClr val="000066"/>
                </a:solidFill>
                <a:latin typeface="Arial"/>
                <a:ea typeface="맑은 고딕"/>
              </a:rPr>
              <a:t>시간 처리 적용 전·후 비교</a:t>
            </a:r>
          </a:p>
          <a:p>
            <a:pPr algn="l"/>
            <a:r>
              <a:rPr sz="1350" b="0">
                <a:solidFill>
                  <a:srgbClr val="333333"/>
                </a:solidFill>
                <a:latin typeface="Arial"/>
                <a:ea typeface="맑은 고딕"/>
              </a:rPr>
              <a:t>추정 오차·처리시간 분석</a:t>
            </a:r>
          </a:p>
        </p:txBody>
      </p:sp>
      <p:sp>
        <p:nvSpPr>
          <p:cNvPr id="14" name="결과 12월"/>
          <p:cNvSpPr/>
          <p:nvPr/>
        </p:nvSpPr>
        <p:spPr>
          <a:xfrm>
            <a:off x="6537960" y="3566160"/>
            <a:ext cx="1874519"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r>
              <a:rPr sz="1100" b="1">
                <a:solidFill>
                  <a:srgbClr val="808080"/>
                </a:solidFill>
                <a:latin typeface="Arial"/>
                <a:ea typeface="맑은 고딕"/>
              </a:rPr>
              <a:t>확인할 결과</a:t>
            </a:r>
          </a:p>
          <a:p>
            <a:pPr algn="l"/>
            <a:r>
              <a:rPr sz="1250" b="0">
                <a:solidFill>
                  <a:srgbClr val="333333"/>
                </a:solidFill>
                <a:latin typeface="Arial"/>
                <a:ea typeface="맑은 고딕"/>
              </a:rPr>
              <a:t>효과와 적용 한계 정리</a:t>
            </a:r>
          </a:p>
          <a:p>
            <a:pPr algn="l"/>
            <a:r>
              <a:rPr sz="1250" b="0">
                <a:solidFill>
                  <a:srgbClr val="333333"/>
                </a:solidFill>
                <a:latin typeface="Arial"/>
                <a:ea typeface="맑은 고딕"/>
              </a:rPr>
              <a:t>최종 보고서 및 발표</a:t>
            </a:r>
          </a:p>
        </p:txBody>
      </p:sp>
      <p:sp>
        <p:nvSpPr>
          <p:cNvPr id="15" name="최종 목표"/>
          <p:cNvSpPr/>
          <p:nvPr/>
        </p:nvSpPr>
        <p:spPr>
          <a:xfrm>
            <a:off x="457200" y="4846320"/>
            <a:ext cx="8229600" cy="685800"/>
          </a:xfrm>
          <a:prstGeom prst="rect">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Arial"/>
                <a:ea typeface="맑은 고딕"/>
              </a:rPr>
              <a:t>최종 목표   </a:t>
            </a:r>
            <a:r>
              <a:rPr sz="1800" b="1">
                <a:solidFill>
                  <a:srgbClr val="FFFFFF"/>
                </a:solidFill>
                <a:latin typeface="Arial"/>
                <a:ea typeface="맑은 고딕"/>
              </a:rPr>
              <a:t>추정기 구현과 시간 처리 효과 검증</a:t>
            </a:r>
          </a:p>
        </p:txBody>
      </p:sp>
    </p:spTree>
    <p:extLst>
      <p:ext uri="{BB962C8B-B14F-4D97-AF65-F5344CB8AC3E}">
        <p14:creationId xmlns:p14="http://schemas.microsoft.com/office/powerpoint/2010/main" val="37135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참고문헌 / 감사합니다</a:t>
            </a:r>
          </a:p>
        </p:txBody>
      </p:sp>
      <p:nvGrpSpPr>
        <p:cNvPr id="1" name=""/>
        <p:cNvGrpSpPr/>
        <p:nvPr/>
      </p:nvGrpSpPr>
      <p:sp>
        <p:nvSpPr>
          <p:cNvPr id="10" name="참고문헌"/>
          <p:cNvSpPr txBox="1"/>
          <p:nvPr/>
        </p:nvSpPr>
        <p:spPr>
          <a:xfrm>
            <a:off x="457200" y="1051560"/>
            <a:ext cx="8229600" cy="3154680"/>
          </a:xfrm>
          <a:prstGeom prst="rect">
            <a:avLst/>
          </a:prstGeom>
          <a:noFill/>
          <a:ln>
            <a:noFill/>
          </a:ln>
        </p:spPr>
        <p:txBody>
          <a:bodyPr wrap="square" lIns="0" rIns="0" tIns="0" bIns="0"/>
          <a:lstStyle/>
          <a:p>
            <a:pPr>
              <a:lnSpc>
                <a:spcPct val="110000"/>
              </a:lnSpc>
              <a:spcAft>
                <a:spcPts val="400"/>
              </a:spcAft>
              <a:buNone/>
            </a:pPr>
            <a:r>
              <a:rPr lang="ko-KR" sz="1300" b="0">
                <a:solidFill>
                  <a:srgbClr val="333333"/>
                </a:solidFill>
                <a:latin typeface="Arial"/>
                <a:ea typeface="MS PGothic"/>
              </a:rPr>
              <a:t>[1] M. Kim and C. Ahn (2025)</a:t>
            </a:r>
            <a:br/>
            <a:r>
              <a:rPr lang="ko-KR" sz="1300" b="0">
                <a:solidFill>
                  <a:srgbClr val="333333"/>
                </a:solidFill>
                <a:latin typeface="Arial"/>
                <a:ea typeface="MS PGothic"/>
              </a:rPr>
              <a:t>State Estimation of Preceding Target Vehicle Using Radar and V2X.</a:t>
            </a:r>
            <a:br/>
            <a:r>
              <a:rPr lang="ko-KR" sz="1300" b="0">
                <a:solidFill>
                  <a:srgbClr val="333333"/>
                </a:solidFill>
                <a:latin typeface="Arial"/>
                <a:ea typeface="MS PGothic"/>
              </a:rPr>
              <a:t>IEEE Access, 13, 198482–198495. DOI: 10.1109/ACCESS.2025.3635569</a:t>
            </a:r>
          </a:p>
          <a:p>
            <a:pPr>
              <a:lnSpc>
                <a:spcPct val="110000"/>
              </a:lnSpc>
              <a:spcAft>
                <a:spcPts val="400"/>
              </a:spcAft>
              <a:buNone/>
            </a:pPr>
            <a:r>
              <a:rPr lang="ko-KR" sz="1300" b="0">
                <a:solidFill>
                  <a:srgbClr val="333333"/>
                </a:solidFill>
                <a:latin typeface="Arial"/>
                <a:ea typeface="MS PGothic"/>
              </a:rPr>
              <a:t>[2] A. I. Mourikis and S. I. Roumeliotis (2007)</a:t>
            </a:r>
            <a:br/>
            <a:r>
              <a:rPr lang="ko-KR" sz="1300" b="0">
                <a:solidFill>
                  <a:srgbClr val="333333"/>
                </a:solidFill>
                <a:latin typeface="Arial"/>
                <a:ea typeface="MS PGothic"/>
              </a:rPr>
              <a:t>A Multi-State Constraint Kalman Filter for Vision-aided Inertial Navigation.</a:t>
            </a:r>
            <a:br/>
            <a:r>
              <a:rPr lang="ko-KR" sz="1300" b="0">
                <a:solidFill>
                  <a:srgbClr val="333333"/>
                </a:solidFill>
                <a:latin typeface="Arial"/>
                <a:ea typeface="MS PGothic"/>
              </a:rPr>
              <a:t>IEEE ICRA, 3565–3572.</a:t>
            </a:r>
          </a:p>
          <a:p>
            <a:pPr>
              <a:lnSpc>
                <a:spcPct val="110000"/>
              </a:lnSpc>
              <a:spcAft>
                <a:spcPts val="400"/>
              </a:spcAft>
              <a:buNone/>
            </a:pPr>
            <a:r>
              <a:rPr lang="ko-KR" sz="1300" b="0">
                <a:solidFill>
                  <a:srgbClr val="333333"/>
                </a:solidFill>
                <a:latin typeface="Arial"/>
                <a:ea typeface="MS PGothic"/>
              </a:rPr>
              <a:t>[3] P. Geneva et al. (2020)</a:t>
            </a:r>
            <a:br/>
            <a:r>
              <a:rPr lang="ko-KR" sz="1300" b="0">
                <a:solidFill>
                  <a:srgbClr val="333333"/>
                </a:solidFill>
                <a:latin typeface="Arial"/>
                <a:ea typeface="MS PGothic"/>
              </a:rPr>
              <a:t>OpenVINS: A Research Platform for Visual-Inertial Estimation.</a:t>
            </a:r>
            <a:br/>
            <a:r>
              <a:rPr lang="ko-KR" sz="1300" b="0">
                <a:solidFill>
                  <a:srgbClr val="333333"/>
                </a:solidFill>
                <a:latin typeface="Arial"/>
                <a:ea typeface="MS PGothic"/>
              </a:rPr>
              <a:t>IEEE ICRA, 4666–4672.</a:t>
            </a:r>
          </a:p>
          <a:p>
            <a:pPr>
              <a:lnSpc>
                <a:spcPct val="110000"/>
              </a:lnSpc>
              <a:spcAft>
                <a:spcPts val="400"/>
              </a:spcAft>
              <a:buNone/>
            </a:pPr>
            <a:r>
              <a:rPr lang="ko-KR" sz="1300" b="0">
                <a:solidFill>
                  <a:srgbClr val="333333"/>
                </a:solidFill>
                <a:latin typeface="Arial"/>
                <a:ea typeface="MS PGothic"/>
              </a:rPr>
              <a:t>[4] D. S. Bayard et al. (2019)</a:t>
            </a:r>
            <a:br/>
            <a:r>
              <a:rPr lang="ko-KR" sz="1300" b="0">
                <a:solidFill>
                  <a:srgbClr val="333333"/>
                </a:solidFill>
                <a:latin typeface="Arial"/>
                <a:ea typeface="MS PGothic"/>
              </a:rPr>
              <a:t>Vision-Based Navigation for the NASA Mars Helicopter.</a:t>
            </a:r>
            <a:br/>
            <a:r>
              <a:rPr lang="ko-KR" sz="1300" b="0">
                <a:solidFill>
                  <a:srgbClr val="333333"/>
                </a:solidFill>
                <a:latin typeface="Arial"/>
                <a:ea typeface="MS PGothic"/>
              </a:rPr>
              <a:t>AIAA SciTech 2019 Forum.</a:t>
            </a:r>
          </a:p>
        </p:txBody>
      </p:sp>
      <p:sp>
        <p:nvSpPr>
          <p:cNvPr id="11" name="감사"/>
          <p:cNvSpPr txBox="1"/>
          <p:nvPr/>
        </p:nvSpPr>
        <p:spPr>
          <a:xfrm>
            <a:off x="457200" y="4749800"/>
            <a:ext cx="8229600" cy="533400"/>
          </a:xfrm>
          <a:prstGeom prst="rect">
            <a:avLst/>
          </a:prstGeom>
          <a:noFill/>
          <a:ln>
            <a:noFill/>
          </a:ln>
        </p:spPr>
        <p:txBody>
          <a:bodyPr wrap="square" lIns="0" rIns="0" tIns="0" bIns="0"/>
          <a:lstStyle/>
          <a:p>
            <a:pPr>
              <a:lnSpc>
                <a:spcPct val="110000"/>
              </a:lnSpc>
              <a:spcAft>
                <a:spcPts val="400"/>
              </a:spcAft>
              <a:buNone/>
            </a:pPr>
            <a:r>
              <a:rPr lang="ko-KR" sz="2400" b="1">
                <a:solidFill>
                  <a:srgbClr val="000066"/>
                </a:solidFill>
                <a:latin typeface="Arial"/>
                <a:ea typeface="MS PGothic"/>
              </a:rPr>
              <a:t>감사합니다</a:t>
            </a:r>
          </a:p>
        </p:txBody>
      </p:sp>
      <p:sp>
        <p:nvSpPr>
          <p:cNvPr id="12" name="질문 안내"/>
          <p:cNvSpPr txBox="1"/>
          <p:nvPr/>
        </p:nvSpPr>
        <p:spPr>
          <a:xfrm>
            <a:off x="457200" y="5473700"/>
            <a:ext cx="8229600" cy="342900"/>
          </a:xfrm>
          <a:prstGeom prst="rect">
            <a:avLst/>
          </a:prstGeom>
          <a:noFill/>
          <a:ln>
            <a:noFill/>
          </a:ln>
        </p:spPr>
        <p:txBody>
          <a:bodyPr wrap="square" lIns="0" rIns="0" tIns="0" bIns="0"/>
          <a:lstStyle/>
          <a:p>
            <a:pPr>
              <a:lnSpc>
                <a:spcPct val="110000"/>
              </a:lnSpc>
              <a:spcAft>
                <a:spcPts val="400"/>
              </a:spcAft>
              <a:buNone/>
            </a:pPr>
            <a:r>
              <a:rPr lang="ko-KR" sz="1500" b="0">
                <a:solidFill>
                  <a:srgbClr val="666666"/>
                </a:solidFill>
                <a:latin typeface="Arial"/>
                <a:ea typeface="MS PGothic"/>
              </a:rPr>
              <a:t>연구계획에 대한 의견과 질문 부탁드립니다.</a:t>
            </a:r>
          </a:p>
        </p:txBody>
      </p:sp>
      <p:sp>
        <p:nvSpPr>
          <p:cNvPr id="13" name="한 줄 요약"/>
          <p:cNvSpPr/>
          <p:nvPr/>
        </p:nvSpPr>
        <p:spPr>
          <a:xfrm>
            <a:off x="457200" y="4114800"/>
            <a:ext cx="8229600" cy="4572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000066"/>
                </a:solidFill>
                <a:latin typeface="Arial"/>
                <a:ea typeface="맑은 고딕"/>
              </a:rPr>
              <a:t>차량 분야의 시간 처리 방법  →  카메라·IMU·거리센서 비전 항법에 적용</a:t>
            </a:r>
          </a:p>
        </p:txBody>
      </p:sp>
    </p:spTree>
    <p:extLst>
      <p:ext uri="{BB962C8B-B14F-4D97-AF65-F5344CB8AC3E}">
        <p14:creationId xmlns:p14="http://schemas.microsoft.com/office/powerpoint/2010/main" val="371350854"/>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27475</TotalTime>
  <Words>1597</Words>
  <Application>Microsoft Office PowerPoint</Application>
  <PresentationFormat>On-screen Show (4:3)</PresentationFormat>
  <Paragraphs>393</Paragraphs>
  <Slides>7</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0" baseType="lpstr">
      <vt:lpstr>ＭＳ Ｐゴシック</vt:lpstr>
      <vt:lpstr>Arial</vt:lpstr>
      <vt:lpstr>Courier New</vt:lpstr>
      <vt:lpstr>Times New Roman</vt:lpstr>
      <vt:lpstr>Wingdings</vt:lpstr>
      <vt:lpstr>Wingdings 2</vt:lpstr>
      <vt:lpstr>Blank Presentation</vt:lpstr>
      <vt:lpstr>Equation</vt:lpstr>
      <vt:lpstr>Lecture 3 Control and Estimation</vt:lpstr>
      <vt:lpstr>Outline</vt:lpstr>
      <vt:lpstr>PowerPoint Presentation</vt:lpstr>
      <vt:lpstr>PID Controller</vt:lpstr>
      <vt:lpstr>Proportional Feedback  (P-Control, 비례제어)</vt:lpstr>
      <vt:lpstr>Proportional Differential Feedback  (PD-Control, 비례미분제어)</vt:lpstr>
      <vt:lpstr>Proportional Integral Feedback  (PI-Control, 비례적분 제어)</vt:lpstr>
      <vt:lpstr>Proportional Integral Differential Feedback  (PID-Control, 비례적분미분 제어)</vt:lpstr>
      <vt:lpstr>PowerPoint Presentation</vt:lpstr>
      <vt:lpstr>State Feedback Controller</vt:lpstr>
      <vt:lpstr>Linear Quadratic Regulator</vt:lpstr>
      <vt:lpstr>Linear Quadratic Regulator</vt:lpstr>
      <vt:lpstr>PowerPoint Presentation</vt:lpstr>
      <vt:lpstr>MPC (Model Predictive Control) 작동 개념</vt:lpstr>
      <vt:lpstr>MPC Formulation</vt:lpstr>
      <vt:lpstr>MPC 제어시스템 구조</vt:lpstr>
      <vt:lpstr>MPC 특성</vt:lpstr>
      <vt:lpstr>Model Predictive Control</vt:lpstr>
      <vt:lpstr>PowerPoint Presentation</vt:lpstr>
      <vt:lpstr>PowerPoint Presentation</vt:lpstr>
      <vt:lpstr>Dynamic System</vt:lpstr>
      <vt:lpstr>Representation of Dynamic System</vt:lpstr>
      <vt:lpstr>State Estimation</vt:lpstr>
      <vt:lpstr>State Estimation</vt:lpstr>
      <vt:lpstr>State Estimation</vt:lpstr>
      <vt:lpstr>State Estimation</vt:lpstr>
      <vt:lpstr>Luenberger Observer</vt:lpstr>
      <vt:lpstr>Noise!</vt:lpstr>
      <vt:lpstr>PowerPoint Presentation</vt:lpstr>
      <vt:lpstr>Noise as a Random Variable</vt:lpstr>
      <vt:lpstr>Noise as a Random Variable</vt:lpstr>
      <vt:lpstr>Optimal State Estimation</vt:lpstr>
      <vt:lpstr>Optimal State Estimation</vt:lpstr>
      <vt:lpstr>Kalman Filter</vt:lpstr>
      <vt:lpstr>Luenberger Observer and Kalman Filter</vt:lpstr>
      <vt:lpstr>Kalman Filter and Nonlinearity</vt:lpstr>
      <vt:lpstr>Kalman Filter Family</vt:lpstr>
      <vt:lpstr>Extended Kalman Filter</vt:lpstr>
      <vt:lpstr>Unscented Kalman Filter</vt:lpstr>
      <vt:lpstr>Unscented Kalman Filter</vt:lpstr>
      <vt:lpstr>Particle Filter</vt:lpstr>
      <vt:lpstr>Kalman Filter Summary</vt:lpstr>
    </vt:vector>
  </TitlesOfParts>
  <Company>soe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Changsun Ahn</dc:creator>
  <cp:lastModifiedBy>Changsun Ahn</cp:lastModifiedBy>
  <cp:revision>984</cp:revision>
  <cp:lastPrinted>2007-07-10T13:49:16Z</cp:lastPrinted>
  <dcterms:created xsi:type="dcterms:W3CDTF">2007-07-10T12:52:37Z</dcterms:created>
  <dcterms:modified xsi:type="dcterms:W3CDTF">2026-07-30T01:16:46Z</dcterms:modified>
</cp:coreProperties>
</file>